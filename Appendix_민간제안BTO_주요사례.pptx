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905695"/>
  <p:notesSz cx="9905695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274320" y="18288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신세계 민부리 Bold(TTF)" pitchFamily="34" charset="0"/>
                <a:ea typeface="신세계 민부리 Bold(TTF)" pitchFamily="34" charset="-122"/>
                <a:cs typeface="신세계 민부리 Bold(TTF)" pitchFamily="34" charset="-120"/>
              </a:rPr>
              <a:t>[Appendix] 민간제안 BTO 주요 사례</a:t>
            </a:r>
            <a:endParaRPr lang="en-US" sz="1500" dirty="0"/>
          </a:p>
        </p:txBody>
      </p:sp>
      <p:sp>
        <p:nvSpPr>
          <p:cNvPr id="3" name="C1Title"/>
          <p:cNvSpPr txBox="1"/>
          <p:nvPr/>
        </p:nvSpPr>
        <p:spPr>
          <a:xfrm>
            <a:off x="274320" y="60350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신세계 민부리 Bold(TTF)" pitchFamily="34" charset="0"/>
                <a:ea typeface="신세계 민부리 Bold(TTF)" pitchFamily="34" charset="-122"/>
                <a:cs typeface="신세계 민부리 Bold(TTF)" pitchFamily="34" charset="-120"/>
              </a:rPr>
              <a:t>■ 잠실 스포츠 · MICE 복합공간 조성사업</a:t>
            </a:r>
            <a:endParaRPr lang="en-US" sz="1200" dirty="0"/>
          </a:p>
        </p:txBody>
      </p:sp>
      <p:sp>
        <p:nvSpPr>
          <p:cNvPr id="4" name="C1Tag"/>
          <p:cNvSpPr txBox="1"/>
          <p:nvPr/>
        </p:nvSpPr>
        <p:spPr>
          <a:xfrm>
            <a:off x="274320" y="621792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3399"/>
                </a:solidFill>
                <a:latin typeface="신세계 민부리 Bold(TTF)" pitchFamily="34" charset="0"/>
                <a:ea typeface="신세계 민부리 Bold(TTF)" pitchFamily="34" charset="-122"/>
                <a:cs typeface="신세계 민부리 Bold(TTF)" pitchFamily="34" charset="-120"/>
              </a:rPr>
              <a:t>BTO · 민간제안 · 운영 40년</a:t>
            </a:r>
            <a:endParaRPr lang="en-US" sz="900" dirty="0"/>
          </a:p>
        </p:txBody>
      </p:sp>
      <p:sp>
        <p:nvSpPr>
          <p:cNvPr id="5" name="C1Photo"/>
          <p:cNvSpPr/>
          <p:nvPr/>
        </p:nvSpPr>
        <p:spPr>
          <a:xfrm>
            <a:off x="274320" y="932688"/>
            <a:ext cx="2148840" cy="178308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  <a:prstDash val="dash"/>
          </a:ln>
        </p:spPr>
      </p:sp>
      <p:sp>
        <p:nvSpPr>
          <p:cNvPr id="6" name="C1PhotoLabel"/>
          <p:cNvSpPr txBox="1"/>
          <p:nvPr/>
        </p:nvSpPr>
        <p:spPr>
          <a:xfrm>
            <a:off x="274320" y="932688"/>
            <a:ext cx="2148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신세계 민부리 Bold(TTF)" pitchFamily="34" charset="0"/>
                <a:ea typeface="신세계 민부리 Bold(TTF)" pitchFamily="34" charset="-122"/>
                <a:cs typeface="신세계 민부리 Bold(TTF)" pitchFamily="34" charset="-120"/>
              </a:rPr>
              <a:t>조감도 · 사진 삽입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신세계 민부리 Light(TTF)" pitchFamily="34" charset="0"/>
                <a:ea typeface="신세계 민부리 Light(TTF)" pitchFamily="34" charset="-122"/>
                <a:cs typeface="신세계 민부리 Light(TTF)" pitchFamily="34" charset="-120"/>
              </a:rPr>
              <a:t>(잠실 스포츠 · MICE 파크 조감도, 서울시)</a:t>
            </a:r>
            <a:endParaRPr lang="en-US" sz="900" dirty="0"/>
          </a:p>
        </p:txBody>
      </p:sp>
      <p:graphicFrame>
        <p:nvGraphicFramePr>
          <p:cNvPr id="2" name="C1Overview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32888" y="932688"/>
          <a:ext cx="4050792" cy="914400"/>
        </p:xfrm>
        <a:graphic>
          <a:graphicData uri="http://schemas.openxmlformats.org/drawingml/2006/table">
            <a:tbl>
              <a:tblPr/>
              <a:tblGrid>
                <a:gridCol w="713232"/>
                <a:gridCol w="333756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위 치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송파구 잠실종합운동장 일대 약 35만㎡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시 설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전시 8.9만㎡ · 컨벤션 1.9만㎡ (코엑스의 2.5배) / 돔야구장 3만석 / 호텔 · 업무 · 판매시설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사업비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총사업비 2.7조 (부대사업 포함 총투자 약 3.3조)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방식 · 기간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BTO (민간제안) / 건설 62개월 · 운영 40년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사업자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잠실마이스㈜ (SPC, ’26.9 설립) — 한화 건설부문 대표주관, HDC · 신한은행 등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운 영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전시 · 컨벤션 : 市 과반 출자 별도 법인 / 야구장 : LG · 두산 홈구장 / 호텔 · 상업 : SPC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C1Step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825496"/>
          <a:ext cx="6309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77240"/>
                <a:gridCol w="452628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절차 단계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시 기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주요 내용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구상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’13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서울시 잠실 MICE 사업 계획 발표 (국제교류복합지구)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최초 제안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’16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한국무역협회 컨소시엄 민간제안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적격성조사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’17~’20.5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KDI 공공투자관리센터 (PIMAC) 적격성조사 완료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제3자 공고 · 평가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’21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제3자 제안공고 → 무역협회 vs 한화 컨소시엄 경쟁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우선협상 지정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’21.12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한화 컨소시엄 선정 (최초제안자 탈락)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협상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’22~’26.3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160여 차례 협상, 돔야구장 도입 등 계획 변경 후 협상 완료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민투심 · 실시협약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’26.7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기재부 민간투자사업심의위원회 통과 → 실시협약 체결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착공 · 준공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’26.9~’32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SPC 설립 · PF 조달 → ’32 준공 목표 (공사 중 LG · 두산은 주경기장 사용)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C1Lesson"/>
          <p:cNvSpPr txBox="1"/>
          <p:nvPr/>
        </p:nvSpPr>
        <p:spPr>
          <a:xfrm>
            <a:off x="274320" y="4745736"/>
            <a:ext cx="6309360" cy="329184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A6E"/>
                </a:solidFill>
                <a:latin typeface="신세계 민부리 Bold(TTF)" pitchFamily="34" charset="0"/>
                <a:ea typeface="신세계 민부리 Bold(TTF)" pitchFamily="34" charset="-122"/>
                <a:cs typeface="신세계 민부리 Bold(TTF)" pitchFamily="34" charset="-120"/>
              </a:rPr>
              <a:t>▶ 시사점  </a:t>
            </a:r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신세계 민부리 Light(TTF)" pitchFamily="34" charset="0"/>
                <a:ea typeface="신세계 민부리 Light(TTF)" pitchFamily="34" charset="-122"/>
                <a:cs typeface="신세계 민부리 Light(TTF)" pitchFamily="34" charset="-120"/>
              </a:rPr>
              <a:t>제안 → 협약 약 10년 · 최초제안자도 경쟁에서 탈락 가능 / 공공성 큰 시설 (전시)은 공공 운영으로 넘겨 협상 타결</a:t>
            </a:r>
            <a:endParaRPr lang="en-US" sz="850" dirty="0"/>
          </a:p>
        </p:txBody>
      </p:sp>
      <p:sp>
        <p:nvSpPr>
          <p:cNvPr id="10" name="C2Title"/>
          <p:cNvSpPr txBox="1"/>
          <p:nvPr/>
        </p:nvSpPr>
        <p:spPr>
          <a:xfrm>
            <a:off x="274320" y="534924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신세계 민부리 Bold(TTF)" pitchFamily="34" charset="0"/>
                <a:ea typeface="신세계 민부리 Bold(TTF)" pitchFamily="34" charset="-122"/>
                <a:cs typeface="신세계 민부리 Bold(TTF)" pitchFamily="34" charset="-120"/>
              </a:rPr>
              <a:t>■ 서울 대관람차 (서울링 → 서울 트윈아이) 조성사업</a:t>
            </a:r>
            <a:endParaRPr lang="en-US" sz="1200" dirty="0"/>
          </a:p>
        </p:txBody>
      </p:sp>
      <p:sp>
        <p:nvSpPr>
          <p:cNvPr id="11" name="C2Tag"/>
          <p:cNvSpPr txBox="1"/>
          <p:nvPr/>
        </p:nvSpPr>
        <p:spPr>
          <a:xfrm>
            <a:off x="274320" y="5367528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3399"/>
                </a:solidFill>
                <a:latin typeface="신세계 민부리 Bold(TTF)" pitchFamily="34" charset="0"/>
                <a:ea typeface="신세계 민부리 Bold(TTF)" pitchFamily="34" charset="-122"/>
                <a:cs typeface="신세계 민부리 Bold(TTF)" pitchFamily="34" charset="-120"/>
              </a:rPr>
              <a:t>BTO · 민간제안 · 진행 중</a:t>
            </a:r>
            <a:endParaRPr lang="en-US" sz="900" dirty="0"/>
          </a:p>
        </p:txBody>
      </p:sp>
      <p:sp>
        <p:nvSpPr>
          <p:cNvPr id="12" name="C2Photo"/>
          <p:cNvSpPr/>
          <p:nvPr/>
        </p:nvSpPr>
        <p:spPr>
          <a:xfrm>
            <a:off x="274320" y="5678424"/>
            <a:ext cx="2148840" cy="178308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  <a:prstDash val="dash"/>
          </a:ln>
        </p:spPr>
      </p:sp>
      <p:sp>
        <p:nvSpPr>
          <p:cNvPr id="13" name="C2PhotoLabel"/>
          <p:cNvSpPr txBox="1"/>
          <p:nvPr/>
        </p:nvSpPr>
        <p:spPr>
          <a:xfrm>
            <a:off x="274320" y="5678424"/>
            <a:ext cx="2148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신세계 민부리 Bold(TTF)" pitchFamily="34" charset="0"/>
                <a:ea typeface="신세계 민부리 Bold(TTF)" pitchFamily="34" charset="-122"/>
                <a:cs typeface="신세계 민부리 Bold(TTF)" pitchFamily="34" charset="-120"/>
              </a:rPr>
              <a:t>조감도 · 사진 삽입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신세계 민부리 Light(TTF)" pitchFamily="34" charset="0"/>
                <a:ea typeface="신세계 민부리 Light(TTF)" pitchFamily="34" charset="-122"/>
                <a:cs typeface="신세계 민부리 Light(TTF)" pitchFamily="34" charset="-120"/>
              </a:rPr>
              <a:t>(서울 트윈아이 조감도, 서울시)</a:t>
            </a:r>
            <a:endParaRPr lang="en-US" sz="900" dirty="0"/>
          </a:p>
        </p:txBody>
      </p:sp>
      <p:graphicFrame>
        <p:nvGraphicFramePr>
          <p:cNvPr id="4" name="C2Overview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32888" y="5678424"/>
          <a:ext cx="4050792" cy="914400"/>
        </p:xfrm>
        <a:graphic>
          <a:graphicData uri="http://schemas.openxmlformats.org/drawingml/2006/table">
            <a:tbl>
              <a:tblPr/>
              <a:tblGrid>
                <a:gridCol w="713232"/>
                <a:gridCol w="333756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위 치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마포구 상암동 월드컵공원 (하늘공원 → 평화의공원으로 변경)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시 설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지름 180m 대관람차 — 두 고리가 X자로 교차하는 '트윈휠' (바퀴살 없는 형태 세계 최대) + 복합문화시설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사업비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4,000억 (’23 당초) → 1조 800억 (서울시 추산)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방식 · 기간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BTO (민간제안) / 운영기간은 협상 단계에서 확정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제안자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(가칭)서울 트윈아이 컨소시엄 — SH공사 + 더리츠 등 5개사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현 단계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PIMAC 적격성조사 진행 중 (국내 첫 사례로 검토 장기화) → 제3자 공고 대기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2Step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571232"/>
          <a:ext cx="6309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77240"/>
                <a:gridCol w="452628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절차 단계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시 기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주요 내용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구상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’23.3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서울시 대관람차 '서울링' 조성 계획 발표 (하늘공원, 사업비 4,000억)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대상시설 심의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’23.9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기재부 민투심 : 대관람차를 민자 대상시설로 인정 (포괄주의 적용)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최초 제안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’23 하반기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서울 트윈아이 컨소시엄 제안 접수 → 평화의공원 · 트윈휠로 계획 변경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적격성조사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’24~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PIMAC 적격성조사 착수, 사업비 1조 800억으로 증가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민투심 (제3자 공고안)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’25.8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상정 예상됐으나 적격성조사 미완료로 연기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62626"/>
                          </a:solidFill>
                          <a:latin typeface="신세계 민부리 Bold(TTF)" pitchFamily="34" charset="0"/>
                          <a:ea typeface="신세계 민부리 Bold(TTF)" pitchFamily="34" charset="-122"/>
                          <a:cs typeface="신세계 민부리 Bold(TTF)" pitchFamily="34" charset="-120"/>
                        </a:rPr>
                        <a:t>제3자 공고 이후</a:t>
                      </a:r>
                      <a:endParaRPr lang="en-US" sz="850" dirty="0">
                        <a:latin typeface="신세계 민부리 Bold(TTF)" charset="0"/>
                        <a:ea typeface="신세계 민부리 Bold(TTF)" charset="0"/>
                        <a:cs typeface="신세계 민부리 Bold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미정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6"/>
                          </a:solidFill>
                          <a:latin typeface="신세계 민부리 Light(TTF)" pitchFamily="34" charset="0"/>
                          <a:ea typeface="신세계 민부리 Light(TTF)" pitchFamily="34" charset="-122"/>
                          <a:cs typeface="신세계 민부리 Light(TTF)" pitchFamily="34" charset="-120"/>
                        </a:rPr>
                        <a:t>제3자 공고 → 우선협상 → 협상 · 실시협약 → 착공 (당초 목표 : 착공 ’26)</a:t>
                      </a:r>
                      <a:endParaRPr lang="en-US" sz="850" dirty="0">
                        <a:latin typeface="신세계 민부리 Light(TTF)" charset="0"/>
                        <a:ea typeface="신세계 민부리 Light(TTF)" charset="0"/>
                        <a:cs typeface="신세계 민부리 Light(TTF)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C2Lesson"/>
          <p:cNvSpPr txBox="1"/>
          <p:nvPr/>
        </p:nvSpPr>
        <p:spPr>
          <a:xfrm>
            <a:off x="274320" y="9089136"/>
            <a:ext cx="6309360" cy="329184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A6E"/>
                </a:solidFill>
                <a:latin typeface="신세계 민부리 Bold(TTF)" pitchFamily="34" charset="0"/>
                <a:ea typeface="신세계 민부리 Bold(TTF)" pitchFamily="34" charset="-122"/>
                <a:cs typeface="신세계 민부리 Bold(TTF)" pitchFamily="34" charset="-120"/>
              </a:rPr>
              <a:t>▶ 시사점  </a:t>
            </a:r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신세계 민부리 Light(TTF)" pitchFamily="34" charset="0"/>
                <a:ea typeface="신세계 민부리 Light(TTF)" pitchFamily="34" charset="-122"/>
                <a:cs typeface="신세계 민부리 Light(TTF)" pitchFamily="34" charset="-120"/>
              </a:rPr>
              <a:t>SH공사가 제안 컨소시엄에 참여해 공공성 · 협상력 확보 / 비전형 시설은 검토 장기화 · 사업비 증가 시 일정 지연</a:t>
            </a:r>
            <a:endParaRPr lang="en-US" sz="850" dirty="0"/>
          </a:p>
        </p:txBody>
      </p:sp>
      <p:sp>
        <p:nvSpPr>
          <p:cNvPr id="17" name="Source"/>
          <p:cNvSpPr txBox="1"/>
          <p:nvPr/>
        </p:nvSpPr>
        <p:spPr>
          <a:xfrm>
            <a:off x="274320" y="9509760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95959"/>
                </a:solidFill>
                <a:latin typeface="신세계 민부리 Light(TTF)" pitchFamily="34" charset="0"/>
                <a:ea typeface="신세계 민부리 Light(TTF)" pitchFamily="34" charset="-122"/>
                <a:cs typeface="신세계 민부리 Light(TTF)" pitchFamily="34" charset="-120"/>
              </a:rPr>
              <a:t>＊ 출처 : 서울시 · 기획재정부 보도자료 및 언론 보도 종합 (’26.10 기준), 사진은 서울시 보도자료 조감도 삽입 필요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2026-10-06T08:12:44Z</dcterms:created>
  <dcterms:modified xsi:type="dcterms:W3CDTF">2026-10-06T08:12:44Z</dcterms:modified>
</cp:coreProperties>
</file>