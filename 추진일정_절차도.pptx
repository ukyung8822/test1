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9905695"/>
  <p:notesSz cx="9905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274320" y="2743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■ 추진 일정 (민간제안 기준)</a:t>
            </a:r>
            <a:endParaRPr lang="en-US" sz="1300" dirty="0"/>
          </a:p>
        </p:txBody>
      </p:sp>
      <p:sp>
        <p:nvSpPr>
          <p:cNvPr id="3" name="TimelineLine"/>
          <p:cNvSpPr/>
          <p:nvPr/>
        </p:nvSpPr>
        <p:spPr>
          <a:xfrm>
            <a:off x="274320" y="914400"/>
            <a:ext cx="6309360" cy="0"/>
          </a:xfrm>
          <a:prstGeom prst="line">
            <a:avLst/>
          </a:prstGeom>
          <a:noFill/>
          <a:ln w="25400">
            <a:solidFill>
              <a:srgbClr val="1F3A6E"/>
            </a:solidFill>
            <a:prstDash val="solid"/>
            <a:tailEnd type="triangle"/>
          </a:ln>
        </p:spPr>
      </p:sp>
      <p:sp>
        <p:nvSpPr>
          <p:cNvPr id="4" name="Dot1"/>
          <p:cNvSpPr/>
          <p:nvPr/>
        </p:nvSpPr>
        <p:spPr>
          <a:xfrm>
            <a:off x="800100" y="845820"/>
            <a:ext cx="137160" cy="1371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A6E"/>
            </a:solidFill>
            <a:prstDash val="solid"/>
          </a:ln>
        </p:spPr>
      </p:sp>
      <p:sp>
        <p:nvSpPr>
          <p:cNvPr id="5" name="Date1"/>
          <p:cNvSpPr txBox="1"/>
          <p:nvPr/>
        </p:nvSpPr>
        <p:spPr>
          <a:xfrm>
            <a:off x="274320" y="6035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’26.4Q</a:t>
            </a:r>
            <a:endParaRPr lang="en-US" sz="900" dirty="0"/>
          </a:p>
        </p:txBody>
      </p:sp>
      <p:sp>
        <p:nvSpPr>
          <p:cNvPr id="6" name="Box1"/>
          <p:cNvSpPr/>
          <p:nvPr/>
        </p:nvSpPr>
        <p:spPr>
          <a:xfrm>
            <a:off x="274320" y="1115568"/>
            <a:ext cx="11887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7" name="BoxHead1"/>
          <p:cNvSpPr/>
          <p:nvPr/>
        </p:nvSpPr>
        <p:spPr>
          <a:xfrm>
            <a:off x="274320" y="1115568"/>
            <a:ext cx="1188720" cy="274320"/>
          </a:xfrm>
          <a:prstGeom prst="rect">
            <a:avLst/>
          </a:prstGeom>
          <a:solidFill>
            <a:srgbClr val="1F3A6E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8" name="BoxTitle1"/>
          <p:cNvSpPr txBox="1"/>
          <p:nvPr/>
        </p:nvSpPr>
        <p:spPr>
          <a:xfrm>
            <a:off x="274320" y="1115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① 공모 설계</a:t>
            </a:r>
            <a:endParaRPr lang="en-US" sz="1000" dirty="0"/>
          </a:p>
        </p:txBody>
      </p:sp>
      <p:sp>
        <p:nvSpPr>
          <p:cNvPr id="9" name="BoxBody1"/>
          <p:cNvSpPr txBox="1"/>
          <p:nvPr/>
        </p:nvSpPr>
        <p:spPr>
          <a:xfrm>
            <a:off x="320040" y="1444752"/>
            <a:ext cx="10972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· 효성 해지시지급금 합의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· 市 공모 기준 협의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광고사업 불가 근거로 300억 제시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민투법 적용 기준 협의 (투자비, 공공성 등)</a:t>
            </a:r>
            <a:endParaRPr lang="en-US" sz="850" dirty="0"/>
          </a:p>
        </p:txBody>
      </p:sp>
      <p:sp>
        <p:nvSpPr>
          <p:cNvPr id="10" name="Dot2"/>
          <p:cNvSpPr/>
          <p:nvPr/>
        </p:nvSpPr>
        <p:spPr>
          <a:xfrm>
            <a:off x="2080260" y="845820"/>
            <a:ext cx="137160" cy="1371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A6E"/>
            </a:solidFill>
            <a:prstDash val="solid"/>
          </a:ln>
        </p:spPr>
      </p:sp>
      <p:sp>
        <p:nvSpPr>
          <p:cNvPr id="11" name="Date2"/>
          <p:cNvSpPr txBox="1"/>
          <p:nvPr/>
        </p:nvSpPr>
        <p:spPr>
          <a:xfrm>
            <a:off x="1554480" y="6035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’27.1Q</a:t>
            </a:r>
            <a:endParaRPr lang="en-US" sz="900" dirty="0"/>
          </a:p>
        </p:txBody>
      </p:sp>
      <p:sp>
        <p:nvSpPr>
          <p:cNvPr id="12" name="Box2"/>
          <p:cNvSpPr/>
          <p:nvPr/>
        </p:nvSpPr>
        <p:spPr>
          <a:xfrm>
            <a:off x="1554480" y="1115568"/>
            <a:ext cx="11887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13" name="BoxHead2"/>
          <p:cNvSpPr/>
          <p:nvPr/>
        </p:nvSpPr>
        <p:spPr>
          <a:xfrm>
            <a:off x="1554480" y="1115568"/>
            <a:ext cx="1188720" cy="274320"/>
          </a:xfrm>
          <a:prstGeom prst="rect">
            <a:avLst/>
          </a:prstGeom>
          <a:solidFill>
            <a:srgbClr val="1F3A6E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14" name="BoxTitle2"/>
          <p:cNvSpPr txBox="1"/>
          <p:nvPr/>
        </p:nvSpPr>
        <p:spPr>
          <a:xfrm>
            <a:off x="1554480" y="1115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② 민간 제안</a:t>
            </a:r>
            <a:endParaRPr lang="en-US" sz="1000" dirty="0"/>
          </a:p>
        </p:txBody>
      </p:sp>
      <p:sp>
        <p:nvSpPr>
          <p:cNvPr id="15" name="BoxBody2"/>
          <p:cNvSpPr txBox="1"/>
          <p:nvPr/>
        </p:nvSpPr>
        <p:spPr>
          <a:xfrm>
            <a:off x="1600200" y="1444752"/>
            <a:ext cx="10972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· 통합사업 제안서 제출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기본설계, 공공성 방안, 통합운영 방안 등</a:t>
            </a:r>
            <a:endParaRPr lang="en-US" sz="850" dirty="0"/>
          </a:p>
        </p:txBody>
      </p:sp>
      <p:sp>
        <p:nvSpPr>
          <p:cNvPr id="16" name="Dot3"/>
          <p:cNvSpPr/>
          <p:nvPr/>
        </p:nvSpPr>
        <p:spPr>
          <a:xfrm>
            <a:off x="3360420" y="845820"/>
            <a:ext cx="137160" cy="1371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A6E"/>
            </a:solidFill>
            <a:prstDash val="solid"/>
          </a:ln>
        </p:spPr>
      </p:sp>
      <p:sp>
        <p:nvSpPr>
          <p:cNvPr id="17" name="Date3"/>
          <p:cNvSpPr txBox="1"/>
          <p:nvPr/>
        </p:nvSpPr>
        <p:spPr>
          <a:xfrm>
            <a:off x="2834640" y="6035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’27.2Q ~ 4Q</a:t>
            </a:r>
            <a:endParaRPr lang="en-US" sz="900" dirty="0"/>
          </a:p>
        </p:txBody>
      </p:sp>
      <p:sp>
        <p:nvSpPr>
          <p:cNvPr id="18" name="Box3"/>
          <p:cNvSpPr/>
          <p:nvPr/>
        </p:nvSpPr>
        <p:spPr>
          <a:xfrm>
            <a:off x="2834640" y="1115568"/>
            <a:ext cx="11887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19" name="BoxHead3"/>
          <p:cNvSpPr/>
          <p:nvPr/>
        </p:nvSpPr>
        <p:spPr>
          <a:xfrm>
            <a:off x="2834640" y="1115568"/>
            <a:ext cx="1188720" cy="274320"/>
          </a:xfrm>
          <a:prstGeom prst="rect">
            <a:avLst/>
          </a:prstGeom>
          <a:solidFill>
            <a:srgbClr val="1F3A6E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20" name="BoxTitle3"/>
          <p:cNvSpPr txBox="1"/>
          <p:nvPr/>
        </p:nvSpPr>
        <p:spPr>
          <a:xfrm>
            <a:off x="2834640" y="1115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③ 검토 / 심의</a:t>
            </a:r>
            <a:endParaRPr lang="en-US" sz="1000" dirty="0"/>
          </a:p>
        </p:txBody>
      </p:sp>
      <p:sp>
        <p:nvSpPr>
          <p:cNvPr id="21" name="BoxBody3"/>
          <p:cNvSpPr txBox="1"/>
          <p:nvPr/>
        </p:nvSpPr>
        <p:spPr>
          <a:xfrm>
            <a:off x="2880360" y="1444752"/>
            <a:ext cx="10972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· 적격성 검토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· 민투심 · 市의회 동의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해지시지급금 총사업비 인정 + 공공성 설명 → 30년 + α 확보</a:t>
            </a:r>
            <a:endParaRPr lang="en-US" sz="850" dirty="0"/>
          </a:p>
        </p:txBody>
      </p:sp>
      <p:sp>
        <p:nvSpPr>
          <p:cNvPr id="22" name="Dot4"/>
          <p:cNvSpPr/>
          <p:nvPr/>
        </p:nvSpPr>
        <p:spPr>
          <a:xfrm>
            <a:off x="4640580" y="845820"/>
            <a:ext cx="137160" cy="1371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A6E"/>
            </a:solidFill>
            <a:prstDash val="solid"/>
          </a:ln>
        </p:spPr>
      </p:sp>
      <p:sp>
        <p:nvSpPr>
          <p:cNvPr id="23" name="Date4"/>
          <p:cNvSpPr txBox="1"/>
          <p:nvPr/>
        </p:nvSpPr>
        <p:spPr>
          <a:xfrm>
            <a:off x="4114800" y="6035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’28.1Q ~ 3Q</a:t>
            </a:r>
            <a:endParaRPr lang="en-US" sz="900" dirty="0"/>
          </a:p>
        </p:txBody>
      </p:sp>
      <p:sp>
        <p:nvSpPr>
          <p:cNvPr id="24" name="Box4"/>
          <p:cNvSpPr/>
          <p:nvPr/>
        </p:nvSpPr>
        <p:spPr>
          <a:xfrm>
            <a:off x="4114800" y="1115568"/>
            <a:ext cx="11887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25" name="BoxHead4"/>
          <p:cNvSpPr/>
          <p:nvPr/>
        </p:nvSpPr>
        <p:spPr>
          <a:xfrm>
            <a:off x="4114800" y="1115568"/>
            <a:ext cx="1188720" cy="274320"/>
          </a:xfrm>
          <a:prstGeom prst="rect">
            <a:avLst/>
          </a:prstGeom>
          <a:solidFill>
            <a:srgbClr val="1F3A6E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26" name="BoxTitle4"/>
          <p:cNvSpPr txBox="1"/>
          <p:nvPr/>
        </p:nvSpPr>
        <p:spPr>
          <a:xfrm>
            <a:off x="4114800" y="1115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④ 공고 / 협약</a:t>
            </a:r>
            <a:endParaRPr lang="en-US" sz="1000" dirty="0"/>
          </a:p>
        </p:txBody>
      </p:sp>
      <p:sp>
        <p:nvSpPr>
          <p:cNvPr id="27" name="BoxBody4"/>
          <p:cNvSpPr txBox="1"/>
          <p:nvPr/>
        </p:nvSpPr>
        <p:spPr>
          <a:xfrm>
            <a:off x="4160520" y="1444752"/>
            <a:ext cx="10972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· 제3자 제안공고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· 우선협상 → 실시협약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세빛섬 연계 / MD 역량으로 경쟁 우위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市 협상조건 / 사업계획 확정</a:t>
            </a:r>
            <a:endParaRPr lang="en-US" sz="850" dirty="0"/>
          </a:p>
        </p:txBody>
      </p:sp>
      <p:sp>
        <p:nvSpPr>
          <p:cNvPr id="28" name="Dot5"/>
          <p:cNvSpPr/>
          <p:nvPr/>
        </p:nvSpPr>
        <p:spPr>
          <a:xfrm>
            <a:off x="5920740" y="845820"/>
            <a:ext cx="137160" cy="1371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A6E"/>
            </a:solidFill>
            <a:prstDash val="solid"/>
          </a:ln>
        </p:spPr>
      </p:sp>
      <p:sp>
        <p:nvSpPr>
          <p:cNvPr id="29" name="Date5"/>
          <p:cNvSpPr txBox="1"/>
          <p:nvPr/>
        </p:nvSpPr>
        <p:spPr>
          <a:xfrm>
            <a:off x="5394960" y="6035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3A6E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’28.下 ~ ’29.初</a:t>
            </a:r>
            <a:endParaRPr lang="en-US" sz="900" dirty="0"/>
          </a:p>
        </p:txBody>
      </p:sp>
      <p:sp>
        <p:nvSpPr>
          <p:cNvPr id="30" name="Box5"/>
          <p:cNvSpPr/>
          <p:nvPr/>
        </p:nvSpPr>
        <p:spPr>
          <a:xfrm>
            <a:off x="5394960" y="1115568"/>
            <a:ext cx="11887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31" name="BoxHead5"/>
          <p:cNvSpPr/>
          <p:nvPr/>
        </p:nvSpPr>
        <p:spPr>
          <a:xfrm>
            <a:off x="5394960" y="1115568"/>
            <a:ext cx="1188720" cy="274320"/>
          </a:xfrm>
          <a:prstGeom prst="rect">
            <a:avLst/>
          </a:prstGeom>
          <a:solidFill>
            <a:srgbClr val="1F3A6E"/>
          </a:solidFill>
          <a:ln w="12700">
            <a:solidFill>
              <a:srgbClr val="1F3A6E"/>
            </a:solidFill>
            <a:prstDash val="solid"/>
          </a:ln>
        </p:spPr>
      </p:sp>
      <p:sp>
        <p:nvSpPr>
          <p:cNvPr id="32" name="BoxTitle5"/>
          <p:cNvSpPr txBox="1"/>
          <p:nvPr/>
        </p:nvSpPr>
        <p:spPr>
          <a:xfrm>
            <a:off x="5394960" y="1115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⑤ 착공 / 개장</a:t>
            </a:r>
            <a:endParaRPr lang="en-US" sz="1000" dirty="0"/>
          </a:p>
        </p:txBody>
      </p:sp>
      <p:sp>
        <p:nvSpPr>
          <p:cNvPr id="33" name="BoxBody5"/>
          <p:cNvSpPr txBox="1"/>
          <p:nvPr/>
        </p:nvSpPr>
        <p:spPr>
          <a:xfrm>
            <a:off x="5440680" y="1444752"/>
            <a:ext cx="10972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· 세빛섬 리모델링 착공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262626"/>
                </a:solidFill>
                <a:latin typeface="신세계 민부리 Bold(TTF)" pitchFamily="34" charset="0"/>
                <a:ea typeface="신세계 민부리 Bold(TTF)" pitchFamily="34" charset="-122"/>
                <a:cs typeface="신세계 민부리 Bold(TTF)" pitchFamily="34" charset="-120"/>
              </a:rPr>
              <a:t>· 세빛섬 / 푸드존 준공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262626"/>
                </a:solidFill>
                <a:latin typeface="신세계 민부리 Light(TTF)" pitchFamily="34" charset="0"/>
                <a:ea typeface="신세계 민부리 Light(TTF)" pitchFamily="34" charset="-122"/>
                <a:cs typeface="신세계 민부리 Light(TTF)" pitchFamily="34" charset="-120"/>
              </a:rPr>
              <a:t>→ 百 협업 테넌트 유치 / 통합 그랜드 오픈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2026-10-06T09:09:56Z</dcterms:created>
  <dcterms:modified xsi:type="dcterms:W3CDTF">2026-10-06T09:09:56Z</dcterms:modified>
</cp:coreProperties>
</file>