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9905695"/>
  <p:notesSz cx="9905695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274320" y="2743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신세계 민부리 Bold(TTF)" pitchFamily="34" charset="0"/>
                <a:ea typeface="신세계 민부리 Bold(TTF)" pitchFamily="34" charset="-122"/>
                <a:cs typeface="신세계 민부리 Bold(TTF)" pitchFamily="34" charset="-120"/>
              </a:rPr>
              <a:t>■ 추진 일정 (민간제안 기준)</a:t>
            </a:r>
            <a:endParaRPr lang="en-US" sz="1300" dirty="0"/>
          </a:p>
        </p:txBody>
      </p:sp>
      <p:sp>
        <p:nvSpPr>
          <p:cNvPr id="3" name="Step1Box"/>
          <p:cNvSpPr/>
          <p:nvPr/>
        </p:nvSpPr>
        <p:spPr>
          <a:xfrm>
            <a:off x="274320" y="685800"/>
            <a:ext cx="105704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1F3A6E"/>
            </a:solidFill>
            <a:prstDash val="solid"/>
          </a:ln>
        </p:spPr>
      </p:sp>
      <p:sp>
        <p:nvSpPr>
          <p:cNvPr id="4" name="Step1Text"/>
          <p:cNvSpPr txBox="1"/>
          <p:nvPr/>
        </p:nvSpPr>
        <p:spPr>
          <a:xfrm>
            <a:off x="274320" y="685800"/>
            <a:ext cx="10570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신세계 민부리 Bold(TTF)" pitchFamily="34" charset="0"/>
                <a:ea typeface="신세계 민부리 Bold(TTF)" pitchFamily="34" charset="-122"/>
                <a:cs typeface="신세계 민부리 Bold(TTF)" pitchFamily="34" charset="-120"/>
              </a:rPr>
              <a:t>① 공모 설계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신세계 민부리 Light(TTF)" pitchFamily="34" charset="0"/>
                <a:ea typeface="신세계 민부리 Light(TTF)" pitchFamily="34" charset="-122"/>
                <a:cs typeface="신세계 민부리 Light(TTF)" pitchFamily="34" charset="-120"/>
              </a:rPr>
              <a:t>’26.4Q</a:t>
            </a:r>
            <a:endParaRPr lang="en-US" sz="1050" dirty="0"/>
          </a:p>
        </p:txBody>
      </p:sp>
      <p:sp>
        <p:nvSpPr>
          <p:cNvPr id="5" name="Arrow1"/>
          <p:cNvSpPr/>
          <p:nvPr/>
        </p:nvSpPr>
        <p:spPr>
          <a:xfrm>
            <a:off x="1386230" y="886968"/>
            <a:ext cx="146304" cy="164592"/>
          </a:xfrm>
          <a:prstGeom prst="right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6" name="Step2Box"/>
          <p:cNvSpPr/>
          <p:nvPr/>
        </p:nvSpPr>
        <p:spPr>
          <a:xfrm>
            <a:off x="1587398" y="685800"/>
            <a:ext cx="1057046" cy="566928"/>
          </a:xfrm>
          <a:prstGeom prst="roundRect">
            <a:avLst>
              <a:gd name="adj" fmla="val 12903"/>
            </a:avLst>
          </a:prstGeom>
          <a:solidFill>
            <a:srgbClr val="1F3A6E"/>
          </a:solidFill>
          <a:ln w="15875">
            <a:solidFill>
              <a:srgbClr val="1F3A6E"/>
            </a:solidFill>
            <a:prstDash val="solid"/>
          </a:ln>
        </p:spPr>
      </p:sp>
      <p:sp>
        <p:nvSpPr>
          <p:cNvPr id="7" name="Step2Text"/>
          <p:cNvSpPr txBox="1"/>
          <p:nvPr/>
        </p:nvSpPr>
        <p:spPr>
          <a:xfrm>
            <a:off x="1587398" y="685800"/>
            <a:ext cx="10570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신세계 민부리 Bold(TTF)" pitchFamily="34" charset="0"/>
                <a:ea typeface="신세계 민부리 Bold(TTF)" pitchFamily="34" charset="-122"/>
                <a:cs typeface="신세계 민부리 Bold(TTF)" pitchFamily="34" charset="-120"/>
              </a:rPr>
              <a:t>② 민간 제안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CE3EF"/>
                </a:solidFill>
                <a:latin typeface="신세계 민부리 Light(TTF)" pitchFamily="34" charset="0"/>
                <a:ea typeface="신세계 민부리 Light(TTF)" pitchFamily="34" charset="-122"/>
                <a:cs typeface="신세계 민부리 Light(TTF)" pitchFamily="34" charset="-120"/>
              </a:rPr>
              <a:t>’27.1Q</a:t>
            </a:r>
            <a:endParaRPr lang="en-US" sz="1050" dirty="0"/>
          </a:p>
        </p:txBody>
      </p:sp>
      <p:sp>
        <p:nvSpPr>
          <p:cNvPr id="8" name="Arrow2"/>
          <p:cNvSpPr/>
          <p:nvPr/>
        </p:nvSpPr>
        <p:spPr>
          <a:xfrm>
            <a:off x="2699309" y="886968"/>
            <a:ext cx="146304" cy="164592"/>
          </a:xfrm>
          <a:prstGeom prst="right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9" name="Step3Box"/>
          <p:cNvSpPr/>
          <p:nvPr/>
        </p:nvSpPr>
        <p:spPr>
          <a:xfrm>
            <a:off x="2900477" y="685800"/>
            <a:ext cx="105704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1F3A6E"/>
            </a:solidFill>
            <a:prstDash val="solid"/>
          </a:ln>
        </p:spPr>
      </p:sp>
      <p:sp>
        <p:nvSpPr>
          <p:cNvPr id="10" name="Step3Text"/>
          <p:cNvSpPr txBox="1"/>
          <p:nvPr/>
        </p:nvSpPr>
        <p:spPr>
          <a:xfrm>
            <a:off x="2900477" y="685800"/>
            <a:ext cx="10570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신세계 민부리 Bold(TTF)" pitchFamily="34" charset="0"/>
                <a:ea typeface="신세계 민부리 Bold(TTF)" pitchFamily="34" charset="-122"/>
                <a:cs typeface="신세계 민부리 Bold(TTF)" pitchFamily="34" charset="-120"/>
              </a:rPr>
              <a:t>③ 검토 / 심의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신세계 민부리 Light(TTF)" pitchFamily="34" charset="0"/>
                <a:ea typeface="신세계 민부리 Light(TTF)" pitchFamily="34" charset="-122"/>
                <a:cs typeface="신세계 민부리 Light(TTF)" pitchFamily="34" charset="-120"/>
              </a:rPr>
              <a:t>’27.2Q ~ 4Q</a:t>
            </a:r>
            <a:endParaRPr lang="en-US" sz="1050" dirty="0"/>
          </a:p>
        </p:txBody>
      </p:sp>
      <p:sp>
        <p:nvSpPr>
          <p:cNvPr id="11" name="Arrow3"/>
          <p:cNvSpPr/>
          <p:nvPr/>
        </p:nvSpPr>
        <p:spPr>
          <a:xfrm>
            <a:off x="4012387" y="886968"/>
            <a:ext cx="146304" cy="164592"/>
          </a:xfrm>
          <a:prstGeom prst="right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2" name="Step4Box"/>
          <p:cNvSpPr/>
          <p:nvPr/>
        </p:nvSpPr>
        <p:spPr>
          <a:xfrm>
            <a:off x="4213555" y="685800"/>
            <a:ext cx="105704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1F3A6E"/>
            </a:solidFill>
            <a:prstDash val="solid"/>
          </a:ln>
        </p:spPr>
      </p:sp>
      <p:sp>
        <p:nvSpPr>
          <p:cNvPr id="13" name="Step4Text"/>
          <p:cNvSpPr txBox="1"/>
          <p:nvPr/>
        </p:nvSpPr>
        <p:spPr>
          <a:xfrm>
            <a:off x="4213555" y="685800"/>
            <a:ext cx="10570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신세계 민부리 Bold(TTF)" pitchFamily="34" charset="0"/>
                <a:ea typeface="신세계 민부리 Bold(TTF)" pitchFamily="34" charset="-122"/>
                <a:cs typeface="신세계 민부리 Bold(TTF)" pitchFamily="34" charset="-120"/>
              </a:rPr>
              <a:t>④ 공고 / 협약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신세계 민부리 Light(TTF)" pitchFamily="34" charset="0"/>
                <a:ea typeface="신세계 민부리 Light(TTF)" pitchFamily="34" charset="-122"/>
                <a:cs typeface="신세계 민부리 Light(TTF)" pitchFamily="34" charset="-120"/>
              </a:rPr>
              <a:t>’28.1Q ~ 3Q</a:t>
            </a:r>
            <a:endParaRPr lang="en-US" sz="1050" dirty="0"/>
          </a:p>
        </p:txBody>
      </p:sp>
      <p:sp>
        <p:nvSpPr>
          <p:cNvPr id="14" name="Arrow4"/>
          <p:cNvSpPr/>
          <p:nvPr/>
        </p:nvSpPr>
        <p:spPr>
          <a:xfrm>
            <a:off x="5325466" y="886968"/>
            <a:ext cx="146304" cy="164592"/>
          </a:xfrm>
          <a:prstGeom prst="right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5" name="Step5Box"/>
          <p:cNvSpPr/>
          <p:nvPr/>
        </p:nvSpPr>
        <p:spPr>
          <a:xfrm>
            <a:off x="5526634" y="685800"/>
            <a:ext cx="105704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1F3A6E"/>
            </a:solidFill>
            <a:prstDash val="solid"/>
          </a:ln>
        </p:spPr>
      </p:sp>
      <p:sp>
        <p:nvSpPr>
          <p:cNvPr id="16" name="Step5Text"/>
          <p:cNvSpPr txBox="1"/>
          <p:nvPr/>
        </p:nvSpPr>
        <p:spPr>
          <a:xfrm>
            <a:off x="5526634" y="685800"/>
            <a:ext cx="10570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신세계 민부리 Bold(TTF)" pitchFamily="34" charset="0"/>
                <a:ea typeface="신세계 민부리 Bold(TTF)" pitchFamily="34" charset="-122"/>
                <a:cs typeface="신세계 민부리 Bold(TTF)" pitchFamily="34" charset="-120"/>
              </a:rPr>
              <a:t>⑤ 착공 / 개장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신세계 민부리 Light(TTF)" pitchFamily="34" charset="0"/>
                <a:ea typeface="신세계 민부리 Light(TTF)" pitchFamily="34" charset="-122"/>
                <a:cs typeface="신세계 민부리 Light(TTF)" pitchFamily="34" charset="-120"/>
              </a:rPr>
              <a:t>’28.下 ~ ’29.初</a:t>
            </a:r>
            <a:endParaRPr lang="en-US" sz="1050" dirty="0"/>
          </a:p>
        </p:txBody>
      </p:sp>
      <p:sp>
        <p:nvSpPr>
          <p:cNvPr id="17" name="Item1"/>
          <p:cNvSpPr txBox="1"/>
          <p:nvPr/>
        </p:nvSpPr>
        <p:spPr>
          <a:xfrm>
            <a:off x="274320" y="1508760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F3A6E"/>
                </a:solidFill>
                <a:latin typeface="신세계 민부리 Bold(TTF)" pitchFamily="34" charset="0"/>
                <a:ea typeface="신세계 민부리 Bold(TTF)" pitchFamily="34" charset="-122"/>
                <a:cs typeface="신세계 민부리 Bold(TTF)" pitchFamily="34" charset="-120"/>
              </a:rPr>
              <a:t>① 공모 설계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595959"/>
                </a:solidFill>
                <a:latin typeface="신세계 민부리 Light(TTF)" pitchFamily="34" charset="0"/>
                <a:ea typeface="신세계 민부리 Light(TTF)" pitchFamily="34" charset="-122"/>
                <a:cs typeface="신세계 민부리 Light(TTF)" pitchFamily="34" charset="-120"/>
              </a:rPr>
              <a:t>(’26.4Q)  </a:t>
            </a:r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62626"/>
                </a:solidFill>
                <a:latin typeface="신세계 민부리 Bold(TTF)" pitchFamily="34" charset="0"/>
                <a:ea typeface="신세계 민부리 Bold(TTF)" pitchFamily="34" charset="-122"/>
                <a:cs typeface="신세계 민부리 Bold(TTF)" pitchFamily="34" charset="-120"/>
              </a:rPr>
              <a:t>효성 해지시지급금 합의 · 市 공모 기준 협의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신세계 민부리 Light(TTF)" pitchFamily="34" charset="0"/>
                <a:ea typeface="신세계 민부리 Light(TTF)" pitchFamily="34" charset="-122"/>
                <a:cs typeface="신세계 민부리 Light(TTF)" pitchFamily="34" charset="-120"/>
              </a:rPr>
              <a:t>      → 광고사업 불가를 근거로 300억 제시 / 민투법 적용 기준 협의 (투자비 · 공공성 등)</a:t>
            </a:r>
            <a:endParaRPr lang="en-US" sz="950" dirty="0"/>
          </a:p>
        </p:txBody>
      </p:sp>
      <p:sp>
        <p:nvSpPr>
          <p:cNvPr id="18" name="Item2"/>
          <p:cNvSpPr txBox="1"/>
          <p:nvPr/>
        </p:nvSpPr>
        <p:spPr>
          <a:xfrm>
            <a:off x="274320" y="1965960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F3A6E"/>
                </a:solidFill>
                <a:latin typeface="신세계 민부리 Bold(TTF)" pitchFamily="34" charset="0"/>
                <a:ea typeface="신세계 민부리 Bold(TTF)" pitchFamily="34" charset="-122"/>
                <a:cs typeface="신세계 민부리 Bold(TTF)" pitchFamily="34" charset="-120"/>
              </a:rPr>
              <a:t>② 민간 제안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595959"/>
                </a:solidFill>
                <a:latin typeface="신세계 민부리 Light(TTF)" pitchFamily="34" charset="0"/>
                <a:ea typeface="신세계 민부리 Light(TTF)" pitchFamily="34" charset="-122"/>
                <a:cs typeface="신세계 민부리 Light(TTF)" pitchFamily="34" charset="-120"/>
              </a:rPr>
              <a:t>(’27.1Q)  </a:t>
            </a:r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62626"/>
                </a:solidFill>
                <a:latin typeface="신세계 민부리 Bold(TTF)" pitchFamily="34" charset="0"/>
                <a:ea typeface="신세계 민부리 Bold(TTF)" pitchFamily="34" charset="-122"/>
                <a:cs typeface="신세계 민부리 Bold(TTF)" pitchFamily="34" charset="-120"/>
              </a:rPr>
              <a:t>통합사업 제안서 제출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신세계 민부리 Light(TTF)" pitchFamily="34" charset="0"/>
                <a:ea typeface="신세계 민부리 Light(TTF)" pitchFamily="34" charset="-122"/>
                <a:cs typeface="신세계 민부리 Light(TTF)" pitchFamily="34" charset="-120"/>
              </a:rPr>
              <a:t>      → 기본설계 · 공공성 방안 · 통합운영 방안 포함</a:t>
            </a:r>
            <a:endParaRPr lang="en-US" sz="950" dirty="0"/>
          </a:p>
        </p:txBody>
      </p:sp>
      <p:sp>
        <p:nvSpPr>
          <p:cNvPr id="19" name="Item3"/>
          <p:cNvSpPr txBox="1"/>
          <p:nvPr/>
        </p:nvSpPr>
        <p:spPr>
          <a:xfrm>
            <a:off x="274320" y="2423160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F3A6E"/>
                </a:solidFill>
                <a:latin typeface="신세계 민부리 Bold(TTF)" pitchFamily="34" charset="0"/>
                <a:ea typeface="신세계 민부리 Bold(TTF)" pitchFamily="34" charset="-122"/>
                <a:cs typeface="신세계 민부리 Bold(TTF)" pitchFamily="34" charset="-120"/>
              </a:rPr>
              <a:t>③ 검토 / 심의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595959"/>
                </a:solidFill>
                <a:latin typeface="신세계 민부리 Light(TTF)" pitchFamily="34" charset="0"/>
                <a:ea typeface="신세계 민부리 Light(TTF)" pitchFamily="34" charset="-122"/>
                <a:cs typeface="신세계 민부리 Light(TTF)" pitchFamily="34" charset="-120"/>
              </a:rPr>
              <a:t>(’27.2Q ~ 4Q)  </a:t>
            </a:r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62626"/>
                </a:solidFill>
                <a:latin typeface="신세계 민부리 Bold(TTF)" pitchFamily="34" charset="0"/>
                <a:ea typeface="신세계 민부리 Bold(TTF)" pitchFamily="34" charset="-122"/>
                <a:cs typeface="신세계 민부리 Bold(TTF)" pitchFamily="34" charset="-120"/>
              </a:rPr>
              <a:t>적격성 검토 → 민투심 · 市의회 동의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신세계 민부리 Light(TTF)" pitchFamily="34" charset="0"/>
                <a:ea typeface="신세계 민부리 Light(TTF)" pitchFamily="34" charset="-122"/>
                <a:cs typeface="신세계 민부리 Light(TTF)" pitchFamily="34" charset="-120"/>
              </a:rPr>
              <a:t>      → 해지시지급금의 총사업비 인정 + 공공성 설명으로 운영기간 30년 + α 확보</a:t>
            </a:r>
            <a:endParaRPr lang="en-US" sz="950" dirty="0"/>
          </a:p>
        </p:txBody>
      </p:sp>
      <p:sp>
        <p:nvSpPr>
          <p:cNvPr id="20" name="Item4"/>
          <p:cNvSpPr txBox="1"/>
          <p:nvPr/>
        </p:nvSpPr>
        <p:spPr>
          <a:xfrm>
            <a:off x="274320" y="2880360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F3A6E"/>
                </a:solidFill>
                <a:latin typeface="신세계 민부리 Bold(TTF)" pitchFamily="34" charset="0"/>
                <a:ea typeface="신세계 민부리 Bold(TTF)" pitchFamily="34" charset="-122"/>
                <a:cs typeface="신세계 민부리 Bold(TTF)" pitchFamily="34" charset="-120"/>
              </a:rPr>
              <a:t>④ 공고 / 협약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595959"/>
                </a:solidFill>
                <a:latin typeface="신세계 민부리 Light(TTF)" pitchFamily="34" charset="0"/>
                <a:ea typeface="신세계 민부리 Light(TTF)" pitchFamily="34" charset="-122"/>
                <a:cs typeface="신세계 민부리 Light(TTF)" pitchFamily="34" charset="-120"/>
              </a:rPr>
              <a:t>(’28.1Q ~ 3Q)  </a:t>
            </a:r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62626"/>
                </a:solidFill>
                <a:latin typeface="신세계 민부리 Bold(TTF)" pitchFamily="34" charset="0"/>
                <a:ea typeface="신세계 민부리 Bold(TTF)" pitchFamily="34" charset="-122"/>
                <a:cs typeface="신세계 민부리 Bold(TTF)" pitchFamily="34" charset="-120"/>
              </a:rPr>
              <a:t>제3자 제안공고 → 우선협상 → 실시협약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신세계 민부리 Light(TTF)" pitchFamily="34" charset="0"/>
                <a:ea typeface="신세계 민부리 Light(TTF)" pitchFamily="34" charset="-122"/>
                <a:cs typeface="신세계 민부리 Light(TTF)" pitchFamily="34" charset="-120"/>
              </a:rPr>
              <a:t>      → 세빛섬 연계 · MD 역량으로 경쟁 우위 / 市 협상조건 · 사업계획 확정</a:t>
            </a:r>
            <a:endParaRPr lang="en-US" sz="950" dirty="0"/>
          </a:p>
        </p:txBody>
      </p:sp>
      <p:sp>
        <p:nvSpPr>
          <p:cNvPr id="21" name="Item5"/>
          <p:cNvSpPr txBox="1"/>
          <p:nvPr/>
        </p:nvSpPr>
        <p:spPr>
          <a:xfrm>
            <a:off x="274320" y="3337560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F3A6E"/>
                </a:solidFill>
                <a:latin typeface="신세계 민부리 Bold(TTF)" pitchFamily="34" charset="0"/>
                <a:ea typeface="신세계 민부리 Bold(TTF)" pitchFamily="34" charset="-122"/>
                <a:cs typeface="신세계 민부리 Bold(TTF)" pitchFamily="34" charset="-120"/>
              </a:rPr>
              <a:t>⑤ 착공 / 개장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595959"/>
                </a:solidFill>
                <a:latin typeface="신세계 민부리 Light(TTF)" pitchFamily="34" charset="0"/>
                <a:ea typeface="신세계 민부리 Light(TTF)" pitchFamily="34" charset="-122"/>
                <a:cs typeface="신세계 민부리 Light(TTF)" pitchFamily="34" charset="-120"/>
              </a:rPr>
              <a:t>(’28.下 ~ ’29.初)  </a:t>
            </a:r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62626"/>
                </a:solidFill>
                <a:latin typeface="신세계 민부리 Bold(TTF)" pitchFamily="34" charset="0"/>
                <a:ea typeface="신세계 민부리 Bold(TTF)" pitchFamily="34" charset="-122"/>
                <a:cs typeface="신세계 민부리 Bold(TTF)" pitchFamily="34" charset="-120"/>
              </a:rPr>
              <a:t>세빛섬 리모델링 착공 · 세빛섬 / 푸드존 준공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신세계 민부리 Light(TTF)" pitchFamily="34" charset="0"/>
                <a:ea typeface="신세계 민부리 Light(TTF)" pitchFamily="34" charset="-122"/>
                <a:cs typeface="신세계 민부리 Light(TTF)" pitchFamily="34" charset="-120"/>
              </a:rPr>
              <a:t>      → 百 협업 테넌트 유치 / 통합 그랜드 오픈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2026-10-06T09:03:51Z</dcterms:created>
  <dcterms:modified xsi:type="dcterms:W3CDTF">2026-10-06T09:03:51Z</dcterms:modified>
</cp:coreProperties>
</file>