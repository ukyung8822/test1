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905695"/>
  <p:notesSz cx="9905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74320" y="20116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■ 세빛섬 · 반포 수상푸드존 개발계획</a:t>
            </a:r>
            <a:endParaRPr lang="en-US" sz="1500" dirty="0"/>
          </a:p>
        </p:txBody>
      </p:sp>
      <p:pic>
        <p:nvPicPr>
          <p:cNvPr id="3" name="LocationMap" descr="/tmp/claude-0/-home-user-test1/b2f68979-7a1d-51f0-8c55-22d087e3faba/scratchpad/img/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03504"/>
            <a:ext cx="2724912" cy="1463040"/>
          </a:xfrm>
          <a:prstGeom prst="rect">
            <a:avLst/>
          </a:prstGeom>
        </p:spPr>
      </p:pic>
      <p:pic>
        <p:nvPicPr>
          <p:cNvPr id="4" name="SebitPhoto" descr="/tmp/claude-0/-home-user-test1/b2f68979-7a1d-51f0-8c55-22d087e3faba/scratchpad/img/seb_cro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84" y="603504"/>
            <a:ext cx="1700784" cy="1463040"/>
          </a:xfrm>
          <a:prstGeom prst="rect">
            <a:avLst/>
          </a:prstGeom>
        </p:spPr>
      </p:pic>
      <p:pic>
        <p:nvPicPr>
          <p:cNvPr id="5" name="FoodzonePhoto" descr="/tmp/claude-0/-home-user-test1/b2f68979-7a1d-51f0-8c55-22d087e3faba/scratchpad/img/food_cro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603504"/>
            <a:ext cx="1737360" cy="1463040"/>
          </a:xfrm>
          <a:prstGeom prst="rect">
            <a:avLst/>
          </a:prstGeom>
        </p:spPr>
      </p:pic>
      <p:sp>
        <p:nvSpPr>
          <p:cNvPr id="6" name="SebitChip"/>
          <p:cNvSpPr txBox="1"/>
          <p:nvPr/>
        </p:nvSpPr>
        <p:spPr>
          <a:xfrm>
            <a:off x="3127248" y="1792224"/>
            <a:ext cx="1188720" cy="219456"/>
          </a:xfrm>
          <a:prstGeom prst="rect">
            <a:avLst/>
          </a:prstGeom>
          <a:solidFill>
            <a:srgbClr val="1F3A6E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① 세빛섬 전경</a:t>
            </a:r>
            <a:endParaRPr lang="en-US" sz="900" dirty="0"/>
          </a:p>
        </p:txBody>
      </p:sp>
      <p:sp>
        <p:nvSpPr>
          <p:cNvPr id="7" name="FoodChip"/>
          <p:cNvSpPr txBox="1"/>
          <p:nvPr/>
        </p:nvSpPr>
        <p:spPr>
          <a:xfrm>
            <a:off x="4901184" y="1792224"/>
            <a:ext cx="1188720" cy="219456"/>
          </a:xfrm>
          <a:prstGeom prst="rect">
            <a:avLst/>
          </a:prstGeom>
          <a:solidFill>
            <a:srgbClr val="E2572B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② 수상푸드존 조감도</a:t>
            </a:r>
            <a:endParaRPr lang="en-US" sz="900" dirty="0"/>
          </a:p>
        </p:txBody>
      </p:sp>
      <p:graphicFrame>
        <p:nvGraphicFramePr>
          <p:cNvPr id="2" name="Compa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76272"/>
          <a:ext cx="63093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2798064"/>
                <a:gridCol w="2798064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구 분</a:t>
                      </a:r>
                      <a:endParaRPr lang="en-US" sz="100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① 세빛섬</a:t>
                      </a:r>
                      <a:endParaRPr lang="en-US" sz="100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② 반포 수상푸드존</a:t>
                      </a:r>
                      <a:endParaRPr lang="en-US" sz="100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572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주 체</a:t>
                      </a:r>
                      <a:endParaRPr lang="en-US" sz="90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당사 (리모델링 · 통합 운영)</a:t>
                      </a:r>
                      <a:endParaRPr lang="en-US" sz="9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서울시 (「리버시티 서울」 · 한강버스 연계)</a:t>
                      </a:r>
                      <a:endParaRPr lang="en-US" sz="9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규 모</a:t>
                      </a:r>
                      <a:endParaRPr lang="en-US" sz="90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3개 섬 약 2,474평 (가빛 1,487 · 채빛 760 · 솔빛 227)</a:t>
                      </a:r>
                      <a:endParaRPr lang="en-US" sz="9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연면적 2,797㎡ (약 846평) · 지상 2층 · 최대 2,400명</a:t>
                      </a:r>
                      <a:endParaRPr lang="en-US" sz="9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주요 시설</a:t>
                      </a:r>
                      <a:endParaRPr lang="en-US" sz="90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MICE 연회장 (JWM 협업) · 공연장 · 루프탑 라운지 · 百 큐레이션 F&amp;B</a:t>
                      </a:r>
                      <a:endParaRPr lang="en-US" sz="9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1F 음식판매 15개소 + 한강버스 선착장 (계류 10여 척) / 2F 카페 · 소공연</a:t>
                      </a:r>
                      <a:endParaRPr lang="en-US" sz="9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사업비</a:t>
                      </a:r>
                      <a:endParaRPr lang="en-US" sz="90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리모델링 517억 (당사 투자)</a:t>
                      </a:r>
                      <a:endParaRPr lang="en-US" sz="9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약 300억 (부담 주체 미정)</a:t>
                      </a:r>
                      <a:endParaRPr lang="en-US" sz="9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일 정</a:t>
                      </a:r>
                      <a:endParaRPr lang="en-US" sz="90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’27 착공 → ’28.下 재개장</a:t>
                      </a:r>
                      <a:endParaRPr lang="en-US" sz="9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’26 말 착공 → ’28 말 준공 → ’29 초 개장</a:t>
                      </a:r>
                      <a:endParaRPr lang="en-US" sz="9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역 할</a:t>
                      </a:r>
                      <a:endParaRPr lang="en-US" sz="90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A6E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체류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– MICE · 공연 · 프리미엄 F&amp;B / 연 매출 75 → 116억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2572B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유입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– 교통 (한강버스) · 캐주얼 F&amp;B · 2030 유동인구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B"/>
                    </a:solidFill>
                  </a:tcPr>
                </a:tc>
              </a:tr>
            </a:tbl>
          </a:graphicData>
        </a:graphic>
      </p:graphicFrame>
      <p:sp>
        <p:nvSpPr>
          <p:cNvPr id="9" name="Conclusion"/>
          <p:cNvSpPr txBox="1"/>
          <p:nvPr/>
        </p:nvSpPr>
        <p:spPr>
          <a:xfrm>
            <a:off x="274320" y="4370832"/>
            <a:ext cx="6309360" cy="329184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▶ 결합 효과  </a:t>
            </a:r>
            <a:pPr indent="0" marL="0">
              <a:buNone/>
            </a:pPr>
            <a:r>
              <a:rPr lang="en-US" sz="1000" b="1" dirty="0">
                <a:solidFill>
                  <a:srgbClr val="E2572B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푸드존 (유입) </a:t>
            </a:r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+ 수변 보행 450m + </a:t>
            </a:r>
            <a:pPr indent="0" marL="0">
              <a:buNone/>
            </a:pPr>
            <a:r>
              <a:rPr lang="en-US" sz="1000" b="1" dirty="0">
                <a:solidFill>
                  <a:srgbClr val="1F3A6E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세빛섬 (체류)</a:t>
            </a:r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  →  통합 공모 시 반포 수상 거점 완성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2026-10-06T06:43:30Z</dcterms:created>
  <dcterms:modified xsi:type="dcterms:W3CDTF">2026-10-06T06:43:30Z</dcterms:modified>
</cp:coreProperties>
</file>