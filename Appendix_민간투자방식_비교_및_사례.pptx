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182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[Appendix] 민간투자사업 방식 비교 및 대표 사례</a:t>
            </a:r>
            <a:endParaRPr lang="en-US" sz="1500" dirty="0"/>
          </a:p>
        </p:txBody>
      </p:sp>
      <p:sp>
        <p:nvSpPr>
          <p:cNvPr id="3" name="H1"/>
          <p:cNvSpPr txBox="1"/>
          <p:nvPr/>
        </p:nvSpPr>
        <p:spPr>
          <a:xfrm>
            <a:off x="274320" y="56692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민간투자사업 방식 비교</a:t>
            </a:r>
            <a:endParaRPr lang="en-US" sz="1200" dirty="0"/>
          </a:p>
        </p:txBody>
      </p:sp>
      <p:graphicFrame>
        <p:nvGraphicFramePr>
          <p:cNvPr id="2" name="Metho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59536"/>
          <a:ext cx="63093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40080"/>
                <a:gridCol w="457200"/>
                <a:gridCol w="548640"/>
                <a:gridCol w="457200"/>
                <a:gridCol w="621792"/>
                <a:gridCol w="548640"/>
                <a:gridCol w="868680"/>
                <a:gridCol w="877824"/>
                <a:gridCol w="877824"/>
              </a:tblGrid>
              <a:tr h="219456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 식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 조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투자비 회수 · 위험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주요 대상 · 사례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장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단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21945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개발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소유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운영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수익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위험부담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438912"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건설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수익형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도로 · 철도 · MICE (잠실, 서울링)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자율성, 초과수익 향유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부담, 소유권 없음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학교 · 기숙사 · 문화 · 복지시설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→ 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세빛섬 (現 협약)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소유권 보유 → 담보 · 운영 자율성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손상차손 · 배임 이슈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BOO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(국가 귀속 없음)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발전 · 에너지 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영구 소유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공유수면 시설 적용 곤란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개량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ROT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개량운영형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SOC · 기존 시설 리모델링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관리운영권 최대 100년 연장 허용 (’24)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인수 · 가치평가 필요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학교 · 공공청사 개량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1"/>
          <p:cNvSpPr txBox="1"/>
          <p:nvPr/>
        </p:nvSpPr>
        <p:spPr>
          <a:xfrm>
            <a:off x="274320" y="40873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3399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＊ 관리운영권 : 기본계획상 최장 50년 (’24.9 활성화 방안 : 개량운영형 최대 100년)   /   * 민간이 유지관리, 정부가 시설 사용</a:t>
            </a:r>
            <a:endParaRPr lang="en-US" sz="750" dirty="0"/>
          </a:p>
        </p:txBody>
      </p:sp>
      <p:sp>
        <p:nvSpPr>
          <p:cNvPr id="6" name="Takeaway1"/>
          <p:cNvSpPr txBox="1"/>
          <p:nvPr/>
        </p:nvSpPr>
        <p:spPr>
          <a:xfrm>
            <a:off x="274320" y="4343400"/>
            <a:ext cx="6309360" cy="31089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▶ 당사 적용안  </a:t>
            </a:r>
            <a:pPr indent="0" marL="0">
              <a:buNone/>
            </a:pPr>
            <a:r>
              <a:rPr lang="en-US" sz="9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개량운영형 (ROT) + 수상푸드존 BTO 결합 </a:t>
            </a:r>
            <a:pPr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소유권은 市 귀속 (손상차손 · 배임 리스크 회피), 관리운영권 50년 이상 확보 추진</a:t>
            </a:r>
            <a:endParaRPr lang="en-US" sz="900" dirty="0"/>
          </a:p>
        </p:txBody>
      </p:sp>
      <p:sp>
        <p:nvSpPr>
          <p:cNvPr id="7" name="H2"/>
          <p:cNvSpPr txBox="1"/>
          <p:nvPr/>
        </p:nvSpPr>
        <p:spPr>
          <a:xfrm>
            <a:off x="274320" y="5074920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대표 사례</a:t>
            </a:r>
            <a:endParaRPr lang="en-US" sz="1200" dirty="0"/>
          </a:p>
        </p:txBody>
      </p:sp>
      <p:graphicFrame>
        <p:nvGraphicFramePr>
          <p:cNvPr id="3" name="Cas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385816"/>
          <a:ext cx="6309360" cy="914400"/>
        </p:xfrm>
        <a:graphic>
          <a:graphicData uri="http://schemas.openxmlformats.org/drawingml/2006/table">
            <a:tbl>
              <a:tblPr/>
              <a:tblGrid>
                <a:gridCol w="740664"/>
                <a:gridCol w="1856232"/>
                <a:gridCol w="1856232"/>
                <a:gridCol w="185623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 례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잠실 스포츠 · MICE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서울링 (대관람차)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영등포역 상업시설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 내용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전시 (8.9만㎡) · 컨벤션 (1.9만㎡) + 돔야구장 + 호텔 · 업무 · 상업 복합단지 (코엑스의 2.5배)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높이 180m 고리형 대관람차 (캡슐 36개, 각 25인) — 고리형 기준 세계 최대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철도 민자역사 내 백화점 (롯데百 영등포점) 등 상업시설 — 국가 귀속 후 재운영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위치 · 규모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송파구 잠실종합운동장 일대 약 35만㎡ / 총사업비 2.7조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마포구 상암동 (하늘공원 → 평화의공원 변경) / 사업비 4,000억 → 1.08조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영등포구 영등포역사 / 국가철도공단 관리 (국유재산)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방식 · 기간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 (민간제안)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40년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 (민간제안)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운영기간 협상 전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민자역사 → 국가 귀속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사용허가 5년 + 갱신 (최장 10년)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㈜서울 스마트 마이스파크 (한화 건설부문 주관)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제안 컨소시엄 (제3자 공고 후 확정)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롯데쇼핑 (기존 운영자 재선정)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추진 경과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’16 최초제안 (무역협회) → ’21.12 한화 우선협상 선정 → ’26.7 실시협약 → ’32 준공 목표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’23.9 민투심 대상시설 인정 → 적격성조사 → ’25.8 사업비 증가로 민투심 연기, 제3자 공고 대기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’87 민자역사 개장 → ’17.12 점용허가 30년 만료 · 국가 귀속 → ’19 공모, 롯데 재낙찰 → ’26.9 재입찰로 10년 사용권 확보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당사 시사점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최초제안자도 경쟁에서 탈락 가능 → 제안 가점보다 콘텐츠 차별화가 관건 / 제안 → 협약 약 10년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비전형 시설도 포괄주의로 민자 대상 인정 → 「세빛섬 + 푸드존 = 공공 수변시설」 논리의 선례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재공모 (사용허가) 방식은 최장 10년 수준 → 세빛섬은 민투법 경로로 50년 확보 필요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274320" y="8732520"/>
            <a:ext cx="6309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＊ 출처 : 서울시 · 기획재정부 보도자료 및 언론 보도 종합 (’26.10 기준) / 서울링은 진행 중 사업으로 일정 변동 가능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2026-10-06T07:39:21Z</dcterms:created>
  <dcterms:modified xsi:type="dcterms:W3CDTF">2026-10-06T07:39:21Z</dcterms:modified>
</cp:coreProperties>
</file>