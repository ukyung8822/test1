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6858000" cy="9905695"/>
  <p:notesSz cx="9905695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274320" y="182880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[Appendix] 민간투자사업 방식 비교 및 대표 사례</a:t>
            </a:r>
            <a:endParaRPr lang="en-US" sz="1500" dirty="0"/>
          </a:p>
        </p:txBody>
      </p:sp>
      <p:sp>
        <p:nvSpPr>
          <p:cNvPr id="3" name="H1"/>
          <p:cNvSpPr txBox="1"/>
          <p:nvPr/>
        </p:nvSpPr>
        <p:spPr>
          <a:xfrm>
            <a:off x="274320" y="566928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■ 민간투자사업 방식 비교</a:t>
            </a:r>
            <a:endParaRPr lang="en-US" sz="1200" dirty="0"/>
          </a:p>
        </p:txBody>
      </p:sp>
      <p:graphicFrame>
        <p:nvGraphicFramePr>
          <p:cNvPr id="2" name="Method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59536"/>
          <a:ext cx="630936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640080"/>
                <a:gridCol w="457200"/>
                <a:gridCol w="548640"/>
                <a:gridCol w="457200"/>
                <a:gridCol w="621792"/>
                <a:gridCol w="548640"/>
                <a:gridCol w="868680"/>
                <a:gridCol w="877824"/>
                <a:gridCol w="877824"/>
              </a:tblGrid>
              <a:tr h="219456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구분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방 식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구 조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투자비 회수 · 위험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 hMerge="1">
                  <a:tcPr/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주요 대상 · 사례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장 점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단 점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</a:tr>
              <a:tr h="219456"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개발</a:t>
                      </a:r>
                      <a:endParaRPr lang="en-US" sz="80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소유</a:t>
                      </a:r>
                      <a:endParaRPr lang="en-US" sz="80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운영</a:t>
                      </a:r>
                      <a:endParaRPr lang="en-US" sz="80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수익</a:t>
                      </a:r>
                      <a:endParaRPr lang="en-US" sz="80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위험부담</a:t>
                      </a:r>
                      <a:endParaRPr lang="en-US" sz="80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F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438912">
                <a:tc rowSpan="4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건설</a:t>
                      </a:r>
                      <a:endParaRPr lang="en-US" sz="90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BTO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</a:rPr>
                        <a:t>수익형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국가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이용자 사용료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도로 · 철도 · MICE (잠실)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운영 자율성, 초과수익 향유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수요위험 부담, 소유권 없음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BTL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</a:rPr>
                        <a:t>임대형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국가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민간*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정부 임대료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정부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학교 · 기숙사 · 박물관 (국립해양박물관)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정부 지급으로 수익 안정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수익률 상한, 상업시설 부적합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BOT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 → 국가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이용자 사용료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수변 관광시설 (세빛섬, 서울마리나)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소유권 보유 → 담보 · 운영 자율성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손상차손 · 배임 이슈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BOO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 (국가 귀속 없음)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이용자 사용료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발전 · 에너지 시설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영구 소유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한강 공유수면 시설 적용 곤란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개량</a:t>
                      </a:r>
                      <a:endParaRPr lang="en-US" sz="90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ROT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</a:rPr>
                        <a:t>개량운영형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국가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이용자 사용료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노후 SOC · 기존 시설 리모델링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관리운영권 최대 100년 연장 허용 (’24)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기존 시설 인수 · 가치평가 필요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438912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RTL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</a:rPr>
                        <a:t>개량임대형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국가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민간*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정부 임대료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정부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노후 학교 · 공공청사 개량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정부 지급으로 수익 안정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수익률 상한, 상업시설 부적합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Note1"/>
          <p:cNvSpPr txBox="1"/>
          <p:nvPr/>
        </p:nvSpPr>
        <p:spPr>
          <a:xfrm>
            <a:off x="274320" y="40873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3399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＊ 관리운영권 : 기본계획상 최장 50년 (’24.9 활성화 방안 : 개량운영형 최대 100년)   /   * 민간이 유지관리, 정부가 시설 사용</a:t>
            </a:r>
            <a:endParaRPr lang="en-US" sz="750" dirty="0"/>
          </a:p>
        </p:txBody>
      </p:sp>
      <p:sp>
        <p:nvSpPr>
          <p:cNvPr id="6" name="Takeaway1"/>
          <p:cNvSpPr txBox="1"/>
          <p:nvPr/>
        </p:nvSpPr>
        <p:spPr>
          <a:xfrm>
            <a:off x="274320" y="4343400"/>
            <a:ext cx="6309360" cy="310896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▶ 당사 적용안  </a:t>
            </a:r>
            <a:pPr indent="0" marL="0">
              <a:buNone/>
            </a:pPr>
            <a:r>
              <a:rPr lang="en-US" sz="900" b="1" dirty="0">
                <a:solidFill>
                  <a:srgbClr val="1F3A6E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세빛섬 개량운영형 (ROT) + 수상푸드존 BTO 결합 </a:t>
            </a:r>
            <a:pPr indent="0" marL="0">
              <a:buNone/>
            </a:pPr>
            <a:r>
              <a:rPr lang="en-US" sz="900" dirty="0">
                <a:solidFill>
                  <a:srgbClr val="262626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→ 소유권은 市 귀속 (손상차손 · 배임 리스크 회피), 관리운영권 50년 이상 확보 추진</a:t>
            </a:r>
            <a:endParaRPr lang="en-US" sz="900" dirty="0"/>
          </a:p>
        </p:txBody>
      </p:sp>
      <p:sp>
        <p:nvSpPr>
          <p:cNvPr id="7" name="H2"/>
          <p:cNvSpPr txBox="1"/>
          <p:nvPr/>
        </p:nvSpPr>
        <p:spPr>
          <a:xfrm>
            <a:off x="274320" y="4818888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■ 대표 사례</a:t>
            </a:r>
            <a:endParaRPr lang="en-US" sz="1200" dirty="0"/>
          </a:p>
        </p:txBody>
      </p:sp>
      <p:graphicFrame>
        <p:nvGraphicFramePr>
          <p:cNvPr id="3" name="Case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5129784"/>
          <a:ext cx="6309360" cy="914400"/>
        </p:xfrm>
        <a:graphic>
          <a:graphicData uri="http://schemas.openxmlformats.org/drawingml/2006/table">
            <a:tbl>
              <a:tblPr/>
              <a:tblGrid>
                <a:gridCol w="676656"/>
                <a:gridCol w="1408176"/>
                <a:gridCol w="1408176"/>
                <a:gridCol w="1408176"/>
                <a:gridCol w="1408176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BTO</a:t>
                      </a:r>
                      <a:endParaRPr lang="en-US" sz="9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BTL</a:t>
                      </a:r>
                      <a:endParaRPr lang="en-US" sz="9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BOT</a:t>
                      </a:r>
                      <a:endParaRPr lang="en-US" sz="9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재공모</a:t>
                      </a:r>
                      <a:endParaRPr lang="en-US" sz="9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사 례</a:t>
                      </a:r>
                      <a:endParaRPr lang="en-US" sz="9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잠실 스포츠 · MICE</a:t>
                      </a:r>
                      <a:endParaRPr lang="en-US" sz="9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국립해양박물관</a:t>
                      </a:r>
                      <a:endParaRPr lang="en-US" sz="9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여의도 서울마리나</a:t>
                      </a:r>
                      <a:endParaRPr lang="en-US" sz="9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영등포역 상업시설</a:t>
                      </a:r>
                      <a:endParaRPr lang="en-US" sz="9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내 용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전시 · 컨벤션 + 돔야구장 + 호텔 · 업무 · 상업 복합단지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국내 최대 해양 전문 박물관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한강 요트 마리나 (계류시설 · 클럽하우스)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민자역사 내 백화점 (롯데百 영등포점)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위치 / 규모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잠실종합운동장 일대 35만㎡ (코엑스의 2.5배)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부산 영도구 / 연면적 2.5만㎡, 지상 4층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여의도 한강공원 (국회 앞) / 요트 약 90척 계류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영등포구 영등포역사 / 국가철도공단 관리 (국유재산)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사업비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총사업비 2.7조 (민간 조달)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총사업비 1,142억 (민간 1,019억 + 재정 123억)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市 수역 · 진입로 조성 + 민간 계류시설 · 클럽하우스 투자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신규 건설 없음 (기존 시설 사용, 국유재산 사용료 납부)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방식 · 기간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BTO (민간제안)</a:t>
                      </a:r>
                      <a:endParaRPr lang="en-US" sz="850" dirty="0"/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운영 40년, 이용료로 회수</a:t>
                      </a:r>
                      <a:endParaRPr lang="en-US" sz="8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BTL</a:t>
                      </a:r>
                      <a:endParaRPr lang="en-US" sz="850" dirty="0"/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운영 20년, 정부 임대료로 회수</a:t>
                      </a:r>
                      <a:endParaRPr lang="en-US" sz="8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BOT</a:t>
                      </a:r>
                      <a:endParaRPr lang="en-US" sz="850" dirty="0"/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20년 운영 후 ’31 서울시 기부채납</a:t>
                      </a:r>
                      <a:endParaRPr lang="en-US" sz="8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민자역사 → 국가 귀속</a:t>
                      </a:r>
                      <a:endParaRPr lang="en-US" sz="850" dirty="0"/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사용허가 5년 + 갱신 (최장 10년)</a:t>
                      </a:r>
                      <a:endParaRPr lang="en-US" sz="8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사업자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㈜서울 스마트 마이스파크 (한화 건설부문 주관)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해양문화㈜ (태영건설 컨소시엄) — 시설 유지관리, 전시 운영은 공공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 운영사 (요트 계류 · 클럽하우스 운영)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롯데쇼핑 (기존 운영자 재선정)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6262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추진 경과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’16 최초제안 (무역협회) → ’21.12 한화 우선협상 → ’26.7 실시협약 → ’32 준공 목표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’09.7 실시협약 → ’09.12 착공 → ’12.7 개관 → ’32 임대기간 종료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’11 개장 → ’21 운영사 재무 악화로 경매 → ’31 기부채납 예정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62626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’87 개장 → ’17.12 점용 30년 만료 · 국가 귀속 → ’19 롯데 재낙찰 → ’26.9 10년 재확보</a:t>
                      </a:r>
                      <a:endParaRPr lang="en-US" sz="85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ource"/>
          <p:cNvSpPr txBox="1"/>
          <p:nvPr/>
        </p:nvSpPr>
        <p:spPr>
          <a:xfrm>
            <a:off x="274320" y="9089136"/>
            <a:ext cx="6309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95959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＊ 출처 : 서울시 · 기획재정부 보도자료 및 언론 보도 종합 (’26.10 기준) 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2026-10-06T07:53:07Z</dcterms:created>
  <dcterms:modified xsi:type="dcterms:W3CDTF">2026-10-06T07:53:07Z</dcterms:modified>
</cp:coreProperties>
</file>