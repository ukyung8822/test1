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1828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[Appendix] 민간투자사업 방식 비교 및 대표 사례</a:t>
            </a:r>
            <a:endParaRPr lang="en-US" sz="1500" dirty="0"/>
          </a:p>
        </p:txBody>
      </p:sp>
      <p:sp>
        <p:nvSpPr>
          <p:cNvPr id="3" name="H1"/>
          <p:cNvSpPr txBox="1"/>
          <p:nvPr/>
        </p:nvSpPr>
        <p:spPr>
          <a:xfrm>
            <a:off x="274320" y="56692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민간투자사업 방식 비교</a:t>
            </a:r>
            <a:endParaRPr lang="en-US" sz="1200" dirty="0"/>
          </a:p>
        </p:txBody>
      </p:sp>
      <p:graphicFrame>
        <p:nvGraphicFramePr>
          <p:cNvPr id="2" name="Metho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59536"/>
          <a:ext cx="630936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261872"/>
                <a:gridCol w="1024128"/>
                <a:gridCol w="1005840"/>
                <a:gridCol w="978408"/>
                <a:gridCol w="1005840"/>
                <a:gridCol w="3200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방 식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구 조 (소유권 · 운영)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투자비 회수 · 위험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주요 대상 · 사례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장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단 점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적합</a:t>
                      </a:r>
                      <a:endParaRPr lang="en-US" sz="85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6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수익형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준공 시 소유권 국가 귀속 → 민간이 관리운영권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 / 수요위험 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도로 · 철도 · MICE (잠실, 서울링)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 자율성, 초과수익 향유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부담, 소유권 없음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A6E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◎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임대형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준공 시 귀속 → 정부에 시설 임대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 지급 / 수요위험 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학교 · 기숙사 · 문화 · 복지시설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지급으로 수익 안정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수익률 상한, 상업시설 부적합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6A6A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✕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BOT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운영기간 민간 소유 → 종료 후 귀속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 / 수요위험 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세빛섬 (現 협약)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소유권 보유 → 담보 · 운영 자율성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손상차손 · 배임 이슈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95959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△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BOO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민간이 영구 소유 · 운영 (귀속 없음)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이용자 사용료 / 수요위험 민간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발전 · 에너지 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영구 소유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한강 공유수면 시설 적용 곤란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6A6A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✕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BLT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민간 소유 · 정부에 임대 → 종료 후 귀속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임대료 / 수요위험 정부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활용 사례 적음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정부 지급 안정성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자산 보유 부담 + 수익 상한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6A6A6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✕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ROT · RTL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개량운영형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개량 · 증설 → 관리운영권 (RTL은 정부 임대)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이용료 (RTL : 임대료)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노후 SOC 리모델링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’24 활성화 방안 : 최대 100년 연장 허용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기존 시설 인수 · 가치평가 필요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A6E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◎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BTO-rs · 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595959"/>
                          </a:solidFill>
                        </a:rPr>
                        <a:t>위험분담형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BTO 구조 + 정부가 투자위험 일부 분담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rs : 손익 공유 / a : 손실 일부 보전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경전철 · 하수 · 환경시설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수요위험 완화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신세계 민부리 Light(TTF)" pitchFamily="34" charset="0"/>
                          <a:ea typeface="신세계 민부리 Light(TTF)" pitchFamily="34" charset="-122"/>
                          <a:cs typeface="신세계 민부리 Light(TTF)" pitchFamily="34" charset="-120"/>
                        </a:rPr>
                        <a:t>초과수익 공유, 사용료 인하 요구</a:t>
                      </a:r>
                      <a:endParaRPr lang="en-US" sz="800" dirty="0">
                        <a:latin typeface="신세계 민부리 Light(TTF)" charset="0"/>
                        <a:ea typeface="신세계 민부리 Light(TTF)" charset="0"/>
                        <a:cs typeface="신세계 민부리 Light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A6E"/>
                          </a:solidFill>
                          <a:latin typeface="신세계 민부리 Bold(TTF)" pitchFamily="34" charset="0"/>
                          <a:ea typeface="신세계 민부리 Bold(TTF)" pitchFamily="34" charset="-122"/>
                          <a:cs typeface="신세계 민부리 Bold(TTF)" pitchFamily="34" charset="-120"/>
                        </a:rPr>
                        <a:t>○</a:t>
                      </a:r>
                      <a:endParaRPr lang="en-US" sz="1100" dirty="0">
                        <a:latin typeface="신세계 민부리 Bold(TTF)" charset="0"/>
                        <a:ea typeface="신세계 민부리 Bold(TTF)" charset="0"/>
                        <a:cs typeface="신세계 민부리 Bold(TTF)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1"/>
          <p:cNvSpPr txBox="1"/>
          <p:nvPr/>
        </p:nvSpPr>
        <p:spPr>
          <a:xfrm>
            <a:off x="274320" y="428853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3399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＊ 관리운영권 : 기본계획상 최장 50년 / ’24.9 활성화 방안 개량운영형 최대 100년      ◎ 적합  ○ 검토  △ 기존 구조  ✕ 부적합</a:t>
            </a:r>
            <a:endParaRPr lang="en-US" sz="750" dirty="0"/>
          </a:p>
        </p:txBody>
      </p:sp>
      <p:sp>
        <p:nvSpPr>
          <p:cNvPr id="6" name="Takeaway1"/>
          <p:cNvSpPr txBox="1"/>
          <p:nvPr/>
        </p:nvSpPr>
        <p:spPr>
          <a:xfrm>
            <a:off x="274320" y="4544568"/>
            <a:ext cx="6309360" cy="31089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▶ 당사 적용안  </a:t>
            </a:r>
            <a:pPr indent="0" marL="0">
              <a:buNone/>
            </a:pPr>
            <a:r>
              <a:rPr lang="en-US" sz="9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개량운영형 (ROT) + 수상푸드존 BTO 결합 </a:t>
            </a:r>
            <a:pPr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소유권은 市 귀속 (손상차손 · 배임 리스크 회피), 관리운영권 50년 이상 확보 추진</a:t>
            </a:r>
            <a:endParaRPr lang="en-US" sz="900" dirty="0"/>
          </a:p>
        </p:txBody>
      </p:sp>
      <p:sp>
        <p:nvSpPr>
          <p:cNvPr id="7" name="H2"/>
          <p:cNvSpPr txBox="1"/>
          <p:nvPr/>
        </p:nvSpPr>
        <p:spPr>
          <a:xfrm>
            <a:off x="274320" y="5074920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대표 사례 및 추진 절차</a:t>
            </a:r>
            <a:endParaRPr lang="en-US" sz="1200" dirty="0"/>
          </a:p>
        </p:txBody>
      </p:sp>
      <p:sp>
        <p:nvSpPr>
          <p:cNvPr id="8" name="Case1Card"/>
          <p:cNvSpPr/>
          <p:nvPr/>
        </p:nvSpPr>
        <p:spPr>
          <a:xfrm>
            <a:off x="274320" y="5404104"/>
            <a:ext cx="1325880" cy="749808"/>
          </a:xfrm>
          <a:prstGeom prst="rect">
            <a:avLst/>
          </a:prstGeom>
          <a:solidFill>
            <a:srgbClr val="1F3A6E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9" name="Case1Label"/>
          <p:cNvSpPr txBox="1"/>
          <p:nvPr/>
        </p:nvSpPr>
        <p:spPr>
          <a:xfrm>
            <a:off x="347472" y="5404104"/>
            <a:ext cx="1216152" cy="749808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잠실 스포츠·MICE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BTO · 민간제안</a:t>
            </a:r>
            <a:endParaRPr lang="en-US" sz="10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2.7조 · 운영 40년</a:t>
            </a:r>
            <a:endParaRPr lang="en-US" sz="1000" dirty="0"/>
          </a:p>
        </p:txBody>
      </p:sp>
      <p:sp>
        <p:nvSpPr>
          <p:cNvPr id="10" name="Case1Step1"/>
          <p:cNvSpPr/>
          <p:nvPr/>
        </p:nvSpPr>
        <p:spPr>
          <a:xfrm>
            <a:off x="1673352" y="5404104"/>
            <a:ext cx="856488" cy="749808"/>
          </a:xfrm>
          <a:prstGeom prst="homePlate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Case1Step1Text"/>
          <p:cNvSpPr txBox="1"/>
          <p:nvPr/>
        </p:nvSpPr>
        <p:spPr>
          <a:xfrm>
            <a:off x="1709928" y="5404104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’16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최초 제안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(무역협회)</a:t>
            </a:r>
            <a:endParaRPr lang="en-US" sz="800" dirty="0"/>
          </a:p>
        </p:txBody>
      </p:sp>
      <p:sp>
        <p:nvSpPr>
          <p:cNvPr id="12" name="Case1Step2"/>
          <p:cNvSpPr/>
          <p:nvPr/>
        </p:nvSpPr>
        <p:spPr>
          <a:xfrm>
            <a:off x="2484120" y="5404104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Case1Step2Text"/>
          <p:cNvSpPr txBox="1"/>
          <p:nvPr/>
        </p:nvSpPr>
        <p:spPr>
          <a:xfrm>
            <a:off x="2630424" y="5404104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’17~’20.5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적격성조사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(PIMAC)</a:t>
            </a:r>
            <a:endParaRPr lang="en-US" sz="800" dirty="0"/>
          </a:p>
        </p:txBody>
      </p:sp>
      <p:sp>
        <p:nvSpPr>
          <p:cNvPr id="14" name="Case1Step3"/>
          <p:cNvSpPr/>
          <p:nvPr/>
        </p:nvSpPr>
        <p:spPr>
          <a:xfrm>
            <a:off x="3294888" y="5404104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Case1Step3Text"/>
          <p:cNvSpPr txBox="1"/>
          <p:nvPr/>
        </p:nvSpPr>
        <p:spPr>
          <a:xfrm>
            <a:off x="3441192" y="5404104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’21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제3자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제안공고</a:t>
            </a:r>
            <a:endParaRPr lang="en-US" sz="800" dirty="0"/>
          </a:p>
        </p:txBody>
      </p:sp>
      <p:sp>
        <p:nvSpPr>
          <p:cNvPr id="16" name="Case1Step4"/>
          <p:cNvSpPr/>
          <p:nvPr/>
        </p:nvSpPr>
        <p:spPr>
          <a:xfrm>
            <a:off x="4105656" y="5404104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Case1Step4Text"/>
          <p:cNvSpPr txBox="1"/>
          <p:nvPr/>
        </p:nvSpPr>
        <p:spPr>
          <a:xfrm>
            <a:off x="4251960" y="5404104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’21.12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우선협상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한화 선정</a:t>
            </a:r>
            <a:endParaRPr lang="en-US" sz="800" dirty="0"/>
          </a:p>
        </p:txBody>
      </p:sp>
      <p:sp>
        <p:nvSpPr>
          <p:cNvPr id="18" name="Case1Step5"/>
          <p:cNvSpPr/>
          <p:nvPr/>
        </p:nvSpPr>
        <p:spPr>
          <a:xfrm>
            <a:off x="4916424" y="5404104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ase1Step5Text"/>
          <p:cNvSpPr txBox="1"/>
          <p:nvPr/>
        </p:nvSpPr>
        <p:spPr>
          <a:xfrm>
            <a:off x="5062728" y="5404104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’26.7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실시협약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(협상 160여 회)</a:t>
            </a:r>
            <a:endParaRPr lang="en-US" sz="800" dirty="0"/>
          </a:p>
        </p:txBody>
      </p:sp>
      <p:sp>
        <p:nvSpPr>
          <p:cNvPr id="20" name="Case1Step6"/>
          <p:cNvSpPr/>
          <p:nvPr/>
        </p:nvSpPr>
        <p:spPr>
          <a:xfrm>
            <a:off x="5727192" y="5404104"/>
            <a:ext cx="856488" cy="749808"/>
          </a:xfrm>
          <a:prstGeom prst="chevron">
            <a:avLst/>
          </a:prstGeom>
          <a:solidFill>
            <a:srgbClr val="DCE3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ase1Step6Text"/>
          <p:cNvSpPr txBox="1"/>
          <p:nvPr/>
        </p:nvSpPr>
        <p:spPr>
          <a:xfrm>
            <a:off x="5873496" y="5404104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준공 목표</a:t>
            </a:r>
            <a:endParaRPr lang="en-US" sz="800" dirty="0"/>
          </a:p>
        </p:txBody>
      </p:sp>
      <p:sp>
        <p:nvSpPr>
          <p:cNvPr id="22" name="Case1Lesson"/>
          <p:cNvSpPr txBox="1"/>
          <p:nvPr/>
        </p:nvSpPr>
        <p:spPr>
          <a:xfrm>
            <a:off x="274320" y="6208776"/>
            <a:ext cx="6309360" cy="42062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→ 시사점  </a:t>
            </a:r>
            <a:pPr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최초제안자 (무역협회)도 제3자 공고에서 한화에 밀려 탈락 → 제안 우대점수만으로는 부족, 콘텐츠 차별화 필수 / 제안 → 협약 10년 소요</a:t>
            </a:r>
            <a:endParaRPr lang="en-US" sz="850" dirty="0"/>
          </a:p>
        </p:txBody>
      </p:sp>
      <p:sp>
        <p:nvSpPr>
          <p:cNvPr id="23" name="Case2Card"/>
          <p:cNvSpPr/>
          <p:nvPr/>
        </p:nvSpPr>
        <p:spPr>
          <a:xfrm>
            <a:off x="274320" y="6812280"/>
            <a:ext cx="1325880" cy="749808"/>
          </a:xfrm>
          <a:prstGeom prst="rect">
            <a:avLst/>
          </a:prstGeom>
          <a:solidFill>
            <a:srgbClr val="1F3A6E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24" name="Case2Label"/>
          <p:cNvSpPr txBox="1"/>
          <p:nvPr/>
        </p:nvSpPr>
        <p:spPr>
          <a:xfrm>
            <a:off x="347472" y="6812280"/>
            <a:ext cx="1216152" cy="749808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서울링 대관람차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BTO · 민간제안</a:t>
            </a:r>
            <a:endParaRPr lang="en-US" sz="10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4,000억 → 1.08조</a:t>
            </a:r>
            <a:endParaRPr lang="en-US" sz="1000" dirty="0"/>
          </a:p>
        </p:txBody>
      </p:sp>
      <p:sp>
        <p:nvSpPr>
          <p:cNvPr id="25" name="Case2Step1"/>
          <p:cNvSpPr/>
          <p:nvPr/>
        </p:nvSpPr>
        <p:spPr>
          <a:xfrm>
            <a:off x="1673352" y="6812280"/>
            <a:ext cx="856488" cy="749808"/>
          </a:xfrm>
          <a:prstGeom prst="homePlate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ase2Step1Text"/>
          <p:cNvSpPr txBox="1"/>
          <p:nvPr/>
        </p:nvSpPr>
        <p:spPr>
          <a:xfrm>
            <a:off x="1709928" y="6812280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’23.3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구상 발표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· 민간 제안</a:t>
            </a:r>
            <a:endParaRPr lang="en-US" sz="800" dirty="0"/>
          </a:p>
        </p:txBody>
      </p:sp>
      <p:sp>
        <p:nvSpPr>
          <p:cNvPr id="27" name="Case2Step2"/>
          <p:cNvSpPr/>
          <p:nvPr/>
        </p:nvSpPr>
        <p:spPr>
          <a:xfrm>
            <a:off x="2484120" y="6812280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ase2Step2Text"/>
          <p:cNvSpPr txBox="1"/>
          <p:nvPr/>
        </p:nvSpPr>
        <p:spPr>
          <a:xfrm>
            <a:off x="2630424" y="6812280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’23.9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민투심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대상시설 인정</a:t>
            </a:r>
            <a:endParaRPr lang="en-US" sz="800" dirty="0"/>
          </a:p>
        </p:txBody>
      </p:sp>
      <p:sp>
        <p:nvSpPr>
          <p:cNvPr id="29" name="Case2Step3"/>
          <p:cNvSpPr/>
          <p:nvPr/>
        </p:nvSpPr>
        <p:spPr>
          <a:xfrm>
            <a:off x="3294888" y="6812280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Case2Step3Text"/>
          <p:cNvSpPr txBox="1"/>
          <p:nvPr/>
        </p:nvSpPr>
        <p:spPr>
          <a:xfrm>
            <a:off x="3441192" y="6812280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’24~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적격성조사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(PIMAC)</a:t>
            </a:r>
            <a:endParaRPr lang="en-US" sz="800" dirty="0"/>
          </a:p>
        </p:txBody>
      </p:sp>
      <p:sp>
        <p:nvSpPr>
          <p:cNvPr id="31" name="Case2Step4"/>
          <p:cNvSpPr/>
          <p:nvPr/>
        </p:nvSpPr>
        <p:spPr>
          <a:xfrm>
            <a:off x="4105656" y="6812280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Case2Step4Text"/>
          <p:cNvSpPr txBox="1"/>
          <p:nvPr/>
        </p:nvSpPr>
        <p:spPr>
          <a:xfrm>
            <a:off x="4251960" y="6812280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’25.8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민투심 연기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(사업비 증가)</a:t>
            </a:r>
            <a:endParaRPr lang="en-US" sz="800" dirty="0"/>
          </a:p>
        </p:txBody>
      </p:sp>
      <p:sp>
        <p:nvSpPr>
          <p:cNvPr id="33" name="Case2Step5"/>
          <p:cNvSpPr/>
          <p:nvPr/>
        </p:nvSpPr>
        <p:spPr>
          <a:xfrm>
            <a:off x="4916424" y="6812280"/>
            <a:ext cx="856488" cy="749808"/>
          </a:xfrm>
          <a:prstGeom prst="chevron">
            <a:avLst/>
          </a:prstGeom>
          <a:solidFill>
            <a:srgbClr val="DCE3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ase2Step5Text"/>
          <p:cNvSpPr txBox="1"/>
          <p:nvPr/>
        </p:nvSpPr>
        <p:spPr>
          <a:xfrm>
            <a:off x="5062728" y="6812280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진행 중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제3자 공고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우선협상</a:t>
            </a:r>
            <a:endParaRPr lang="en-US" sz="800" dirty="0"/>
          </a:p>
        </p:txBody>
      </p:sp>
      <p:sp>
        <p:nvSpPr>
          <p:cNvPr id="35" name="Case2Lesson"/>
          <p:cNvSpPr txBox="1"/>
          <p:nvPr/>
        </p:nvSpPr>
        <p:spPr>
          <a:xfrm>
            <a:off x="274320" y="7616952"/>
            <a:ext cx="6309360" cy="42062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→ 시사점  </a:t>
            </a:r>
            <a:pPr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관람차 같은 비전형 시설도 포괄주의로 민자 대상 인정 → 「세빛섬 + 푸드존 = 공공 수변시설」 논리의 선례 / 사업비 증가 시 재심의로 지연</a:t>
            </a:r>
            <a:endParaRPr lang="en-US" sz="850" dirty="0"/>
          </a:p>
        </p:txBody>
      </p:sp>
      <p:sp>
        <p:nvSpPr>
          <p:cNvPr id="36" name="Case3Card"/>
          <p:cNvSpPr/>
          <p:nvPr/>
        </p:nvSpPr>
        <p:spPr>
          <a:xfrm>
            <a:off x="274320" y="8220456"/>
            <a:ext cx="1325880" cy="749808"/>
          </a:xfrm>
          <a:prstGeom prst="rect">
            <a:avLst/>
          </a:prstGeom>
          <a:solidFill>
            <a:srgbClr val="E2572B"/>
          </a:solidFill>
          <a:ln w="12700">
            <a:solidFill>
              <a:srgbClr val="E2572B"/>
            </a:solidFill>
            <a:prstDash val="solid"/>
          </a:ln>
        </p:spPr>
      </p:sp>
      <p:sp>
        <p:nvSpPr>
          <p:cNvPr id="37" name="Case3Label"/>
          <p:cNvSpPr txBox="1"/>
          <p:nvPr/>
        </p:nvSpPr>
        <p:spPr>
          <a:xfrm>
            <a:off x="347472" y="8220456"/>
            <a:ext cx="1216152" cy="749808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세빛섬 (現 협약)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BOT · 市 공모</a:t>
            </a:r>
            <a:endParaRPr lang="en-US" sz="100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1,390억 · 무상20+유상10년</a:t>
            </a:r>
            <a:endParaRPr lang="en-US" sz="1000" dirty="0"/>
          </a:p>
        </p:txBody>
      </p:sp>
      <p:sp>
        <p:nvSpPr>
          <p:cNvPr id="38" name="Case3Step1"/>
          <p:cNvSpPr/>
          <p:nvPr/>
        </p:nvSpPr>
        <p:spPr>
          <a:xfrm>
            <a:off x="1673352" y="8220456"/>
            <a:ext cx="856488" cy="749808"/>
          </a:xfrm>
          <a:prstGeom prst="homePlate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Case3Step1Text"/>
          <p:cNvSpPr txBox="1"/>
          <p:nvPr/>
        </p:nvSpPr>
        <p:spPr>
          <a:xfrm>
            <a:off x="1709928" y="8220456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572B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’09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협약 체결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(플로섬 · 효성)</a:t>
            </a:r>
            <a:endParaRPr lang="en-US" sz="800" dirty="0"/>
          </a:p>
        </p:txBody>
      </p:sp>
      <p:sp>
        <p:nvSpPr>
          <p:cNvPr id="40" name="Case3Step2"/>
          <p:cNvSpPr/>
          <p:nvPr/>
        </p:nvSpPr>
        <p:spPr>
          <a:xfrm>
            <a:off x="2484120" y="8220456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Case3Step2Text"/>
          <p:cNvSpPr txBox="1"/>
          <p:nvPr/>
        </p:nvSpPr>
        <p:spPr>
          <a:xfrm>
            <a:off x="2630424" y="8220456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572B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’11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준공</a:t>
            </a:r>
            <a:endParaRPr lang="en-US" sz="800" dirty="0"/>
          </a:p>
        </p:txBody>
      </p:sp>
      <p:sp>
        <p:nvSpPr>
          <p:cNvPr id="42" name="Case3Step3"/>
          <p:cNvSpPr/>
          <p:nvPr/>
        </p:nvSpPr>
        <p:spPr>
          <a:xfrm>
            <a:off x="3294888" y="8220456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Case3Step3Text"/>
          <p:cNvSpPr txBox="1"/>
          <p:nvPr/>
        </p:nvSpPr>
        <p:spPr>
          <a:xfrm>
            <a:off x="3441192" y="8220456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572B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’11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市 감사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협약 불리 지적</a:t>
            </a:r>
            <a:endParaRPr lang="en-US" sz="800" dirty="0"/>
          </a:p>
        </p:txBody>
      </p:sp>
      <p:sp>
        <p:nvSpPr>
          <p:cNvPr id="44" name="Case3Step4"/>
          <p:cNvSpPr/>
          <p:nvPr/>
        </p:nvSpPr>
        <p:spPr>
          <a:xfrm>
            <a:off x="4105656" y="8220456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Case3Step4Text"/>
          <p:cNvSpPr txBox="1"/>
          <p:nvPr/>
        </p:nvSpPr>
        <p:spPr>
          <a:xfrm>
            <a:off x="4251960" y="8220456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572B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’13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협약 정상화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무상 30 → 20 + 유상 10</a:t>
            </a:r>
            <a:endParaRPr lang="en-US" sz="800" dirty="0"/>
          </a:p>
        </p:txBody>
      </p:sp>
      <p:sp>
        <p:nvSpPr>
          <p:cNvPr id="46" name="Case3Step5"/>
          <p:cNvSpPr/>
          <p:nvPr/>
        </p:nvSpPr>
        <p:spPr>
          <a:xfrm>
            <a:off x="4916424" y="8220456"/>
            <a:ext cx="856488" cy="749808"/>
          </a:xfrm>
          <a:prstGeom prst="chevron">
            <a:avLst/>
          </a:prstGeom>
          <a:solidFill>
            <a:srgbClr val="F2F2F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Case3Step5Text"/>
          <p:cNvSpPr txBox="1"/>
          <p:nvPr/>
        </p:nvSpPr>
        <p:spPr>
          <a:xfrm>
            <a:off x="5062728" y="8220456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572B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’14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전면 개장</a:t>
            </a:r>
            <a:endParaRPr lang="en-US" sz="800" dirty="0"/>
          </a:p>
        </p:txBody>
      </p:sp>
      <p:sp>
        <p:nvSpPr>
          <p:cNvPr id="48" name="Case3Step6"/>
          <p:cNvSpPr/>
          <p:nvPr/>
        </p:nvSpPr>
        <p:spPr>
          <a:xfrm>
            <a:off x="5727192" y="8220456"/>
            <a:ext cx="856488" cy="749808"/>
          </a:xfrm>
          <a:prstGeom prst="chevron">
            <a:avLst/>
          </a:prstGeom>
          <a:solidFill>
            <a:srgbClr val="DCE3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Case3Step6Text"/>
          <p:cNvSpPr txBox="1"/>
          <p:nvPr/>
        </p:nvSpPr>
        <p:spPr>
          <a:xfrm>
            <a:off x="5873496" y="8220456"/>
            <a:ext cx="5821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572B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’34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무상기간 종료</a:t>
            </a:r>
            <a:endParaRPr lang="en-US" sz="800" dirty="0"/>
          </a:p>
        </p:txBody>
      </p:sp>
      <p:sp>
        <p:nvSpPr>
          <p:cNvPr id="50" name="Case3Lesson"/>
          <p:cNvSpPr txBox="1"/>
          <p:nvPr/>
        </p:nvSpPr>
        <p:spPr>
          <a:xfrm>
            <a:off x="274320" y="9025128"/>
            <a:ext cx="6309360" cy="42062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2572B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→ 시사점  </a:t>
            </a:r>
            <a:pPr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협약 변경으로 기간을 늘리면 특혜 논란 · 감사 리스크 → 50년 요구 시 공공기여 (시민 개방 · 초과수익 공유)로 정당성 확보 필수</a:t>
            </a:r>
            <a:endParaRPr lang="en-US" sz="850" dirty="0"/>
          </a:p>
        </p:txBody>
      </p:sp>
      <p:sp>
        <p:nvSpPr>
          <p:cNvPr id="51" name="Source"/>
          <p:cNvSpPr txBox="1"/>
          <p:nvPr/>
        </p:nvSpPr>
        <p:spPr>
          <a:xfrm>
            <a:off x="274320" y="9537192"/>
            <a:ext cx="6309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95959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＊ 출처 : 서울시 · 기획재정부 보도자료 및 언론 보도 종합 (’26.10 기준), 서울링은 진행 중 사업으로 일정 변동 가능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2026-10-06T07:16:45Z</dcterms:created>
  <dcterms:modified xsi:type="dcterms:W3CDTF">2026-10-06T07:16:45Z</dcterms:modified>
</cp:coreProperties>
</file>