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905695"/>
  <p:notesSz cx="9905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74320" y="182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[Appendix] 민간투자사업 방식 비교 및 대표 사례</a:t>
            </a:r>
            <a:endParaRPr lang="en-US" sz="1500" dirty="0"/>
          </a:p>
        </p:txBody>
      </p:sp>
      <p:sp>
        <p:nvSpPr>
          <p:cNvPr id="3" name="H1"/>
          <p:cNvSpPr txBox="1"/>
          <p:nvPr/>
        </p:nvSpPr>
        <p:spPr>
          <a:xfrm>
            <a:off x="274320" y="56692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민간투자사업 방식 비교</a:t>
            </a:r>
            <a:endParaRPr lang="en-US" sz="1200" dirty="0"/>
          </a:p>
        </p:txBody>
      </p:sp>
      <p:graphicFrame>
        <p:nvGraphicFramePr>
          <p:cNvPr id="2" name="Metho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59536"/>
          <a:ext cx="63093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40080"/>
                <a:gridCol w="457200"/>
                <a:gridCol w="548640"/>
                <a:gridCol w="457200"/>
                <a:gridCol w="621792"/>
                <a:gridCol w="548640"/>
                <a:gridCol w="868680"/>
                <a:gridCol w="877824"/>
                <a:gridCol w="877824"/>
              </a:tblGrid>
              <a:tr h="219456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 식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 조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투자비 회수 · 위험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주요 대상 · 사례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장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단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21945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개발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소유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운영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수익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위험부담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438912"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건설</a:t>
                      </a:r>
                      <a:endParaRPr lang="en-US" sz="9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수익형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도로 · 철도 · MICE (잠실)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자율성, 초과수익 향유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수요위험 부담, 소유권 없음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임대형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민간*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학교 · 기숙사 · 박물관 (국립해양박물관)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→ 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수변 관광시설 (세빛섬, 서울마리나)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소유권 보유 → 담보 · 운영 자율성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손상차손 · 배임 이슈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BOO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(국가 귀속 없음)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발전 · 에너지 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영구 소유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공유수면 시설 적용 곤란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개량</a:t>
                      </a:r>
                      <a:endParaRPr lang="en-US" sz="9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ROT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개량운영형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SOC · 기존 시설 리모델링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관리운영권 최대 100년 연장 허용 (’24)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기존 시설 인수 · 가치평가 필요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개량임대형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민간*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학교 · 공공청사 개량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ote1"/>
          <p:cNvSpPr txBox="1"/>
          <p:nvPr/>
        </p:nvSpPr>
        <p:spPr>
          <a:xfrm>
            <a:off x="274320" y="40873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3399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＊ 관리운영권 : 기본계획상 최장 50년 (’24.9 활성화 방안 : 개량운영형 최대 100년)   /   * 민간이 유지관리, 정부가 시설 사용</a:t>
            </a:r>
            <a:endParaRPr lang="en-US" sz="750" dirty="0"/>
          </a:p>
        </p:txBody>
      </p:sp>
      <p:sp>
        <p:nvSpPr>
          <p:cNvPr id="6" name="Takeaway1"/>
          <p:cNvSpPr txBox="1"/>
          <p:nvPr/>
        </p:nvSpPr>
        <p:spPr>
          <a:xfrm>
            <a:off x="274320" y="4343400"/>
            <a:ext cx="6309360" cy="31089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▶ 당사 적용안  </a:t>
            </a:r>
            <a:pPr indent="0" marL="0">
              <a:buNone/>
            </a:pPr>
            <a:r>
              <a:rPr lang="en-US" sz="9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세빛섬 개량운영형 (ROT) + 수상푸드존 BTO 결합 </a:t>
            </a:r>
            <a:pPr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소유권은 市 귀속 (손상차손 · 배임 리스크 회피), 관리운영권 50년 이상 확보 추진</a:t>
            </a:r>
            <a:endParaRPr lang="en-US" sz="900" dirty="0"/>
          </a:p>
        </p:txBody>
      </p:sp>
      <p:sp>
        <p:nvSpPr>
          <p:cNvPr id="7" name="H2"/>
          <p:cNvSpPr txBox="1"/>
          <p:nvPr/>
        </p:nvSpPr>
        <p:spPr>
          <a:xfrm>
            <a:off x="274320" y="481888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대표 사례</a:t>
            </a:r>
            <a:endParaRPr lang="en-US" sz="1200" dirty="0"/>
          </a:p>
        </p:txBody>
      </p:sp>
      <p:graphicFrame>
        <p:nvGraphicFramePr>
          <p:cNvPr id="3" name="Cas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129784"/>
          <a:ext cx="6309360" cy="914400"/>
        </p:xfrm>
        <a:graphic>
          <a:graphicData uri="http://schemas.openxmlformats.org/drawingml/2006/table">
            <a:tbl>
              <a:tblPr/>
              <a:tblGrid>
                <a:gridCol w="676656"/>
                <a:gridCol w="1408176"/>
                <a:gridCol w="1408176"/>
                <a:gridCol w="1408176"/>
                <a:gridCol w="14081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 례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12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잠실 스포츠 · MICE</a:t>
                      </a:r>
                      <a:endParaRPr lang="en-US" sz="12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12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국립해양박물관</a:t>
                      </a:r>
                      <a:endParaRPr lang="en-US" sz="12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12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여의도 서울마리나</a:t>
                      </a:r>
                      <a:endParaRPr lang="en-US" sz="12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국가 귀속 후 재공모</a:t>
                      </a:r>
                      <a:endParaRPr lang="en-US" sz="12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영등포역 상업시설</a:t>
                      </a:r>
                      <a:endParaRPr lang="en-US" sz="12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 내용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전시 · 컨벤션 + 돔야구장 + 호텔 · 업무 · 상업 복합단지 (코엑스의 2.5배)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국내 최대 해양 전문 박물관 (연면적 2.5만㎡, 지상 4층)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요트 마리나 — 계류시설 (요트 약 90척) · 클럽하우스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민자역사 내 백화점 (롯데百 영등포점) 등 상업시설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위치 · 규모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송파구 잠실종합운동장 일대 35만㎡ / 총사업비 2.7조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부산 영도구 동삼동 / 총사업비 1,142억 (민간 1,019억)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여의도 한강공원 (국회 앞) / 市 수역 · 진입로, 민간 시설 투자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영등포구 영등포역사 / 국가철도공단 관리 (국유재산)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방식 · 기간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 (민간제안)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40년, 이용료로 회수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20년, 정부 임대료로 회수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20년 운영 후 ’31 서울시 기부채납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민자역사 → 국가 귀속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사용허가 5년 + 갱신 (최장 10년)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㈜서울 스마트 마이스파크 (한화 건설부문 주관)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해양문화㈜ (태영건설 컨소시엄) — 시설 유지관리, 전시 운영은 공공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운영사 (요트 계류 · 클럽하우스 운영)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롯데쇼핑 (기존 운영자 재선정)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추진 경과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’16 최초제안 (무역협회) → ’21.12 한화 우선협상 → ’26.7 실시협약 → ’32 준공 목표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’09.7 실시협약 → ’09.12 착공 → ’12.7 개관 → ’32 임대기간 종료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’11 개장 → ’21 운영사 재무 악화로 경매 → ’31 기부채납 예정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’87 개장 → ’17.12 점용 30년 만료 · 국가 귀속 → ’19 롯데 재낙찰 → ’26.9 10년 재확보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당사 시사점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최초제안자도 경쟁에서 탈락 가능 → 제안 가점보다 콘텐츠 차별화가 관건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수익은 안정적이나 운영 · 콘텐츠는 공공 몫 → 당사 MD · 운영 역량 활용 불가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같은 한강 수상시설 선례 / 민간 소유 자산은 재무 악화 시 경매 리스크 → 운영권 구조가 유리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재공모 (사용허가)는 최장 10년 수준 → 세빛섬은 민투법 경로로 50년 확보 필요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9" name="Source"/>
          <p:cNvSpPr txBox="1"/>
          <p:nvPr/>
        </p:nvSpPr>
        <p:spPr>
          <a:xfrm>
            <a:off x="274320" y="9244584"/>
            <a:ext cx="6309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＊ 출처 : 서울시 · 기획재정부 보도자료 및 언론 보도 종합 (’26.10 기준) 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2026-10-06T07:41:51Z</dcterms:created>
  <dcterms:modified xsi:type="dcterms:W3CDTF">2026-10-06T07:41:51Z</dcterms:modified>
</cp:coreProperties>
</file>