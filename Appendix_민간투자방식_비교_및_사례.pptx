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9905695"/>
  <p:notesSz cx="9905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74320" y="182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[Appendix] 민간투자사업 방식 비교 및 대표 사례</a:t>
            </a:r>
            <a:endParaRPr lang="en-US" sz="1500" dirty="0"/>
          </a:p>
        </p:txBody>
      </p:sp>
      <p:sp>
        <p:nvSpPr>
          <p:cNvPr id="3" name="H1"/>
          <p:cNvSpPr txBox="1"/>
          <p:nvPr/>
        </p:nvSpPr>
        <p:spPr>
          <a:xfrm>
            <a:off x="274320" y="56692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민간투자사업 방식 비교</a:t>
            </a:r>
            <a:endParaRPr lang="en-US" sz="1200" dirty="0"/>
          </a:p>
        </p:txBody>
      </p:sp>
      <p:graphicFrame>
        <p:nvGraphicFramePr>
          <p:cNvPr id="2" name="Metho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59536"/>
          <a:ext cx="6309360" cy="914400"/>
        </p:xfrm>
        <a:graphic>
          <a:graphicData uri="http://schemas.openxmlformats.org/drawingml/2006/table">
            <a:tbl>
              <a:tblPr/>
              <a:tblGrid>
                <a:gridCol w="713232"/>
                <a:gridCol w="1261872"/>
                <a:gridCol w="1024128"/>
                <a:gridCol w="1005840"/>
                <a:gridCol w="978408"/>
                <a:gridCol w="1005840"/>
                <a:gridCol w="3200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방 식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구 조 (소유권 · 운영)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투자비 회수 · 위험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주요 대상 · 사례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장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단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적합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수익형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준공 시 소유권 국가 귀속 → 민간이 관리운영권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 / 수요위험 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도로 · 철도 · MICE (잠실, 서울링)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자율성, 초과수익 향유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수요위험 부담, 소유권 없음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A6E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◎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임대형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준공 시 귀속 → 정부에 시설 임대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 지급 / 수요위험 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학교 · 기숙사 · 문화 · 복지시설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지급으로 수익 안정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수익률 상한, 상업시설 부적합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6A6A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✕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운영기간 민간 소유 → 종료 후 귀속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 / 수요위험 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세빛섬 (現 협약)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소유권 보유 → 담보 · 운영 자율성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손상차손 · 배임 이슈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95959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△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BOO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민간이 영구 소유 · 운영 (귀속 없음)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 / 수요위험 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발전 · 에너지 시설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영구 소유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한강 공유수면 시설 적용 곤란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6A6A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✕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BLT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소유 · 정부에 임대 → 종료 후 귀속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 / 수요위험 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활용 사례 적음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 안정성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자산 보유 부담 + 수익 상한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6A6A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✕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ROT · RTL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개량운영형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기존 시설 개량 · 증설 → 관리운영권 (RTL은 정부 임대)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이용료 (RTL : 임대료)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노후 SOC 리모델링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’24 활성화 방안 : 최대 100년 연장 허용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기존 시설 인수 · 가치평가 필요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A6E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◎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BTO-rs · a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위험분담형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BTO 구조 + 정부가 투자위험 일부 분담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rs : 손익 공유 / a : 손실 일부 보전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경전철 · 하수 · 환경시설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수요위험 완화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초과수익 공유, 사용료 인하 요구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A6E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○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Note1"/>
          <p:cNvSpPr txBox="1"/>
          <p:nvPr/>
        </p:nvSpPr>
        <p:spPr>
          <a:xfrm>
            <a:off x="274320" y="4288536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3399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＊ 관리운영권 : 기본계획상 최장 50년 / ’24.9 활성화 방안 개량운영형 최대 100년      ◎ 적합  ○ 검토  △ 기존 구조  ✕ 부적합</a:t>
            </a:r>
            <a:endParaRPr lang="en-US" sz="750" dirty="0"/>
          </a:p>
        </p:txBody>
      </p:sp>
      <p:sp>
        <p:nvSpPr>
          <p:cNvPr id="6" name="Takeaway1"/>
          <p:cNvSpPr txBox="1"/>
          <p:nvPr/>
        </p:nvSpPr>
        <p:spPr>
          <a:xfrm>
            <a:off x="274320" y="4544568"/>
            <a:ext cx="6309360" cy="310896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▶ 당사 적용안  </a:t>
            </a:r>
            <a:pPr indent="0" marL="0">
              <a:buNone/>
            </a:pPr>
            <a:r>
              <a:rPr lang="en-US" sz="9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세빛섬 개량운영형 (ROT) + 수상푸드존 BTO 결합 </a:t>
            </a:r>
            <a:pPr indent="0" marL="0">
              <a:buNone/>
            </a:pPr>
            <a:r>
              <a:rPr lang="en-US" sz="90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소유권은 市 귀속 (손상차손 · 배임 리스크 회피), 관리운영권 50년 이상 확보 추진</a:t>
            </a:r>
            <a:endParaRPr lang="en-US" sz="900" dirty="0"/>
          </a:p>
        </p:txBody>
      </p:sp>
      <p:sp>
        <p:nvSpPr>
          <p:cNvPr id="7" name="H2"/>
          <p:cNvSpPr txBox="1"/>
          <p:nvPr/>
        </p:nvSpPr>
        <p:spPr>
          <a:xfrm>
            <a:off x="274320" y="5074920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대표 사례</a:t>
            </a:r>
            <a:endParaRPr lang="en-US" sz="1200" dirty="0"/>
          </a:p>
        </p:txBody>
      </p:sp>
      <p:graphicFrame>
        <p:nvGraphicFramePr>
          <p:cNvPr id="3" name="Cas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5385816"/>
          <a:ext cx="6309360" cy="914400"/>
        </p:xfrm>
        <a:graphic>
          <a:graphicData uri="http://schemas.openxmlformats.org/drawingml/2006/table">
            <a:tbl>
              <a:tblPr/>
              <a:tblGrid>
                <a:gridCol w="740664"/>
                <a:gridCol w="1856232"/>
                <a:gridCol w="1856232"/>
                <a:gridCol w="185623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 례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잠실 스포츠 · MICE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서울링 (대관람차)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세빛섬 (現 협약)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57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사업 내용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전시 (8.9만㎡) · 컨벤션 (1.9만㎡) + 돔야구장 + 호텔 · 업무 · 상업 복합단지 (코엑스의 2.5배)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높이 180m 고리형 대관람차 (캡슐 36개, 각 25인) — 고리형 기준 세계 최대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한강 위 인공섬 3개 (가빛 · 채빛 · 솔빛) + 예빛 — 컨벤션 · 웨딩 · F&amp;B · 전시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위치 · 규모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송파구 잠실종합운동장 일대 약 35만㎡ / 총사업비 2.7조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마포구 상암동 (하늘공원 → 평화의공원 변경) / 사업비 4,000억 → 1.08조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서초구 반포한강공원 / 총투자비 1,390억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방식 · 기간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 (민간제안)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40년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 (민간제안)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운영기간 협상 전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 (市 공모)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무상 20년 + 유상 10년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사업자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㈜서울 스마트 마이스파크 (한화 건설부문 주관)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제안 컨소시엄 (제3자 공고 후 확정)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㈜세빛섬 (효성 최대주주)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추진 경과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’16 최초제안 (무역협회) → ’21.12 한화 우선협상 선정 → ’26.7 실시협약 → ’32 준공 목표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’23.9 민투심 대상시설 인정 → 적격성조사 → ’25.8 사업비 증가로 민투심 연기, 제3자 공고 대기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’09 협약 → ’11 준공 · 市 감사 (협약 불리 지적) → ’13 협약 정상화 → ’14 전면 개장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당사 시사점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최초제안자도 경쟁에서 탈락 가능 → 제안 가점보다 콘텐츠 차별화가 관건 / 제안 → 협약 약 10년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비전형 시설도 포괄주의로 민자 대상 인정 → 「세빛섬 + 푸드존 = 공공 수변시설」 논리의 선례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기간 연장이 특혜 논란 · 감사로 이어진 이력 → 50년 요구 시 공공기여로 정당성 확보 필수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9" name="Source"/>
          <p:cNvSpPr txBox="1"/>
          <p:nvPr/>
        </p:nvSpPr>
        <p:spPr>
          <a:xfrm>
            <a:off x="274320" y="8430768"/>
            <a:ext cx="6309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＊ 출처 : 서울시 · 기획재정부 보도자료 및 언론 보도 종합 (’26.10 기준) / 서울링은 진행 중 사업으로 일정 변동 가능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2026-10-06T07:22:40Z</dcterms:created>
  <dcterms:modified xsi:type="dcterms:W3CDTF">2026-10-06T07:22:40Z</dcterms:modified>
</cp:coreProperties>
</file>