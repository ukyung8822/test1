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415" r:id="rId2"/>
  </p:sldIdLst>
  <p:sldSz cx="9359900" cy="6858000"/>
  <p:notesSz cx="6735763" cy="9866313"/>
  <p:defaultTextStyle>
    <a:defPPr>
      <a:defRPr lang="ko-KR"/>
    </a:defPPr>
    <a:lvl1pPr marL="0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58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17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75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35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93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52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110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269" algn="l" defTabSz="91431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54" userDrawn="1">
          <p15:clr>
            <a:srgbClr val="A4A3A4"/>
          </p15:clr>
        </p15:guide>
        <p15:guide id="2" orient="horz" pos="5669" userDrawn="1">
          <p15:clr>
            <a:srgbClr val="A4A3A4"/>
          </p15:clr>
        </p15:guide>
        <p15:guide id="3" orient="horz" pos="453" userDrawn="1">
          <p15:clr>
            <a:srgbClr val="A4A3A4"/>
          </p15:clr>
        </p15:guide>
        <p15:guide id="4" orient="horz" pos="317" userDrawn="1">
          <p15:clr>
            <a:srgbClr val="A4A3A4"/>
          </p15:clr>
        </p15:guide>
        <p15:guide id="5" orient="horz" pos="3175" userDrawn="1">
          <p15:clr>
            <a:srgbClr val="A4A3A4"/>
          </p15:clr>
        </p15:guide>
        <p15:guide id="6" orient="horz" pos="2812" userDrawn="1">
          <p15:clr>
            <a:srgbClr val="A4A3A4"/>
          </p15:clr>
        </p15:guide>
        <p15:guide id="7" pos="119" userDrawn="1">
          <p15:clr>
            <a:srgbClr val="A4A3A4"/>
          </p15:clr>
        </p15:guide>
        <p15:guide id="10" pos="2160" userDrawn="1">
          <p15:clr>
            <a:srgbClr val="A4A3A4"/>
          </p15:clr>
        </p15:guide>
        <p15:guide id="15" pos="4201" userDrawn="1">
          <p15:clr>
            <a:srgbClr val="A4A3A4"/>
          </p15:clr>
        </p15:guide>
        <p15:guide id="16" pos="30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신혜(파트너) - 부동산금융팀" initials="황-부" lastIdx="1" clrIdx="0">
    <p:extLst>
      <p:ext uri="{19B8F6BF-5375-455C-9EA6-DF929625EA0E}">
        <p15:presenceInfo xmlns:p15="http://schemas.microsoft.com/office/powerpoint/2012/main" userId="황신혜(파트너) - 부동산금융팀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236E"/>
    <a:srgbClr val="0000FF"/>
    <a:srgbClr val="E6F2F6"/>
    <a:srgbClr val="D7EAF1"/>
    <a:srgbClr val="FFFFFF"/>
    <a:srgbClr val="FFFF66"/>
    <a:srgbClr val="003399"/>
    <a:srgbClr val="0D884F"/>
    <a:srgbClr val="333333"/>
    <a:srgbClr val="F3F9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03" autoAdjust="0"/>
    <p:restoredTop sz="97438" autoAdjust="0"/>
  </p:normalViewPr>
  <p:slideViewPr>
    <p:cSldViewPr snapToObjects="1" showGuides="1">
      <p:cViewPr varScale="1">
        <p:scale>
          <a:sx n="71" d="100"/>
          <a:sy n="71" d="100"/>
        </p:scale>
        <p:origin x="1548" y="78"/>
      </p:cViewPr>
      <p:guideLst>
        <p:guide orient="horz" pos="4354"/>
        <p:guide orient="horz" pos="5669"/>
        <p:guide orient="horz" pos="453"/>
        <p:guide orient="horz" pos="317"/>
        <p:guide orient="horz" pos="3175"/>
        <p:guide orient="horz" pos="2812"/>
        <p:guide pos="119"/>
        <p:guide pos="2160"/>
        <p:guide pos="4201"/>
        <p:guide pos="3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theme" Target="theme/theme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5" y="11"/>
            <a:ext cx="2918831" cy="493315"/>
          </a:xfrm>
          <a:prstGeom prst="rect">
            <a:avLst/>
          </a:prstGeom>
        </p:spPr>
        <p:txBody>
          <a:bodyPr vert="horz" lIns="90356" tIns="45175" rIns="90356" bIns="4517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98" y="11"/>
            <a:ext cx="2918831" cy="493315"/>
          </a:xfrm>
          <a:prstGeom prst="rect">
            <a:avLst/>
          </a:prstGeom>
        </p:spPr>
        <p:txBody>
          <a:bodyPr vert="horz" lIns="90356" tIns="45175" rIns="90356" bIns="45175" rtlCol="0"/>
          <a:lstStyle>
            <a:lvl1pPr algn="r">
              <a:defRPr sz="1200"/>
            </a:lvl1pPr>
          </a:lstStyle>
          <a:p>
            <a:fld id="{83D697D7-1998-415A-9AF2-776AF61F1F3B}" type="datetimeFigureOut">
              <a:rPr lang="ko-KR" altLang="en-US" smtClean="0"/>
              <a:pPr/>
              <a:t>2026-10-27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012950" y="739775"/>
            <a:ext cx="27098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356" tIns="45175" rIns="90356" bIns="4517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8" y="4686534"/>
            <a:ext cx="5388610" cy="4439841"/>
          </a:xfrm>
          <a:prstGeom prst="rect">
            <a:avLst/>
          </a:prstGeom>
        </p:spPr>
        <p:txBody>
          <a:bodyPr vert="horz" lIns="90356" tIns="45175" rIns="90356" bIns="45175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5" y="9371299"/>
            <a:ext cx="2918831" cy="493315"/>
          </a:xfrm>
          <a:prstGeom prst="rect">
            <a:avLst/>
          </a:prstGeom>
        </p:spPr>
        <p:txBody>
          <a:bodyPr vert="horz" lIns="90356" tIns="45175" rIns="90356" bIns="4517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98" y="9371299"/>
            <a:ext cx="2918831" cy="493315"/>
          </a:xfrm>
          <a:prstGeom prst="rect">
            <a:avLst/>
          </a:prstGeom>
        </p:spPr>
        <p:txBody>
          <a:bodyPr vert="horz" lIns="90356" tIns="45175" rIns="90356" bIns="45175" rtlCol="0" anchor="b"/>
          <a:lstStyle>
            <a:lvl1pPr algn="r">
              <a:defRPr sz="1200"/>
            </a:lvl1pPr>
          </a:lstStyle>
          <a:p>
            <a:fld id="{7BEC73BA-470C-465C-BD13-ED77CE7BBDE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7486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58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17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75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35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93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52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10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69" algn="l" defTabSz="91431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1" y="2907641"/>
            <a:ext cx="5829300" cy="200631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303944"/>
            <a:ext cx="4800600" cy="239197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410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820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230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7640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050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6460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0870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5280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600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1285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014603"/>
            <a:ext cx="5829300" cy="1858980"/>
          </a:xfrm>
        </p:spPr>
        <p:txBody>
          <a:bodyPr anchor="t"/>
          <a:lstStyle>
            <a:lvl1pPr algn="l">
              <a:defRPr sz="3858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967129"/>
            <a:ext cx="5829300" cy="2047477"/>
          </a:xfrm>
        </p:spPr>
        <p:txBody>
          <a:bodyPr anchor="b"/>
          <a:lstStyle>
            <a:lvl1pPr marL="0" indent="0">
              <a:buNone/>
              <a:defRPr sz="1929">
                <a:solidFill>
                  <a:schemeClr val="tx1">
                    <a:tint val="75000"/>
                  </a:schemeClr>
                </a:solidFill>
              </a:defRPr>
            </a:lvl1pPr>
            <a:lvl2pPr marL="441009" indent="0">
              <a:buNone/>
              <a:defRPr sz="1736">
                <a:solidFill>
                  <a:schemeClr val="tx1">
                    <a:tint val="75000"/>
                  </a:schemeClr>
                </a:solidFill>
              </a:defRPr>
            </a:lvl2pPr>
            <a:lvl3pPr marL="88201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3pPr>
            <a:lvl4pPr marL="1323029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4pPr>
            <a:lvl5pPr marL="1764039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5pPr>
            <a:lvl6pPr marL="2205049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6pPr>
            <a:lvl7pPr marL="2646058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7pPr>
            <a:lvl8pPr marL="3087068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8pPr>
            <a:lvl9pPr marL="3528077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074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82" y="2911971"/>
            <a:ext cx="2257425" cy="8235413"/>
          </a:xfrm>
        </p:spPr>
        <p:txBody>
          <a:bodyPr/>
          <a:lstStyle>
            <a:lvl1pPr>
              <a:defRPr sz="2701"/>
            </a:lvl1pPr>
            <a:lvl2pPr>
              <a:defRPr sz="2315"/>
            </a:lvl2pPr>
            <a:lvl3pPr>
              <a:defRPr sz="1929"/>
            </a:lvl3pPr>
            <a:lvl4pPr>
              <a:defRPr sz="1736"/>
            </a:lvl4pPr>
            <a:lvl5pPr>
              <a:defRPr sz="1736"/>
            </a:lvl5pPr>
            <a:lvl6pPr>
              <a:defRPr sz="1736"/>
            </a:lvl6pPr>
            <a:lvl7pPr>
              <a:defRPr sz="1736"/>
            </a:lvl7pPr>
            <a:lvl8pPr>
              <a:defRPr sz="1736"/>
            </a:lvl8pPr>
            <a:lvl9pPr>
              <a:defRPr sz="173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6" y="2911971"/>
            <a:ext cx="2257425" cy="8235413"/>
          </a:xfrm>
        </p:spPr>
        <p:txBody>
          <a:bodyPr/>
          <a:lstStyle>
            <a:lvl1pPr>
              <a:defRPr sz="2701"/>
            </a:lvl1pPr>
            <a:lvl2pPr>
              <a:defRPr sz="2315"/>
            </a:lvl2pPr>
            <a:lvl3pPr>
              <a:defRPr sz="1929"/>
            </a:lvl3pPr>
            <a:lvl4pPr>
              <a:defRPr sz="1736"/>
            </a:lvl4pPr>
            <a:lvl5pPr>
              <a:defRPr sz="1736"/>
            </a:lvl5pPr>
            <a:lvl6pPr>
              <a:defRPr sz="1736"/>
            </a:lvl6pPr>
            <a:lvl7pPr>
              <a:defRPr sz="1736"/>
            </a:lvl7pPr>
            <a:lvl8pPr>
              <a:defRPr sz="1736"/>
            </a:lvl8pPr>
            <a:lvl9pPr>
              <a:defRPr sz="173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3223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74833"/>
            <a:ext cx="6172200" cy="1559983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1" y="2095146"/>
            <a:ext cx="3030141" cy="873157"/>
          </a:xfrm>
        </p:spPr>
        <p:txBody>
          <a:bodyPr anchor="b"/>
          <a:lstStyle>
            <a:lvl1pPr marL="0" indent="0">
              <a:buNone/>
              <a:defRPr sz="2315" b="1"/>
            </a:lvl1pPr>
            <a:lvl2pPr marL="441009" indent="0">
              <a:buNone/>
              <a:defRPr sz="1929" b="1"/>
            </a:lvl2pPr>
            <a:lvl3pPr marL="882019" indent="0">
              <a:buNone/>
              <a:defRPr sz="1736" b="1"/>
            </a:lvl3pPr>
            <a:lvl4pPr marL="1323029" indent="0">
              <a:buNone/>
              <a:defRPr sz="1543" b="1"/>
            </a:lvl4pPr>
            <a:lvl5pPr marL="1764039" indent="0">
              <a:buNone/>
              <a:defRPr sz="1543" b="1"/>
            </a:lvl5pPr>
            <a:lvl6pPr marL="2205049" indent="0">
              <a:buNone/>
              <a:defRPr sz="1543" b="1"/>
            </a:lvl6pPr>
            <a:lvl7pPr marL="2646058" indent="0">
              <a:buNone/>
              <a:defRPr sz="1543" b="1"/>
            </a:lvl7pPr>
            <a:lvl8pPr marL="3087068" indent="0">
              <a:buNone/>
              <a:defRPr sz="1543" b="1"/>
            </a:lvl8pPr>
            <a:lvl9pPr marL="3528077" indent="0">
              <a:buNone/>
              <a:defRPr sz="154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1" y="2968303"/>
            <a:ext cx="3030141" cy="5392776"/>
          </a:xfrm>
        </p:spPr>
        <p:txBody>
          <a:bodyPr/>
          <a:lstStyle>
            <a:lvl1pPr>
              <a:defRPr sz="2315"/>
            </a:lvl1pPr>
            <a:lvl2pPr>
              <a:defRPr sz="1929"/>
            </a:lvl2pPr>
            <a:lvl3pPr>
              <a:defRPr sz="1736"/>
            </a:lvl3pPr>
            <a:lvl4pPr>
              <a:defRPr sz="1543"/>
            </a:lvl4pPr>
            <a:lvl5pPr>
              <a:defRPr sz="1543"/>
            </a:lvl5pPr>
            <a:lvl6pPr>
              <a:defRPr sz="1543"/>
            </a:lvl6pPr>
            <a:lvl7pPr>
              <a:defRPr sz="1543"/>
            </a:lvl7pPr>
            <a:lvl8pPr>
              <a:defRPr sz="1543"/>
            </a:lvl8pPr>
            <a:lvl9pPr>
              <a:defRPr sz="154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4" y="2095146"/>
            <a:ext cx="3031331" cy="873157"/>
          </a:xfrm>
        </p:spPr>
        <p:txBody>
          <a:bodyPr anchor="b"/>
          <a:lstStyle>
            <a:lvl1pPr marL="0" indent="0">
              <a:buNone/>
              <a:defRPr sz="2315" b="1"/>
            </a:lvl1pPr>
            <a:lvl2pPr marL="441009" indent="0">
              <a:buNone/>
              <a:defRPr sz="1929" b="1"/>
            </a:lvl2pPr>
            <a:lvl3pPr marL="882019" indent="0">
              <a:buNone/>
              <a:defRPr sz="1736" b="1"/>
            </a:lvl3pPr>
            <a:lvl4pPr marL="1323029" indent="0">
              <a:buNone/>
              <a:defRPr sz="1543" b="1"/>
            </a:lvl4pPr>
            <a:lvl5pPr marL="1764039" indent="0">
              <a:buNone/>
              <a:defRPr sz="1543" b="1"/>
            </a:lvl5pPr>
            <a:lvl6pPr marL="2205049" indent="0">
              <a:buNone/>
              <a:defRPr sz="1543" b="1"/>
            </a:lvl6pPr>
            <a:lvl7pPr marL="2646058" indent="0">
              <a:buNone/>
              <a:defRPr sz="1543" b="1"/>
            </a:lvl7pPr>
            <a:lvl8pPr marL="3087068" indent="0">
              <a:buNone/>
              <a:defRPr sz="1543" b="1"/>
            </a:lvl8pPr>
            <a:lvl9pPr marL="3528077" indent="0">
              <a:buNone/>
              <a:defRPr sz="1543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4" y="2968303"/>
            <a:ext cx="3031331" cy="5392776"/>
          </a:xfrm>
        </p:spPr>
        <p:txBody>
          <a:bodyPr/>
          <a:lstStyle>
            <a:lvl1pPr>
              <a:defRPr sz="2315"/>
            </a:lvl1pPr>
            <a:lvl2pPr>
              <a:defRPr sz="1929"/>
            </a:lvl2pPr>
            <a:lvl3pPr>
              <a:defRPr sz="1736"/>
            </a:lvl3pPr>
            <a:lvl4pPr>
              <a:defRPr sz="1543"/>
            </a:lvl4pPr>
            <a:lvl5pPr>
              <a:defRPr sz="1543"/>
            </a:lvl5pPr>
            <a:lvl6pPr>
              <a:defRPr sz="1543"/>
            </a:lvl6pPr>
            <a:lvl7pPr>
              <a:defRPr sz="1543"/>
            </a:lvl7pPr>
            <a:lvl8pPr>
              <a:defRPr sz="1543"/>
            </a:lvl8pPr>
            <a:lvl9pPr>
              <a:defRPr sz="154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2395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0767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5748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6" y="372664"/>
            <a:ext cx="2256235" cy="1585983"/>
          </a:xfrm>
        </p:spPr>
        <p:txBody>
          <a:bodyPr anchor="b"/>
          <a:lstStyle>
            <a:lvl1pPr algn="l">
              <a:defRPr sz="1929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93" y="372664"/>
            <a:ext cx="3833813" cy="7988415"/>
          </a:xfrm>
        </p:spPr>
        <p:txBody>
          <a:bodyPr/>
          <a:lstStyle>
            <a:lvl1pPr>
              <a:defRPr sz="3087"/>
            </a:lvl1pPr>
            <a:lvl2pPr>
              <a:defRPr sz="2701"/>
            </a:lvl2pPr>
            <a:lvl3pPr>
              <a:defRPr sz="2315"/>
            </a:lvl3pPr>
            <a:lvl4pPr>
              <a:defRPr sz="1929"/>
            </a:lvl4pPr>
            <a:lvl5pPr>
              <a:defRPr sz="1929"/>
            </a:lvl5pPr>
            <a:lvl6pPr>
              <a:defRPr sz="1929"/>
            </a:lvl6pPr>
            <a:lvl7pPr>
              <a:defRPr sz="1929"/>
            </a:lvl7pPr>
            <a:lvl8pPr>
              <a:defRPr sz="1929"/>
            </a:lvl8pPr>
            <a:lvl9pPr>
              <a:defRPr sz="1929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6" y="1958650"/>
            <a:ext cx="2256235" cy="6402434"/>
          </a:xfrm>
        </p:spPr>
        <p:txBody>
          <a:bodyPr/>
          <a:lstStyle>
            <a:lvl1pPr marL="0" indent="0">
              <a:buNone/>
              <a:defRPr sz="1350"/>
            </a:lvl1pPr>
            <a:lvl2pPr marL="441009" indent="0">
              <a:buNone/>
              <a:defRPr sz="1158"/>
            </a:lvl2pPr>
            <a:lvl3pPr marL="882019" indent="0">
              <a:buNone/>
              <a:defRPr sz="965"/>
            </a:lvl3pPr>
            <a:lvl4pPr marL="1323029" indent="0">
              <a:buNone/>
              <a:defRPr sz="868"/>
            </a:lvl4pPr>
            <a:lvl5pPr marL="1764039" indent="0">
              <a:buNone/>
              <a:defRPr sz="868"/>
            </a:lvl5pPr>
            <a:lvl6pPr marL="2205049" indent="0">
              <a:buNone/>
              <a:defRPr sz="868"/>
            </a:lvl6pPr>
            <a:lvl7pPr marL="2646058" indent="0">
              <a:buNone/>
              <a:defRPr sz="868"/>
            </a:lvl7pPr>
            <a:lvl8pPr marL="3087068" indent="0">
              <a:buNone/>
              <a:defRPr sz="868"/>
            </a:lvl8pPr>
            <a:lvl9pPr marL="3528077" indent="0">
              <a:buNone/>
              <a:defRPr sz="868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1471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551932"/>
            <a:ext cx="4114800" cy="773492"/>
          </a:xfrm>
        </p:spPr>
        <p:txBody>
          <a:bodyPr anchor="b"/>
          <a:lstStyle>
            <a:lvl1pPr algn="l">
              <a:defRPr sz="1929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36324"/>
            <a:ext cx="4114800" cy="5615940"/>
          </a:xfrm>
        </p:spPr>
        <p:txBody>
          <a:bodyPr/>
          <a:lstStyle>
            <a:lvl1pPr marL="0" indent="0">
              <a:buNone/>
              <a:defRPr sz="3087"/>
            </a:lvl1pPr>
            <a:lvl2pPr marL="441009" indent="0">
              <a:buNone/>
              <a:defRPr sz="2701"/>
            </a:lvl2pPr>
            <a:lvl3pPr marL="882019" indent="0">
              <a:buNone/>
              <a:defRPr sz="2315"/>
            </a:lvl3pPr>
            <a:lvl4pPr marL="1323029" indent="0">
              <a:buNone/>
              <a:defRPr sz="1929"/>
            </a:lvl4pPr>
            <a:lvl5pPr marL="1764039" indent="0">
              <a:buNone/>
              <a:defRPr sz="1929"/>
            </a:lvl5pPr>
            <a:lvl6pPr marL="2205049" indent="0">
              <a:buNone/>
              <a:defRPr sz="1929"/>
            </a:lvl6pPr>
            <a:lvl7pPr marL="2646058" indent="0">
              <a:buNone/>
              <a:defRPr sz="1929"/>
            </a:lvl7pPr>
            <a:lvl8pPr marL="3087068" indent="0">
              <a:buNone/>
              <a:defRPr sz="1929"/>
            </a:lvl8pPr>
            <a:lvl9pPr marL="3528077" indent="0">
              <a:buNone/>
              <a:defRPr sz="1929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325424"/>
            <a:ext cx="4114800" cy="1098488"/>
          </a:xfrm>
        </p:spPr>
        <p:txBody>
          <a:bodyPr/>
          <a:lstStyle>
            <a:lvl1pPr marL="0" indent="0">
              <a:buNone/>
              <a:defRPr sz="1350"/>
            </a:lvl1pPr>
            <a:lvl2pPr marL="441009" indent="0">
              <a:buNone/>
              <a:defRPr sz="1158"/>
            </a:lvl2pPr>
            <a:lvl3pPr marL="882019" indent="0">
              <a:buNone/>
              <a:defRPr sz="965"/>
            </a:lvl3pPr>
            <a:lvl4pPr marL="1323029" indent="0">
              <a:buNone/>
              <a:defRPr sz="868"/>
            </a:lvl4pPr>
            <a:lvl5pPr marL="1764039" indent="0">
              <a:buNone/>
              <a:defRPr sz="868"/>
            </a:lvl5pPr>
            <a:lvl6pPr marL="2205049" indent="0">
              <a:buNone/>
              <a:defRPr sz="868"/>
            </a:lvl6pPr>
            <a:lvl7pPr marL="2646058" indent="0">
              <a:buNone/>
              <a:defRPr sz="868"/>
            </a:lvl7pPr>
            <a:lvl8pPr marL="3087068" indent="0">
              <a:buNone/>
              <a:defRPr sz="868"/>
            </a:lvl8pPr>
            <a:lvl9pPr marL="3528077" indent="0">
              <a:buNone/>
              <a:defRPr sz="868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2208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1329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00498"/>
            <a:ext cx="1157288" cy="1064688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00498"/>
            <a:ext cx="3357563" cy="1064688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F66C5-9CC5-4920-8C7D-4C917F0FD76F}" type="datetimeFigureOut">
              <a:rPr lang="ko-KR" altLang="en-US" smtClean="0"/>
              <a:pPr/>
              <a:t>2026-10-27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79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74833"/>
            <a:ext cx="6172200" cy="15599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83982"/>
            <a:ext cx="6172200" cy="61771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675244"/>
            <a:ext cx="1600200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5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F66C5-9CC5-4920-8C7D-4C917F0FD76F}" type="datetimeFigureOut">
              <a:rPr lang="ko-KR" altLang="en-US" smtClean="0"/>
              <a:pPr/>
              <a:t>2026-10-27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1" y="8675244"/>
            <a:ext cx="2171700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5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675244"/>
            <a:ext cx="1600200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5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C0A9B7-C6A9-4D18-8805-BC65FADB00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9105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882019" rtl="0" eaLnBrk="1" latinLnBrk="1" hangingPunct="1">
        <a:spcBef>
          <a:spcPct val="0"/>
        </a:spcBef>
        <a:buNone/>
        <a:defRPr sz="42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0757" indent="-330757" algn="l" defTabSz="882019" rtl="0" eaLnBrk="1" latinLnBrk="1" hangingPunct="1">
        <a:spcBef>
          <a:spcPct val="20000"/>
        </a:spcBef>
        <a:buFont typeface="Arial" panose="020B0604020202020204" pitchFamily="34" charset="0"/>
        <a:buChar char="•"/>
        <a:defRPr sz="3087" kern="1200">
          <a:solidFill>
            <a:schemeClr val="tx1"/>
          </a:solidFill>
          <a:latin typeface="+mn-lt"/>
          <a:ea typeface="+mn-ea"/>
          <a:cs typeface="+mn-cs"/>
        </a:defRPr>
      </a:lvl1pPr>
      <a:lvl2pPr marL="716641" indent="-275630" algn="l" defTabSz="882019" rtl="0" eaLnBrk="1" latinLnBrk="1" hangingPunct="1">
        <a:spcBef>
          <a:spcPct val="20000"/>
        </a:spcBef>
        <a:buFont typeface="Arial" panose="020B0604020202020204" pitchFamily="34" charset="0"/>
        <a:buChar char="–"/>
        <a:defRPr sz="2701" kern="1200">
          <a:solidFill>
            <a:schemeClr val="tx1"/>
          </a:solidFill>
          <a:latin typeface="+mn-lt"/>
          <a:ea typeface="+mn-ea"/>
          <a:cs typeface="+mn-cs"/>
        </a:defRPr>
      </a:lvl2pPr>
      <a:lvl3pPr marL="1102524" indent="-220506" algn="l" defTabSz="882019" rtl="0" eaLnBrk="1" latinLnBrk="1" hangingPunct="1">
        <a:spcBef>
          <a:spcPct val="20000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3pPr>
      <a:lvl4pPr marL="1543534" indent="-220506" algn="l" defTabSz="882019" rtl="0" eaLnBrk="1" latinLnBrk="1" hangingPunct="1">
        <a:spcBef>
          <a:spcPct val="20000"/>
        </a:spcBef>
        <a:buFont typeface="Arial" panose="020B0604020202020204" pitchFamily="34" charset="0"/>
        <a:buChar char="–"/>
        <a:defRPr sz="1929" kern="1200">
          <a:solidFill>
            <a:schemeClr val="tx1"/>
          </a:solidFill>
          <a:latin typeface="+mn-lt"/>
          <a:ea typeface="+mn-ea"/>
          <a:cs typeface="+mn-cs"/>
        </a:defRPr>
      </a:lvl4pPr>
      <a:lvl5pPr marL="1984543" indent="-220506" algn="l" defTabSz="882019" rtl="0" eaLnBrk="1" latinLnBrk="1" hangingPunct="1">
        <a:spcBef>
          <a:spcPct val="20000"/>
        </a:spcBef>
        <a:buFont typeface="Arial" panose="020B0604020202020204" pitchFamily="34" charset="0"/>
        <a:buChar char="»"/>
        <a:defRPr sz="1929" kern="1200">
          <a:solidFill>
            <a:schemeClr val="tx1"/>
          </a:solidFill>
          <a:latin typeface="+mn-lt"/>
          <a:ea typeface="+mn-ea"/>
          <a:cs typeface="+mn-cs"/>
        </a:defRPr>
      </a:lvl5pPr>
      <a:lvl6pPr marL="2425553" indent="-220506" algn="l" defTabSz="882019" rtl="0" eaLnBrk="1" latinLnBrk="1" hangingPunct="1">
        <a:spcBef>
          <a:spcPct val="20000"/>
        </a:spcBef>
        <a:buFont typeface="Arial" panose="020B0604020202020204" pitchFamily="34" charset="0"/>
        <a:buChar char="•"/>
        <a:defRPr sz="1929" kern="1200">
          <a:solidFill>
            <a:schemeClr val="tx1"/>
          </a:solidFill>
          <a:latin typeface="+mn-lt"/>
          <a:ea typeface="+mn-ea"/>
          <a:cs typeface="+mn-cs"/>
        </a:defRPr>
      </a:lvl6pPr>
      <a:lvl7pPr marL="2866563" indent="-220506" algn="l" defTabSz="882019" rtl="0" eaLnBrk="1" latinLnBrk="1" hangingPunct="1">
        <a:spcBef>
          <a:spcPct val="20000"/>
        </a:spcBef>
        <a:buFont typeface="Arial" panose="020B0604020202020204" pitchFamily="34" charset="0"/>
        <a:buChar char="•"/>
        <a:defRPr sz="1929" kern="1200">
          <a:solidFill>
            <a:schemeClr val="tx1"/>
          </a:solidFill>
          <a:latin typeface="+mn-lt"/>
          <a:ea typeface="+mn-ea"/>
          <a:cs typeface="+mn-cs"/>
        </a:defRPr>
      </a:lvl7pPr>
      <a:lvl8pPr marL="3307572" indent="-220506" algn="l" defTabSz="882019" rtl="0" eaLnBrk="1" latinLnBrk="1" hangingPunct="1">
        <a:spcBef>
          <a:spcPct val="20000"/>
        </a:spcBef>
        <a:buFont typeface="Arial" panose="020B0604020202020204" pitchFamily="34" charset="0"/>
        <a:buChar char="•"/>
        <a:defRPr sz="1929" kern="1200">
          <a:solidFill>
            <a:schemeClr val="tx1"/>
          </a:solidFill>
          <a:latin typeface="+mn-lt"/>
          <a:ea typeface="+mn-ea"/>
          <a:cs typeface="+mn-cs"/>
        </a:defRPr>
      </a:lvl8pPr>
      <a:lvl9pPr marL="3748583" indent="-220506" algn="l" defTabSz="882019" rtl="0" eaLnBrk="1" latinLnBrk="1" hangingPunct="1">
        <a:spcBef>
          <a:spcPct val="20000"/>
        </a:spcBef>
        <a:buFont typeface="Arial" panose="020B0604020202020204" pitchFamily="34" charset="0"/>
        <a:buChar char="•"/>
        <a:defRPr sz="192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82019" rtl="0" eaLnBrk="1" latinLnBrk="1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1pPr>
      <a:lvl2pPr marL="441009" algn="l" defTabSz="882019" rtl="0" eaLnBrk="1" latinLnBrk="1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2pPr>
      <a:lvl3pPr marL="882019" algn="l" defTabSz="882019" rtl="0" eaLnBrk="1" latinLnBrk="1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3pPr>
      <a:lvl4pPr marL="1323029" algn="l" defTabSz="882019" rtl="0" eaLnBrk="1" latinLnBrk="1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4pPr>
      <a:lvl5pPr marL="1764039" algn="l" defTabSz="882019" rtl="0" eaLnBrk="1" latinLnBrk="1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5pPr>
      <a:lvl6pPr marL="2205049" algn="l" defTabSz="882019" rtl="0" eaLnBrk="1" latinLnBrk="1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6pPr>
      <a:lvl7pPr marL="2646058" algn="l" defTabSz="882019" rtl="0" eaLnBrk="1" latinLnBrk="1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7pPr>
      <a:lvl8pPr marL="3087068" algn="l" defTabSz="882019" rtl="0" eaLnBrk="1" latinLnBrk="1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8pPr>
      <a:lvl9pPr marL="3528077" algn="l" defTabSz="882019" rtl="0" eaLnBrk="1" latinLnBrk="1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 txBox="1"/>
          <p:nvPr/>
        </p:nvSpPr>
        <p:spPr>
          <a:xfrm>
            <a:off x="0" y="120000"/>
            <a:ext cx="9359900" cy="470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18000" rIns="36000" bIns="18000" anchor="ctr">
            <a:noAutofit/>
          </a:bodyPr>
          <a:lstStyle/>
          <a:p>
            <a:pPr marL="0" indent="0" algn="ctr" latinLnBrk="1">
              <a:lnSpc>
                <a:spcPct val="110000"/>
              </a:lnSpc>
              <a:buNone/>
            </a:pPr>
            <a:r>
              <a:rPr lang="ko-KR" altLang="en-US" sz="2200" u="sng" dirty="0">
                <a:solidFill>
                  <a:prstClr val="black">
                    <a:lumMod val="85000"/>
                    <a:lumOff val="1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주요 프로젝트 추진 현황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6729900" y="470000"/>
            <a:ext cx="24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 latinLnBrk="1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595959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rPr>
              <a:t>'26.10.○○ 기준  /  ○○팀</a:t>
            </a:r>
          </a:p>
        </p:txBody>
      </p:sp>
      <p:sp>
        <p:nvSpPr>
          <p:cNvPr id="103" name="Frame 1"/>
          <p:cNvSpPr/>
          <p:nvPr/>
        </p:nvSpPr>
        <p:spPr>
          <a:xfrm>
            <a:off x="230000" y="760000"/>
            <a:ext cx="4379950" cy="286400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wrap="square" lIns="36000" tIns="18000" rIns="36000" bIns="18000" anchor="t">
            <a:noAutofit/>
          </a:bodyPr>
          <a:lstStyle/>
          <a:p>
            <a:endParaRPr lang="ko-KR" sz="900"/>
          </a:p>
        </p:txBody>
      </p:sp>
      <p:sp>
        <p:nvSpPr>
          <p:cNvPr id="104" name="Header 1"/>
          <p:cNvSpPr/>
          <p:nvPr/>
        </p:nvSpPr>
        <p:spPr>
          <a:xfrm>
            <a:off x="230000" y="760000"/>
            <a:ext cx="4379950" cy="300000"/>
          </a:xfrm>
          <a:prstGeom prst="rect">
            <a:avLst/>
          </a:prstGeom>
          <a:solidFill>
            <a:srgbClr val="1E236E"/>
          </a:solidFill>
          <a:ln>
            <a:noFill/>
          </a:ln>
        </p:spPr>
        <p:txBody>
          <a:bodyPr wrap="square" lIns="90000" tIns="0" rIns="90000" bIns="0" anchor="ctr">
            <a:noAutofit/>
          </a:bodyPr>
          <a:lstStyle/>
          <a:p>
            <a:pPr marL="0" indent="0" algn="l" latinLnBrk="1">
              <a:lnSpc>
                <a:spcPct val="100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1. 센텀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3109950" y="760000"/>
            <a:ext cx="141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 latinLnBrk="1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FFFFFF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rPr>
              <a:t>단계 : ○○</a:t>
            </a:r>
          </a:p>
        </p:txBody>
      </p:sp>
      <p:sp>
        <p:nvSpPr>
          <p:cNvPr id="106" name="개요 1"/>
          <p:cNvSpPr/>
          <p:nvPr/>
        </p:nvSpPr>
        <p:spPr>
          <a:xfrm>
            <a:off x="290000" y="1120000"/>
            <a:ext cx="4259950" cy="28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70000" tIns="0" rIns="70000" bIns="0" anchor="ctr">
            <a:noAutofit/>
          </a:bodyPr>
          <a:lstStyle/>
          <a:p>
            <a:pPr marL="0" indent="0" algn="l" latinLnBrk="1">
              <a:lnSpc>
                <a:spcPct val="110000"/>
              </a:lnSpc>
              <a:buNone/>
            </a:pPr>
            <a:r>
              <a:rPr lang="ko-KR" altLang="en-US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위치 : 부산 해운대구 ○○  |  규모 : ○○㎡  |  사업비 : ○○억</a:t>
            </a:r>
          </a:p>
        </p:txBody>
      </p:sp>
      <p:sp>
        <p:nvSpPr>
          <p:cNvPr id="107" name="Body 1"/>
          <p:cNvSpPr txBox="1"/>
          <p:nvPr/>
        </p:nvSpPr>
        <p:spPr>
          <a:xfrm>
            <a:off x="270000" y="1420000"/>
            <a:ext cx="4299950" cy="2174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t">
            <a:noAutofit/>
          </a:bodyPr>
          <a:lstStyle/>
          <a:p>
            <a:pPr marL="0" indent="0" algn="l" latinLnBrk="1">
              <a:lnSpc>
                <a:spcPct val="125000"/>
              </a:lnSpc>
              <a:spcBef>
                <a:spcPts val="500"/>
              </a:spcBef>
              <a:buNone/>
            </a:pPr>
            <a:r>
              <a:rPr lang="ko-KR" altLang="en-US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</a:t>
            </a:r>
            <a:r>
              <a:rPr lang="ko-KR" altLang="en-US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 xml:space="preserve"> 추진 현황</a:t>
            </a:r>
          </a:p>
          <a:p>
            <a:pPr marL="300000" indent="-130000" algn="l" latinLnBrk="1">
              <a:lnSpc>
                <a:spcPct val="125000"/>
              </a:lnSpc>
              <a:spcBef>
                <a:spcPts val="100"/>
              </a:spcBef>
              <a:buNone/>
            </a:pP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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 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○○ 진행 중 </a:t>
            </a:r>
            <a:r>
              <a:rPr lang="ko-KR" altLang="en-US" sz="8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('○○.○)</a:t>
            </a:r>
          </a:p>
          <a:p>
            <a:pPr marL="300000" indent="-130000" algn="l" latinLnBrk="1">
              <a:lnSpc>
                <a:spcPct val="125000"/>
              </a:lnSpc>
              <a:spcBef>
                <a:spcPts val="100"/>
              </a:spcBef>
              <a:buNone/>
            </a:pP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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 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○○ 완료 </a:t>
            </a:r>
            <a:r>
              <a:rPr lang="ko-KR" altLang="en-US" sz="8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('○○.○)</a:t>
            </a:r>
          </a:p>
          <a:p>
            <a:pPr marL="0" indent="0" algn="l" latinLnBrk="1">
              <a:lnSpc>
                <a:spcPct val="125000"/>
              </a:lnSpc>
              <a:spcBef>
                <a:spcPts val="500"/>
              </a:spcBef>
              <a:buNone/>
            </a:pPr>
            <a:r>
              <a:rPr lang="ko-KR" altLang="en-US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</a:t>
            </a:r>
            <a:r>
              <a:rPr lang="ko-KR" altLang="en-US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 xml:space="preserve"> 주요 이슈</a:t>
            </a:r>
          </a:p>
          <a:p>
            <a:pPr marL="300000" indent="-130000" algn="l" latinLnBrk="1">
              <a:lnSpc>
                <a:spcPct val="125000"/>
              </a:lnSpc>
              <a:spcBef>
                <a:spcPts val="100"/>
              </a:spcBef>
              <a:buNone/>
            </a:pP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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 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○○ 협의 지연 → ○○ 영향</a:t>
            </a:r>
          </a:p>
          <a:p>
            <a:pPr marL="300000" indent="-130000" algn="l" latinLnBrk="1">
              <a:lnSpc>
                <a:spcPct val="125000"/>
              </a:lnSpc>
              <a:spcBef>
                <a:spcPts val="100"/>
              </a:spcBef>
              <a:buNone/>
            </a:pP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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 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○○</a:t>
            </a:r>
          </a:p>
          <a:p>
            <a:pPr marL="0" indent="0" algn="l" latinLnBrk="1">
              <a:lnSpc>
                <a:spcPct val="125000"/>
              </a:lnSpc>
              <a:spcBef>
                <a:spcPts val="500"/>
              </a:spcBef>
              <a:buNone/>
            </a:pPr>
            <a:r>
              <a:rPr lang="ko-KR" altLang="en-US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</a:t>
            </a:r>
            <a:r>
              <a:rPr lang="ko-KR" altLang="en-US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 xml:space="preserve"> 향후 계획</a:t>
            </a:r>
          </a:p>
          <a:p>
            <a:pPr marL="300000" indent="-130000" algn="l" latinLnBrk="1">
              <a:lnSpc>
                <a:spcPct val="125000"/>
              </a:lnSpc>
              <a:spcBef>
                <a:spcPts val="100"/>
              </a:spcBef>
              <a:buNone/>
            </a:pP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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 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○○ </a:t>
            </a:r>
            <a:r>
              <a:rPr lang="ko-KR" altLang="en-US" sz="8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('○○.○월)</a:t>
            </a:r>
          </a:p>
          <a:p>
            <a:pPr marL="300000" indent="-130000" algn="l" latinLnBrk="1">
              <a:lnSpc>
                <a:spcPct val="125000"/>
              </a:lnSpc>
              <a:spcBef>
                <a:spcPts val="100"/>
              </a:spcBef>
              <a:buNone/>
            </a:pP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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 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○○ </a:t>
            </a:r>
            <a:r>
              <a:rPr lang="ko-KR" altLang="en-US" sz="8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('○○.○월)</a:t>
            </a:r>
          </a:p>
        </p:txBody>
      </p:sp>
      <p:sp>
        <p:nvSpPr>
          <p:cNvPr id="108" name="Frame 2"/>
          <p:cNvSpPr/>
          <p:nvPr/>
        </p:nvSpPr>
        <p:spPr>
          <a:xfrm>
            <a:off x="4749950" y="760000"/>
            <a:ext cx="4379950" cy="286400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wrap="square" lIns="36000" tIns="18000" rIns="36000" bIns="18000" anchor="t">
            <a:noAutofit/>
          </a:bodyPr>
          <a:lstStyle/>
          <a:p>
            <a:endParaRPr lang="ko-KR" sz="900"/>
          </a:p>
        </p:txBody>
      </p:sp>
      <p:sp>
        <p:nvSpPr>
          <p:cNvPr id="109" name="Header 2"/>
          <p:cNvSpPr/>
          <p:nvPr/>
        </p:nvSpPr>
        <p:spPr>
          <a:xfrm>
            <a:off x="4749950" y="760000"/>
            <a:ext cx="4379950" cy="300000"/>
          </a:xfrm>
          <a:prstGeom prst="rect">
            <a:avLst/>
          </a:prstGeom>
          <a:solidFill>
            <a:srgbClr val="1E236E"/>
          </a:solidFill>
          <a:ln>
            <a:noFill/>
          </a:ln>
        </p:spPr>
        <p:txBody>
          <a:bodyPr wrap="square" lIns="90000" tIns="0" rIns="90000" bIns="0" anchor="ctr">
            <a:noAutofit/>
          </a:bodyPr>
          <a:lstStyle/>
          <a:p>
            <a:pPr marL="0" indent="0" algn="l" latinLnBrk="1">
              <a:lnSpc>
                <a:spcPct val="100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2. 세빛섬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7629900" y="760000"/>
            <a:ext cx="141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 latinLnBrk="1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FFFFFF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rPr>
              <a:t>단계 : 통합운영 추진</a:t>
            </a:r>
          </a:p>
        </p:txBody>
      </p:sp>
      <p:sp>
        <p:nvSpPr>
          <p:cNvPr id="111" name="개요 2"/>
          <p:cNvSpPr/>
          <p:nvPr/>
        </p:nvSpPr>
        <p:spPr>
          <a:xfrm>
            <a:off x="4809950" y="1120000"/>
            <a:ext cx="4259950" cy="28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70000" tIns="0" rIns="70000" bIns="0" anchor="ctr">
            <a:noAutofit/>
          </a:bodyPr>
          <a:lstStyle/>
          <a:p>
            <a:pPr marL="0" indent="0" algn="l" latinLnBrk="1">
              <a:lnSpc>
                <a:spcPct val="110000"/>
              </a:lnSpc>
              <a:buNone/>
            </a:pPr>
            <a:r>
              <a:rPr lang="ko-KR" altLang="en-US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위치 : 반포한강공원  |  운영 : (주)세빛섬  |  사용기간 ~'○○</a:t>
            </a:r>
          </a:p>
        </p:txBody>
      </p:sp>
      <p:sp>
        <p:nvSpPr>
          <p:cNvPr id="112" name="Body 2"/>
          <p:cNvSpPr txBox="1"/>
          <p:nvPr/>
        </p:nvSpPr>
        <p:spPr>
          <a:xfrm>
            <a:off x="4789950" y="1420000"/>
            <a:ext cx="4299950" cy="2174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t">
            <a:noAutofit/>
          </a:bodyPr>
          <a:lstStyle/>
          <a:p>
            <a:pPr marL="0" indent="0" algn="l" latinLnBrk="1">
              <a:lnSpc>
                <a:spcPct val="125000"/>
              </a:lnSpc>
              <a:spcBef>
                <a:spcPts val="500"/>
              </a:spcBef>
              <a:buNone/>
            </a:pPr>
            <a:r>
              <a:rPr lang="ko-KR" altLang="en-US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</a:t>
            </a:r>
            <a:r>
              <a:rPr lang="ko-KR" altLang="en-US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 xml:space="preserve"> 추진 현황</a:t>
            </a:r>
          </a:p>
          <a:p>
            <a:pPr marL="300000" indent="-130000" algn="l" latinLnBrk="1">
              <a:lnSpc>
                <a:spcPct val="125000"/>
              </a:lnSpc>
              <a:spcBef>
                <a:spcPts val="100"/>
              </a:spcBef>
              <a:buNone/>
            </a:pP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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 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市-효성 협약 해지 및 해지시지급금 협의 중</a:t>
            </a:r>
          </a:p>
          <a:p>
            <a:pPr marL="300000" indent="-130000" algn="l" latinLnBrk="1">
              <a:lnSpc>
                <a:spcPct val="125000"/>
              </a:lnSpc>
              <a:spcBef>
                <a:spcPts val="100"/>
              </a:spcBef>
              <a:buNone/>
            </a:pP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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 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반포 수상푸드존과 통합 운영(민투법) 추진 검토</a:t>
            </a:r>
          </a:p>
          <a:p>
            <a:pPr marL="0" indent="0" algn="l" latinLnBrk="1">
              <a:lnSpc>
                <a:spcPct val="125000"/>
              </a:lnSpc>
              <a:spcBef>
                <a:spcPts val="500"/>
              </a:spcBef>
              <a:buNone/>
            </a:pPr>
            <a:r>
              <a:rPr lang="ko-KR" altLang="en-US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</a:t>
            </a:r>
            <a:r>
              <a:rPr lang="ko-KR" altLang="en-US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 xml:space="preserve"> 주요 이슈</a:t>
            </a:r>
          </a:p>
          <a:p>
            <a:pPr marL="300000" indent="-130000" algn="l" latinLnBrk="1">
              <a:lnSpc>
                <a:spcPct val="125000"/>
              </a:lnSpc>
              <a:spcBef>
                <a:spcPts val="100"/>
              </a:spcBef>
              <a:buNone/>
            </a:pP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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 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해지시지급금 규모 / 소유권 市 이전 시점</a:t>
            </a:r>
          </a:p>
          <a:p>
            <a:pPr marL="300000" indent="-130000" algn="l" latinLnBrk="1">
              <a:lnSpc>
                <a:spcPct val="125000"/>
              </a:lnSpc>
              <a:spcBef>
                <a:spcPts val="100"/>
              </a:spcBef>
              <a:buNone/>
            </a:pP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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 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민간투자사업 적용 가능 여부 </a:t>
            </a:r>
            <a:r>
              <a:rPr lang="ko-KR" altLang="en-US" sz="8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(운영기간 50년 목표)</a:t>
            </a:r>
          </a:p>
          <a:p>
            <a:pPr marL="0" indent="0" algn="l" latinLnBrk="1">
              <a:lnSpc>
                <a:spcPct val="125000"/>
              </a:lnSpc>
              <a:spcBef>
                <a:spcPts val="500"/>
              </a:spcBef>
              <a:buNone/>
            </a:pPr>
            <a:r>
              <a:rPr lang="ko-KR" altLang="en-US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</a:t>
            </a:r>
            <a:r>
              <a:rPr lang="ko-KR" altLang="en-US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 xml:space="preserve"> 향후 계획</a:t>
            </a:r>
          </a:p>
          <a:p>
            <a:pPr marL="300000" indent="-130000" algn="l" latinLnBrk="1">
              <a:lnSpc>
                <a:spcPct val="125000"/>
              </a:lnSpc>
              <a:spcBef>
                <a:spcPts val="100"/>
              </a:spcBef>
              <a:buNone/>
            </a:pP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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 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市 협의 및 사업제안 준비 </a:t>
            </a:r>
            <a:r>
              <a:rPr lang="ko-KR" altLang="en-US" sz="8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('○○.○월)</a:t>
            </a:r>
          </a:p>
          <a:p>
            <a:pPr marL="300000" indent="-130000" algn="l" latinLnBrk="1">
              <a:lnSpc>
                <a:spcPct val="125000"/>
              </a:lnSpc>
              <a:spcBef>
                <a:spcPts val="100"/>
              </a:spcBef>
              <a:buNone/>
            </a:pP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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 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○○</a:t>
            </a:r>
          </a:p>
        </p:txBody>
      </p:sp>
      <p:sp>
        <p:nvSpPr>
          <p:cNvPr id="113" name="Frame 3"/>
          <p:cNvSpPr/>
          <p:nvPr/>
        </p:nvSpPr>
        <p:spPr>
          <a:xfrm>
            <a:off x="230000" y="3764000"/>
            <a:ext cx="4379950" cy="286400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wrap="square" lIns="36000" tIns="18000" rIns="36000" bIns="18000" anchor="t">
            <a:noAutofit/>
          </a:bodyPr>
          <a:lstStyle/>
          <a:p>
            <a:endParaRPr lang="ko-KR" sz="900"/>
          </a:p>
        </p:txBody>
      </p:sp>
      <p:sp>
        <p:nvSpPr>
          <p:cNvPr id="114" name="Header 3"/>
          <p:cNvSpPr/>
          <p:nvPr/>
        </p:nvSpPr>
        <p:spPr>
          <a:xfrm>
            <a:off x="230000" y="3764000"/>
            <a:ext cx="4379950" cy="300000"/>
          </a:xfrm>
          <a:prstGeom prst="rect">
            <a:avLst/>
          </a:prstGeom>
          <a:solidFill>
            <a:srgbClr val="1E236E"/>
          </a:solidFill>
          <a:ln>
            <a:noFill/>
          </a:ln>
        </p:spPr>
        <p:txBody>
          <a:bodyPr wrap="square" lIns="90000" tIns="0" rIns="90000" bIns="0" anchor="ctr">
            <a:noAutofit/>
          </a:bodyPr>
          <a:lstStyle/>
          <a:p>
            <a:pPr marL="0" indent="0" algn="l" latinLnBrk="1">
              <a:lnSpc>
                <a:spcPct val="100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3. 논현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3109950" y="3764000"/>
            <a:ext cx="141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 latinLnBrk="1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FFFFFF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rPr>
              <a:t>단계 : PF 심의 준비</a:t>
            </a:r>
          </a:p>
        </p:txBody>
      </p:sp>
      <p:sp>
        <p:nvSpPr>
          <p:cNvPr id="116" name="개요 3"/>
          <p:cNvSpPr/>
          <p:nvPr/>
        </p:nvSpPr>
        <p:spPr>
          <a:xfrm>
            <a:off x="290000" y="4124000"/>
            <a:ext cx="4259950" cy="28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70000" tIns="0" rIns="70000" bIns="0" anchor="ctr">
            <a:noAutofit/>
          </a:bodyPr>
          <a:lstStyle/>
          <a:p>
            <a:pPr marL="0" indent="0" algn="l" latinLnBrk="1">
              <a:lnSpc>
                <a:spcPct val="110000"/>
              </a:lnSpc>
              <a:buNone/>
            </a:pPr>
            <a:r>
              <a:rPr lang="ko-KR" altLang="en-US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위치 : 논현동 ○○  |  PF : 약 ○○억  |  시공 : ○○건설</a:t>
            </a:r>
          </a:p>
        </p:txBody>
      </p:sp>
      <p:sp>
        <p:nvSpPr>
          <p:cNvPr id="117" name="Body 3"/>
          <p:cNvSpPr txBox="1"/>
          <p:nvPr/>
        </p:nvSpPr>
        <p:spPr>
          <a:xfrm>
            <a:off x="270000" y="4424000"/>
            <a:ext cx="4299950" cy="2174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t">
            <a:noAutofit/>
          </a:bodyPr>
          <a:lstStyle/>
          <a:p>
            <a:pPr marL="0" indent="0" algn="l" latinLnBrk="1">
              <a:lnSpc>
                <a:spcPct val="125000"/>
              </a:lnSpc>
              <a:spcBef>
                <a:spcPts val="500"/>
              </a:spcBef>
              <a:buNone/>
            </a:pPr>
            <a:r>
              <a:rPr lang="ko-KR" altLang="en-US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</a:t>
            </a:r>
            <a:r>
              <a:rPr lang="ko-KR" altLang="en-US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 xml:space="preserve"> 추진 현황</a:t>
            </a:r>
          </a:p>
          <a:p>
            <a:pPr marL="300000" indent="-130000" algn="l" latinLnBrk="1">
              <a:lnSpc>
                <a:spcPct val="125000"/>
              </a:lnSpc>
              <a:spcBef>
                <a:spcPts val="100"/>
              </a:spcBef>
              <a:buNone/>
            </a:pP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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 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PF 심의 '26.11.13 예정 </a:t>
            </a:r>
            <a:r>
              <a:rPr lang="ko-KR" altLang="en-US" sz="8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(책임착공 / 책임준공 조건)</a:t>
            </a:r>
          </a:p>
          <a:p>
            <a:pPr marL="300000" indent="-130000" algn="l" latinLnBrk="1">
              <a:lnSpc>
                <a:spcPct val="125000"/>
              </a:lnSpc>
              <a:spcBef>
                <a:spcPts val="100"/>
              </a:spcBef>
              <a:buNone/>
            </a:pP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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 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인허가 ○○ 단계, 11월 내 완료 난망</a:t>
            </a:r>
          </a:p>
          <a:p>
            <a:pPr marL="0" indent="0" algn="l" latinLnBrk="1">
              <a:lnSpc>
                <a:spcPct val="125000"/>
              </a:lnSpc>
              <a:spcBef>
                <a:spcPts val="500"/>
              </a:spcBef>
              <a:buNone/>
            </a:pPr>
            <a:r>
              <a:rPr lang="ko-KR" altLang="en-US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</a:t>
            </a:r>
            <a:r>
              <a:rPr lang="ko-KR" altLang="en-US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 xml:space="preserve"> 주요 이슈</a:t>
            </a:r>
          </a:p>
          <a:p>
            <a:pPr marL="300000" indent="-130000" algn="l" latinLnBrk="1">
              <a:lnSpc>
                <a:spcPct val="125000"/>
              </a:lnSpc>
              <a:spcBef>
                <a:spcPts val="100"/>
              </a:spcBef>
              <a:buNone/>
            </a:pP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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 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인허가 지연 시 책임준공 기산점 / 심의 유효기간 문제</a:t>
            </a:r>
          </a:p>
          <a:p>
            <a:pPr marL="300000" indent="-130000" algn="l" latinLnBrk="1">
              <a:lnSpc>
                <a:spcPct val="125000"/>
              </a:lnSpc>
              <a:spcBef>
                <a:spcPts val="100"/>
              </a:spcBef>
              <a:buNone/>
            </a:pP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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 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심의 일정 조정 필요 </a:t>
            </a:r>
            <a:r>
              <a:rPr lang="ko-KR" altLang="en-US" sz="8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(B / C안 검토)</a:t>
            </a:r>
          </a:p>
          <a:p>
            <a:pPr marL="0" indent="0" algn="l" latinLnBrk="1">
              <a:lnSpc>
                <a:spcPct val="125000"/>
              </a:lnSpc>
              <a:spcBef>
                <a:spcPts val="500"/>
              </a:spcBef>
              <a:buNone/>
            </a:pPr>
            <a:r>
              <a:rPr lang="ko-KR" altLang="en-US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</a:t>
            </a:r>
            <a:r>
              <a:rPr lang="ko-KR" altLang="en-US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 xml:space="preserve"> 향후 계획</a:t>
            </a:r>
          </a:p>
          <a:p>
            <a:pPr marL="300000" indent="-130000" algn="l" latinLnBrk="1">
              <a:lnSpc>
                <a:spcPct val="125000"/>
              </a:lnSpc>
              <a:spcBef>
                <a:spcPts val="100"/>
              </a:spcBef>
              <a:buNone/>
            </a:pP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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 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대주단 / 시공사 일정·조건 협의 </a:t>
            </a:r>
            <a:r>
              <a:rPr lang="ko-KR" altLang="en-US" sz="8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('26.11월)</a:t>
            </a:r>
          </a:p>
          <a:p>
            <a:pPr marL="300000" indent="-130000" algn="l" latinLnBrk="1">
              <a:lnSpc>
                <a:spcPct val="125000"/>
              </a:lnSpc>
              <a:spcBef>
                <a:spcPts val="100"/>
              </a:spcBef>
              <a:buNone/>
            </a:pP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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 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인허가 완료 후 PF 심의 </a:t>
            </a:r>
            <a:r>
              <a:rPr lang="ko-KR" altLang="en-US" sz="8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('○○.○월)</a:t>
            </a:r>
          </a:p>
        </p:txBody>
      </p:sp>
      <p:sp>
        <p:nvSpPr>
          <p:cNvPr id="118" name="Frame 4"/>
          <p:cNvSpPr/>
          <p:nvPr/>
        </p:nvSpPr>
        <p:spPr>
          <a:xfrm>
            <a:off x="4749950" y="3764000"/>
            <a:ext cx="4379950" cy="286400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wrap="square" lIns="36000" tIns="18000" rIns="36000" bIns="18000" anchor="t">
            <a:noAutofit/>
          </a:bodyPr>
          <a:lstStyle/>
          <a:p>
            <a:endParaRPr lang="ko-KR" sz="900"/>
          </a:p>
        </p:txBody>
      </p:sp>
      <p:sp>
        <p:nvSpPr>
          <p:cNvPr id="119" name="Header 4"/>
          <p:cNvSpPr/>
          <p:nvPr/>
        </p:nvSpPr>
        <p:spPr>
          <a:xfrm>
            <a:off x="4749950" y="3764000"/>
            <a:ext cx="4379950" cy="300000"/>
          </a:xfrm>
          <a:prstGeom prst="rect">
            <a:avLst/>
          </a:prstGeom>
          <a:solidFill>
            <a:srgbClr val="1E236E"/>
          </a:solidFill>
          <a:ln>
            <a:noFill/>
          </a:ln>
        </p:spPr>
        <p:txBody>
          <a:bodyPr wrap="square" lIns="90000" tIns="0" rIns="90000" bIns="0" anchor="ctr">
            <a:noAutofit/>
          </a:bodyPr>
          <a:lstStyle/>
          <a:p>
            <a:pPr marL="0" indent="0" algn="l" latinLnBrk="1">
              <a:lnSpc>
                <a:spcPct val="100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>4. 반포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7629900" y="3764000"/>
            <a:ext cx="141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r" latinLnBrk="1">
              <a:lnSpc>
                <a:spcPct val="100000"/>
              </a:lnSpc>
              <a:buNone/>
            </a:pPr>
            <a:r>
              <a:rPr lang="ko-KR" altLang="en-US" sz="950" dirty="0">
                <a:solidFill>
                  <a:srgbClr val="FFFFFF"/>
                </a:solidFill>
                <a:latin typeface="신세계 민부리 Medium(OTF)" panose="02000600000000020003" pitchFamily="50" charset="-127"/>
                <a:ea typeface="신세계 민부리 Medium(OTF)" panose="02000600000000020003" pitchFamily="50" charset="-127"/>
              </a:rPr>
              <a:t>단계 : 운영자 공모 대비</a:t>
            </a:r>
          </a:p>
        </p:txBody>
      </p:sp>
      <p:sp>
        <p:nvSpPr>
          <p:cNvPr id="121" name="개요 4"/>
          <p:cNvSpPr/>
          <p:nvPr/>
        </p:nvSpPr>
        <p:spPr>
          <a:xfrm>
            <a:off x="4809950" y="4124000"/>
            <a:ext cx="4259950" cy="28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70000" tIns="0" rIns="70000" bIns="0" anchor="ctr">
            <a:noAutofit/>
          </a:bodyPr>
          <a:lstStyle/>
          <a:p>
            <a:pPr marL="0" indent="0" algn="l" latinLnBrk="1">
              <a:lnSpc>
                <a:spcPct val="110000"/>
              </a:lnSpc>
              <a:buNone/>
            </a:pPr>
            <a:r>
              <a:rPr lang="ko-KR" altLang="en-US" sz="95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수상푸드존 : 연면적 2,797㎡  |  사업비 276억(市)  |  준공 '27.12</a:t>
            </a:r>
          </a:p>
        </p:txBody>
      </p:sp>
      <p:sp>
        <p:nvSpPr>
          <p:cNvPr id="122" name="Body 4"/>
          <p:cNvSpPr txBox="1"/>
          <p:nvPr/>
        </p:nvSpPr>
        <p:spPr>
          <a:xfrm>
            <a:off x="4789950" y="4424000"/>
            <a:ext cx="4299950" cy="2174000"/>
          </a:xfrm>
          <a:prstGeom prst="rect">
            <a:avLst/>
          </a:prstGeom>
          <a:noFill/>
          <a:ln>
            <a:noFill/>
          </a:ln>
        </p:spPr>
        <p:txBody>
          <a:bodyPr wrap="square" lIns="36000" tIns="0" rIns="36000" bIns="0" anchor="t">
            <a:noAutofit/>
          </a:bodyPr>
          <a:lstStyle/>
          <a:p>
            <a:pPr marL="0" indent="0" algn="l" latinLnBrk="1">
              <a:lnSpc>
                <a:spcPct val="125000"/>
              </a:lnSpc>
              <a:spcBef>
                <a:spcPts val="500"/>
              </a:spcBef>
              <a:buNone/>
            </a:pPr>
            <a:r>
              <a:rPr lang="ko-KR" altLang="en-US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</a:t>
            </a:r>
            <a:r>
              <a:rPr lang="ko-KR" altLang="en-US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 xml:space="preserve"> 추진 현황</a:t>
            </a:r>
          </a:p>
          <a:p>
            <a:pPr marL="300000" indent="-130000" algn="l" latinLnBrk="1">
              <a:lnSpc>
                <a:spcPct val="125000"/>
              </a:lnSpc>
              <a:spcBef>
                <a:spcPts val="100"/>
              </a:spcBef>
              <a:buNone/>
            </a:pP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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 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市 공사 진행 중 </a:t>
            </a:r>
            <a:r>
              <a:rPr lang="ko-KR" altLang="en-US" sz="8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('26.10 ~ '27.12)</a:t>
            </a:r>
          </a:p>
          <a:p>
            <a:pPr marL="300000" indent="-130000" algn="l" latinLnBrk="1">
              <a:lnSpc>
                <a:spcPct val="125000"/>
              </a:lnSpc>
              <a:spcBef>
                <a:spcPts val="100"/>
              </a:spcBef>
              <a:buNone/>
            </a:pP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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 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임대(F&amp;B 15곳)·대관·계류 수입 구조 검토</a:t>
            </a:r>
          </a:p>
          <a:p>
            <a:pPr marL="0" indent="0" algn="l" latinLnBrk="1">
              <a:lnSpc>
                <a:spcPct val="125000"/>
              </a:lnSpc>
              <a:spcBef>
                <a:spcPts val="500"/>
              </a:spcBef>
              <a:buNone/>
            </a:pPr>
            <a:r>
              <a:rPr lang="ko-KR" altLang="en-US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</a:t>
            </a:r>
            <a:r>
              <a:rPr lang="ko-KR" altLang="en-US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 xml:space="preserve"> 주요 이슈</a:t>
            </a:r>
          </a:p>
          <a:p>
            <a:pPr marL="300000" indent="-130000" algn="l" latinLnBrk="1">
              <a:lnSpc>
                <a:spcPct val="125000"/>
              </a:lnSpc>
              <a:spcBef>
                <a:spcPts val="100"/>
              </a:spcBef>
              <a:buNone/>
            </a:pP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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 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운영자 공모 조건 </a:t>
            </a:r>
            <a:r>
              <a:rPr lang="ko-KR" altLang="en-US" sz="8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(요금 결정권, 수익 배분)</a:t>
            </a:r>
          </a:p>
          <a:p>
            <a:pPr marL="300000" indent="-130000" algn="l" latinLnBrk="1">
              <a:lnSpc>
                <a:spcPct val="125000"/>
              </a:lnSpc>
              <a:spcBef>
                <a:spcPts val="100"/>
              </a:spcBef>
              <a:buNone/>
            </a:pP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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 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세빛섬과 통합 운영 연계 여부</a:t>
            </a:r>
          </a:p>
          <a:p>
            <a:pPr marL="0" indent="0" algn="l" latinLnBrk="1">
              <a:lnSpc>
                <a:spcPct val="125000"/>
              </a:lnSpc>
              <a:spcBef>
                <a:spcPts val="500"/>
              </a:spcBef>
              <a:buNone/>
            </a:pPr>
            <a:r>
              <a:rPr lang="ko-KR" altLang="en-US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  <a:sym typeface="Wingdings" pitchFamily="2" charset="2"/>
              </a:rPr>
              <a:t></a:t>
            </a:r>
            <a:r>
              <a:rPr lang="ko-KR" altLang="en-US" sz="11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Bold(TTF)" panose="02000600000000020003" pitchFamily="2" charset="-127"/>
                <a:ea typeface="신세계 민부리 Bold(TTF)" panose="02000600000000020003" pitchFamily="2" charset="-127"/>
              </a:rPr>
              <a:t xml:space="preserve"> 향후 계획</a:t>
            </a:r>
          </a:p>
          <a:p>
            <a:pPr marL="300000" indent="-130000" algn="l" latinLnBrk="1">
              <a:lnSpc>
                <a:spcPct val="125000"/>
              </a:lnSpc>
              <a:spcBef>
                <a:spcPts val="100"/>
              </a:spcBef>
              <a:buNone/>
            </a:pP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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 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운영자 공모 대응 전략 수립 </a:t>
            </a:r>
            <a:r>
              <a:rPr lang="ko-KR" altLang="en-US" sz="8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('○○.○월)</a:t>
            </a:r>
          </a:p>
          <a:p>
            <a:pPr marL="300000" indent="-130000" algn="l" latinLnBrk="1">
              <a:lnSpc>
                <a:spcPct val="125000"/>
              </a:lnSpc>
              <a:spcBef>
                <a:spcPts val="100"/>
              </a:spcBef>
              <a:buNone/>
            </a:pP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  <a:sym typeface="Wingdings" pitchFamily="2" charset="2"/>
              </a:rPr>
              <a:t>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 </a:t>
            </a:r>
            <a:r>
              <a:rPr lang="ko-KR" altLang="en-US" sz="10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 xml:space="preserve">사업성 검토 </a:t>
            </a:r>
            <a:r>
              <a:rPr lang="ko-KR" altLang="en-US" sz="800" dirty="0">
                <a:solidFill>
                  <a:prstClr val="black">
                    <a:lumMod val="85000"/>
                    <a:lumOff val="15000"/>
                  </a:prstClr>
                </a:solidFill>
                <a:latin typeface="신세계 민부리 Light(OTF)" panose="02000600000000020003" pitchFamily="50" charset="-127"/>
                <a:ea typeface="신세계 민부리 Light(OTF)" panose="02000600000000020003" pitchFamily="50" charset="-127"/>
              </a:rPr>
              <a:t>(F&amp;B 수수료, 대관, 계류)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bg1">
              <a:lumMod val="65000"/>
            </a:schemeClr>
          </a:solidFill>
        </a:ln>
      </a:spPr>
      <a:bodyPr wrap="square" rtlCol="0" anchor="ctr">
        <a:spAutoFit/>
      </a:bodyPr>
      <a:lstStyle>
        <a:defPPr algn="l">
          <a:spcBef>
            <a:spcPts val="1200"/>
          </a:spcBef>
          <a:tabLst>
            <a:tab pos="227013" algn="l"/>
            <a:tab pos="1165225" algn="l"/>
          </a:tabLst>
          <a:defRPr sz="1400" dirty="0">
            <a:solidFill>
              <a:prstClr val="black">
                <a:lumMod val="85000"/>
                <a:lumOff val="15000"/>
              </a:prstClr>
            </a:solidFill>
            <a:latin typeface="HY견고딕" panose="02030600000101010101" pitchFamily="18" charset="-127"/>
            <a:ea typeface="HY견고딕" panose="02030600000101010101" pitchFamily="18" charset="-127"/>
            <a:sym typeface="Wingdings" pitchFamily="2" charset="2"/>
          </a:defRPr>
        </a:defPPr>
      </a:lstStyle>
    </a:spDef>
    <a:lnDef>
      <a:spPr>
        <a:ln w="9525">
          <a:solidFill>
            <a:schemeClr val="bg1">
              <a:lumMod val="6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  <a:effectLst/>
      </a:spPr>
      <a:bodyPr vert="horz" wrap="square" lIns="88202" tIns="44101" rIns="88202" bIns="44101" numCol="1" rtlCol="0" anchor="ctr" anchorCtr="0" compatLnSpc="1">
        <a:prstTxWarp prst="textNoShape">
          <a:avLst/>
        </a:prstTxWarp>
        <a:spAutoFit/>
      </a:bodyPr>
      <a:lstStyle>
        <a:defPPr algn="ctr" defTabSz="882019" fontAlgn="base">
          <a:lnSpc>
            <a:spcPct val="120000"/>
          </a:lnSpc>
          <a:defRPr kumimoji="1" sz="1000" dirty="0">
            <a:latin typeface="신세계 민부리 Medium(TTF)" panose="02000600000000020003" pitchFamily="2" charset="-127"/>
            <a:ea typeface="신세계 민부리 Medium(TTF)" panose="02000600000000020003" pitchFamily="2" charset="-127"/>
            <a:cs typeface="굴림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e769a94-a688-4b1a-b696-1d635af05004}" enabled="1" method="Privileged" siteId="{d4ffc887-d88d-41cc-bf6a-6bb47ec0f3c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Words>601</Words>
  <TotalTime>0</TotalTime>
  <Application>Microsoft Office PowerPoint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SHINSEGAE</dc:creator>
  <dcterms:modified xsi:type="dcterms:W3CDTF">2026-10-27T01:54:42Z</dcterms:modified>
  <dc:title>PowerPoint 프레젠테이션</dc:title>
  <cp:lastPrinted>2026-10-21T01:56:39Z</cp:lastPrinted>
  <cp:lastModifiedBy>정유경(파트너) - 부동산금융팀</cp:lastModifiedBy>
  <dcterms:created xsi:type="dcterms:W3CDTF">2017-03-08T10:10:17Z</dcterms:created>
  <cp:revision>3230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a772263-e823-4541-b19a-907e15bf13d7_SiteId">
    <vt:lpwstr>d4ffc887-d88d-41cc-bf6a-6bb47ec0f3ca</vt:lpwstr>
  </property>
  <property fmtid="{D5CDD505-2E9C-101B-9397-08002B2CF9AE}" pid="3" name="MSIP_Label_aa772263-e823-4541-b19a-907e15bf13d7_SetDate">
    <vt:lpwstr>2024-05-28T08:19:59Z</vt:lpwstr>
  </property>
  <property fmtid="{D5CDD505-2E9C-101B-9397-08002B2CF9AE}" pid="4" name="MSIP_Label_aa772263-e823-4541-b19a-907e15bf13d7_Name">
    <vt:lpwstr/>
  </property>
  <property fmtid="{D5CDD505-2E9C-101B-9397-08002B2CF9AE}" pid="5" name="MSIP_Label_aa772263-e823-4541-b19a-907e15bf13d7_Method">
    <vt:lpwstr>Privileged</vt:lpwstr>
  </property>
  <property fmtid="{D5CDD505-2E9C-101B-9397-08002B2CF9AE}" pid="6" name="MSIP_Label_aa772263-e823-4541-b19a-907e15bf13d7_Enabled">
    <vt:lpwstr>true</vt:lpwstr>
  </property>
  <property fmtid="{D5CDD505-2E9C-101B-9397-08002B2CF9AE}" pid="7" name="MSIP_Label_aa772263-e823-4541-b19a-907e15bf13d7_ContentBits">
    <vt:lpwstr>8</vt:lpwstr>
  </property>
</Properties>
</file>