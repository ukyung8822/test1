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858000" cy="990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4000" y="120000"/>
            <a:ext cx="6350000" cy="33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5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❑ PJT 종합 요약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4000" y="470000"/>
            <a:ext cx="63500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254000" y="580000"/>
            <a:ext cx="60000" cy="7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4000" y="580000"/>
            <a:ext cx="6290000" cy="760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 tIns="0" bIns="0"/>
          <a:lstStyle/>
          <a:p>
            <a:pPr algn="l"/>
            <a:r>
              <a:rPr sz="13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’39년까지 8개 복합개발 PJT(총 사업비 32.8조) 완성,</a:t>
            </a:r>
          </a:p>
          <a:p>
            <a:pPr algn="l"/>
            <a:r>
              <a:rPr sz="13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신세계 Equity 9.5조 투입으로 예상 이익 37조 확보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→ 반포가 사업비의 61%, 이익의 75%를 차지하는 핵심 PJT로 포트폴리오 성과를 좌우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4000" y="1480000"/>
            <a:ext cx="15275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54000" y="1530000"/>
            <a:ext cx="1527500" cy="71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9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총 사업비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32.8</a:t>
            </a:r>
            <a:r>
              <a:rPr sz="11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8개 PJT · ’26~’39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000" y="224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61500" y="1480000"/>
            <a:ext cx="15275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861500" y="1530000"/>
            <a:ext cx="1527500" cy="71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9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신세계 Equity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9.5</a:t>
            </a:r>
            <a:r>
              <a:rPr sz="11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당사 7.5조 · 百 2.0조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61500" y="224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469000" y="1480000"/>
            <a:ext cx="15275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69000" y="1530000"/>
            <a:ext cx="1527500" cy="71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9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예상 이익*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37.0</a:t>
            </a:r>
            <a:r>
              <a:rPr sz="11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Equity 대비 3.9배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69000" y="224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076500" y="1480000"/>
            <a:ext cx="15275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76500" y="1530000"/>
            <a:ext cx="1527500" cy="71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9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반포 비중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61</a:t>
            </a:r>
            <a:r>
              <a:rPr sz="11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%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사업비 기준 (이익 75%)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76500" y="224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54000" y="2420000"/>
            <a:ext cx="6350000" cy="26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❍  핵심 시사점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4000" y="2740000"/>
            <a:ext cx="6290000" cy="165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① 국내 최고 수준의 복합개발 포트폴리오 구축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’30년 논현부터 ’34년까지 7개 PJT(12.9조) 순차 준공 후, ’39년 반포(19.9조) 준공으로 완성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② 투입 Equity 대비 약 4배 수준의 이익 기대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당사 Equity 7.5조 → 이익 28.3조 (3.8배)  /  百 Equity 2.0조 → 이익 8.8조 (4.3배)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③ 총 사업비의 71%(23.3조)는 외부 조달 필요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신세계 Equity 9.5조(29%) 외 PF·회사채 등 차입 13.8조, 분양·보증금 8.7조, 외부 Equity 0.8조 조달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반포에 당사 Equity의 95%(7.1조) 집중 → PJT 일정별 단계적 조달 계획 및 금리 리스크 관리 필요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000" y="4500000"/>
            <a:ext cx="6350000" cy="26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❍  PJT별 사업비 · 조달 · 예상 이익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254000" y="4830000"/>
          <a:ext cx="6350000" cy="2500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80000"/>
                <a:gridCol w="520000"/>
                <a:gridCol w="1950000"/>
                <a:gridCol w="700000"/>
                <a:gridCol w="600000"/>
                <a:gridCol w="900000"/>
                <a:gridCol w="650000"/>
                <a:gridCol w="650000"/>
              </a:tblGrid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준공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PJT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주요 용도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사업비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투자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외부 조달³⁾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예상 이익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’30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논현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프라임 오피스 · 리테일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0.58조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당사 495억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0.53조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760억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영랑호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럭셔리 리조트 · 레지던스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1.46조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당사 876억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1.37조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3,002억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송도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오피스텔 · 백화점 · 호텔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2.52조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百 3,685억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2.15조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2.9조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수서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백화점 · 고속철도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0.33조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百 3,286억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-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6,624억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’33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센텀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시니어 레지던스 · 호텔 · 오피스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1.68조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당사 1,076억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1.57조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599억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’34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울산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주거분양 · 상업시설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2.70조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당사 1,200억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2.58조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1,397억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’34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광주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백화점 · 주거 · 오피스 · 터미널 · 호텔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3.62조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百 1.3조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2.30조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5.2조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’39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반포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호텔 · 오피스 · 리테일 · 주거 · 터미널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19.87조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당사 7.1조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12.77조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27.7조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합계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8개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32.8조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9.5조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23.3조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37.0조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pic>
        <p:nvPicPr>
          <p:cNvPr id="22" name="Picture 21" descr="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4000" y="5080000"/>
            <a:ext cx="700000" cy="200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54000" y="7560000"/>
            <a:ext cx="6350000" cy="26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❍  PJT 수익성 (안정화 시점)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54000" y="7890000"/>
            <a:ext cx="14500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54000" y="7910000"/>
            <a:ext cx="1450000" cy="46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8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年 매출</a:t>
            </a:r>
          </a:p>
          <a:p>
            <a:pPr algn="ctr"/>
            <a:r>
              <a:rPr sz="15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2.6</a:t>
            </a:r>
            <a:r>
              <a:rPr sz="9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분양매출 12.6조 별도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4000" y="8410000"/>
            <a:ext cx="14500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54000" y="8430000"/>
            <a:ext cx="1450000" cy="46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8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年 현금흐름</a:t>
            </a:r>
          </a:p>
          <a:p>
            <a:pPr algn="ctr"/>
            <a:r>
              <a:rPr sz="15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1.0</a:t>
            </a:r>
            <a:r>
              <a:rPr sz="9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운영이익 + 감가상각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854000" y="7890000"/>
          <a:ext cx="4750000" cy="1020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70000"/>
                <a:gridCol w="510000"/>
                <a:gridCol w="510000"/>
                <a:gridCol w="510000"/>
                <a:gridCol w="510000"/>
                <a:gridCol w="510000"/>
                <a:gridCol w="510000"/>
                <a:gridCol w="510000"/>
                <a:gridCol w="510000"/>
              </a:tblGrid>
              <a:tr h="255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구분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논현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영랑호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송도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수서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센텀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울산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광주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반포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</a:tr>
              <a:tr h="255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IRR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10.0%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9.0%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6.6%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13.2%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4.5%¹⁾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12.7%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10.5%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7.7%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</a:tr>
              <a:tr h="255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투자회수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3년차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2년차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C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10년차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9년차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6년차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1년차²⁾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11년차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7년차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</a:tr>
              <a:tr h="255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年 현금흐름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60억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170억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848억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480억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320억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185억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2,120억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5,810억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EAF2FB"/>
                    </a:solidFill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254000" y="9000000"/>
            <a:ext cx="6350000" cy="42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→ 8개 중 6개 PJT가 IRR 7% 이상, 7개 PJT가 10년 내 투자회수 / 반포·광주가 연 현금흐름의 79% 창출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→ 송도(IRR 6.6%, 회수 10년차)·센텀(IRR 4.5%)은 상대적 저수익 PJT로 수익 구조 개선 방안 검토 필요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000" y="9420000"/>
            <a:ext cx="6350000" cy="48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* 예상 이익은 PJT별 준공 후 1~20년 누적 기준으로, 산정 기간이 상이함</a:t>
            </a:r>
          </a:p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* 당사: 신세계센트럴, 百: 신세계백화점 / 사업비 단위: 조원</a:t>
            </a:r>
          </a:p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1) 센텀: 외부투자자 IRR 14% 별도  2) 울산: 분양 기준 / 수익성 지표는 ’38년 기준</a:t>
            </a:r>
          </a:p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3) 외부 조달 = 사업비 − 신세계(당사·百) 투자로, 외부 Equity·PF·회사채·분양·보증금 포함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