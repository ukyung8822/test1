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4000" y="120000"/>
            <a:ext cx="6350000" cy="33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❑ PJT 종합 요약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4000" y="470000"/>
            <a:ext cx="6350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4000" y="580000"/>
            <a:ext cx="60000" cy="7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4000" y="580000"/>
            <a:ext cx="6290000" cy="76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0" bIns="0"/>
          <a:lstStyle/>
          <a:p>
            <a:pPr algn="l"/>
            <a:r>
              <a:rPr sz="13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’39년까지 8개 복합개발 PJT(총 사업비 32.8조) 완성,</a:t>
            </a:r>
          </a:p>
          <a:p>
            <a:pPr algn="l"/>
            <a:r>
              <a:rPr sz="13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신세계 Equity 9.5조 투입으로 예상 이익 37조 확보</a:t>
            </a:r>
          </a:p>
          <a:p>
            <a:pPr algn="l">
              <a:spcBef>
                <a:spcPts val="400"/>
              </a:spcBef>
            </a:pPr>
            <a:r>
              <a:rPr sz="9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→ 반포가 사업비의 61%, 이익의 75%를 차지하는 핵심 PJT로 포트폴리오 성과를 좌우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4000" y="1480000"/>
            <a:ext cx="15275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4000" y="1530000"/>
            <a:ext cx="1527500" cy="71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총 사업비</a:t>
            </a:r>
          </a:p>
          <a:p>
            <a:pPr algn="ctr">
              <a:spcBef>
                <a:spcPts val="200"/>
              </a:spcBef>
            </a:pPr>
            <a:r>
              <a:rPr sz="20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32.8</a:t>
            </a:r>
            <a:r>
              <a:rPr sz="11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조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8개 PJT · ’26~’39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000" y="2240000"/>
            <a:ext cx="15275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61500" y="1480000"/>
            <a:ext cx="15275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61500" y="1530000"/>
            <a:ext cx="1527500" cy="71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신세계 Equity</a:t>
            </a:r>
          </a:p>
          <a:p>
            <a:pPr algn="ctr">
              <a:spcBef>
                <a:spcPts val="200"/>
              </a:spcBef>
            </a:pPr>
            <a:r>
              <a:rPr sz="20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9.5</a:t>
            </a:r>
            <a:r>
              <a:rPr sz="11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조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당사 7.5조 · 百 2.0조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1500" y="2240000"/>
            <a:ext cx="15275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69000" y="1480000"/>
            <a:ext cx="15275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69000" y="1530000"/>
            <a:ext cx="1527500" cy="71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예상 이익*</a:t>
            </a:r>
          </a:p>
          <a:p>
            <a:pPr algn="ctr">
              <a:spcBef>
                <a:spcPts val="200"/>
              </a:spcBef>
            </a:pPr>
            <a:r>
              <a:rPr sz="20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37.0</a:t>
            </a:r>
            <a:r>
              <a:rPr sz="11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조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Equity 대비 3.9배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69000" y="2240000"/>
            <a:ext cx="15275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76500" y="1480000"/>
            <a:ext cx="15275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76500" y="1530000"/>
            <a:ext cx="1527500" cy="71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반포 비중</a:t>
            </a:r>
          </a:p>
          <a:p>
            <a:pPr algn="ctr">
              <a:spcBef>
                <a:spcPts val="200"/>
              </a:spcBef>
            </a:pPr>
            <a:r>
              <a:rPr sz="20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61</a:t>
            </a:r>
            <a:r>
              <a:rPr sz="110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%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사업비 기준 (이익 75%)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76500" y="2240000"/>
            <a:ext cx="15275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4000" y="2420000"/>
            <a:ext cx="6350000" cy="26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❍  핵심 시사점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000" y="2740000"/>
            <a:ext cx="6290000" cy="165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① 국내 최고 수준의 복합개발 포트폴리오 구축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   - ’30년 논현을 시작으로 ’34년까지 7개 PJT(12.9조) 순차 준공,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   - ’39년 반포(19.9조) 준공으로 포트폴리오 완성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② 투입 Equity 대비 약 4배 수준의 이익 기대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   - 당사 Equity 7.5조 → 이익 28.3조 (3.8배)  /  百 Equity 2.0조 → 이익 8.8조 (4.3배)</a:t>
            </a:r>
          </a:p>
          <a:p>
            <a:pPr algn="l">
              <a:spcBef>
                <a:spcPts val="700"/>
              </a:spcBef>
            </a:pPr>
            <a:r>
              <a:rPr sz="10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③ 반포 집중도 및 차입 부담에 대한 관리 필요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   - 반포 1개 PJT에 당사 Equity의 95%(7.1조) 집중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   - 총 사업비의 42%(13.8조)를 PF·회사채 등 차입으로 조달 → 반포 일정 및 금리 변동 집중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00" y="4500000"/>
            <a:ext cx="6350000" cy="26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❍  PJT별 사업비 및 예상 이익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4000" y="4830000"/>
            <a:ext cx="6350000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4000" y="4830000"/>
            <a:ext cx="38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50" b="1">
                <a:solidFill>
                  <a:srgbClr val="595959"/>
                </a:solidFill>
                <a:latin typeface="신세계 민부리 Bold(TTF)"/>
                <a:ea typeface="신세계 민부리 Bold(TTF)"/>
                <a:cs typeface="신세계 민부리 Bold(TTF)"/>
              </a:rPr>
              <a:t>준공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000" y="4830000"/>
            <a:ext cx="52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50" b="1">
                <a:solidFill>
                  <a:srgbClr val="595959"/>
                </a:solidFill>
                <a:latin typeface="신세계 민부리 Bold(TTF)"/>
                <a:ea typeface="신세계 민부리 Bold(TTF)"/>
                <a:cs typeface="신세계 민부리 Bold(TTF)"/>
              </a:rPr>
              <a:t>PJT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000" y="4830000"/>
            <a:ext cx="215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50" b="1">
                <a:solidFill>
                  <a:srgbClr val="595959"/>
                </a:solidFill>
                <a:latin typeface="신세계 민부리 Bold(TTF)"/>
                <a:ea typeface="신세계 민부리 Bold(TTF)"/>
                <a:cs typeface="신세계 민부리 Bold(TTF)"/>
              </a:rPr>
              <a:t>주요 용도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4000" y="4830000"/>
            <a:ext cx="14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50" b="1">
                <a:solidFill>
                  <a:srgbClr val="595959"/>
                </a:solidFill>
                <a:latin typeface="신세계 민부리 Bold(TTF)"/>
                <a:ea typeface="신세계 민부리 Bold(TTF)"/>
                <a:cs typeface="신세계 민부리 Bold(TTF)"/>
              </a:rPr>
              <a:t>사업비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000" y="4830000"/>
            <a:ext cx="9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50" b="1">
                <a:solidFill>
                  <a:srgbClr val="595959"/>
                </a:solidFill>
                <a:latin typeface="신세계 민부리 Bold(TTF)"/>
                <a:ea typeface="신세계 민부리 Bold(TTF)"/>
                <a:cs typeface="신세계 민부리 Bold(TTF)"/>
              </a:rPr>
              <a:t>투자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4000" y="4830000"/>
            <a:ext cx="10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50" b="1">
                <a:solidFill>
                  <a:srgbClr val="595959"/>
                </a:solidFill>
                <a:latin typeface="신세계 민부리 Bold(TTF)"/>
                <a:ea typeface="신세계 민부리 Bold(TTF)"/>
                <a:cs typeface="신세계 민부리 Bold(TTF)"/>
              </a:rPr>
              <a:t>예상 이익 (기간)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4000" y="5080000"/>
            <a:ext cx="635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4000" y="508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’30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000" y="508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논현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000" y="508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프라임 오피스 · 리테일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4000" y="5145000"/>
            <a:ext cx="27730" cy="120000"/>
          </a:xfrm>
          <a:prstGeom prst="rect">
            <a:avLst/>
          </a:prstGeom>
          <a:solidFill>
            <a:srgbClr val="B4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1730" y="508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0.58조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4000" y="508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당사 495억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4000" y="508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760억 (3년)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4000" y="533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4000" y="533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’32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000" y="533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영랑호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4000" y="533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럭셔리 리조트 · 레지던스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4000" y="5395000"/>
            <a:ext cx="69803" cy="120000"/>
          </a:xfrm>
          <a:prstGeom prst="rect">
            <a:avLst/>
          </a:prstGeom>
          <a:solidFill>
            <a:srgbClr val="B4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63803" y="533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1.46조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4000" y="533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당사 876억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4000" y="533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3,002억 (12년)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54000" y="558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54000" y="558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’32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000" y="558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송도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4000" y="558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오피스텔 · 백화점 · 호텔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54000" y="5645000"/>
            <a:ext cx="120483" cy="120000"/>
          </a:xfrm>
          <a:prstGeom prst="rect">
            <a:avLst/>
          </a:prstGeom>
          <a:solidFill>
            <a:srgbClr val="B4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14483" y="558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2.52조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4000" y="558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百 3,685억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04000" y="558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2.9조 (20년)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4000" y="583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54000" y="583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’32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000" y="583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수서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4000" y="583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백화점 · 고속철도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54000" y="5895000"/>
            <a:ext cx="15777" cy="120000"/>
          </a:xfrm>
          <a:prstGeom prst="rect">
            <a:avLst/>
          </a:prstGeom>
          <a:solidFill>
            <a:srgbClr val="B4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09777" y="583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0.33조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4000" y="583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百 3,286억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04000" y="583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6,624억 (20년)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54000" y="608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54000" y="608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’33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4000" y="608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센텀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4000" y="608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시니어 레지던스 · 호텔 · 오피스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54000" y="6145000"/>
            <a:ext cx="80322" cy="120000"/>
          </a:xfrm>
          <a:prstGeom prst="rect">
            <a:avLst/>
          </a:prstGeom>
          <a:solidFill>
            <a:srgbClr val="B4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322" y="608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1.68조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4000" y="608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당사 1,076억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04000" y="608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599억 (3년)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54000" y="633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54000" y="633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’34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4000" y="633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울산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54000" y="633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주거분양 · 상업시설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54000" y="6395000"/>
            <a:ext cx="129089" cy="120000"/>
          </a:xfrm>
          <a:prstGeom prst="rect">
            <a:avLst/>
          </a:prstGeom>
          <a:solidFill>
            <a:srgbClr val="B4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3089" y="633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2.70조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4000" y="633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당사 1,200억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04000" y="633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1,397억 (1년)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54000" y="658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54000" y="658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’34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4000" y="658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광주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54000" y="658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백화점 · 주거 · 오피스 · 터미널 · 호텔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54000" y="6645000"/>
            <a:ext cx="173074" cy="120000"/>
          </a:xfrm>
          <a:prstGeom prst="rect">
            <a:avLst/>
          </a:prstGeom>
          <a:solidFill>
            <a:srgbClr val="B4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67074" y="658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3.62조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04000" y="658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百 1.3조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04000" y="658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5.2조 (20년)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54000" y="683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254000" y="6830000"/>
            <a:ext cx="6350000" cy="250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4000" y="6830000"/>
            <a:ext cx="38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’39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4000" y="6830000"/>
            <a:ext cx="52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반포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54000" y="6830000"/>
            <a:ext cx="215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l"/>
            <a:r>
              <a:rPr sz="75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호텔 · 오피스 · 리테일 · 주거 · 터미널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54000" y="6895000"/>
            <a:ext cx="950000" cy="12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44000" y="6830000"/>
            <a:ext cx="600000" cy="25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19.87조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04000" y="6830000"/>
            <a:ext cx="9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당사 7.1조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04000" y="6830000"/>
            <a:ext cx="1000000" cy="250000"/>
          </a:xfrm>
          <a:prstGeom prst="rect">
            <a:avLst/>
          </a:prstGeom>
          <a:noFill/>
        </p:spPr>
        <p:txBody>
          <a:bodyPr wrap="square" anchor="ctr" lIns="40000" rIns="40000" tIns="0" bIns="0"/>
          <a:lstStyle/>
          <a:p>
            <a:pPr algn="ctr"/>
            <a:r>
              <a:rPr sz="850" b="1">
                <a:solidFill>
                  <a:srgbClr val="002060"/>
                </a:solidFill>
                <a:latin typeface="신세계 민부리 Bold(TTF)"/>
                <a:ea typeface="신세계 민부리 Bold(TTF)"/>
                <a:cs typeface="신세계 민부리 Bold(TTF)"/>
              </a:rPr>
              <a:t>27.7조 (10년)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54000" y="7080000"/>
            <a:ext cx="6350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254000" y="7080000"/>
            <a:ext cx="6350000" cy="24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254000" y="7080000"/>
            <a:ext cx="6350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54000" y="7080000"/>
            <a:ext cx="380000" cy="240000"/>
          </a:xfrm>
          <a:prstGeom prst="rect">
            <a:avLst/>
          </a:prstGeom>
          <a:noFill/>
        </p:spPr>
        <p:txBody>
          <a:bodyPr wrap="square" anchor="ctr" lIns="50000" rIns="5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합계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4000" y="7080000"/>
            <a:ext cx="520000" cy="240000"/>
          </a:xfrm>
          <a:prstGeom prst="rect">
            <a:avLst/>
          </a:prstGeom>
          <a:noFill/>
        </p:spPr>
        <p:txBody>
          <a:bodyPr wrap="square" anchor="ctr" lIns="50000" rIns="5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8개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04000" y="7080000"/>
            <a:ext cx="1400000" cy="240000"/>
          </a:xfrm>
          <a:prstGeom prst="rect">
            <a:avLst/>
          </a:prstGeom>
          <a:noFill/>
        </p:spPr>
        <p:txBody>
          <a:bodyPr wrap="square" anchor="ctr" lIns="50000" rIns="50000" tIns="0" bIns="0"/>
          <a:lstStyle/>
          <a:p>
            <a:pPr algn="l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32.8조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04000" y="7080000"/>
            <a:ext cx="900000" cy="240000"/>
          </a:xfrm>
          <a:prstGeom prst="rect">
            <a:avLst/>
          </a:prstGeom>
          <a:noFill/>
        </p:spPr>
        <p:txBody>
          <a:bodyPr wrap="square" anchor="ctr" lIns="50000" rIns="5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9.5조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04000" y="7080000"/>
            <a:ext cx="1000000" cy="240000"/>
          </a:xfrm>
          <a:prstGeom prst="rect">
            <a:avLst/>
          </a:prstGeom>
          <a:noFill/>
        </p:spPr>
        <p:txBody>
          <a:bodyPr wrap="square" anchor="ctr" lIns="50000" rIns="50000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37.0조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54000" y="7320000"/>
            <a:ext cx="6350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54000" y="7600000"/>
            <a:ext cx="6350000" cy="26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❍  사업비 조달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4000" y="7960000"/>
            <a:ext cx="1150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총 사업비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32.8조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04000" y="7960000"/>
            <a:ext cx="1612000" cy="3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404000" y="7960000"/>
            <a:ext cx="1612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신세계 민부리 Bold(TTF)"/>
                <a:ea typeface="신세계 민부리 Bold(TTF)"/>
                <a:cs typeface="신세계 민부리 Bold(TTF)"/>
              </a:rPr>
              <a:t>Equity 10.3조 (31%)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16000" y="7960000"/>
            <a:ext cx="2184000" cy="300000"/>
          </a:xfrm>
          <a:prstGeom prst="rect">
            <a:avLst/>
          </a:prstGeom>
          <a:solidFill>
            <a:srgbClr val="5B7FB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016000" y="7960000"/>
            <a:ext cx="2184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신세계 민부리 Bold(TTF)"/>
                <a:ea typeface="신세계 민부리 Bold(TTF)"/>
                <a:cs typeface="신세계 민부리 Bold(TTF)"/>
              </a:rPr>
              <a:t>차입(PF·회사채 등) 13.8조 (42%)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200000" y="7960000"/>
            <a:ext cx="1404000" cy="30000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200000" y="7960000"/>
            <a:ext cx="1404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분양·보증금 8.7조 (27%)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4000" y="8380000"/>
            <a:ext cx="1150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Equity 구성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10.3조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404000" y="8380000"/>
            <a:ext cx="3796000" cy="3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404000" y="8380000"/>
            <a:ext cx="3796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신세계 민부리 Bold(TTF)"/>
                <a:ea typeface="신세계 민부리 Bold(TTF)"/>
                <a:cs typeface="신세계 민부리 Bold(TTF)"/>
              </a:rPr>
              <a:t>당사 7.5조 (73%)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200000" y="8380000"/>
            <a:ext cx="1040000" cy="300000"/>
          </a:xfrm>
          <a:prstGeom prst="rect">
            <a:avLst/>
          </a:prstGeom>
          <a:solidFill>
            <a:srgbClr val="B4D4F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00000" y="8380000"/>
            <a:ext cx="1040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8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百 2.0조 (20%)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0000" y="8380000"/>
            <a:ext cx="364000" cy="30000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40000" y="8380000"/>
            <a:ext cx="364000" cy="30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00" b="1">
                <a:solidFill>
                  <a:srgbClr val="000000"/>
                </a:solidFill>
                <a:latin typeface="신세계 민부리 Bold(TTF)"/>
                <a:ea typeface="신세계 민부리 Bold(TTF)"/>
                <a:cs typeface="신세계 민부리 Bold(TTF)"/>
              </a:rPr>
              <a:t>외부 7%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54000" y="8770000"/>
            <a:ext cx="6350000" cy="230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00" b="0">
                <a:solidFill>
                  <a:srgbClr val="000000"/>
                </a:solidFill>
                <a:latin typeface="신세계 민부리 Light(TTF)"/>
                <a:ea typeface="신세계 민부리 Light(TTF)"/>
                <a:cs typeface="신세계 민부리 Light(TTF)"/>
              </a:rPr>
              <a:t>→ 신세계(당사+百)가 Equity의 93%(9.5조)를 부담하며, 이는 총 사업비의 29% 수준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4000" y="9500000"/>
            <a:ext cx="6350000" cy="30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* 예상 이익은 PJT별 준공 후 1~20년 누적 기준으로, 산정 기간이 상이함</a:t>
            </a:r>
          </a:p>
          <a:p>
            <a:pPr algn="l"/>
            <a:r>
              <a:rPr sz="750" b="0">
                <a:solidFill>
                  <a:srgbClr val="595959"/>
                </a:solidFill>
                <a:latin typeface="신세계 민부리 Light(TTF)"/>
                <a:ea typeface="신세계 민부리 Light(TTF)"/>
                <a:cs typeface="신세계 민부리 Light(TTF)"/>
              </a:rPr>
              <a:t>* 당사: 신세계센트럴, 百: 신세계백화점 / 사업비 단위: 조원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