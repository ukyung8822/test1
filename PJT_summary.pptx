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4000" y="120000"/>
            <a:ext cx="6350000" cy="3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❑ PJT 종합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4000" y="470000"/>
            <a:ext cx="63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4000" y="580000"/>
            <a:ext cx="60000" cy="7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4000" y="580000"/>
            <a:ext cx="6290000" cy="76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0" bIns="0"/>
          <a:lstStyle/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’39년까지 8개 복합개발 PJT(총 사업비 32.8조) 완성,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신세계 Equity 9.5조 투입으로 예상 이익 37조 확보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반포가 사업비의 61%, 이익의 75%를 차지하는 핵심 PJT로 포트폴리오 성과를 좌우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4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54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총 사업비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32.8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· ’26~’39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61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61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 Equity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9.5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7.5조 · 百 2.0조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1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69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69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 이익*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37.0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Equity 대비 3.9배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69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6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6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반포 비중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61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%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 기준 (이익 75%)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6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000" y="242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핵심 시사점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000" y="2740000"/>
            <a:ext cx="6290000" cy="16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① 국내 최고 수준의 복합개발 포트폴리오 구축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’30년 논현을 시작으로 ’34년까지 7개 PJT(12.9조) 순차 준공,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’39년 반포(19.9조) 준공으로 포트폴리오 완성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② 투입 Equity 대비 약 4배 수준의 이익 기대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당사 Equity 7.5조 → 이익 28.3조 (3.8배)  /  百 Equity 2.0조 → 이익 8.8조 (4.3배)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③ 반포 집중도 및 차입 부담에 대한 관리 필요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반포 1개 PJT에 당사 Equity의 95%(7.1조) 집중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총 사업비의 42%(13.8조)를 PF·회사채 등 차입으로 조달 → 반포 일정 및 금리 변동 집중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00" y="45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사업비 및 예상 이익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4000" y="4830000"/>
          <a:ext cx="6350000" cy="25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000"/>
                <a:gridCol w="520000"/>
                <a:gridCol w="2050000"/>
                <a:gridCol w="800000"/>
                <a:gridCol w="600000"/>
                <a:gridCol w="900000"/>
                <a:gridCol w="650000"/>
                <a:gridCol w="45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예상 이익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기간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프라임 오피스 · 리테일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495억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럭셔리 리조트 · 레지던스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1.46조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876억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3,002억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오피스텔 · 백화점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3,685억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2.9조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고속철도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0.33조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3,286억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6,624억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시니어 레지던스 · 호텔 · 오피스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1,076억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599억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주거분양 · 상업시설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2.70조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1,200억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1,397억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주거 · 오피스 · 터미널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3.62조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1.3조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’39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호텔 · 오피스 · 리테일 · 주거 · 터미널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19.87조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당사 7.1조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27.7조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8개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32.8조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9.5조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37.0조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22" name="Picture 21" descr="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000" y="5080000"/>
            <a:ext cx="800000" cy="20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4000" y="756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 수익성 (안정화 시점)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4000" y="7890000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4000" y="7910000"/>
            <a:ext cx="1450000" cy="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年 매출</a:t>
            </a: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2.6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분양매출 12.6조 별도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4000" y="8410000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54000" y="8430000"/>
            <a:ext cx="1450000" cy="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年 현금흐름</a:t>
            </a: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1.0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운영이익 + 감가상각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854000" y="7890000"/>
          <a:ext cx="4750000" cy="102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000"/>
                <a:gridCol w="510000"/>
                <a:gridCol w="510000"/>
                <a:gridCol w="510000"/>
                <a:gridCol w="510000"/>
                <a:gridCol w="510000"/>
                <a:gridCol w="510000"/>
                <a:gridCol w="510000"/>
                <a:gridCol w="510000"/>
              </a:tblGrid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4.5%¹⁾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투자회수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1년차²⁾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11년차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年 현금흐름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170억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848억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480억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320억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2,120억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5,810억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54000" y="9000000"/>
            <a:ext cx="6350000" cy="42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8개 중 6개 PJT가 IRR 7% 이상, 7개 PJT가 10년 내 투자회수 / 반포·광주가 연 현금흐름의 79% 창출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송도(IRR 6.6%, 회수 10년차)·센텀(IRR 4.5%)은 상대적 저수익 PJT로 수익 구조 개선 방안 검토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00" y="9440000"/>
            <a:ext cx="6350000" cy="42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예상 이익은 PJT별 준공 후 1~20년 누적 기준으로, 산정 기간이 상이함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당사: 신세계센트럴, 百: 신세계백화점 / 사업비 단위: 조원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1) 센텀: 외부투자자 IRR 14% 별도  2) 울산: 분양 기준 / 수익성 지표는 ’38년 기준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