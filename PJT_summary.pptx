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858000" cy="990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4000" y="120000"/>
            <a:ext cx="6350000" cy="33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5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❑ PJT 종합 요약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4000" y="470000"/>
            <a:ext cx="63500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254000" y="580000"/>
            <a:ext cx="60000" cy="760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4000" y="580000"/>
            <a:ext cx="6290000" cy="760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 tIns="0" bIns="0"/>
          <a:lstStyle/>
          <a:p>
            <a:pPr algn="l"/>
            <a:r>
              <a:rPr sz="13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’39년까지 8개 복합개발 PJT(총 사업비 32.8조) 완성,</a:t>
            </a:r>
          </a:p>
          <a:p>
            <a:pPr algn="l"/>
            <a:r>
              <a:rPr sz="13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신세계 Equity 9.5조 투입으로 예상 이익 37조 확보</a:t>
            </a:r>
          </a:p>
          <a:p>
            <a:pPr algn="l">
              <a:spcBef>
                <a:spcPts val="400"/>
              </a:spcBef>
            </a:pPr>
            <a:r>
              <a:rPr sz="9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→ 반포가 사업비의 61%, 이익의 75%를 차지하는 핵심 PJT로 포트폴리오 성과를 좌우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4000" y="1480000"/>
            <a:ext cx="15275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54000" y="1530000"/>
            <a:ext cx="1527500" cy="71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9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총 사업비</a:t>
            </a:r>
          </a:p>
          <a:p>
            <a:pPr algn="ctr">
              <a:spcBef>
                <a:spcPts val="200"/>
              </a:spcBef>
            </a:pPr>
            <a:r>
              <a:rPr sz="20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32.8</a:t>
            </a:r>
            <a:r>
              <a:rPr sz="11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8개 PJT · ’26~’39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4000" y="2240000"/>
            <a:ext cx="15275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61500" y="1480000"/>
            <a:ext cx="15275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861500" y="1530000"/>
            <a:ext cx="1527500" cy="71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9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신세계 Equity</a:t>
            </a:r>
          </a:p>
          <a:p>
            <a:pPr algn="ctr">
              <a:spcBef>
                <a:spcPts val="200"/>
              </a:spcBef>
            </a:pPr>
            <a:r>
              <a:rPr sz="20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9.5</a:t>
            </a:r>
            <a:r>
              <a:rPr sz="11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당사 7.5조 · 百 2.0조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61500" y="2240000"/>
            <a:ext cx="15275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469000" y="1480000"/>
            <a:ext cx="15275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469000" y="1530000"/>
            <a:ext cx="1527500" cy="71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9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예상 이익*</a:t>
            </a:r>
          </a:p>
          <a:p>
            <a:pPr algn="ctr">
              <a:spcBef>
                <a:spcPts val="200"/>
              </a:spcBef>
            </a:pPr>
            <a:r>
              <a:rPr sz="20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37.0</a:t>
            </a:r>
            <a:r>
              <a:rPr sz="11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조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Equity 대비 3.9배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69000" y="2240000"/>
            <a:ext cx="15275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076500" y="1480000"/>
            <a:ext cx="1527500" cy="0"/>
          </a:xfrm>
          <a:prstGeom prst="line">
            <a:avLst/>
          </a:prstGeom>
          <a:ln w="1905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76500" y="1530000"/>
            <a:ext cx="1527500" cy="71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9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반포 비중</a:t>
            </a:r>
          </a:p>
          <a:p>
            <a:pPr algn="ctr">
              <a:spcBef>
                <a:spcPts val="200"/>
              </a:spcBef>
            </a:pPr>
            <a:r>
              <a:rPr sz="20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61</a:t>
            </a:r>
            <a:r>
              <a:rPr sz="1100" b="1">
                <a:solidFill>
                  <a:srgbClr val="002060"/>
                </a:solidFill>
                <a:latin typeface="신세계 민부리 Bold(TTF)"/>
                <a:ea typeface="신세계 민부리 Bold(TTF)"/>
                <a:cs typeface="신세계 민부리 Bold(TTF)"/>
              </a:rPr>
              <a:t>%</a:t>
            </a:r>
          </a:p>
          <a:p>
            <a:pPr algn="ctr">
              <a:spcBef>
                <a:spcPts val="200"/>
              </a:spcBef>
            </a:pPr>
            <a:r>
              <a:rPr sz="80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사업비 기준 (이익 75%)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76500" y="2240000"/>
            <a:ext cx="15275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54000" y="2420000"/>
            <a:ext cx="6350000" cy="26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❍  핵심 시사점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4000" y="2740000"/>
            <a:ext cx="6290000" cy="1650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spcBef>
                <a:spcPts val="0"/>
              </a:spcBef>
            </a:pPr>
            <a:r>
              <a:rPr sz="105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① 국내 최고 수준의 복합개발 포트폴리오 구축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   - ’30년 논현을 시작으로 ’34년까지 7개 PJT(12.9조) 순차 준공,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   - ’39년 반포(19.9조) 준공으로 포트폴리오 완성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② 투입 Equity 대비 약 4배 수준의 이익 기대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   - 당사 Equity 7.5조 → 이익 28.3조 (3.8배)  /  百 Equity 2.0조 → 이익 8.8조 (4.3배)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③ 반포 집중도 및 차입 부담에 대한 관리 필요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   - 반포 1개 PJT에 당사 Equity의 95%(7.1조) 집중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000000"/>
                </a:solidFill>
                <a:latin typeface="신세계 민부리 Light(TTF)"/>
                <a:ea typeface="신세계 민부리 Light(TTF)"/>
                <a:cs typeface="신세계 민부리 Light(TTF)"/>
              </a:rPr>
              <a:t>   - 총 사업비의 42%(13.8조)를 PF·회사채 등 차입으로 조달 → 반포 일정 및 금리 변동 집중 관리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4000" y="4500000"/>
            <a:ext cx="6350000" cy="26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❍  PJT별 사업비 및 예상 이익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254000" y="4830000"/>
          <a:ext cx="6350000" cy="25000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80000"/>
                <a:gridCol w="520000"/>
                <a:gridCol w="2050000"/>
                <a:gridCol w="800000"/>
                <a:gridCol w="600000"/>
                <a:gridCol w="900000"/>
                <a:gridCol w="650000"/>
                <a:gridCol w="450000"/>
              </a:tblGrid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준공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PJT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주요 용도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사업비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투자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예상 이익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595959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기간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5875">
                      <a:solidFill>
                        <a:srgbClr val="002060"/>
                      </a:solidFill>
                    </a:lnT>
                    <a:lnB w="9525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’30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논현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프라임 오피스 · 리테일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0.58조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당사 495억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760억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3년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’32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영랑호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럭셔리 리조트 · 레지던스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1.46조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당사 876억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3,002억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12년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’32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송도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오피스텔 · 백화점 · 호텔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2.52조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百 3,685억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2.9조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20년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’32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수서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백화점 · 고속철도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0.33조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百 3,286억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6,624억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20년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’33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센텀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시니어 레지던스 · 호텔 · 오피스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1.68조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당사 1,076억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599억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3년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’34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울산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주거분양 · 상업시설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2.70조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당사 1,200억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1,397억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1년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’34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광주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백화점 · 주거 · 오피스 · 터미널 · 호텔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3.62조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百 1.3조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5.2조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신세계 민부리 Light(TTF)"/>
                          <a:ea typeface="신세계 민부리 Light(TTF)"/>
                          <a:cs typeface="신세계 민부리 Light(TTF)"/>
                        </a:rPr>
                        <a:t>20년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noFill/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’39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반포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호텔 · 오피스 · 리테일 · 주거 · 터미널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19.87조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당사 7.1조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27.7조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206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10년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2FB"/>
                    </a:solidFill>
                  </a:tcPr>
                </a:tc>
              </a:tr>
              <a:tr h="250000"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합계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8개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32.8조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9.5조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>37.0조</a:t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>
                          <a:solidFill>
                            <a:srgbClr val="000000"/>
                          </a:solidFill>
                          <a:latin typeface="신세계 민부리 Bold(TTF)"/>
                          <a:ea typeface="신세계 민부리 Bold(TTF)"/>
                          <a:cs typeface="신세계 민부리 Bold(TTF)"/>
                        </a:rPr>
                        <a:t/>
                      </a:r>
                    </a:p>
                  </a:txBody>
                  <a:tcPr marL="40000" marR="40000" marT="0" marB="0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002060"/>
                      </a:solidFill>
                    </a:lnT>
                    <a:lnB w="12700">
                      <a:solidFill>
                        <a:srgbClr val="002060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pic>
        <p:nvPicPr>
          <p:cNvPr id="22" name="Picture 21" descr="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4000" y="5080000"/>
            <a:ext cx="800000" cy="200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54000" y="7560000"/>
            <a:ext cx="6350000" cy="2600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200" b="1">
                <a:solidFill>
                  <a:srgbClr val="000000"/>
                </a:solidFill>
                <a:latin typeface="신세계 민부리 Bold(TTF)"/>
                <a:ea typeface="신세계 민부리 Bold(TTF)"/>
                <a:cs typeface="신세계 민부리 Bold(TTF)"/>
              </a:rPr>
              <a:t>❍  사업비 조달 구조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254000" y="7860000"/>
            <a:ext cx="6350000" cy="1531250"/>
            <a:chOff x="254000" y="7860000"/>
            <a:chExt cx="6350000" cy="1531250"/>
          </a:xfrm>
        </p:grpSpPr>
        <p:sp>
          <p:nvSpPr>
            <p:cNvPr id="25" name="TextBox 24"/>
            <p:cNvSpPr txBox="1"/>
            <p:nvPr/>
          </p:nvSpPr>
          <p:spPr>
            <a:xfrm>
              <a:off x="1554000" y="7860000"/>
              <a:ext cx="1100000" cy="200000"/>
            </a:xfrm>
            <a:prstGeom prst="rect">
              <a:avLst/>
            </a:prstGeom>
            <a:noFill/>
          </p:spPr>
          <p:txBody>
            <a:bodyPr wrap="square" anchor="ctr" lIns="0" rIns="0" tIns="0" bIns="0"/>
            <a:lstStyle/>
            <a:p>
              <a:pPr algn="ctr"/>
              <a:r>
                <a:rPr sz="900" b="1">
                  <a:solidFill>
                    <a:srgbClr val="000000"/>
                  </a:solidFill>
                  <a:latin typeface="신세계 민부리 Bold(TTF)"/>
                  <a:ea typeface="신세계 민부리 Bold(TTF)"/>
                  <a:cs typeface="신세계 민부리 Bold(TTF)"/>
                </a:rPr>
                <a:t>총 사업비 32.8조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3254000" y="7860000"/>
              <a:ext cx="1100000" cy="200000"/>
            </a:xfrm>
            <a:prstGeom prst="rect">
              <a:avLst/>
            </a:prstGeom>
            <a:noFill/>
          </p:spPr>
          <p:txBody>
            <a:bodyPr wrap="square" anchor="ctr" lIns="0" rIns="0" tIns="0" bIns="0"/>
            <a:lstStyle/>
            <a:p>
              <a:pPr algn="ctr"/>
              <a:r>
                <a:rPr sz="900" b="1">
                  <a:solidFill>
                    <a:srgbClr val="002060"/>
                  </a:solidFill>
                  <a:latin typeface="신세계 민부리 Bold(TTF)"/>
                  <a:ea typeface="신세계 민부리 Bold(TTF)"/>
                  <a:cs typeface="신세계 민부리 Bold(TTF)"/>
                </a:rPr>
                <a:t>Equity 10.3조</a:t>
              </a:r>
            </a:p>
          </p:txBody>
        </p:sp>
        <p:sp>
          <p:nvSpPr>
            <p:cNvPr id="27" name="Rectangle 26"/>
            <p:cNvSpPr/>
            <p:nvPr/>
          </p:nvSpPr>
          <p:spPr>
            <a:xfrm>
              <a:off x="1754000" y="8070000"/>
              <a:ext cx="700000" cy="387500"/>
            </a:xfrm>
            <a:prstGeom prst="rect">
              <a:avLst/>
            </a:prstGeom>
            <a:solidFill>
              <a:srgbClr val="002060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/>
            <a:lstStyle/>
            <a:p>
              <a:pPr algn="ctr"/>
              <a:r>
                <a:rPr sz="850" b="1">
                  <a:solidFill>
                    <a:srgbClr val="FFFFFF"/>
                  </a:solidFill>
                  <a:latin typeface="신세계 민부리 Bold(TTF)"/>
                  <a:ea typeface="신세계 민부리 Bold(TTF)"/>
                  <a:cs typeface="신세계 민부리 Bold(TTF)"/>
                </a:rPr>
                <a:t>31%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254000" y="8070000"/>
              <a:ext cx="1420000" cy="387500"/>
            </a:xfrm>
            <a:prstGeom prst="rect">
              <a:avLst/>
            </a:prstGeom>
            <a:noFill/>
          </p:spPr>
          <p:txBody>
            <a:bodyPr wrap="square" anchor="ctr" lIns="0" rIns="0" tIns="0" bIns="0"/>
            <a:lstStyle/>
            <a:p>
              <a:pPr algn="r"/>
              <a:r>
                <a:rPr sz="850" b="1">
                  <a:solidFill>
                    <a:srgbClr val="002060"/>
                  </a:solidFill>
                  <a:latin typeface="신세계 민부리 Bold(TTF)"/>
                  <a:ea typeface="신세계 민부리 Bold(TTF)"/>
                  <a:cs typeface="신세계 민부리 Bold(TTF)"/>
                </a:rPr>
                <a:t>Equity</a:t>
              </a:r>
            </a:p>
            <a:p>
              <a:pPr algn="r"/>
              <a:r>
                <a:rPr sz="850" b="0">
                  <a:solidFill>
                    <a:srgbClr val="595959"/>
                  </a:solidFill>
                  <a:latin typeface="신세계 민부리 Light(TTF)"/>
                  <a:ea typeface="신세계 민부리 Light(TTF)"/>
                  <a:cs typeface="신세계 민부리 Light(TTF)"/>
                </a:rPr>
                <a:t>10.3조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754000" y="8457500"/>
              <a:ext cx="700000" cy="525000"/>
            </a:xfrm>
            <a:prstGeom prst="rect">
              <a:avLst/>
            </a:prstGeom>
            <a:solidFill>
              <a:srgbClr val="BFBFBF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/>
            <a:lstStyle/>
            <a:p>
              <a:pPr algn="ctr"/>
              <a:r>
                <a:rPr sz="850" b="1">
                  <a:solidFill>
                    <a:srgbClr val="000000"/>
                  </a:solidFill>
                  <a:latin typeface="신세계 민부리 Bold(TTF)"/>
                  <a:ea typeface="신세계 민부리 Bold(TTF)"/>
                  <a:cs typeface="신세계 민부리 Bold(TTF)"/>
                </a:rPr>
                <a:t>42%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254000" y="8457500"/>
              <a:ext cx="1420000" cy="525000"/>
            </a:xfrm>
            <a:prstGeom prst="rect">
              <a:avLst/>
            </a:prstGeom>
            <a:noFill/>
          </p:spPr>
          <p:txBody>
            <a:bodyPr wrap="square" anchor="ctr" lIns="0" rIns="0" tIns="0" bIns="0"/>
            <a:lstStyle/>
            <a:p>
              <a:pPr algn="r"/>
              <a:r>
                <a:rPr sz="850" b="0">
                  <a:solidFill>
                    <a:srgbClr val="000000"/>
                  </a:solidFill>
                  <a:latin typeface="신세계 민부리 Light(TTF)"/>
                  <a:ea typeface="신세계 민부리 Light(TTF)"/>
                  <a:cs typeface="신세계 민부리 Light(TTF)"/>
                </a:rPr>
                <a:t>차입 (PF·회사채 등)</a:t>
              </a:r>
            </a:p>
            <a:p>
              <a:pPr algn="r"/>
              <a:r>
                <a:rPr sz="850" b="0">
                  <a:solidFill>
                    <a:srgbClr val="595959"/>
                  </a:solidFill>
                  <a:latin typeface="신세계 민부리 Light(TTF)"/>
                  <a:ea typeface="신세계 민부리 Light(TTF)"/>
                  <a:cs typeface="신세계 민부리 Light(TTF)"/>
                </a:rPr>
                <a:t>13.8조</a:t>
              </a: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754000" y="8982500"/>
              <a:ext cx="700000" cy="337500"/>
            </a:xfrm>
            <a:prstGeom prst="rect">
              <a:avLst/>
            </a:prstGeom>
            <a:solidFill>
              <a:srgbClr val="D9D9D9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/>
            <a:lstStyle/>
            <a:p>
              <a:pPr algn="ctr"/>
              <a:r>
                <a:rPr sz="850" b="1">
                  <a:solidFill>
                    <a:srgbClr val="000000"/>
                  </a:solidFill>
                  <a:latin typeface="신세계 민부리 Bold(TTF)"/>
                  <a:ea typeface="신세계 민부리 Bold(TTF)"/>
                  <a:cs typeface="신세계 민부리 Bold(TTF)"/>
                </a:rPr>
                <a:t>27%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254000" y="8982500"/>
              <a:ext cx="1420000" cy="337500"/>
            </a:xfrm>
            <a:prstGeom prst="rect">
              <a:avLst/>
            </a:prstGeom>
            <a:noFill/>
          </p:spPr>
          <p:txBody>
            <a:bodyPr wrap="square" anchor="ctr" lIns="0" rIns="0" tIns="0" bIns="0"/>
            <a:lstStyle/>
            <a:p>
              <a:pPr algn="r"/>
              <a:r>
                <a:rPr sz="850" b="0">
                  <a:solidFill>
                    <a:srgbClr val="000000"/>
                  </a:solidFill>
                  <a:latin typeface="신세계 민부리 Light(TTF)"/>
                  <a:ea typeface="신세계 민부리 Light(TTF)"/>
                  <a:cs typeface="신세계 민부리 Light(TTF)"/>
                </a:rPr>
                <a:t>분양 · 보증금</a:t>
              </a:r>
            </a:p>
            <a:p>
              <a:pPr algn="r"/>
              <a:r>
                <a:rPr sz="850" b="0">
                  <a:solidFill>
                    <a:srgbClr val="595959"/>
                  </a:solidFill>
                  <a:latin typeface="신세계 민부리 Light(TTF)"/>
                  <a:ea typeface="신세계 민부리 Light(TTF)"/>
                  <a:cs typeface="신세계 민부리 Light(TTF)"/>
                </a:rPr>
                <a:t>8.7조</a:t>
              </a:r>
            </a:p>
          </p:txBody>
        </p:sp>
        <p:sp>
          <p:nvSpPr>
            <p:cNvPr id="33" name="Freeform 32"/>
            <p:cNvSpPr/>
            <p:nvPr/>
          </p:nvSpPr>
          <p:spPr>
            <a:xfrm>
              <a:off x="2454000" y="8070000"/>
              <a:ext cx="1000000" cy="1250000"/>
            </a:xfrm>
            <a:custGeom>
              <a:avLst/>
              <a:gdLst/>
              <a:ahLst/>
              <a:cxnLst/>
              <a:rect l="l" t="t" r="r" b="b"/>
              <a:pathLst>
                <a:path w="1000000" h="1250000">
                  <a:moveTo>
                    <a:pt x="0" y="0"/>
                  </a:moveTo>
                  <a:lnTo>
                    <a:pt x="1000000" y="0"/>
                  </a:lnTo>
                  <a:lnTo>
                    <a:pt x="1000000" y="1250000"/>
                  </a:lnTo>
                  <a:lnTo>
                    <a:pt x="0" y="387500"/>
                  </a:lnTo>
                  <a:close/>
                </a:path>
              </a:pathLst>
            </a:custGeom>
            <a:solidFill>
              <a:srgbClr val="EAF2F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454000" y="8070000"/>
              <a:ext cx="700000" cy="912500"/>
            </a:xfrm>
            <a:prstGeom prst="rect">
              <a:avLst/>
            </a:prstGeom>
            <a:solidFill>
              <a:srgbClr val="002060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/>
            <a:lstStyle/>
            <a:p>
              <a:pPr algn="ctr"/>
              <a:r>
                <a:rPr sz="850" b="1">
                  <a:solidFill>
                    <a:srgbClr val="FFFFFF"/>
                  </a:solidFill>
                  <a:latin typeface="신세계 민부리 Bold(TTF)"/>
                  <a:ea typeface="신세계 민부리 Bold(TTF)"/>
                  <a:cs typeface="신세계 민부리 Bold(TTF)"/>
                </a:rPr>
                <a:t>73%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224000" y="8436250"/>
              <a:ext cx="920000" cy="180000"/>
            </a:xfrm>
            <a:prstGeom prst="rect">
              <a:avLst/>
            </a:prstGeom>
            <a:noFill/>
          </p:spPr>
          <p:txBody>
            <a:bodyPr wrap="square" anchor="ctr" lIns="0" rIns="0" tIns="0" bIns="0"/>
            <a:lstStyle/>
            <a:p>
              <a:pPr algn="l"/>
              <a:r>
                <a:rPr sz="850" b="1">
                  <a:solidFill>
                    <a:srgbClr val="000000"/>
                  </a:solidFill>
                  <a:latin typeface="신세계 민부리 Bold(TTF)"/>
                  <a:ea typeface="신세계 민부리 Bold(TTF)"/>
                  <a:cs typeface="신세계 민부리 Bold(TTF)"/>
                </a:rPr>
                <a:t>당사 7.5조</a:t>
              </a: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3454000" y="8982500"/>
              <a:ext cx="700000" cy="250000"/>
            </a:xfrm>
            <a:prstGeom prst="rect">
              <a:avLst/>
            </a:prstGeom>
            <a:solidFill>
              <a:srgbClr val="5B7FB5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 lIns="0" rIns="0" tIns="0" bIns="0"/>
            <a:lstStyle/>
            <a:p>
              <a:pPr algn="ctr"/>
              <a:r>
                <a:rPr sz="850" b="1">
                  <a:solidFill>
                    <a:srgbClr val="FFFFFF"/>
                  </a:solidFill>
                  <a:latin typeface="신세계 민부리 Bold(TTF)"/>
                  <a:ea typeface="신세계 민부리 Bold(TTF)"/>
                  <a:cs typeface="신세계 민부리 Bold(TTF)"/>
                </a:rPr>
                <a:t>20%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4224000" y="8987500"/>
              <a:ext cx="920000" cy="180000"/>
            </a:xfrm>
            <a:prstGeom prst="rect">
              <a:avLst/>
            </a:prstGeom>
            <a:noFill/>
          </p:spPr>
          <p:txBody>
            <a:bodyPr wrap="square" anchor="ctr" lIns="0" rIns="0" tIns="0" bIns="0"/>
            <a:lstStyle/>
            <a:p>
              <a:pPr algn="l"/>
              <a:r>
                <a:rPr sz="850" b="1">
                  <a:solidFill>
                    <a:srgbClr val="000000"/>
                  </a:solidFill>
                  <a:latin typeface="신세계 민부리 Bold(TTF)"/>
                  <a:ea typeface="신세계 민부리 Bold(TTF)"/>
                  <a:cs typeface="신세계 민부리 Bold(TTF)"/>
                </a:rPr>
                <a:t>百 2.0조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3454000" y="9232500"/>
              <a:ext cx="700000" cy="87500"/>
            </a:xfrm>
            <a:prstGeom prst="rect">
              <a:avLst/>
            </a:prstGeom>
            <a:solidFill>
              <a:srgbClr val="D9D9D9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4224000" y="9211250"/>
              <a:ext cx="920000" cy="180000"/>
            </a:xfrm>
            <a:prstGeom prst="rect">
              <a:avLst/>
            </a:prstGeom>
            <a:noFill/>
          </p:spPr>
          <p:txBody>
            <a:bodyPr wrap="square" anchor="ctr" lIns="0" rIns="0" tIns="0" bIns="0"/>
            <a:lstStyle/>
            <a:p>
              <a:pPr algn="l"/>
              <a:r>
                <a:rPr sz="750" b="0">
                  <a:solidFill>
                    <a:srgbClr val="595959"/>
                  </a:solidFill>
                  <a:latin typeface="신세계 민부리 Light(TTF)"/>
                  <a:ea typeface="신세계 민부리 Light(TTF)"/>
                  <a:cs typeface="신세계 민부리 Light(TTF)"/>
                </a:rPr>
                <a:t>외부 0.8조 (7%)</a:t>
              </a:r>
            </a:p>
          </p:txBody>
        </p:sp>
        <p:sp>
          <p:nvSpPr>
            <p:cNvPr id="40" name="Right Brace 39"/>
            <p:cNvSpPr/>
            <p:nvPr/>
          </p:nvSpPr>
          <p:spPr>
            <a:xfrm>
              <a:off x="5154000" y="8070000"/>
              <a:ext cx="90000" cy="1162500"/>
            </a:xfrm>
            <a:prstGeom prst="rightBrace">
              <a:avLst/>
            </a:prstGeom>
            <a:noFill/>
            <a:ln w="12700">
              <a:solidFill>
                <a:srgbClr val="00206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5294000" y="8070000"/>
              <a:ext cx="1310000" cy="1162500"/>
            </a:xfrm>
            <a:prstGeom prst="rect">
              <a:avLst/>
            </a:prstGeom>
            <a:noFill/>
          </p:spPr>
          <p:txBody>
            <a:bodyPr wrap="square" anchor="ctr" lIns="0" rIns="0" tIns="0" bIns="0"/>
            <a:lstStyle/>
            <a:p>
              <a:pPr algn="l"/>
              <a:r>
                <a:rPr sz="900" b="0">
                  <a:solidFill>
                    <a:srgbClr val="595959"/>
                  </a:solidFill>
                  <a:latin typeface="신세계 민부리 Light(TTF)"/>
                  <a:ea typeface="신세계 민부리 Light(TTF)"/>
                  <a:cs typeface="신세계 민부리 Light(TTF)"/>
                </a:rPr>
                <a:t>신세계 Equity</a:t>
              </a:r>
            </a:p>
            <a:p>
              <a:pPr algn="l">
                <a:spcBef>
                  <a:spcPts val="200"/>
                </a:spcBef>
              </a:pPr>
              <a:r>
                <a:rPr sz="1600" b="1">
                  <a:solidFill>
                    <a:srgbClr val="002060"/>
                  </a:solidFill>
                  <a:latin typeface="신세계 민부리 Bold(TTF)"/>
                  <a:ea typeface="신세계 민부리 Bold(TTF)"/>
                  <a:cs typeface="신세계 민부리 Bold(TTF)"/>
                </a:rPr>
                <a:t>9.5조</a:t>
              </a:r>
            </a:p>
            <a:p>
              <a:pPr algn="l">
                <a:spcBef>
                  <a:spcPts val="200"/>
                </a:spcBef>
              </a:pPr>
              <a:r>
                <a:rPr sz="850" b="1">
                  <a:solidFill>
                    <a:srgbClr val="000000"/>
                  </a:solidFill>
                  <a:latin typeface="신세계 민부리 Bold(TTF)"/>
                  <a:ea typeface="신세계 민부리 Bold(TTF)"/>
                  <a:cs typeface="신세계 민부리 Bold(TTF)"/>
                </a:rPr>
                <a:t>Equity의 93%</a:t>
              </a:r>
            </a:p>
            <a:p>
              <a:pPr algn="l"/>
              <a:r>
                <a:rPr sz="850" b="0">
                  <a:solidFill>
                    <a:srgbClr val="595959"/>
                  </a:solidFill>
                  <a:latin typeface="신세계 민부리 Light(TTF)"/>
                  <a:ea typeface="신세계 민부리 Light(TTF)"/>
                  <a:cs typeface="신세계 민부리 Light(TTF)"/>
                </a:rPr>
                <a:t>총 사업비 대비 29%</a:t>
              </a:r>
            </a:p>
          </p:txBody>
        </p:sp>
      </p:grpSp>
      <p:sp>
        <p:nvSpPr>
          <p:cNvPr id="42" name="TextBox 41"/>
          <p:cNvSpPr txBox="1"/>
          <p:nvPr/>
        </p:nvSpPr>
        <p:spPr>
          <a:xfrm>
            <a:off x="254000" y="9560000"/>
            <a:ext cx="6350000" cy="300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* 예상 이익은 PJT별 준공 후 1~20년 누적 기준으로, 산정 기간이 상이함</a:t>
            </a:r>
          </a:p>
          <a:p>
            <a:pPr algn="l"/>
            <a:r>
              <a:rPr sz="750" b="0">
                <a:solidFill>
                  <a:srgbClr val="595959"/>
                </a:solidFill>
                <a:latin typeface="신세계 민부리 Light(TTF)"/>
                <a:ea typeface="신세계 민부리 Light(TTF)"/>
                <a:cs typeface="신세계 민부리 Light(TTF)"/>
              </a:rPr>
              <a:t>* 당사: 신세계센트럴, 百: 신세계백화점 / 사업비 단위: 조원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