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990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4000" y="120000"/>
            <a:ext cx="6350000" cy="3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❑ PJT 종합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4000" y="470000"/>
            <a:ext cx="63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4000" y="580000"/>
            <a:ext cx="60000" cy="7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4000" y="580000"/>
            <a:ext cx="6290000" cy="76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0" bIns="0"/>
          <a:lstStyle/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’39년까지 8개 복합개발 PJT(총 사업비 32.8조) 완성,</a:t>
            </a:r>
          </a:p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신세계 Equity 9.5조 투입으로 예상 이익 37조 확보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반포가 사업비의 61%, 이익의 75%를 차지하는 핵심 PJT로 포트폴리오 성과를 좌우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4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54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총 사업비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32.8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8개 PJT · ’26~’39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61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61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 Equity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9.5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 7.5조 · 百 2.0조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61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69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69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 이익*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37.0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Equity 대비 3.9배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69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76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76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반포 비중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61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%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 기준 (이익 75%)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6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4000" y="242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핵심 시사점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000" y="2740000"/>
            <a:ext cx="6290000" cy="165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① 국내 최고 수준의 복합개발 포트폴리오 구축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’30년 논현을 시작으로 ’34년까지 7개 PJT(12.9조) 순차 준공,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’39년 반포(19.9조) 준공으로 포트폴리오 완성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② 투입 Equity 대비 약 4배 수준의 이익 기대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당사 Equity 7.5조 → 이익 28.3조 (3.8배)  /  百 Equity 2.0조 → 이익 8.8조 (4.3배)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③ 반포 집중도 및 차입 부담에 대한 관리 필요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반포 1개 PJT에 당사 Equity의 95%(7.1조) 집중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총 사업비의 42%(13.8조)를 PF·회사채 등 차입으로 조달 → 반포 일정 및 금리 변동 집중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00" y="450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PJT별 사업비 및 예상 이익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4000" y="4830000"/>
          <a:ext cx="6350000" cy="250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0000"/>
                <a:gridCol w="520000"/>
                <a:gridCol w="2050000"/>
                <a:gridCol w="800000"/>
                <a:gridCol w="600000"/>
                <a:gridCol w="900000"/>
                <a:gridCol w="650000"/>
                <a:gridCol w="450000"/>
              </a:tblGrid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예상 이익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기간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프라임 오피스 · 리테일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0.58조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495억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760억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럭셔리 리조트 · 레지던스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1.46조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876억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3,002억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12년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오피스텔 · 백화점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2.52조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3,685억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2.9조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고속철도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0.33조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3,286억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6,624억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시니어 레지던스 · 호텔 · 오피스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1.68조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1,076억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599억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주거분양 · 상업시설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2.70조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1,200억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1,397억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주거 · 오피스 · 터미널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3.62조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1.3조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5.2조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’39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호텔 · 오피스 · 리테일 · 주거 · 터미널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19.87조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당사 7.1조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27.7조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8개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32.8조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9.5조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37.0조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22" name="Picture 21" descr="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000" y="5080000"/>
            <a:ext cx="800000" cy="20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4000" y="760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사업비 조달 구조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4000" y="7960000"/>
            <a:ext cx="1150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9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총 사업비</a:t>
            </a:r>
          </a:p>
          <a:p>
            <a:pPr algn="l"/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32.8조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04000" y="7960000"/>
            <a:ext cx="1612000" cy="300000"/>
          </a:xfrm>
          <a:prstGeom prst="rect">
            <a:avLst/>
          </a:prstGeom>
          <a:solidFill>
            <a:srgbClr val="00206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04000" y="7960000"/>
            <a:ext cx="1612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신세계 민부리 Bold(TTF)"/>
                <a:ea typeface="신세계 민부리 Bold(TTF)"/>
                <a:cs typeface="신세계 민부리 Bold(TTF)"/>
              </a:rPr>
              <a:t>Equity 10.3조 (31%)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16000" y="7960000"/>
            <a:ext cx="2184000" cy="300000"/>
          </a:xfrm>
          <a:prstGeom prst="rect">
            <a:avLst/>
          </a:prstGeom>
          <a:solidFill>
            <a:srgbClr val="5B7FB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6000" y="7960000"/>
            <a:ext cx="2184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신세계 민부리 Bold(TTF)"/>
                <a:ea typeface="신세계 민부리 Bold(TTF)"/>
                <a:cs typeface="신세계 민부리 Bold(TTF)"/>
              </a:rPr>
              <a:t>차입(PF·회사채 등) 13.8조 (42%)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00000" y="7960000"/>
            <a:ext cx="1404000" cy="300000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00000" y="7960000"/>
            <a:ext cx="1404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분양·보증금 8.7조 (27%)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000" y="8380000"/>
            <a:ext cx="1150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9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Equity 구성</a:t>
            </a:r>
          </a:p>
          <a:p>
            <a:pPr algn="l"/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10.3조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04000" y="8380000"/>
            <a:ext cx="3796000" cy="300000"/>
          </a:xfrm>
          <a:prstGeom prst="rect">
            <a:avLst/>
          </a:prstGeom>
          <a:solidFill>
            <a:srgbClr val="00206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4000" y="8380000"/>
            <a:ext cx="3796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신세계 민부리 Bold(TTF)"/>
                <a:ea typeface="신세계 민부리 Bold(TTF)"/>
                <a:cs typeface="신세계 민부리 Bold(TTF)"/>
              </a:rPr>
              <a:t>당사 7.5조 (73%)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00000" y="8380000"/>
            <a:ext cx="1040000" cy="300000"/>
          </a:xfrm>
          <a:prstGeom prst="rect">
            <a:avLst/>
          </a:prstGeom>
          <a:solidFill>
            <a:srgbClr val="B4D4F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00000" y="8380000"/>
            <a:ext cx="1040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百 2.0조 (20%)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0000" y="8380000"/>
            <a:ext cx="364000" cy="300000"/>
          </a:xfrm>
          <a:prstGeom prst="rect">
            <a:avLst/>
          </a:prstGeom>
          <a:solidFill>
            <a:srgbClr val="D9D9D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40000" y="8380000"/>
            <a:ext cx="364000" cy="30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7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외부 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4000" y="8770000"/>
            <a:ext cx="6350000" cy="2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신세계(당사+百)가 Equity의 93%(9.5조)를 부담하며, 이는 총 사업비의 29% 수준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4000" y="9500000"/>
            <a:ext cx="6350000" cy="3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예상 이익은 PJT별 준공 후 1~20년 누적 기준으로, 산정 기간이 상이함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당사: 신세계센트럴, 百: 신세계백화점 / 사업비 단위: 조원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