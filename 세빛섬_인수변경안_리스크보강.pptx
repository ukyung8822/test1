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61" r:id="rId2"/>
    <p:sldId id="2145714274" r:id="rId3"/>
    <p:sldId id="2145714269" r:id="rId4"/>
    <p:sldId id="2145714273" r:id="rId5"/>
    <p:sldId id="2145714268" r:id="rId6"/>
    <p:sldId id="2145714271" r:id="rId7"/>
    <p:sldId id="2145714272" r:id="rId8"/>
    <p:sldId id="2145714275" r:id="rId9"/>
    <p:sldId id="2145714270" r:id="rId10"/>
    <p:sldId id="463" r:id="rId11"/>
  </p:sldIdLst>
  <p:sldSz cx="6858000" cy="9906000" type="A4"/>
  <p:notesSz cx="6735763" cy="9866313"/>
  <p:defaultTextStyle>
    <a:defPPr>
      <a:defRPr lang="ko-KR"/>
    </a:defPPr>
    <a:lvl1pPr marL="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25" userDrawn="1">
          <p15:clr>
            <a:srgbClr val="A4A3A4"/>
          </p15:clr>
        </p15:guide>
        <p15:guide id="2" orient="horz" pos="6114" userDrawn="1">
          <p15:clr>
            <a:srgbClr val="A4A3A4"/>
          </p15:clr>
        </p15:guide>
        <p15:guide id="3" orient="horz" pos="1850" userDrawn="1">
          <p15:clr>
            <a:srgbClr val="A4A3A4"/>
          </p15:clr>
        </p15:guide>
        <p15:guide id="5" orient="horz" pos="3868" userDrawn="1">
          <p15:clr>
            <a:srgbClr val="A4A3A4"/>
          </p15:clr>
        </p15:guide>
        <p15:guide id="6" orient="horz" pos="1079" userDrawn="1">
          <p15:clr>
            <a:srgbClr val="A4A3A4"/>
          </p15:clr>
        </p15:guide>
        <p15:guide id="7" pos="73" userDrawn="1">
          <p15:clr>
            <a:srgbClr val="A4A3A4"/>
          </p15:clr>
        </p15:guide>
        <p15:guide id="10" pos="1933" userDrawn="1">
          <p15:clr>
            <a:srgbClr val="A4A3A4"/>
          </p15:clr>
        </p15:guide>
        <p15:guide id="15" pos="4156" userDrawn="1">
          <p15:clr>
            <a:srgbClr val="A4A3A4"/>
          </p15:clr>
        </p15:guide>
        <p15:guide id="16" pos="436" userDrawn="1">
          <p15:clr>
            <a:srgbClr val="A4A3A4"/>
          </p15:clr>
        </p15:guide>
        <p15:guide id="17" orient="horz" pos="3029" userDrawn="1">
          <p15:clr>
            <a:srgbClr val="A4A3A4"/>
          </p15:clr>
        </p15:guide>
        <p15:guide id="18" orient="horz" pos="1419" userDrawn="1">
          <p15:clr>
            <a:srgbClr val="A4A3A4"/>
          </p15:clr>
        </p15:guide>
        <p15:guide id="19" pos="278" userDrawn="1">
          <p15:clr>
            <a:srgbClr val="A4A3A4"/>
          </p15:clr>
        </p15:guide>
        <p15:guide id="20" pos="6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신혜(파트너) - 부동산금융팀" initials="황-부" lastIdx="1" clrIdx="0">
    <p:extLst>
      <p:ext uri="{19B8F6BF-5375-455C-9EA6-DF929625EA0E}">
        <p15:presenceInfo xmlns:p15="http://schemas.microsoft.com/office/powerpoint/2012/main" userId="황신혜(파트너) - 부동산금융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2F2F2"/>
    <a:srgbClr val="1E236E"/>
    <a:srgbClr val="E6F2F6"/>
    <a:srgbClr val="D7EAF1"/>
    <a:srgbClr val="FFFFFF"/>
    <a:srgbClr val="FFFF66"/>
    <a:srgbClr val="0000FF"/>
    <a:srgbClr val="0D884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98" d="100"/>
          <a:sy n="98" d="100"/>
        </p:scale>
        <p:origin x="4746" y="-1710"/>
      </p:cViewPr>
      <p:guideLst>
        <p:guide orient="horz" pos="5025"/>
        <p:guide orient="horz" pos="6114"/>
        <p:guide orient="horz" pos="1850"/>
        <p:guide orient="horz" pos="3868"/>
        <p:guide orient="horz" pos="1079"/>
        <p:guide pos="73"/>
        <p:guide pos="1933"/>
        <p:guide pos="4156"/>
        <p:guide pos="436"/>
        <p:guide orient="horz" pos="3029"/>
        <p:guide orient="horz" pos="1419"/>
        <p:guide pos="278"/>
        <p:guide pos="6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5" y="11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98" y="11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/>
          <a:lstStyle>
            <a:lvl1pPr algn="r">
              <a:defRPr sz="1200"/>
            </a:lvl1pPr>
          </a:lstStyle>
          <a:p>
            <a:fld id="{83D697D7-1998-415A-9AF2-776AF61F1F3B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7563" y="739775"/>
            <a:ext cx="25606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56" tIns="45175" rIns="90356" bIns="451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8" y="4686534"/>
            <a:ext cx="5388610" cy="4439841"/>
          </a:xfrm>
          <a:prstGeom prst="rect">
            <a:avLst/>
          </a:prstGeom>
        </p:spPr>
        <p:txBody>
          <a:bodyPr vert="horz" lIns="90356" tIns="45175" rIns="90356" bIns="4517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5" y="9371299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98" y="9371299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 anchor="b"/>
          <a:lstStyle>
            <a:lvl1pPr algn="r">
              <a:defRPr sz="1200"/>
            </a:lvl1pPr>
          </a:lstStyle>
          <a:p>
            <a:fld id="{7BEC73BA-470C-465C-BD13-ED77CE7BBD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8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31CC-C9A1-0080-8C05-E8499445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9308A4-6E9C-A87C-9CA8-A9A730C58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45FB33-F062-2CEF-1766-913C6835E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D1B8F6-FB26-FB5B-D1F4-9298DD74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97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10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1A6B-496C-222F-0752-273E4608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E04A5C-9D01-3EE1-A4EE-AA282A378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1CBA00-C9CE-F96A-FAA6-275D0D1A8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4B391-ECAD-C008-7189-C70841846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569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AEB5-46E9-4315-D4D9-95F0F6641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7B4DD3-E902-E162-4081-28D22546A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87563" y="739775"/>
            <a:ext cx="2560637" cy="370046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ACE060-509C-F72C-7804-2A30B43F6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B45B60-028E-8953-8E5E-B391E9F42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61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A880-4D0E-2517-25BC-2C1BD910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D96D0E-7A43-A5CA-01FF-C7035FDAD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B6600E-A3B1-3EE8-4BF6-20177E7A4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19981-974A-5DAF-DEBC-A60E94492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73BA-470C-465C-BD13-ED77CE7BBDE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823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1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1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2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3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64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05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46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87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28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0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28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3"/>
            <a:ext cx="5829300" cy="1967442"/>
          </a:xfrm>
        </p:spPr>
        <p:txBody>
          <a:bodyPr anchor="t"/>
          <a:lstStyle>
            <a:lvl1pPr algn="l">
              <a:defRPr sz="3858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9"/>
            <a:ext cx="5829300" cy="2166936"/>
          </a:xfrm>
        </p:spPr>
        <p:txBody>
          <a:bodyPr anchor="b"/>
          <a:lstStyle>
            <a:lvl1pPr marL="0" indent="0">
              <a:buNone/>
              <a:defRPr sz="1929">
                <a:solidFill>
                  <a:schemeClr val="tx1">
                    <a:tint val="75000"/>
                  </a:schemeClr>
                </a:solidFill>
              </a:defRPr>
            </a:lvl1pPr>
            <a:lvl2pPr marL="441009" indent="0">
              <a:buNone/>
              <a:defRPr sz="1736">
                <a:solidFill>
                  <a:schemeClr val="tx1">
                    <a:tint val="75000"/>
                  </a:schemeClr>
                </a:solidFill>
              </a:defRPr>
            </a:lvl2pPr>
            <a:lvl3pPr marL="88201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3pPr>
            <a:lvl4pPr marL="132302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76403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220504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64605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308706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52807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7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82" y="3081870"/>
            <a:ext cx="2257425" cy="8715905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6" y="3081870"/>
            <a:ext cx="2257425" cy="8715905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22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702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7"/>
            <a:ext cx="3030141" cy="924101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7"/>
            <a:ext cx="3030141" cy="570741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4" y="2217387"/>
            <a:ext cx="3031331" cy="924101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4" y="3141487"/>
            <a:ext cx="3031331" cy="570741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39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6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6" y="394407"/>
            <a:ext cx="2256235" cy="1678517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93" y="394406"/>
            <a:ext cx="3833813" cy="8454497"/>
          </a:xfrm>
        </p:spPr>
        <p:txBody>
          <a:bodyPr/>
          <a:lstStyle>
            <a:lvl1pPr>
              <a:defRPr sz="3087"/>
            </a:lvl1pPr>
            <a:lvl2pPr>
              <a:defRPr sz="2701"/>
            </a:lvl2pPr>
            <a:lvl3pPr>
              <a:defRPr sz="2315"/>
            </a:lvl3pPr>
            <a:lvl4pPr>
              <a:defRPr sz="1929"/>
            </a:lvl4pPr>
            <a:lvl5pPr>
              <a:defRPr sz="1929"/>
            </a:lvl5pPr>
            <a:lvl6pPr>
              <a:defRPr sz="1929"/>
            </a:lvl6pPr>
            <a:lvl7pPr>
              <a:defRPr sz="1929"/>
            </a:lvl7pPr>
            <a:lvl8pPr>
              <a:defRPr sz="1929"/>
            </a:lvl8pPr>
            <a:lvl9pPr>
              <a:defRPr sz="192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6" y="2072926"/>
            <a:ext cx="2256235" cy="6775981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4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1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087"/>
            </a:lvl1pPr>
            <a:lvl2pPr marL="441009" indent="0">
              <a:buNone/>
              <a:defRPr sz="2701"/>
            </a:lvl2pPr>
            <a:lvl3pPr marL="882019" indent="0">
              <a:buNone/>
              <a:defRPr sz="2315"/>
            </a:lvl3pPr>
            <a:lvl4pPr marL="1323029" indent="0">
              <a:buNone/>
              <a:defRPr sz="1929"/>
            </a:lvl4pPr>
            <a:lvl5pPr marL="1764039" indent="0">
              <a:buNone/>
              <a:defRPr sz="1929"/>
            </a:lvl5pPr>
            <a:lvl6pPr marL="2205049" indent="0">
              <a:buNone/>
              <a:defRPr sz="1929"/>
            </a:lvl6pPr>
            <a:lvl7pPr marL="2646058" indent="0">
              <a:buNone/>
              <a:defRPr sz="1929"/>
            </a:lvl7pPr>
            <a:lvl8pPr marL="3087068" indent="0">
              <a:buNone/>
              <a:defRPr sz="1929"/>
            </a:lvl8pPr>
            <a:lvl9pPr marL="3528077" indent="0">
              <a:buNone/>
              <a:defRPr sz="1929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2"/>
            <a:ext cx="4114800" cy="1162579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20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3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700"/>
            <a:ext cx="1157288" cy="1126807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700"/>
            <a:ext cx="3357563" cy="1126807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9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702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4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8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F66C5-9CC5-4920-8C7D-4C917F0FD76F}" type="datetimeFigureOut">
              <a:rPr lang="ko-KR" altLang="en-US" smtClean="0"/>
              <a:pPr/>
              <a:t>2026-10-06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1" y="9181398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8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0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019" rtl="0" eaLnBrk="1" latinLnBrk="1" hangingPunct="1">
        <a:spcBef>
          <a:spcPct val="0"/>
        </a:spcBef>
        <a:buNone/>
        <a:defRPr sz="42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757" indent="-330757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16641" indent="-275630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2701" kern="1200">
          <a:solidFill>
            <a:schemeClr val="tx1"/>
          </a:solidFill>
          <a:latin typeface="+mn-lt"/>
          <a:ea typeface="+mn-ea"/>
          <a:cs typeface="+mn-cs"/>
        </a:defRPr>
      </a:lvl2pPr>
      <a:lvl3pPr marL="110252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3pPr>
      <a:lvl4pPr marL="154353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1929" kern="1200">
          <a:solidFill>
            <a:schemeClr val="tx1"/>
          </a:solidFill>
          <a:latin typeface="+mn-lt"/>
          <a:ea typeface="+mn-ea"/>
          <a:cs typeface="+mn-cs"/>
        </a:defRPr>
      </a:lvl4pPr>
      <a:lvl5pPr marL="198454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»"/>
        <a:defRPr sz="1929" kern="1200">
          <a:solidFill>
            <a:schemeClr val="tx1"/>
          </a:solidFill>
          <a:latin typeface="+mn-lt"/>
          <a:ea typeface="+mn-ea"/>
          <a:cs typeface="+mn-cs"/>
        </a:defRPr>
      </a:lvl5pPr>
      <a:lvl6pPr marL="242555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6pPr>
      <a:lvl7pPr marL="286656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7pPr>
      <a:lvl8pPr marL="3307572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8pPr>
      <a:lvl9pPr marL="374858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0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1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2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3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4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5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06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077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/>
          <p:nvPr/>
        </p:nvSpPr>
        <p:spPr>
          <a:xfrm>
            <a:off x="0" y="0"/>
            <a:ext cx="6857999" cy="535531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2400" b="1" u="sng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세빛섬 인수 변경 안</a:t>
            </a:r>
            <a:endParaRPr lang="ko-KR" sz="24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2" name="Shape 102"/>
          <p:cNvSpPr/>
          <p:nvPr/>
        </p:nvSpPr>
        <p:spPr>
          <a:xfrm>
            <a:off x="-6639509" y="4919976"/>
            <a:ext cx="1234800" cy="198000"/>
          </a:xfrm>
          <a:prstGeom prst="homePlate">
            <a:avLst>
              <a:gd name="adj" fmla="val 30000"/>
            </a:avLst>
          </a:prstGeom>
          <a:solidFill>
            <a:srgbClr val="002060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세빛섬 현황 · 투자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-5375908" y="4919976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② 수상푸드존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-4112308" y="4919976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③ 통합 효과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5" name="Shape 105"/>
          <p:cNvSpPr/>
          <p:nvPr/>
        </p:nvSpPr>
        <p:spPr>
          <a:xfrm>
            <a:off x="-2848708" y="4919976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④ 추진 계획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-1585108" y="4679346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⑤ 추진 방법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7" name="TextBox 107"/>
          <p:cNvSpPr txBox="1"/>
          <p:nvPr/>
        </p:nvSpPr>
        <p:spPr>
          <a:xfrm>
            <a:off x="75695" y="600900"/>
            <a:ext cx="6782303" cy="17208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세빛섬 계획 안</a:t>
            </a:r>
            <a:endParaRPr lang="en-US" altLang="ko-KR" dirty="0">
              <a:solidFill>
                <a:srgbClr val="000000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현재 : 컨텐츠 품질 </a:t>
            </a:r>
            <a:r>
              <a:rPr lang="ko-KR" altLang="en-US" sz="1400" b="1" dirty="0" err="1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ㆍ운영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역량 부족으로 집객 低 </a:t>
            </a:r>
            <a:r>
              <a:rPr lang="ko-KR" altLang="en-US" sz="14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’14년 개장 후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시설 노후</a:t>
            </a:r>
            <a:endParaRPr lang="en-US" altLang="ko-KR" sz="1400" b="1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endParaRPr lang="ko-KR" altLang="en-US" sz="14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endParaRPr lang="en-US" altLang="ko-KR" sz="14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endParaRPr lang="en-US" altLang="ko-KR" sz="14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endParaRPr lang="en-US" altLang="ko-KR" sz="5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리모델링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(당사 5</a:t>
            </a:r>
            <a:r>
              <a:rPr lang="en-US" altLang="ko-KR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17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투자</a:t>
            </a:r>
            <a:r>
              <a:rPr lang="en-US" altLang="ko-KR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후 : MICE · 공연 · F&amp;B 복합 문화공간으로 전환</a:t>
            </a:r>
            <a:endParaRPr lang="en-US" altLang="ko-KR" sz="1400" b="1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buNone/>
            </a:pPr>
            <a:endParaRPr lang="ko-KR" altLang="ko-KR" sz="14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1500"/>
              </a:spcBef>
              <a:buNone/>
            </a:pPr>
            <a:r>
              <a:rPr lang="ko-KR" altLang="en-US" sz="14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</a:t>
            </a:r>
            <a:endParaRPr lang="en-US" altLang="ko-KR" sz="14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1500"/>
              </a:spcBef>
              <a:buNone/>
            </a:pPr>
            <a:endParaRPr lang="en-US" altLang="ko-KR" sz="14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1500"/>
              </a:spcBef>
              <a:buNone/>
            </a:pPr>
            <a:endParaRPr lang="en-US" altLang="ko-KR" sz="5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200"/>
              </a:spcBef>
            </a:pP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•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MICE · 공연으로 평일 집객 ↑ / 연 매출 +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41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(75 → 1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16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</a:t>
            </a:r>
            <a:r>
              <a:rPr lang="ko-KR" altLang="en-US" sz="800" b="1" dirty="0" err="1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년차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매출 기준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)</a:t>
            </a:r>
          </a:p>
          <a:p>
            <a:pPr>
              <a:spcBef>
                <a:spcPts val="120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•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단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,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접근성 부족으로 상시 유입 한계 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* 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유동인구 반포대교 우측 달빛광장 집중</a:t>
            </a:r>
            <a:endParaRPr lang="en-US" altLang="ko-KR" sz="850" b="1" dirty="0">
              <a:solidFill>
                <a:srgbClr val="003399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2500"/>
              </a:spcBef>
            </a:pPr>
            <a:r>
              <a:rPr lang="ko-KR" altLang="en-US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반포 </a:t>
            </a:r>
            <a:r>
              <a:rPr lang="ko-KR" altLang="en-US" dirty="0" err="1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수상푸드존</a:t>
            </a:r>
            <a:endParaRPr lang="en-US" altLang="ko-KR" dirty="0">
              <a:solidFill>
                <a:srgbClr val="000000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1500"/>
              </a:spcBef>
            </a:pPr>
            <a:r>
              <a:rPr lang="en-US" altLang="ko-KR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市 주도 「한강버스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(교통)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+ 수변 미식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(여가)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결합 」 수상 거점 목표</a:t>
            </a:r>
            <a:endParaRPr lang="en-US" altLang="ko-KR" sz="1400" b="1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15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2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2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2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2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98250" indent="-171450">
              <a:spcBef>
                <a:spcPts val="200"/>
              </a:spcBef>
              <a:buFont typeface="Wingdings" panose="05000000000000000000" pitchFamily="2" charset="2"/>
              <a:buChar char="m"/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226800">
              <a:spcBef>
                <a:spcPts val="200"/>
              </a:spcBef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과제 :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선착장을 넘어 거점이 되려면 전문 운영역량과 대형 공연 등 집객 · 화제성 콘텐츠가 필요</a:t>
            </a:r>
          </a:p>
          <a:p>
            <a:pPr marL="226800">
              <a:spcBef>
                <a:spcPts val="200"/>
              </a:spcBef>
            </a:pP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226800">
              <a:spcBef>
                <a:spcPts val="200"/>
              </a:spcBef>
            </a:pP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anose="05000000000000000000" pitchFamily="2" charset="2"/>
              </a:rPr>
              <a:t> 결론 : 세빛섬의 콘텐츠 · 화제성 (체류) + 푸드존의 교통 · 유동인구 (유입) 결합 → 시너지, 통합 공모 추진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pic>
        <p:nvPicPr>
          <p:cNvPr id="108" name="세빛섬 전경 108"/>
          <p:cNvPicPr>
            <a:picLocks noChangeAspect="1"/>
          </p:cNvPicPr>
          <p:nvPr/>
        </p:nvPicPr>
        <p:blipFill>
          <a:blip r:embed="rId3"/>
          <a:srcRect l="19638" t="14176" r="19786"/>
          <a:stretch>
            <a:fillRect/>
          </a:stretch>
        </p:blipFill>
        <p:spPr>
          <a:xfrm>
            <a:off x="-3604907" y="2008682"/>
            <a:ext cx="1800000" cy="1278000"/>
          </a:xfrm>
          <a:prstGeom prst="rect">
            <a:avLst/>
          </a:prstGeom>
        </p:spPr>
      </p:pic>
      <p:graphicFrame>
        <p:nvGraphicFramePr>
          <p:cNvPr id="109" name="표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94697"/>
              </p:ext>
            </p:extLst>
          </p:nvPr>
        </p:nvGraphicFramePr>
        <p:xfrm>
          <a:off x="555304" y="1386129"/>
          <a:ext cx="5881451" cy="1311010"/>
        </p:xfrm>
        <a:graphic>
          <a:graphicData uri="http://schemas.openxmlformats.org/drawingml/2006/table">
            <a:tbl>
              <a:tblPr firstRow="1" bandRow="1"/>
              <a:tblGrid>
                <a:gridCol w="406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20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층</a:t>
                      </a:r>
                      <a:endParaRPr lang="ko-KR" sz="1100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가빛 | 1,487평</a:t>
                      </a:r>
                      <a:endParaRPr lang="ko-KR" sz="1100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채빛 | 760평</a:t>
                      </a:r>
                      <a:endParaRPr lang="ko-KR" sz="1100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솔빛 | 227평</a:t>
                      </a:r>
                      <a:endParaRPr lang="ko-KR" sz="1100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0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4F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옥상공원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0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3F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레스토랑 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뷔페</a:t>
                      </a:r>
                      <a:endParaRPr lang="ko-KR" altLang="en-US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0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2F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웨딩 / 연회장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와인바</a:t>
                      </a:r>
                      <a:endParaRPr lang="ko-KR" altLang="en-US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0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1F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레스토랑 · 카페 ·  편의점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전시공간</a:t>
                      </a:r>
                      <a:r>
                        <a:rPr lang="en-US" altLang="ko-KR" sz="11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/ </a:t>
                      </a:r>
                      <a:r>
                        <a:rPr lang="ko-KR" altLang="en-US" sz="11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야외 </a:t>
                      </a:r>
                      <a:r>
                        <a:rPr lang="ko-KR" altLang="en-US" sz="1100" dirty="0" err="1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펍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TextBox 110"/>
          <p:cNvSpPr txBox="1"/>
          <p:nvPr/>
        </p:nvSpPr>
        <p:spPr>
          <a:xfrm>
            <a:off x="-3319029" y="934968"/>
            <a:ext cx="1165710" cy="208585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36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</a:t>
            </a:r>
            <a:r>
              <a:rPr lang="ko-KR" altLang="en-US" sz="850" b="1" dirty="0" err="1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년차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매출 기준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1" name="TextBox 111"/>
          <p:cNvSpPr txBox="1"/>
          <p:nvPr/>
        </p:nvSpPr>
        <p:spPr>
          <a:xfrm>
            <a:off x="-5653385" y="3713977"/>
            <a:ext cx="5551753" cy="576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현재의 한계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콘텐츠 : 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웨딩 · 외식 위주 단일 목적 → 평일 · 비수기 집객 약함, 시설 노후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구조 : 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핵심 수익원 광고 (매출 45%) 불허 → 단독 가치 300억 수준 / 효성 소유 한계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-7219779" y="168806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2. 당사 투자 후 세빛섬 – 리모델링 517억 (안)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3" name="Shape 113"/>
          <p:cNvSpPr/>
          <p:nvPr/>
        </p:nvSpPr>
        <p:spPr>
          <a:xfrm>
            <a:off x="-7624247" y="6321129"/>
            <a:ext cx="6318000" cy="27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BFD0EA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「웨딩 · 외식 시설」 → </a:t>
            </a:r>
            <a:r>
              <a:rPr lang="ko-KR" altLang="en-US" sz="105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「MICE · 공연 · 프리미엄 F&amp;B 가 있는 365일 수상 문화 목적지」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14" name="표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086917"/>
              </p:ext>
            </p:extLst>
          </p:nvPr>
        </p:nvGraphicFramePr>
        <p:xfrm>
          <a:off x="555304" y="3256775"/>
          <a:ext cx="5881451" cy="1311010"/>
        </p:xfrm>
        <a:graphic>
          <a:graphicData uri="http://schemas.openxmlformats.org/drawingml/2006/table">
            <a:tbl>
              <a:tblPr firstRow="1" bandRow="1"/>
              <a:tblGrid>
                <a:gridCol w="335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8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층</a:t>
                      </a:r>
                      <a:endParaRPr lang="ko-KR" sz="1100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가빛 | 1,487평</a:t>
                      </a:r>
                      <a:endParaRPr lang="ko-KR" sz="1100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채빛 | 760평</a:t>
                      </a:r>
                      <a:endParaRPr lang="ko-KR" sz="1100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솔빛 | 227평</a:t>
                      </a:r>
                      <a:endParaRPr lang="ko-KR" sz="1100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4F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MICE 연회장 </a:t>
                      </a:r>
                      <a:r>
                        <a:rPr lang="en-US" altLang="ko-KR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 err="1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다이닝</a:t>
                      </a:r>
                      <a:r>
                        <a:rPr lang="ko-KR" altLang="en-US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</a:p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kern="1200" dirty="0" err="1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루프탑</a:t>
                      </a:r>
                      <a:r>
                        <a:rPr lang="ko-KR" altLang="en-US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라운지  </a:t>
                      </a:r>
                      <a:r>
                        <a:rPr lang="en-US" altLang="ko-KR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(JWM</a:t>
                      </a:r>
                      <a:r>
                        <a:rPr lang="ko-KR" altLang="en-US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협업)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endParaRPr lang="ko-KR" altLang="en-US" sz="1100" kern="1200" dirty="0">
                        <a:solidFill>
                          <a:srgbClr val="595959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endParaRPr lang="ko-KR" altLang="en-US" sz="1100" kern="1200" dirty="0">
                        <a:solidFill>
                          <a:srgbClr val="595959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3F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공연장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endParaRPr lang="ko-KR" altLang="en-US" sz="1100" kern="1200" dirty="0">
                        <a:solidFill>
                          <a:srgbClr val="595959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5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2F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kern="1200" dirty="0" err="1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프라이빗</a:t>
                      </a:r>
                      <a:r>
                        <a:rPr lang="ko-KR" altLang="en-US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라운지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10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1F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웰컴 라운지 · 카페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882019" rtl="0" eaLnBrk="1" latinLnBrk="1" hangingPunct="1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kern="120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百 큐레이션  팝업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" name="TextBox 115"/>
          <p:cNvSpPr txBox="1"/>
          <p:nvPr/>
        </p:nvSpPr>
        <p:spPr>
          <a:xfrm>
            <a:off x="-7393708" y="2379958"/>
            <a:ext cx="6426000" cy="288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핵심 변화 3가지</a:t>
            </a:r>
          </a:p>
        </p:txBody>
      </p:sp>
      <p:sp>
        <p:nvSpPr>
          <p:cNvPr id="116" name="Shape 116"/>
          <p:cNvSpPr/>
          <p:nvPr/>
        </p:nvSpPr>
        <p:spPr>
          <a:xfrm>
            <a:off x="-3260308" y="5311386"/>
            <a:ext cx="2058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MICE · 웨딩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가빛 2F 연회장을 메리어트 협업 MICE 연회장으로 전환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→ 평일 기업 행사 + 주말 웨딩 이중 수요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-3319029" y="3792543"/>
            <a:ext cx="2058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공연 · 전시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채빛 뷔페 2개층을 가변형 공연장으로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→ 저녁 · 주말 정기 공연으로 상시 집객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-7051109" y="3202400"/>
            <a:ext cx="2058000" cy="7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개방 · F&amp;B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옥상 시민 개방 + 百 큐레이션 F&amp;B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86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→ 행사 없는 날에도 찾아오는 목적지</a:t>
            </a:r>
            <a:endParaRPr lang="ko-KR" sz="86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19" name="표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679977"/>
              </p:ext>
            </p:extLst>
          </p:nvPr>
        </p:nvGraphicFramePr>
        <p:xfrm>
          <a:off x="-7579029" y="5270927"/>
          <a:ext cx="6318000" cy="990000"/>
        </p:xfrm>
        <a:graphic>
          <a:graphicData uri="http://schemas.openxmlformats.org/drawingml/2006/table">
            <a:tbl>
              <a:tblPr firstRow="1" bandRow="1"/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 후 (안)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주력 수요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주말 웨딩 · 외식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평일 MICE + 주말 웨딩 · 공연 + 상시 F&amp;B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 구조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대관 · F&amp;B + 광고 의존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대관 · 공연 · 전시 · F&amp;B 다변화 (광고 비의존)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사업성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 매출 75억 수준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연평균 매출 163억 / 세전이익 76억 (→ p.6)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공공성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59595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상업시설 위주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옥상 · 데크 시민 개방 / 공공 공연 · 전시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0" name="Shape 120"/>
          <p:cNvSpPr/>
          <p:nvPr/>
        </p:nvSpPr>
        <p:spPr>
          <a:xfrm>
            <a:off x="-7398650" y="7016877"/>
            <a:ext cx="6318000" cy="450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wrap="square" lIns="108000" tIns="18000" rIns="108000" bIns="18000" anchor="ctr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▶ 그러나  </a:t>
            </a:r>
            <a:r>
              <a:rPr lang="ko-KR" altLang="en-US" sz="9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단독 리모델링만으로는 한강 접근성 (교통) · 상시 유입이 부족하고, 운영기간도 무상 잔여 (’34년) 에 묶임 → 바로 옆 서울시 「반포 수상푸드존」 과 결합할 때 해결 가능 (→ p.2)</a:t>
            </a:r>
            <a:endParaRPr lang="ko-KR" sz="9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1" name="TextBox 121"/>
          <p:cNvSpPr txBox="1"/>
          <p:nvPr/>
        </p:nvSpPr>
        <p:spPr>
          <a:xfrm>
            <a:off x="-7452650" y="7892625"/>
            <a:ext cx="6426000" cy="162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보고 흐름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① 세빛섬 현황 → 투자 후 모습 (p.1)  ② 서울시 수상푸드존 – 모습 · 추구 방향 (p.2)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③ 세빛섬 + 푸드존 통합 공모 시 효과 (p.3)  ④ 추진 계획 – 사업계획안 · 운영기간 전략 · 사업성 (p.4 ~ 7)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⑤ 추진 방법 – 절차별 일정 · 당사 할 일 (p.8) / 선결 과제 · 리스크 · 즉시 착수 과제 (p.9)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0">
              <a:spcBef>
                <a:spcPts val="40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층별 투자 후 구성은 당사 구상 (안) 으로, 百 협업 MD 계획 · 설계 검토 후 확정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05BFD2A5-0C6F-3B63-B108-F7149227D4F0}"/>
              </a:ext>
            </a:extLst>
          </p:cNvPr>
          <p:cNvSpPr/>
          <p:nvPr/>
        </p:nvSpPr>
        <p:spPr>
          <a:xfrm>
            <a:off x="-1989650" y="3256775"/>
            <a:ext cx="291402" cy="288000"/>
          </a:xfrm>
          <a:prstGeom prst="downArrow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1200"/>
              </a:spcBef>
              <a:tabLst>
                <a:tab pos="227013" algn="l"/>
                <a:tab pos="1165225" algn="l"/>
              </a:tabLst>
            </a:pPr>
            <a:endParaRPr lang="ko-KR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960A8-66A7-D5D4-7317-DD32D7FBBF71}"/>
              </a:ext>
            </a:extLst>
          </p:cNvPr>
          <p:cNvSpPr txBox="1"/>
          <p:nvPr/>
        </p:nvSpPr>
        <p:spPr bwMode="auto">
          <a:xfrm>
            <a:off x="-7483369" y="4687953"/>
            <a:ext cx="7244860" cy="441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000" indent="-115200"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「2030 </a:t>
            </a:r>
            <a:r>
              <a:rPr lang="ko-KR" altLang="en-US" sz="1050" b="1" dirty="0" err="1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리버시티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서울」 (’24.4) : 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한강 수상공간 연 1,000만명 이용 / 총 5.5조 중 민간 3.1조 (57%)</a:t>
            </a:r>
            <a:endParaRPr lang="ko-KR" alt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</a:t>
            </a:r>
            <a:endParaRPr lang="ko-KR" altLang="en-US" dirty="0"/>
          </a:p>
        </p:txBody>
      </p:sp>
      <p:pic>
        <p:nvPicPr>
          <p:cNvPr id="6" name="위치도 128">
            <a:extLst>
              <a:ext uri="{FF2B5EF4-FFF2-40B4-BE49-F238E27FC236}">
                <a16:creationId xmlns:a16="http://schemas.microsoft.com/office/drawing/2014/main" id="{43D00AF3-EBBD-296C-A73E-5A3D1FABF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01" y="6520873"/>
            <a:ext cx="2880000" cy="1456315"/>
          </a:xfrm>
          <a:prstGeom prst="rect">
            <a:avLst/>
          </a:prstGeom>
        </p:spPr>
      </p:pic>
      <p:pic>
        <p:nvPicPr>
          <p:cNvPr id="8" name="조감도 129">
            <a:extLst>
              <a:ext uri="{FF2B5EF4-FFF2-40B4-BE49-F238E27FC236}">
                <a16:creationId xmlns:a16="http://schemas.microsoft.com/office/drawing/2014/main" id="{0953A951-E054-D743-A18D-487169F98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650" y="6512946"/>
            <a:ext cx="2880000" cy="1472168"/>
          </a:xfrm>
          <a:prstGeom prst="rect">
            <a:avLst/>
          </a:prstGeom>
        </p:spPr>
      </p:pic>
      <p:graphicFrame>
        <p:nvGraphicFramePr>
          <p:cNvPr id="10" name="표 130">
            <a:extLst>
              <a:ext uri="{FF2B5EF4-FFF2-40B4-BE49-F238E27FC236}">
                <a16:creationId xmlns:a16="http://schemas.microsoft.com/office/drawing/2014/main" id="{5EE72083-D120-7DCA-B794-4816CE20F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31614"/>
              </p:ext>
            </p:extLst>
          </p:nvPr>
        </p:nvGraphicFramePr>
        <p:xfrm>
          <a:off x="701078" y="8071461"/>
          <a:ext cx="5872522" cy="1769928"/>
        </p:xfrm>
        <a:graphic>
          <a:graphicData uri="http://schemas.openxmlformats.org/drawingml/2006/table">
            <a:tbl>
              <a:tblPr firstRow="1" bandRow="1"/>
              <a:tblGrid>
                <a:gridCol w="669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3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98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위치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반포 </a:t>
                      </a:r>
                      <a:r>
                        <a:rPr lang="ko-KR" altLang="en-US" sz="1100" dirty="0" err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달빛무지개분수</a:t>
                      </a:r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인근 / 세빛섬에서 약 450m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8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규모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2,797㎡ / 지상 2층 / 최대 2,400명 수용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98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1층 : 음식 판매 15개소 + 한강버스 복합선착장 (계류 10여 척) / 2층 : 카페 · 소공연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98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주변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 err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수변</a:t>
                      </a:r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산책로 함께 조성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98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사업비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300억원 수준 </a:t>
                      </a:r>
                      <a:r>
                        <a:rPr lang="en-US" altLang="ko-KR" sz="11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* </a:t>
                      </a:r>
                      <a:r>
                        <a:rPr lang="ko-KR" altLang="en-US" sz="850" b="1" kern="1200" dirty="0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부담 주체 미정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8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일정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설계 中 → ’26 말 착공 → ’28 말 준공 → ’29 초 개장</a:t>
                      </a:r>
                      <a:endParaRPr lang="ko-KR" sz="11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01"/>
          <p:cNvSpPr txBox="1"/>
          <p:nvPr/>
        </p:nvSpPr>
        <p:spPr>
          <a:xfrm>
            <a:off x="-7399763" y="914999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세빛섬 + 수상푸드존 통합 공모 추진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3419" y="650873"/>
            <a:ext cx="6686350" cy="2387367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1500"/>
              </a:spcBef>
            </a:pPr>
            <a:r>
              <a:rPr lang="ko-KR" altLang="en-US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■ 세빛섬 + </a:t>
            </a:r>
            <a:r>
              <a:rPr lang="ko-KR" altLang="en-US" dirty="0" err="1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수상푸드존</a:t>
            </a:r>
            <a:r>
              <a:rPr lang="ko-KR" altLang="en-US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 통합 공모 추진</a:t>
            </a:r>
            <a:endParaRPr lang="en-US" altLang="ko-KR" dirty="0">
              <a:solidFill>
                <a:srgbClr val="000000"/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통합 개발 시 효과 : 「유입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(한강버스 · 수상푸드존)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→ 체류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(세빛섬)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」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선순환</a:t>
            </a:r>
            <a:endParaRPr lang="en-US" altLang="ko-KR" sz="1400" b="1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r>
              <a:rPr lang="ko-KR" altLang="en-US" sz="14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</a:t>
            </a:r>
            <a:endParaRPr lang="en-US" altLang="ko-KR" sz="14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endParaRPr lang="en-US" altLang="ko-KR" sz="5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endParaRPr lang="en-US" altLang="ko-KR" sz="5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200"/>
              </a:spcBef>
            </a:pP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  • 한강버스로 접근성 개선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1200" dirty="0" err="1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푸드존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2030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유동인구 확보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세빛섬 고부가가치 창출 선순환</a:t>
            </a:r>
            <a:endParaRPr lang="en-US" altLang="ko-KR" sz="1200" b="1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20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  •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: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문화 · 프리미엄 F&amp;B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(체류)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1200" dirty="0" err="1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푸드존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: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캐주얼 F&amp;B · 버스킹 등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(유입)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시너지</a:t>
            </a: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500"/>
              </a:spcBef>
              <a:buNone/>
            </a:pP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공모 구조</a:t>
            </a:r>
            <a:endParaRPr lang="en-US" altLang="ko-KR" sz="1400" b="1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200"/>
              </a:spcBef>
            </a:pP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  • 민간제안 BTO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(민간투자법 적용)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: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소유권 市 귀속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당사 관리운영권 확보</a:t>
            </a:r>
            <a:endParaRPr lang="ko-KR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200"/>
              </a:spcBef>
            </a:pP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  • 총사업비 817억 (해지시지급금 300 + 리모델링 517)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~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870억 (푸드존 투자비 일부 부담 시)</a:t>
            </a: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200"/>
              </a:spcBef>
            </a:pP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  • 최소 30년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운영기간 확보 → 공공성 강화 · 투자비 최대 인정으로 50년 협상</a:t>
            </a:r>
            <a:endParaRPr lang="ko-KR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0"/>
              </a:spcBef>
              <a:buNone/>
            </a:pPr>
            <a:endParaRPr lang="en-US" alt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0"/>
              </a:spcBef>
              <a:buNone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     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 추진절차</a:t>
            </a:r>
            <a:endParaRPr lang="en-US" alt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</a:t>
            </a:r>
          </a:p>
          <a:p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• 해지시지급금 300억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 협약 해지 → 市 세빛섬 소유→ 공모 제안 → 통합 BTO 협약 </a:t>
            </a: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1000"/>
              </a:spcBef>
            </a:pP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    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→ 당사 세빛섬 리모델링 · 통합 운영</a:t>
            </a:r>
            <a:endParaRPr lang="en-US" altLang="ko-KR" sz="1200" dirty="0">
              <a:solidFill>
                <a:srgbClr val="262626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0"/>
              </a:spcBef>
              <a:buNone/>
            </a:pP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601783" y="1551111"/>
            <a:ext cx="1260000" cy="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500"/>
              </a:spcBef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유입 </a:t>
            </a:r>
            <a:r>
              <a:rPr lang="en-US" altLang="ko-KR" sz="10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</a:t>
            </a:r>
            <a:r>
              <a:rPr lang="ko-KR" altLang="en-US" sz="1000" b="1" dirty="0" err="1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수상푸드존</a:t>
            </a:r>
            <a:r>
              <a:rPr lang="en-US" altLang="ko-KR" sz="10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)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5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한강버스 · F&amp;B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1932677" y="1745695"/>
            <a:ext cx="144000" cy="162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100"/>
          </a:p>
        </p:txBody>
      </p:sp>
      <p:sp>
        <p:nvSpPr>
          <p:cNvPr id="105" name="Shape 105"/>
          <p:cNvSpPr/>
          <p:nvPr/>
        </p:nvSpPr>
        <p:spPr>
          <a:xfrm>
            <a:off x="2161015" y="1551111"/>
            <a:ext cx="1260000" cy="54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500"/>
              </a:spcBef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연결 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500"/>
              </a:spcBef>
              <a:buNone/>
            </a:pPr>
            <a:r>
              <a:rPr lang="ko-KR" altLang="en-US" sz="1100" dirty="0" err="1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수변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보행 450m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3495816" y="1745695"/>
            <a:ext cx="144000" cy="162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100"/>
          </a:p>
        </p:txBody>
      </p:sp>
      <p:sp>
        <p:nvSpPr>
          <p:cNvPr id="107" name="Shape 107"/>
          <p:cNvSpPr/>
          <p:nvPr/>
        </p:nvSpPr>
        <p:spPr>
          <a:xfrm>
            <a:off x="3720247" y="1551111"/>
            <a:ext cx="1260000" cy="5400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50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체류 </a:t>
            </a:r>
            <a:r>
              <a:rPr lang="en-US" altLang="ko-KR" sz="10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</a:t>
            </a:r>
            <a:r>
              <a:rPr lang="ko-KR" altLang="en-US" sz="10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</a:t>
            </a:r>
            <a:r>
              <a:rPr lang="en-US" altLang="ko-KR" sz="10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)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500"/>
              </a:spcBef>
              <a:buNone/>
            </a:pPr>
            <a:r>
              <a:rPr lang="ko-KR" altLang="en-US" sz="11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</a:t>
            </a:r>
            <a:r>
              <a:rPr lang="ko-KR" altLang="en-US" sz="1100" dirty="0" err="1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MICE·공연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5070678" y="1745695"/>
            <a:ext cx="144000" cy="162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100"/>
          </a:p>
        </p:txBody>
      </p:sp>
      <p:sp>
        <p:nvSpPr>
          <p:cNvPr id="109" name="Shape 109"/>
          <p:cNvSpPr/>
          <p:nvPr/>
        </p:nvSpPr>
        <p:spPr>
          <a:xfrm>
            <a:off x="5279478" y="1551111"/>
            <a:ext cx="1260000" cy="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재방문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5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통합 멤버십 · 축제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10" name="표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359379"/>
              </p:ext>
            </p:extLst>
          </p:nvPr>
        </p:nvGraphicFramePr>
        <p:xfrm>
          <a:off x="-6871932" y="1550664"/>
          <a:ext cx="4212000" cy="701999"/>
        </p:xfrm>
        <a:graphic>
          <a:graphicData uri="http://schemas.openxmlformats.org/drawingml/2006/table">
            <a:tbl>
              <a:tblPr firstRow="1" bandRow="1"/>
              <a:tblGrid>
                <a:gridCol w="210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 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·재정 없이 푸드존 운영 · 유지관리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·개장 초기부터 공실 · 비수기 해소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·「리버시티 서울」 반포 거점 완성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·상호 송객 → 체류시간 · 객단가 ↑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·관리 · 마케팅 고정비 통합 절감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6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·민투법 적용 → 운영기간 30년+</a:t>
                      </a:r>
                      <a:endParaRPr lang="ko-KR" sz="86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1" name="TextBox 111"/>
          <p:cNvSpPr txBox="1"/>
          <p:nvPr/>
        </p:nvSpPr>
        <p:spPr>
          <a:xfrm>
            <a:off x="-6721513" y="2954366"/>
            <a:ext cx="6426000" cy="18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108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개별 추진 시 세빛섬은 무상 잔여 (’34년), 푸드존은 단기 위탁 경쟁 → 통합 공모는 </a:t>
            </a:r>
            <a:r>
              <a:rPr lang="ko-KR" altLang="en-US" sz="850" b="1" dirty="0" err="1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세빛섬을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가진 당사만 제시 가능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-7576278" y="2810366"/>
            <a:ext cx="6426000" cy="288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어떻게 구상하나 – 사업 구조 / 연계 방향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13" name="표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960518"/>
              </p:ext>
            </p:extLst>
          </p:nvPr>
        </p:nvGraphicFramePr>
        <p:xfrm>
          <a:off x="-7100531" y="3368408"/>
          <a:ext cx="6318000" cy="1110624"/>
        </p:xfrm>
        <a:graphic>
          <a:graphicData uri="http://schemas.openxmlformats.org/drawingml/2006/table">
            <a:tbl>
              <a:tblPr firstRow="1" bandRow="1"/>
              <a:tblGrid>
                <a:gridCol w="1614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3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사업방식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민간제안 BTO (민간투자법) – 소유권 市 귀속 / 당사 주관 SPC 가 관리운영권 확보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74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사업구조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효성 → (해지시지급금 300억, 협약 해지) → 市 소유 → (BTO 실시협약) → 당사 SPC 리모델링 · 통합 운영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기본 817억 (해지시지급금 300 + 리모델링 517) / 확장 1,117억 (푸드존 조성비 300 분담 시)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운영기간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기본 30년 (’28.下 ~ ’58.上) 확보 → 공공성 패키지로 40년 협상 (→ p.3 벤치마킹)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사업성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 총수익 4,892억 / 세전이익 2,303억 / 연평균 매출 163억 / NPV 150억 (→ p.4 · 5)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4" name="표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491163"/>
              </p:ext>
            </p:extLst>
          </p:nvPr>
        </p:nvGraphicFramePr>
        <p:xfrm>
          <a:off x="-6871932" y="4837398"/>
          <a:ext cx="6318000" cy="990000"/>
        </p:xfrm>
        <a:graphic>
          <a:graphicData uri="http://schemas.openxmlformats.org/drawingml/2006/table">
            <a:tbl>
              <a:tblPr firstRow="1" bandRow="1"/>
              <a:tblGrid>
                <a:gridCol w="7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연계 방향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↔ 수상푸드존 구상 (당사 실행안)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공간 · 동선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·수변 보행데크 · 야간 경관조명 · 통합 사인 → 한강버스 하차 후 세빛섬 도보 10분 동선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프로그램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MICE · 공연 ↔ 푸드존 애프터 다이닝 패키지 / 달빛무지개분수 연계 「나이트 페스타」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MD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·百 바이어 맛집 큐레이션 + 푸드존 1/3 청년 · 소상공인 쿼터 (임대료 감면)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88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·통합 브랜드 · 멤버십 · 안전관리 센터 / 옥상 · 데크 시민 개방 / 초과수익 市 공유</a:t>
                      </a:r>
                      <a:endParaRPr lang="ko-KR" sz="88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" name="TextBox 115"/>
          <p:cNvSpPr txBox="1"/>
          <p:nvPr/>
        </p:nvSpPr>
        <p:spPr>
          <a:xfrm>
            <a:off x="-6461852" y="1712913"/>
            <a:ext cx="6426000" cy="1571801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언제 · 어떻게 끌고 가나 – 추진 절차 (민간제안 BTO)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16" name="표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562755"/>
              </p:ext>
            </p:extLst>
          </p:nvPr>
        </p:nvGraphicFramePr>
        <p:xfrm>
          <a:off x="661148" y="5574009"/>
          <a:ext cx="5889263" cy="3593569"/>
        </p:xfrm>
        <a:graphic>
          <a:graphicData uri="http://schemas.openxmlformats.org/drawingml/2006/table">
            <a:tbl>
              <a:tblPr firstRow="1" bandRow="1"/>
              <a:tblGrid>
                <a:gridCol w="655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984"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구분</a:t>
                      </a: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과제</a:t>
                      </a:r>
                      <a:endParaRPr lang="ko-KR" sz="1100" b="1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ysClr val="windowText" lastClr="0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방안</a:t>
                      </a:r>
                      <a:endParaRPr lang="ko-KR" sz="1100" b="1" dirty="0">
                        <a:solidFill>
                          <a:sysClr val="windowText" lastClr="000000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1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’26.4Q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공모 설계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·효성 해지시지급금 합의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 algn="l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공모 기준 협의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·광고사업 불가 근거로 300억 제시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민투법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적용 기준 협의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공공성 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10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1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’27.1Q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 제안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·통합사업 제안서 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·기본설계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공공성 방안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통합운영 방안 등 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1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’27.2Q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4Q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검토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심의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·적격성 검토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·민투심 · 市의회 동의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 해지시지급금 총사업비 인정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+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공공성 설명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→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+ </a:t>
                      </a:r>
                      <a:r>
                        <a:rPr lang="ko-KR" altLang="ko-KR" sz="1100" dirty="0"/>
                        <a:t>α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확보</a:t>
                      </a:r>
                      <a:endParaRPr lang="ko-KR" alt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1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’28.1Q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3Q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공고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협약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·제3자 제안공고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·우선협상 → 실시협약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 세빛섬 연계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MD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역량으로 경쟁 우위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 市 협상조건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사업계획 확정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11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’28.下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’29.初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착공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개장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리모델링 착공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푸드존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준공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500"/>
                        </a:spcBef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·百 협업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테넌트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유치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통합 그랜드 오픈</a:t>
                      </a:r>
                      <a:endParaRPr lang="ko-KR" sz="1100" dirty="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7" name="TextBox 117"/>
          <p:cNvSpPr txBox="1"/>
          <p:nvPr/>
        </p:nvSpPr>
        <p:spPr>
          <a:xfrm>
            <a:off x="514992" y="9280187"/>
            <a:ext cx="5961647" cy="149136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342000" marR="0" lvl="0" indent="-115200" algn="l" defTabSz="914317" rtl="0" eaLnBrk="1" fontAlgn="auto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시장 재판 일정 (’27.1~4월 직위 변동 가능) 고려 → ’26년 내 사전협의 완료 · ’27.1Q 제안서 접수 로 행정절차 선점</a:t>
            </a:r>
          </a:p>
          <a:p>
            <a:pPr marL="342000" marR="0" lvl="0" indent="-115200" algn="l" defTabSz="914317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부시장 대행 · 보궐선거 시에도 유지되도록 사업 명분 확보</a:t>
            </a:r>
          </a:p>
          <a:p>
            <a:pPr marL="108000" indent="0">
              <a:spcBef>
                <a:spcPts val="0"/>
              </a:spcBef>
              <a:buNone/>
            </a:pP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8" name="TextBox 118"/>
          <p:cNvSpPr txBox="1"/>
          <p:nvPr/>
        </p:nvSpPr>
        <p:spPr>
          <a:xfrm>
            <a:off x="-7100531" y="7167227"/>
            <a:ext cx="6426000" cy="936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추진 경로 – 3-Track 병행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A (우선) 민간제안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당사 통합안 先 제안 → 최초 제안자 우대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B 대상지 공모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 공모 시 당사 공공성 · 통합 운영 조건을 공모 요건에 반영 유도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C 사용권 입찰 (임대 안)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민투 불인정 시 공개경쟁입찰 참여 (사용료 연 52억 이내)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9" name="Shape 119"/>
          <p:cNvSpPr/>
          <p:nvPr/>
        </p:nvSpPr>
        <p:spPr>
          <a:xfrm>
            <a:off x="-7100531" y="765334"/>
            <a:ext cx="6318000" cy="486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wrap="square" lIns="108000" tIns="18000" rIns="108000" bIns="18000" anchor="ctr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▶ 당사 추진 원칙  </a:t>
            </a:r>
            <a:r>
              <a:rPr lang="ko-KR" altLang="en-US" sz="9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市 정책에 맞춘 「공공성 先 설계」  ② 투자비 최대 인정 → 운영기간 극대화  ③ 효성 · 市 · 당사 3자 협상을 당사가 주도  ④ 불확실성은 Plan B (임대 안) 로 하방 관리</a:t>
            </a:r>
            <a:endParaRPr lang="ko-KR" sz="9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A9604-754B-2A3F-FAC3-57CFFF5749A1}"/>
              </a:ext>
            </a:extLst>
          </p:cNvPr>
          <p:cNvSpPr txBox="1"/>
          <p:nvPr/>
        </p:nvSpPr>
        <p:spPr bwMode="auto">
          <a:xfrm>
            <a:off x="-7320836" y="6633135"/>
            <a:ext cx="721580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2BB4003-53F7-A2F6-3531-58DD45665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86799"/>
              </p:ext>
            </p:extLst>
          </p:nvPr>
        </p:nvGraphicFramePr>
        <p:xfrm>
          <a:off x="-7100531" y="7635227"/>
          <a:ext cx="6318000" cy="3622200"/>
        </p:xfrm>
        <a:graphic>
          <a:graphicData uri="http://schemas.openxmlformats.org/drawingml/2006/table">
            <a:tbl>
              <a:tblPr firstRow="1" bandRow="1"/>
              <a:tblGrid>
                <a:gridCol w="702000">
                  <a:extLst>
                    <a:ext uri="{9D8B030D-6E8A-4147-A177-3AD203B41FA5}">
                      <a16:colId xmlns:a16="http://schemas.microsoft.com/office/drawing/2014/main" val="2755226071"/>
                    </a:ext>
                  </a:extLst>
                </a:gridCol>
                <a:gridCol w="666000">
                  <a:extLst>
                    <a:ext uri="{9D8B030D-6E8A-4147-A177-3AD203B41FA5}">
                      <a16:colId xmlns:a16="http://schemas.microsoft.com/office/drawing/2014/main" val="1187472329"/>
                    </a:ext>
                  </a:extLst>
                </a:gridCol>
                <a:gridCol w="1854000">
                  <a:extLst>
                    <a:ext uri="{9D8B030D-6E8A-4147-A177-3AD203B41FA5}">
                      <a16:colId xmlns:a16="http://schemas.microsoft.com/office/drawing/2014/main" val="1140946576"/>
                    </a:ext>
                  </a:extLst>
                </a:gridCol>
                <a:gridCol w="3096000">
                  <a:extLst>
                    <a:ext uri="{9D8B030D-6E8A-4147-A177-3AD203B41FA5}">
                      <a16:colId xmlns:a16="http://schemas.microsoft.com/office/drawing/2014/main" val="3084869679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주요 내용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할 일 / 준비사항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060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① 사전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’26.10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12월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</a:t>
                      </a:r>
                      <a:r>
                        <a:rPr lang="ko-KR" altLang="en-US" sz="950" dirty="0" err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미래한강본부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사전 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·효성 해지시지급금 협상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·사업구상서 (본 보고서) · 市 정책 부합 논리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·해지시지급금 300억 근거 (외부 가치평가) / 투자심의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· 효성 · 당사 3자 MOU (안) 준비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815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② 제안서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제출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’27.1Q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·민간투자법 제9조 민간제안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제안서 접수 · 형식요건 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·제안서 : 기본설계 · 재무모델 · 운영 / MD 계획 · 공공성 계획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·SPC 컨소시엄 MOU (百 · F&amp;B · FI · 시공사)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·회계 · 법률 · 설계 자문사 선정 (제안비용 예산화)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127198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③ 제안서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’27.2Q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3Q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·전문기관 적격성 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(수요 · VfM · 재무 타당성)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민투 대상사업 채택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·수요추정 근거 : 세빛섬 실적 + 한강버스 이용 수요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·VfM 대응 : 재정사업 대비 비용 절감 논리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·보완 요청 신속 대응 TF 운영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28135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④ 심의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동의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’27.4Q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민간투자심의위원회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·市의회 동의 (필요 시)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·공공성 패키지 설명자료 / 의회 상임위 설명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·언론 · 여론 대응 (특혜 시비 사전 차단)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90131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⑤ 제3자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’28.1Q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(90일 내외)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·제안내용 공고 · 경쟁 제안 접수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·평가 → 우선협상대상자 지정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·최초 제안자 우대 가점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·경쟁사 대비 차별화 : 세빛섬 연계 · 百 MD 역량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·가격 · 공공성 보강 제안 (경쟁 대비 시나리오)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·컨소시엄 지분 · 역할 확정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1023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⑥ 협상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실시협약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’28.2Q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3Q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·총사업비 · 운영기간 · 사용료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·위험분담 · 해지시지급금 조건 확정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·운영기간 30년+ / 해지시지급금 총사업비 반영 관철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·협상 TF (전략 · 재무 · 법무) / 이사회 승인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59424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⑦ 착공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’28.下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’29.初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·리모델링 </a:t>
                      </a: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950" dirty="0" err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푸드존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착공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 준공 (’28 말) · 개장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百 협업 </a:t>
                      </a:r>
                      <a:r>
                        <a:rPr lang="ko-KR" altLang="en-US" sz="950" dirty="0" err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테넌트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유치 </a:t>
                      </a:r>
                      <a:endParaRPr lang="en-US" altLang="ko-KR" sz="950" dirty="0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 통합 브랜드 런칭 </a:t>
                      </a:r>
                      <a:r>
                        <a:rPr lang="en-US" altLang="ko-KR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그랜드 오픈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734403"/>
                  </a:ext>
                </a:extLst>
              </a:tr>
            </a:tbl>
          </a:graphicData>
        </a:graphic>
      </p:graphicFrame>
      <p:graphicFrame>
        <p:nvGraphicFramePr>
          <p:cNvPr id="5" name="표 209">
            <a:extLst>
              <a:ext uri="{FF2B5EF4-FFF2-40B4-BE49-F238E27FC236}">
                <a16:creationId xmlns:a16="http://schemas.microsoft.com/office/drawing/2014/main" id="{7B3F586A-5BA6-C1A9-FCA5-2E7EB3592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214074"/>
              </p:ext>
            </p:extLst>
          </p:nvPr>
        </p:nvGraphicFramePr>
        <p:xfrm>
          <a:off x="-6717443" y="5661558"/>
          <a:ext cx="6318000" cy="2039940"/>
        </p:xfrm>
        <a:graphic>
          <a:graphicData uri="http://schemas.openxmlformats.org/drawingml/2006/table">
            <a:tbl>
              <a:tblPr firstRow="1" bandRow="1"/>
              <a:tblGrid>
                <a:gridCol w="10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 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방식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인정받은 공공성 요소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(’14)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BOT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1,413억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(무상20+유상10)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·한강 수상 랜드마크 / 준공 후 市 기부채납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서울아레나 (’27)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3,309억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·동북권 문화 거점 / K-POP 전문공연장 · 지역 상권 활성화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서울링 (추진)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약 4,000억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·관광 랜드마크 / 재정 無 · 민투심 「민자 적정」 (’23.9)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 (’32)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2조 6,955억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·건설 · 운영 보조금 無 전액 민간 / 수익 일부 市 기금 환원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(안)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817억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(최대 1,117억)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 확보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40년 목표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·재정 無 + 초과수익 공유 + 시민 개방 + 청년 창업 쿼터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표 213">
            <a:extLst>
              <a:ext uri="{FF2B5EF4-FFF2-40B4-BE49-F238E27FC236}">
                <a16:creationId xmlns:a16="http://schemas.microsoft.com/office/drawing/2014/main" id="{B4759BF1-830C-91FB-3D30-AA24941D86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24797"/>
              </p:ext>
            </p:extLst>
          </p:nvPr>
        </p:nvGraphicFramePr>
        <p:xfrm>
          <a:off x="-6717443" y="10251558"/>
          <a:ext cx="6318000" cy="1339200"/>
        </p:xfrm>
        <a:graphic>
          <a:graphicData uri="http://schemas.openxmlformats.org/drawingml/2006/table">
            <a:tbl>
              <a:tblPr firstRow="1" bandRow="1"/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공공성 요소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세부 내용 (안)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벤치마킹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재정 부담 無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·리모델링 · 운영 전액 민간 부담, 최소수입보장 (MRG) 요구 無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 · 서울링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 공유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·사업계획 대비 초과수익 일정비율 市 환원 (한강 수상활성화 재원)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시민 개방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데크 · 전망공간 상시 무료 개방 / 공공 공연 · 전시 정례화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서울아레나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상생 · 일자리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·푸드존 1/3 청년 · 소상공인 쿼터, 임대료 감면 / 지역 고용 우선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푸드존 취지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안전 · 관리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+ 푸드존 + 선착장 통합 안전관리 (수난 · 부유체 · 계류)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운영 경험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117">
            <a:extLst>
              <a:ext uri="{FF2B5EF4-FFF2-40B4-BE49-F238E27FC236}">
                <a16:creationId xmlns:a16="http://schemas.microsoft.com/office/drawing/2014/main" id="{9CD60DFB-78D4-0A0A-53D0-A0FF3DF79CB5}"/>
              </a:ext>
            </a:extLst>
          </p:cNvPr>
          <p:cNvSpPr txBox="1"/>
          <p:nvPr/>
        </p:nvSpPr>
        <p:spPr>
          <a:xfrm>
            <a:off x="505264" y="4362421"/>
            <a:ext cx="5961647" cy="149136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342000" marR="0" lvl="0" indent="-115200" algn="l" defTabSz="914317" rtl="0" eaLnBrk="1" fontAlgn="auto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</a:t>
            </a:r>
            <a:r>
              <a:rPr lang="ko-KR" altLang="en-US" sz="850" b="1" dirty="0" err="1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서울링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: 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총사업비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4,000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→ 무상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30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년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 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잠실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MICE : 2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조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6,000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→ 무상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40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년으로 투자비 </a:t>
            </a:r>
            <a:r>
              <a:rPr lang="en-US" altLang="ko-KR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+ </a:t>
            </a: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공공성 요소 인정 필수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52779-5A42-0295-0337-FAC479221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3921B9A-19C8-D696-F241-593DD1C2DD61}"/>
              </a:ext>
            </a:extLst>
          </p:cNvPr>
          <p:cNvSpPr/>
          <p:nvPr/>
        </p:nvSpPr>
        <p:spPr>
          <a:xfrm>
            <a:off x="55452" y="572877"/>
            <a:ext cx="7029396" cy="123444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사업성 분석</a:t>
            </a: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15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 50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</a:t>
            </a:r>
            <a:r>
              <a:rPr lang="ko-KR" altLang="en-US" sz="14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운영시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투자금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817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NPV 272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억으로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30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대비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NPV 122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증가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200"/>
              </a:spcBef>
              <a:tabLst>
                <a:tab pos="227013" algn="l"/>
                <a:tab pos="1165225" algn="l"/>
                <a:tab pos="4935538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투자금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817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=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효성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300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리모델링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517 / NPV 272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=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사업가치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PV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1,089 – </a:t>
            </a:r>
            <a:r>
              <a:rPr lang="ko-KR" altLang="en-US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투자금 </a:t>
            </a:r>
            <a:r>
              <a:rPr lang="en-US" altLang="ko-KR" sz="12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817       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3CC2489D-13F2-E5FA-EFF4-78DDCD4260FE}"/>
              </a:ext>
            </a:extLst>
          </p:cNvPr>
          <p:cNvSpPr/>
          <p:nvPr/>
        </p:nvSpPr>
        <p:spPr>
          <a:xfrm>
            <a:off x="8593895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build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건설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5E5FB164-B4D9-1131-8C29-AC9BF6E7167D}"/>
              </a:ext>
            </a:extLst>
          </p:cNvPr>
          <p:cNvSpPr/>
          <p:nvPr/>
        </p:nvSpPr>
        <p:spPr>
          <a:xfrm>
            <a:off x="10162980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operate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운영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12804EB5-3C60-0D70-DD02-315FCB4BA373}"/>
              </a:ext>
            </a:extLst>
          </p:cNvPr>
          <p:cNvSpPr/>
          <p:nvPr/>
        </p:nvSpPr>
        <p:spPr>
          <a:xfrm>
            <a:off x="11732065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transfer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이전</a:t>
            </a:r>
          </a:p>
        </p:txBody>
      </p:sp>
      <p:sp>
        <p:nvSpPr>
          <p:cNvPr id="77" name="Arrow 200">
            <a:extLst>
              <a:ext uri="{FF2B5EF4-FFF2-40B4-BE49-F238E27FC236}">
                <a16:creationId xmlns:a16="http://schemas.microsoft.com/office/drawing/2014/main" id="{7E29C8C2-EDC8-711F-DC6A-8CF517F46C4E}"/>
              </a:ext>
            </a:extLst>
          </p:cNvPr>
          <p:cNvSpPr/>
          <p:nvPr/>
        </p:nvSpPr>
        <p:spPr>
          <a:xfrm>
            <a:off x="9929190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Arrow 201">
            <a:extLst>
              <a:ext uri="{FF2B5EF4-FFF2-40B4-BE49-F238E27FC236}">
                <a16:creationId xmlns:a16="http://schemas.microsoft.com/office/drawing/2014/main" id="{363265F5-9768-37AB-2306-93705376E45C}"/>
              </a:ext>
            </a:extLst>
          </p:cNvPr>
          <p:cNvSpPr/>
          <p:nvPr/>
        </p:nvSpPr>
        <p:spPr>
          <a:xfrm>
            <a:off x="11523674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BOTDesc 202">
            <a:extLst>
              <a:ext uri="{FF2B5EF4-FFF2-40B4-BE49-F238E27FC236}">
                <a16:creationId xmlns:a16="http://schemas.microsoft.com/office/drawing/2014/main" id="{57328C9F-5B2B-FBFD-48A3-8754F9B4C7BD}"/>
              </a:ext>
            </a:extLst>
          </p:cNvPr>
          <p:cNvSpPr txBox="1"/>
          <p:nvPr/>
        </p:nvSpPr>
        <p:spPr>
          <a:xfrm>
            <a:off x="853070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민간 자본 건설</a:t>
            </a:r>
          </a:p>
        </p:txBody>
      </p:sp>
      <p:sp>
        <p:nvSpPr>
          <p:cNvPr id="83" name="BOTDesc 203">
            <a:extLst>
              <a:ext uri="{FF2B5EF4-FFF2-40B4-BE49-F238E27FC236}">
                <a16:creationId xmlns:a16="http://schemas.microsoft.com/office/drawing/2014/main" id="{F5DB59BD-924D-762C-4C1E-15849436337E}"/>
              </a:ext>
            </a:extLst>
          </p:cNvPr>
          <p:cNvSpPr txBox="1"/>
          <p:nvPr/>
        </p:nvSpPr>
        <p:spPr>
          <a:xfrm>
            <a:off x="10125194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운영·투자비 회수</a:t>
            </a:r>
          </a:p>
        </p:txBody>
      </p:sp>
      <p:sp>
        <p:nvSpPr>
          <p:cNvPr id="85" name="BOTDesc 204">
            <a:extLst>
              <a:ext uri="{FF2B5EF4-FFF2-40B4-BE49-F238E27FC236}">
                <a16:creationId xmlns:a16="http://schemas.microsoft.com/office/drawing/2014/main" id="{5D9D2D2F-D71B-70F5-8B4E-A7B3AC52EB0A}"/>
              </a:ext>
            </a:extLst>
          </p:cNvPr>
          <p:cNvSpPr txBox="1"/>
          <p:nvPr/>
        </p:nvSpPr>
        <p:spPr>
          <a:xfrm>
            <a:off x="1166252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소유권 국가 이전</a:t>
            </a:r>
          </a:p>
        </p:txBody>
      </p:sp>
      <p:sp>
        <p:nvSpPr>
          <p:cNvPr id="87" name="Rounded Rectangle 300">
            <a:extLst>
              <a:ext uri="{FF2B5EF4-FFF2-40B4-BE49-F238E27FC236}">
                <a16:creationId xmlns:a16="http://schemas.microsoft.com/office/drawing/2014/main" id="{69CBCECB-36E2-F91C-A465-4CAFAB927491}"/>
              </a:ext>
            </a:extLst>
          </p:cNvPr>
          <p:cNvSpPr/>
          <p:nvPr/>
        </p:nvSpPr>
        <p:spPr>
          <a:xfrm>
            <a:off x="13301150" y="1552988"/>
            <a:ext cx="1263715" cy="8925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RE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operate</a:t>
            </a:r>
          </a:p>
          <a:p>
            <a:pPr algn="ctr"/>
            <a:r>
              <a:rPr lang="ko-KR" altLang="en-US" sz="1200" err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재공모</a:t>
            </a:r>
            <a:endParaRPr lang="ko-KR" altLang="en-US" sz="120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9" name="BOTDesc 301">
            <a:extLst>
              <a:ext uri="{FF2B5EF4-FFF2-40B4-BE49-F238E27FC236}">
                <a16:creationId xmlns:a16="http://schemas.microsoft.com/office/drawing/2014/main" id="{D6ED3465-42FF-BAA1-B319-9E3579C0C4E1}"/>
              </a:ext>
            </a:extLst>
          </p:cNvPr>
          <p:cNvSpPr txBox="1"/>
          <p:nvPr/>
        </p:nvSpPr>
        <p:spPr>
          <a:xfrm>
            <a:off x="1324748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공개입찰 재선정</a:t>
            </a:r>
          </a:p>
        </p:txBody>
      </p:sp>
      <p:sp>
        <p:nvSpPr>
          <p:cNvPr id="91" name="Arrow 302">
            <a:extLst>
              <a:ext uri="{FF2B5EF4-FFF2-40B4-BE49-F238E27FC236}">
                <a16:creationId xmlns:a16="http://schemas.microsoft.com/office/drawing/2014/main" id="{5F1F1513-1A2C-2836-57B6-48435E1F631A}"/>
              </a:ext>
            </a:extLst>
          </p:cNvPr>
          <p:cNvSpPr/>
          <p:nvPr/>
        </p:nvSpPr>
        <p:spPr>
          <a:xfrm>
            <a:off x="13108635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4FD93490-88B4-A1AB-D0DB-5A1ABD003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18765" y="7089261"/>
            <a:ext cx="63819" cy="9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9A82B-4607-B934-CBDA-938C10F37784}"/>
              </a:ext>
            </a:extLst>
          </p:cNvPr>
          <p:cNvSpPr txBox="1"/>
          <p:nvPr/>
        </p:nvSpPr>
        <p:spPr bwMode="auto">
          <a:xfrm>
            <a:off x="7918567" y="3962520"/>
            <a:ext cx="7331148" cy="2387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4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서울시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–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협의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해지시지급금 지급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후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협약 해지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→ 市로 세빛섬 소유권 이전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,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u="sng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공개경쟁입찰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로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400" dirty="0" err="1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세빛섬의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신규 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사용자 모집 →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당사 입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찰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참여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시설운영권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확보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※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입찰 전 협의사항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27013" algn="l"/>
                <a:tab pos="1165225" algn="l"/>
              </a:tabLst>
            </a:pP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사용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료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: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최대 연간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52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수준 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서울시 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협의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로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확정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</a:p>
        </p:txBody>
      </p:sp>
      <p:graphicFrame>
        <p:nvGraphicFramePr>
          <p:cNvPr id="9" name="SummaryMerged">
            <a:extLst>
              <a:ext uri="{FF2B5EF4-FFF2-40B4-BE49-F238E27FC236}">
                <a16:creationId xmlns:a16="http://schemas.microsoft.com/office/drawing/2014/main" id="{CDEA8080-7C4A-8D98-0FED-858C2BCCA432}"/>
              </a:ext>
            </a:extLst>
          </p:cNvPr>
          <p:cNvGraphicFramePr>
            <a:graphicFrameLocks noGrp="1"/>
          </p:cNvGraphicFramePr>
          <p:nvPr/>
        </p:nvGraphicFramePr>
        <p:xfrm>
          <a:off x="7636009" y="6883907"/>
          <a:ext cx="6066693" cy="1694835"/>
        </p:xfrm>
        <a:graphic>
          <a:graphicData uri="http://schemas.openxmlformats.org/drawingml/2006/table">
            <a:tbl>
              <a:tblPr/>
              <a:tblGrid>
                <a:gridCol w="2022231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3187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ea typeface="신세계 민부리 Light"/>
                        </a:rPr>
                        <a:t>구 분</a:t>
                      </a: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latin typeface="신세계 민부리 Light"/>
                          <a:ea typeface="신세계 민부리 Light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latin typeface="신세계 민부리 Light"/>
                          <a:ea typeface="신세계 민부리 Light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소유권 이전 방식</a:t>
                      </a:r>
                      <a:endParaRPr lang="en-US" altLang="ko-KR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사용권 부여 방식</a:t>
                      </a: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기존 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SH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 부채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자본잠식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지체상금 등 사업성 까먹는 요인들 </a:t>
                      </a:r>
                      <a:r>
                        <a:rPr lang="ko-KR" altLang="en-US" sz="1200" b="1" err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안끌고와도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된다</a:t>
                      </a: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graphicFrame>
        <p:nvGraphicFramePr>
          <p:cNvPr id="6" name="SummaryMerged">
            <a:extLst>
              <a:ext uri="{FF2B5EF4-FFF2-40B4-BE49-F238E27FC236}">
                <a16:creationId xmlns:a16="http://schemas.microsoft.com/office/drawing/2014/main" id="{071EFC86-5CFF-F2DE-90FA-2A4CAFB7FF73}"/>
              </a:ext>
            </a:extLst>
          </p:cNvPr>
          <p:cNvGraphicFramePr>
            <a:graphicFrameLocks noGrp="1"/>
          </p:cNvGraphicFramePr>
          <p:nvPr/>
        </p:nvGraphicFramePr>
        <p:xfrm>
          <a:off x="8593895" y="5967118"/>
          <a:ext cx="5706574" cy="1300024"/>
        </p:xfrm>
        <a:graphic>
          <a:graphicData uri="http://schemas.openxmlformats.org/drawingml/2006/table">
            <a:tbl>
              <a:tblPr/>
              <a:tblGrid>
                <a:gridCol w="1662112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249274">
                <a:tc>
                  <a:txBody>
                    <a:bodyPr/>
                    <a:lstStyle/>
                    <a:p>
                      <a:pPr algn="ctr"/>
                      <a:endParaRPr lang="ko-KR" altLang="en-US" sz="1100" b="1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473854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안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高</a:t>
                      </a:r>
                      <a:endParaRPr lang="en-US" altLang="ko-KR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근저당권 설정 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공간 구성 등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高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5768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변경 안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低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低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리스 부채 가능성 有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sp>
        <p:nvSpPr>
          <p:cNvPr id="13" name="NoteBlock">
            <a:extLst>
              <a:ext uri="{FF2B5EF4-FFF2-40B4-BE49-F238E27FC236}">
                <a16:creationId xmlns:a16="http://schemas.microsoft.com/office/drawing/2014/main" id="{DB97F9D5-EA76-9787-3EA5-E2130AC59ACD}"/>
              </a:ext>
            </a:extLst>
          </p:cNvPr>
          <p:cNvSpPr txBox="1"/>
          <p:nvPr/>
        </p:nvSpPr>
        <p:spPr>
          <a:xfrm>
            <a:off x="9484470" y="1131232"/>
            <a:ext cx="3568146" cy="185708"/>
          </a:xfrm>
          <a:prstGeom prst="rect">
            <a:avLst/>
          </a:prstGeom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190A3-B7D7-73D3-333E-193F2060F359}"/>
              </a:ext>
            </a:extLst>
          </p:cNvPr>
          <p:cNvSpPr txBox="1"/>
          <p:nvPr/>
        </p:nvSpPr>
        <p:spPr bwMode="auto">
          <a:xfrm>
            <a:off x="9155681" y="958593"/>
            <a:ext cx="257175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＊ 리모델링 투자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520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억 집행 후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DED82-8087-A49B-F449-492E7149CF47}"/>
              </a:ext>
            </a:extLst>
          </p:cNvPr>
          <p:cNvSpPr txBox="1"/>
          <p:nvPr/>
        </p:nvSpPr>
        <p:spPr bwMode="auto">
          <a:xfrm>
            <a:off x="8143488" y="9112296"/>
            <a:ext cx="216452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해지시지급금 수준</a:t>
            </a:r>
            <a:endParaRPr lang="ko-KR" altLang="en-US" sz="8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5D179CE-F706-E711-FF98-BEF8B67C8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615338"/>
              </p:ext>
            </p:extLst>
          </p:nvPr>
        </p:nvGraphicFramePr>
        <p:xfrm>
          <a:off x="8357245" y="2156122"/>
          <a:ext cx="5822596" cy="3369600"/>
        </p:xfrm>
        <a:graphic>
          <a:graphicData uri="http://schemas.openxmlformats.org/drawingml/2006/table">
            <a:tbl>
              <a:tblPr/>
              <a:tblGrid>
                <a:gridCol w="801517">
                  <a:extLst>
                    <a:ext uri="{9D8B030D-6E8A-4147-A177-3AD203B41FA5}">
                      <a16:colId xmlns:a16="http://schemas.microsoft.com/office/drawing/2014/main" val="482799065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4256685836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2556338141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291142938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811841804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697984603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2306787904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331343771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. 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下</a:t>
                      </a:r>
                      <a:endParaRPr 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58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. 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上</a:t>
                      </a:r>
                      <a:endParaRPr 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442426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4,892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5469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4,726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977895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647932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비용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2,589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09056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2,519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24682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5182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세전이익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406707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2,207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777675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021342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현재가치</a:t>
                      </a:r>
                      <a:r>
                        <a:rPr lang="en-US" alt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1000" b="1" i="1" u="none" strike="noStrike" baseline="30000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1)</a:t>
                      </a:r>
                      <a:endParaRPr lang="en-US" sz="1000" b="1" i="1" u="none" strike="noStrike" baseline="30000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(15)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967</a:t>
                      </a:r>
                      <a:endParaRPr lang="ko-KR" sz="1000" b="1" i="1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5973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(15)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940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64875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선착장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644813"/>
                  </a:ext>
                </a:extLst>
              </a:tr>
            </a:tbl>
          </a:graphicData>
        </a:graphic>
      </p:graphicFrame>
      <p:graphicFrame>
        <p:nvGraphicFramePr>
          <p:cNvPr id="12" name="SummaryMerged">
            <a:extLst>
              <a:ext uri="{FF2B5EF4-FFF2-40B4-BE49-F238E27FC236}">
                <a16:creationId xmlns:a16="http://schemas.microsoft.com/office/drawing/2014/main" id="{C05A260C-0FB6-C434-EF10-479787A1F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734253"/>
              </p:ext>
            </p:extLst>
          </p:nvPr>
        </p:nvGraphicFramePr>
        <p:xfrm>
          <a:off x="469970" y="5047488"/>
          <a:ext cx="6070180" cy="914400"/>
        </p:xfrm>
        <a:graphic>
          <a:graphicData uri="http://schemas.openxmlformats.org/drawingml/2006/table">
            <a:tbl>
              <a:tblPr/>
              <a:tblGrid>
                <a:gridCol w="1084464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492858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492858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안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高</a:t>
                      </a:r>
                      <a:endParaRPr lang="en-US" altLang="ko-KR" sz="10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근저당권 설정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공간 구성 등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高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변경 안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低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低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리스부채 가능성 有</a:t>
                      </a:r>
                      <a:endParaRPr lang="en-US" altLang="ko-KR" sz="10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9D1D318-BEEA-875F-04AF-A4D59D25D286}"/>
              </a:ext>
            </a:extLst>
          </p:cNvPr>
          <p:cNvSpPr txBox="1"/>
          <p:nvPr/>
        </p:nvSpPr>
        <p:spPr bwMode="auto">
          <a:xfrm>
            <a:off x="8425875" y="3321538"/>
            <a:ext cx="76367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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기존 안 대비 </a:t>
            </a:r>
            <a:r>
              <a:rPr lang="ko-KR" altLang="en-US" sz="14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손상차손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배임 이슈 리스크 低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8DE0FAF-9798-C3B5-EBE7-E7ED93D6D41D}"/>
              </a:ext>
            </a:extLst>
          </p:cNvPr>
          <p:cNvSpPr/>
          <p:nvPr/>
        </p:nvSpPr>
        <p:spPr>
          <a:xfrm>
            <a:off x="-3412276" y="1441388"/>
            <a:ext cx="511910" cy="223200"/>
          </a:xfrm>
          <a:prstGeom prst="ellipse">
            <a:avLst/>
          </a:prstGeom>
          <a:ln w="19050">
            <a:solidFill>
              <a:srgbClr val="C00000"/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1200"/>
              </a:spcBef>
              <a:tabLst>
                <a:tab pos="227013" algn="l"/>
                <a:tab pos="1165225" algn="l"/>
              </a:tabLst>
            </a:pPr>
            <a:endParaRPr lang="ko-KR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 pitchFamily="2" charset="2"/>
            </a:endParaRPr>
          </a:p>
        </p:txBody>
      </p:sp>
      <p:sp>
        <p:nvSpPr>
          <p:cNvPr id="301" name="TextBox 301"/>
          <p:cNvSpPr txBox="1"/>
          <p:nvPr/>
        </p:nvSpPr>
        <p:spPr>
          <a:xfrm>
            <a:off x="-6280735" y="3962519"/>
            <a:ext cx="4887575" cy="318535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4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운영기간별 사업성 비교 (30년 vs 50년)</a:t>
            </a:r>
            <a:endParaRPr lang="ko-KR" sz="14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302" name="표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227456"/>
              </p:ext>
            </p:extLst>
          </p:nvPr>
        </p:nvGraphicFramePr>
        <p:xfrm>
          <a:off x="692150" y="1826286"/>
          <a:ext cx="5814000" cy="2139696"/>
        </p:xfrm>
        <a:graphic>
          <a:graphicData uri="http://schemas.openxmlformats.org/drawingml/2006/table">
            <a:tbl>
              <a:tblPr firstRow="1" bandRow="1"/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 (’2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’5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50년 (’2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~ ’7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차이 (50 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y</a:t>
                      </a: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– 30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y</a:t>
                      </a: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)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 투자비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817억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817</a:t>
                      </a:r>
                      <a:r>
                        <a:rPr lang="ko-KR" altLang="en-US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dirty="0"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-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누적  </a:t>
                      </a:r>
                      <a:r>
                        <a:rPr lang="en-US" altLang="ko-KR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</a:t>
                      </a:r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연평균 매출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4,892억 </a:t>
                      </a:r>
                      <a:r>
                        <a:rPr lang="en-US" altLang="ko-KR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163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9,768</a:t>
                      </a:r>
                      <a:r>
                        <a:rPr lang="ko-KR" altLang="en-US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4,876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</a:t>
                      </a:r>
                      <a:r>
                        <a:rPr lang="en-US" altLang="ko-KR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195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누적 </a:t>
                      </a:r>
                      <a:r>
                        <a:rPr lang="en-US" altLang="ko-KR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연평균 이익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2,303억 </a:t>
                      </a:r>
                      <a:r>
                        <a:rPr lang="en-US" altLang="ko-KR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76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5,191</a:t>
                      </a:r>
                      <a:r>
                        <a:rPr lang="ko-KR" altLang="en-US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2,888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 </a:t>
                      </a:r>
                      <a:r>
                        <a:rPr lang="en-US" altLang="ko-KR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/ 103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사업가치 (PV)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967억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1,089</a:t>
                      </a:r>
                      <a:r>
                        <a:rPr lang="ko-KR" altLang="en-US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122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NPV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150억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272</a:t>
                      </a:r>
                      <a:r>
                        <a:rPr lang="ko-KR" altLang="en-US" sz="100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ko-KR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122</a:t>
                      </a:r>
                      <a:r>
                        <a:rPr lang="ko-KR" altLang="en-US" sz="10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억</a:t>
                      </a:r>
                      <a:endParaRPr lang="ko-KR" sz="10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TextBox 303"/>
          <p:cNvSpPr txBox="1"/>
          <p:nvPr/>
        </p:nvSpPr>
        <p:spPr>
          <a:xfrm>
            <a:off x="657650" y="4020846"/>
            <a:ext cx="5940000" cy="18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36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50년 시 운영 중 재투자 (리뉴얼) 미포함 / 할인율 6.9% 동일 적용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305" name="RiskHeading"/>
          <p:cNvSpPr txBox="1"/>
          <p:nvPr/>
        </p:nvSpPr>
        <p:spPr>
          <a:xfrm>
            <a:off x="54864" y="4370832"/>
            <a:ext cx="6428232" cy="292608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tabLst>
                <a:tab pos="227013" algn="l"/>
                <a:tab pos="1165225" algn="l"/>
              </a:tabLst>
              <a:defRPr/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리스크 분석</a:t>
            </a: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</p:txBody>
      </p:sp>
      <p:sp>
        <p:nvSpPr>
          <p:cNvPr id="306" name="RiskSub1"/>
          <p:cNvSpPr txBox="1"/>
          <p:nvPr/>
        </p:nvSpPr>
        <p:spPr>
          <a:xfrm>
            <a:off x="54864" y="4736592"/>
            <a:ext cx="6428232" cy="256032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tabLst>
                <a:tab pos="227013" algn="l"/>
                <a:tab pos="1165225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 </a:t>
            </a:r>
            <a:r>
              <a:rPr lang="ko-KR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변경 안 (임대) – 기존 안 대비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손상차손 / 배임 리스크 低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  <p:sp>
        <p:nvSpPr>
          <p:cNvPr id="307" name="RiskSub2"/>
          <p:cNvSpPr txBox="1"/>
          <p:nvPr/>
        </p:nvSpPr>
        <p:spPr>
          <a:xfrm>
            <a:off x="54864" y="6108192"/>
            <a:ext cx="6428232" cy="256032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tabLst>
                <a:tab pos="227013" algn="l"/>
                <a:tab pos="1165225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 </a:t>
            </a:r>
            <a:r>
              <a:rPr lang="ko-KR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단, 변경 안도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정치 · 협상 리스크 高</a:t>
            </a:r>
            <a:r>
              <a:rPr lang="ko-KR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→ 단계별 사전 관리 필요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</p:txBody>
      </p:sp>
      <p:graphicFrame>
        <p:nvGraphicFramePr>
          <p:cNvPr id="308" name="RiskMatrix"/>
          <p:cNvGraphicFramePr>
            <a:graphicFrameLocks noGrp="1"/>
          </p:cNvGraphicFramePr>
          <p:nvPr/>
        </p:nvGraphicFramePr>
        <p:xfrm>
          <a:off x="466344" y="6455664"/>
          <a:ext cx="6071616" cy="2660904"/>
        </p:xfrm>
        <a:graphic>
          <a:graphicData uri="http://schemas.openxmlformats.org/drawingml/2006/table">
            <a:tbl>
              <a:tblPr firstRow="1"/>
              <a:tblGrid>
                <a:gridCol w="694944"/>
                <a:gridCol w="2487168"/>
                <a:gridCol w="402336"/>
                <a:gridCol w="2487168"/>
              </a:tblGrid>
              <a:tr h="2468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리스크 요인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등급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대응 방안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정치·정책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·시장 선거법 대법 판결 ’27.1 예정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·당선무효 시 ’27.4 보궐 → 정책 동력 약화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C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高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·’26 내 사전협의 · ’27.1Q 제안서 접수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·무재정 · 시민 개방 등 공공성 명분 확보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효성 협상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·해지시지급금 300억 합의 불확실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·효성 손실 확정 부담 → 협상 장기화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C0000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高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·광고 불허 근거로 단독가치 300억 제시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·3자 협상 당사 주도 / 지급 상한 사전 설정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공모·절차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·공개경쟁 시 타 사업자 낙찰 가능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·적격성 검토 · 시의회 동의 지연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E46C0A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中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·통합 운영안 · 百 MD 역량으로 차별화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·시의회 사전 설명 / 지연 시 세빛섬 先 추진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재무·회계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·사용료 미확정 (최대 연 52억)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·장기 사용료 리스부채 인식 → 부채비율 ↑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E46C0A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中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·고정 + 매출연동형 사용료 구조 협상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·회계처리 사전 검토 (리스 vs 운영권)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사업·운영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·매출 +55% (75 → 116억) 가정 미달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·푸드존 준공 지연 시 연계 효과 지연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E46C0A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中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·JWM · 공연사 사전 MOU로 수요 확보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·매출 △10 · 20% 민감도 분석 병행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 회수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·중도 해지 시 리모델링 517억 회수 불확실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·50년 NPV, 리뉴얼 재투자 미반영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solidFill>
                            <a:srgbClr val="E46C0A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中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·협약에 미상각 투자비 보상 조항 명시</a:t>
                      </a:r>
                    </a:p>
                    <a:p>
                      <a:pPr algn="l" marL="72000" indent="-72000">
                        <a:buNone/>
                      </a:pP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·재투자 반영한 50년 NPV 재산정</a:t>
                      </a:r>
                    </a:p>
                  </a:txBody>
                  <a:tcPr marL="54000" marR="54000" marT="25200" marB="25200" anchor="ctr">
                    <a:lnL w="3175" cap="flat" cmpd="sng" algn="ctr">
                      <a:noFill/>
                    </a:lnL>
                    <a:lnR w="3175" cap="flat" cmpd="sng" algn="ctr">
                      <a:noFill/>
                    </a:lnR>
                    <a:lnT w="3175" cap="flat" cmpd="sng" algn="ctr">
                      <a:solidFill>
                        <a:srgbClr val="7F7F7F"/>
                      </a:solidFill>
                    </a:lnT>
                    <a:lnB w="3175" cap="flat" cmpd="sng" algn="ctr">
                      <a:solidFill>
                        <a:srgbClr val="7F7F7F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742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/>
          <p:nvPr/>
        </p:nvSpPr>
        <p:spPr>
          <a:xfrm>
            <a:off x="323999" y="90000"/>
            <a:ext cx="1234800" cy="198000"/>
          </a:xfrm>
          <a:prstGeom prst="homePlate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세빛섬 현황 · 투자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2" name="Shape 242"/>
          <p:cNvSpPr/>
          <p:nvPr/>
        </p:nvSpPr>
        <p:spPr>
          <a:xfrm>
            <a:off x="15876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② 수상푸드존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3" name="Shape 243"/>
          <p:cNvSpPr/>
          <p:nvPr/>
        </p:nvSpPr>
        <p:spPr>
          <a:xfrm>
            <a:off x="28512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③ 통합 효과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4" name="Shape 244"/>
          <p:cNvSpPr/>
          <p:nvPr/>
        </p:nvSpPr>
        <p:spPr>
          <a:xfrm>
            <a:off x="41148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④ 추진 계획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5" name="Shape 245"/>
          <p:cNvSpPr/>
          <p:nvPr/>
        </p:nvSpPr>
        <p:spPr>
          <a:xfrm>
            <a:off x="53784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002060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⑤ 추진 방법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39" name="TextBox 239"/>
          <p:cNvSpPr txBox="1"/>
          <p:nvPr/>
        </p:nvSpPr>
        <p:spPr>
          <a:xfrm>
            <a:off x="216000" y="341999"/>
            <a:ext cx="6426000" cy="36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6. 추진 방법 (1) – 추진 절차 / 단계별 당사 할 일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22" name="Shape 222"/>
          <p:cNvSpPr/>
          <p:nvPr/>
        </p:nvSpPr>
        <p:spPr>
          <a:xfrm>
            <a:off x="323999" y="756000"/>
            <a:ext cx="784800" cy="52200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1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사전협의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23" name="Shape 223"/>
          <p:cNvSpPr/>
          <p:nvPr/>
        </p:nvSpPr>
        <p:spPr>
          <a:xfrm>
            <a:off x="1126800" y="94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000"/>
          </a:p>
        </p:txBody>
      </p:sp>
      <p:sp>
        <p:nvSpPr>
          <p:cNvPr id="224" name="Shape 224"/>
          <p:cNvSpPr/>
          <p:nvPr/>
        </p:nvSpPr>
        <p:spPr>
          <a:xfrm>
            <a:off x="1242000" y="756000"/>
            <a:ext cx="784800" cy="52200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2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제안서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제출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25" name="Shape 225"/>
          <p:cNvSpPr/>
          <p:nvPr/>
        </p:nvSpPr>
        <p:spPr>
          <a:xfrm>
            <a:off x="2044800" y="94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000"/>
          </a:p>
        </p:txBody>
      </p:sp>
      <p:sp>
        <p:nvSpPr>
          <p:cNvPr id="226" name="Shape 226"/>
          <p:cNvSpPr/>
          <p:nvPr/>
        </p:nvSpPr>
        <p:spPr>
          <a:xfrm>
            <a:off x="2160000" y="75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3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제안서 검토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(적격성)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27" name="Shape 227"/>
          <p:cNvSpPr/>
          <p:nvPr/>
        </p:nvSpPr>
        <p:spPr>
          <a:xfrm>
            <a:off x="2962800" y="94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000"/>
          </a:p>
        </p:txBody>
      </p:sp>
      <p:sp>
        <p:nvSpPr>
          <p:cNvPr id="228" name="Shape 228"/>
          <p:cNvSpPr/>
          <p:nvPr/>
        </p:nvSpPr>
        <p:spPr>
          <a:xfrm>
            <a:off x="3078000" y="75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민투심 ·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市의회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3880800" y="94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000"/>
          </a:p>
        </p:txBody>
      </p:sp>
      <p:sp>
        <p:nvSpPr>
          <p:cNvPr id="230" name="Shape 230"/>
          <p:cNvSpPr/>
          <p:nvPr/>
        </p:nvSpPr>
        <p:spPr>
          <a:xfrm>
            <a:off x="3996000" y="75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5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제3자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제안공고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31" name="Shape 231"/>
          <p:cNvSpPr/>
          <p:nvPr/>
        </p:nvSpPr>
        <p:spPr>
          <a:xfrm>
            <a:off x="4798800" y="94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000"/>
          </a:p>
        </p:txBody>
      </p:sp>
      <p:sp>
        <p:nvSpPr>
          <p:cNvPr id="232" name="Shape 232"/>
          <p:cNvSpPr/>
          <p:nvPr/>
        </p:nvSpPr>
        <p:spPr>
          <a:xfrm>
            <a:off x="4914000" y="75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6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협상 ·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실시협약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33" name="Shape 233"/>
          <p:cNvSpPr/>
          <p:nvPr/>
        </p:nvSpPr>
        <p:spPr>
          <a:xfrm>
            <a:off x="5716800" y="943200"/>
            <a:ext cx="97200" cy="14400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000"/>
          </a:p>
        </p:txBody>
      </p:sp>
      <p:sp>
        <p:nvSpPr>
          <p:cNvPr id="234" name="Shape 234"/>
          <p:cNvSpPr/>
          <p:nvPr/>
        </p:nvSpPr>
        <p:spPr>
          <a:xfrm>
            <a:off x="5832000" y="756000"/>
            <a:ext cx="7848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7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착공 ·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통합개장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35" name="TextBox 235"/>
          <p:cNvSpPr txBox="1"/>
          <p:nvPr/>
        </p:nvSpPr>
        <p:spPr>
          <a:xfrm>
            <a:off x="216000" y="1306800"/>
            <a:ext cx="6426000" cy="18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108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음영 : 당사 주도 단계 (즉시 착수) / 절차 · 기간은 민간투자법 및 민간투자사업기본계획 기준, 세부 일정은 市 협의로 확정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236" name="표 236"/>
          <p:cNvGraphicFramePr>
            <a:graphicFrameLocks noGrp="1"/>
          </p:cNvGraphicFramePr>
          <p:nvPr/>
        </p:nvGraphicFramePr>
        <p:xfrm>
          <a:off x="323999" y="1512000"/>
          <a:ext cx="6318000" cy="3622200"/>
        </p:xfrm>
        <a:graphic>
          <a:graphicData uri="http://schemas.openxmlformats.org/drawingml/2006/table">
            <a:tbl>
              <a:tblPr firstRow="1" bandRow="1"/>
              <a:tblGrid>
                <a:gridCol w="70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단계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주요 내용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할 일 / 준비사항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① 사전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’26.10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12월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미래한강본부 · 민간투자 담당 사전 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·효성 해지시지급금 협상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·사업구상서 (본 보고서) · 市 정책 부합 논리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·해지시지급금 300억 근거 (외부 가치평가) / 투자심의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· 효성 · 당사 3자 MOU (안) 준비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② 제안서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제출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’27.1Q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·민간투자법 제9조 민간제안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제안서 접수 · 형식요건 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·제안서 : 기본설계 · 재무모델 · 운영 / MD 계획 · 공공성 계획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·SPC 컨소시엄 MOU (百 · F&amp;B · FI · 시공사)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·회계 · 법률 · 설계 자문사 선정 (제안비용 예산화)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③ 제안서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’27.2Q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3Q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·전문기관 적격성 검토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(수요 · VfM · 재무 타당성)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민투 대상사업 채택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·수요추정 근거 : 세빛섬 실적 + 한강버스 이용 수요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·VfM 대응 : 재정사업 대비 비용 절감 논리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·보완 요청 신속 대응 TF 운영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④ 심의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동의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’27.4Q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민간투자심의위원회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·市의회 동의 (필요 시)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·공공성 패키지 설명자료 / 의회 상임위 설명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·언론 · 여론 대응 (특혜 시비 사전 차단)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⑤ 제3자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’28.1Q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(90일 내외)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·제안내용 공고 · 경쟁 제안 접수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·평가 → 우선협상대상자 지정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·최초 제안자 우대 가점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·경쟁사 대비 차별화 : 세빛섬 연계 · 百 MD 역량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·가격 · 공공성 보강 제안 (경쟁 대비 시나리오)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·컨소시엄 지분 · 역할 확정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⑥ 협상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실시협약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’28.2Q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3Q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·총사업비 · 운영기간 · 사용료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·위험분담 · 해지시지급금 조건 확정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·운영기간 30년+ / 해지시지급금 총사업비 반영 관철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·협상 TF (전략 · 재무 · 법무) / 이사회 승인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⑦ 착공 ·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개장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’28.下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’29.初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·실시계획 승인 → 리모델링 착공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·푸드존 준공 (’28 말) · 개장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·SPC 설립 · 자금조달 (PF) / 시공사 계약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·테넌트 유치 · 통합 브랜드 런칭 · 그랜드 오픈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0" name="TextBox 240"/>
          <p:cNvSpPr txBox="1"/>
          <p:nvPr/>
        </p:nvSpPr>
        <p:spPr>
          <a:xfrm>
            <a:off x="216000" y="5364000"/>
            <a:ext cx="6426000" cy="108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일정 리스크 관리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시장 재판 일정 (’27.1~4월 직위 변동 가능) 고려 → </a:t>
            </a:r>
            <a:r>
              <a:rPr lang="ko-KR" altLang="en-US" sz="105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’26년 내 사전협의 완료 · ’27.1Q 제안서 접수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로 행정절차 선점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부시장 대행 · 보궐선거 시에도 유지되도록 「재정 無 · 공공성」 중심 사업 명분 확보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0">
              <a:spcBef>
                <a:spcPts val="40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선결 과제 · 리스크 대응 · 담당별 즉시 착수 과제 → p.7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2C89A-7484-458D-E4F3-360C209C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61FB8A-3247-349B-3B09-51185CBFE02F}"/>
              </a:ext>
            </a:extLst>
          </p:cNvPr>
          <p:cNvSpPr/>
          <p:nvPr/>
        </p:nvSpPr>
        <p:spPr>
          <a:xfrm>
            <a:off x="120924" y="814256"/>
            <a:ext cx="6415085" cy="9182001"/>
          </a:xfrm>
          <a:prstGeom prst="rect">
            <a:avLst/>
          </a:prstGeom>
        </p:spPr>
        <p:txBody>
          <a:bodyPr wrap="square" lIns="38100" rIns="38100">
            <a:spAutoFit/>
          </a:bodyPr>
          <a:lstStyle/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</a:t>
            </a:r>
            <a:r>
              <a:rPr lang="ko-KR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오세훈 서울시장 선거법 위반</a:t>
            </a:r>
            <a:endParaRPr lang="en-US" altLang="ko-KR" sz="16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’21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서울시장 선거 관련 오세훈 시장 후원자 </a:t>
            </a:r>
            <a:r>
              <a:rPr lang="ko-KR" altLang="en-US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김한정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→ </a:t>
            </a:r>
            <a:r>
              <a:rPr lang="ko-KR" altLang="en-US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명태균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여론조사 의뢰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여론조사 비용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2,100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만원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자 대납 의혹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불법 정치자금 기부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’25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12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월 특검 오세훈 시장 기소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지방선거 고려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’26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년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월 재판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개월 중지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공직선거법상 벌금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100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만원 이상 확정 시 </a:t>
            </a:r>
            <a:r>
              <a:rPr lang="ko-KR" altLang="en-US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시장직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상실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30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</a:t>
            </a:r>
            <a:r>
              <a:rPr lang="ko-KR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재판 일정</a:t>
            </a:r>
            <a:endParaRPr lang="en-US" altLang="ko-KR" sz="16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40248" algn="l"/>
                <a:tab pos="1233158" algn="l"/>
              </a:tabLst>
              <a:defRPr/>
            </a:pP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특검법 제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11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조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6·3·3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원칙 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indent="-215900">
              <a:spcBef>
                <a:spcPts val="18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• 1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심 선고 →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공소제기일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6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개월 內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2,3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심 선고 →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전심 선고일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개월 內</a:t>
            </a: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20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24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</a:t>
            </a:r>
          </a:p>
          <a:p>
            <a:pPr>
              <a:spcBef>
                <a:spcPts val="12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1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</a:t>
            </a: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       </a:t>
            </a: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 -</a:t>
            </a:r>
            <a:endParaRPr lang="ko-KR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</a:endParaRPr>
          </a:p>
          <a:p>
            <a:pPr>
              <a:spcBef>
                <a:spcPts val="1500"/>
              </a:spcBef>
              <a:tabLst>
                <a:tab pos="240248" algn="l"/>
                <a:tab pos="1233158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OTF)" panose="02000600000000020003" pitchFamily="50" charset="-127"/>
              <a:ea typeface="신세계 민부리 Light(OTF)" panose="02000600000000020003" pitchFamily="50" charset="-127"/>
              <a:sym typeface="Wingdings" panose="05000000000000000000" pitchFamily="2" charset="2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E5FBF3F-CD99-42DA-827E-D815C4D5145F}"/>
              </a:ext>
            </a:extLst>
          </p:cNvPr>
          <p:cNvGraphicFramePr>
            <a:graphicFrameLocks noGrp="1"/>
          </p:cNvGraphicFramePr>
          <p:nvPr/>
        </p:nvGraphicFramePr>
        <p:xfrm>
          <a:off x="7402571" y="5749858"/>
          <a:ext cx="5970561" cy="2160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961">
                  <a:extLst>
                    <a:ext uri="{9D8B030D-6E8A-4147-A177-3AD203B41FA5}">
                      <a16:colId xmlns:a16="http://schemas.microsoft.com/office/drawing/2014/main" val="2052888082"/>
                    </a:ext>
                  </a:extLst>
                </a:gridCol>
                <a:gridCol w="2700300">
                  <a:extLst>
                    <a:ext uri="{9D8B030D-6E8A-4147-A177-3AD203B41FA5}">
                      <a16:colId xmlns:a16="http://schemas.microsoft.com/office/drawing/2014/main" val="1894311995"/>
                    </a:ext>
                  </a:extLst>
                </a:gridCol>
                <a:gridCol w="2700300">
                  <a:extLst>
                    <a:ext uri="{9D8B030D-6E8A-4147-A177-3AD203B41FA5}">
                      <a16:colId xmlns:a16="http://schemas.microsoft.com/office/drawing/2014/main" val="2809982429"/>
                    </a:ext>
                  </a:extLst>
                </a:gridCol>
              </a:tblGrid>
              <a:tr h="325078"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60889"/>
                  </a:ext>
                </a:extLst>
              </a:tr>
              <a:tr h="325078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 3" panose="05040102010807070707" pitchFamily="18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410648"/>
                  </a:ext>
                </a:extLst>
              </a:tr>
              <a:tr h="32507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183997"/>
                  </a:ext>
                </a:extLst>
              </a:tr>
              <a:tr h="325078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endParaRPr lang="en-US" altLang="ko-KR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403166"/>
                  </a:ext>
                </a:extLst>
              </a:tr>
              <a:tr h="3250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819597"/>
                  </a:ext>
                </a:extLst>
              </a:tr>
              <a:tr h="5354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>
                        <a:latin typeface="신세계 민부리 Light(OTF)" panose="02000600000000020003" pitchFamily="50" charset="-127"/>
                        <a:ea typeface="신세계 민부리 Light(OTF)" panose="02000600000000020003" pitchFamily="50" charset="-127"/>
                        <a:sym typeface="Wingdings" panose="05000000000000000000" pitchFamily="2" charset="2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344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>
                        <a:solidFill>
                          <a:schemeClr val="tx1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0107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82FBAA6-311C-5EF3-30B2-0D4112416A36}"/>
              </a:ext>
            </a:extLst>
          </p:cNvPr>
          <p:cNvSpPr txBox="1"/>
          <p:nvPr/>
        </p:nvSpPr>
        <p:spPr bwMode="auto">
          <a:xfrm>
            <a:off x="9261648" y="2936776"/>
            <a:ext cx="1126204" cy="198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en-US" altLang="ko-KR" sz="7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 </a:t>
            </a:r>
            <a:r>
              <a:rPr kumimoji="0" lang="en-US" altLang="ko-KR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* </a:t>
            </a:r>
            <a:r>
              <a:rPr kumimoji="0" lang="ko-KR" altLang="en-US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우 </a:t>
            </a:r>
            <a:r>
              <a:rPr kumimoji="0" lang="en-US" altLang="ko-KR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:7.3% / </a:t>
            </a:r>
            <a:r>
              <a:rPr kumimoji="0" lang="ko-KR" altLang="en-US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보 </a:t>
            </a:r>
            <a:r>
              <a:rPr kumimoji="0" lang="en-US" altLang="ko-KR" sz="7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9.3%</a:t>
            </a:r>
            <a:endParaRPr lang="ko-KR" altLang="en-US" sz="700" b="1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신세계 민부리 Bold(OTF)" panose="02000600000000020003" pitchFamily="50" charset="-127"/>
              <a:ea typeface="신세계 민부리 Bold(OTF)" panose="020006000000000200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220ED-B620-6AE5-F4CE-005018337884}"/>
              </a:ext>
            </a:extLst>
          </p:cNvPr>
          <p:cNvSpPr txBox="1"/>
          <p:nvPr/>
        </p:nvSpPr>
        <p:spPr bwMode="auto">
          <a:xfrm>
            <a:off x="1474168" y="1972191"/>
            <a:ext cx="4276757" cy="236796"/>
          </a:xfrm>
          <a:prstGeom prst="rect">
            <a:avLst/>
          </a:prstGeom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en-US" altLang="ko-KR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 * </a:t>
            </a:r>
            <a:r>
              <a:rPr lang="ko-KR" altLang="en-US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여론조사 비용은 정치자금으로 </a:t>
            </a:r>
            <a:r>
              <a:rPr lang="ko-KR" altLang="en-US" sz="800" b="1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기부받거나</a:t>
            </a:r>
            <a:r>
              <a:rPr lang="ko-KR" altLang="en-US" sz="8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 수수하는 것 엄격히 금지</a:t>
            </a:r>
            <a:endParaRPr lang="ko-KR" altLang="en-US" sz="8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신세계 민부리 Bold(OTF)" panose="02000600000000020003" pitchFamily="50" charset="-127"/>
              <a:ea typeface="신세계 민부리 Bold(OTF)" panose="020006000000000200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E512D-D3FC-E955-AD4D-B49ED78663CD}"/>
              </a:ext>
            </a:extLst>
          </p:cNvPr>
          <p:cNvSpPr txBox="1"/>
          <p:nvPr/>
        </p:nvSpPr>
        <p:spPr bwMode="auto">
          <a:xfrm>
            <a:off x="8109520" y="1571382"/>
            <a:ext cx="4732978" cy="236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lang="en-US" altLang="ko-KR" sz="800" b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 </a:t>
            </a:r>
            <a:r>
              <a:rPr kumimoji="0" lang="en-US" altLang="ko-KR" sz="800" b="1" i="0" u="none" strike="noStrike" kern="120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002060"/>
                </a:solidFill>
                <a:effectLst/>
                <a:uLnTx/>
                <a:uFillTx/>
                <a:latin typeface="신세계 민부리 Bold(OTF)" panose="02000600000000020003" pitchFamily="50" charset="-127"/>
                <a:ea typeface="신세계 민부리 Bold(OTF)" panose="02000600000000020003" pitchFamily="50" charset="-127"/>
                <a:sym typeface="Wingdings" pitchFamily="2" charset="2"/>
              </a:rPr>
              <a:t>*</a:t>
            </a:r>
            <a:endParaRPr lang="ko-KR" altLang="en-US" sz="800" b="1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002060"/>
              </a:solidFill>
              <a:latin typeface="신세계 민부리 Bold(OTF)" panose="02000600000000020003" pitchFamily="50" charset="-127"/>
              <a:ea typeface="신세계 민부리 Bold(OTF)" panose="020006000000000200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1A0514-8D47-D5C9-06A4-3DCD0DF1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72000" y="738096"/>
            <a:ext cx="5267577" cy="2981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6E8075-A916-4ED8-EF35-F5536CCE29C8}"/>
              </a:ext>
            </a:extLst>
          </p:cNvPr>
          <p:cNvSpPr txBox="1"/>
          <p:nvPr/>
        </p:nvSpPr>
        <p:spPr bwMode="auto">
          <a:xfrm>
            <a:off x="-4779912" y="4232920"/>
            <a:ext cx="3888432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800">
                <a:effectLst/>
                <a:latin typeface="+mn-lt"/>
              </a:rPr>
              <a:t>오세훈 시장의 재판 일정이랑 (2심 선고 나오면 </a:t>
            </a:r>
            <a:r>
              <a:rPr lang="ko-KR" altLang="ko-KR" sz="1800" err="1">
                <a:effectLst/>
                <a:latin typeface="+mn-lt"/>
              </a:rPr>
              <a:t>언제쯤일지</a:t>
            </a:r>
            <a:r>
              <a:rPr lang="ko-KR" altLang="ko-KR" sz="1800">
                <a:effectLst/>
                <a:latin typeface="+mn-lt"/>
              </a:rPr>
              <a:t> ) 그러면 바로 </a:t>
            </a:r>
            <a:r>
              <a:rPr lang="ko-KR" altLang="ko-KR" sz="1800" err="1">
                <a:effectLst/>
                <a:latin typeface="+mn-lt"/>
              </a:rPr>
              <a:t>물러나는건지</a:t>
            </a:r>
            <a:r>
              <a:rPr lang="ko-KR" altLang="ko-KR" sz="1800">
                <a:effectLst/>
                <a:latin typeface="+mn-lt"/>
              </a:rPr>
              <a:t> 최종 대법판결 받아야 </a:t>
            </a:r>
            <a:r>
              <a:rPr lang="ko-KR" altLang="ko-KR" sz="1800" err="1">
                <a:effectLst/>
                <a:latin typeface="+mn-lt"/>
              </a:rPr>
              <a:t>물러나는건지</a:t>
            </a:r>
            <a:r>
              <a:rPr lang="ko-KR" altLang="ko-KR" sz="1800">
                <a:effectLst/>
                <a:latin typeface="+mn-lt"/>
              </a:rPr>
              <a:t> 그런 거 좀 보고서 1장으로 </a:t>
            </a:r>
            <a:r>
              <a:rPr lang="ko-KR" altLang="ko-KR" sz="1800" err="1">
                <a:effectLst/>
                <a:latin typeface="+mn-lt"/>
              </a:rPr>
              <a:t>어펜</a:t>
            </a:r>
            <a:r>
              <a:rPr lang="ko-KR" altLang="ko-KR" sz="1800">
                <a:effectLst/>
                <a:latin typeface="+mn-lt"/>
              </a:rPr>
              <a:t> 만들어주세요</a:t>
            </a:r>
          </a:p>
          <a:p>
            <a:pPr>
              <a:buNone/>
            </a:pPr>
            <a:r>
              <a:rPr lang="ko-KR" altLang="ko-KR" sz="1800">
                <a:effectLst/>
                <a:latin typeface="+mn-lt"/>
              </a:rPr>
              <a:t> </a:t>
            </a:r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12FD46C-DCBE-46A7-636F-5FEBDC819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441900"/>
              </p:ext>
            </p:extLst>
          </p:nvPr>
        </p:nvGraphicFramePr>
        <p:xfrm>
          <a:off x="774615" y="4797097"/>
          <a:ext cx="597693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04">
                  <a:extLst>
                    <a:ext uri="{9D8B030D-6E8A-4147-A177-3AD203B41FA5}">
                      <a16:colId xmlns:a16="http://schemas.microsoft.com/office/drawing/2014/main" val="45024384"/>
                    </a:ext>
                  </a:extLst>
                </a:gridCol>
                <a:gridCol w="4824834">
                  <a:extLst>
                    <a:ext uri="{9D8B030D-6E8A-4147-A177-3AD203B41FA5}">
                      <a16:colId xmlns:a16="http://schemas.microsoft.com/office/drawing/2014/main" val="2825104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’25</a:t>
                      </a:r>
                      <a:r>
                        <a:rPr lang="ko-KR" altLang="en-US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특검 측 </a:t>
                      </a:r>
                      <a:r>
                        <a:rPr lang="ko-KR" altLang="en-US" sz="1200" b="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오세훈시장</a:t>
                      </a:r>
                      <a:r>
                        <a:rPr lang="ko-KR" altLang="en-US" sz="1200" b="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불구속 기소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9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’26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오세훈 시장 서울시장 당선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45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’26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7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심 벌금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1,000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추징금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2,100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선고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여론조사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건 중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건 유죄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5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’26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8~10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심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항소심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공판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회 진행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366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’26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심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항소심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선고 예정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벌금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100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이상 선고 시 즉시 상고 예정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32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’27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3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심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상고심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공판 없이 대법원 판결 예정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32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’27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1~4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벌금 </a:t>
                      </a:r>
                      <a:r>
                        <a:rPr lang="en-US" altLang="ko-KR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100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만원 이상 확정 즉시 </a:t>
                      </a:r>
                      <a:r>
                        <a:rPr lang="ko-KR" altLang="en-US" sz="12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시장직</a:t>
                      </a:r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박탈 → 부시장 대행체제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65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’27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4</a:t>
                      </a: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월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서울시장 보궐선거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462350"/>
                  </a:ext>
                </a:extLst>
              </a:tr>
            </a:tbl>
          </a:graphicData>
        </a:graphic>
      </p:graphicFrame>
      <p:sp>
        <p:nvSpPr>
          <p:cNvPr id="2" name="왼쪽 대괄호 1">
            <a:extLst>
              <a:ext uri="{FF2B5EF4-FFF2-40B4-BE49-F238E27FC236}">
                <a16:creationId xmlns:a16="http://schemas.microsoft.com/office/drawing/2014/main" id="{DCAA339F-1891-A612-1DBF-F0D676BAB98F}"/>
              </a:ext>
            </a:extLst>
          </p:cNvPr>
          <p:cNvSpPr/>
          <p:nvPr/>
        </p:nvSpPr>
        <p:spPr>
          <a:xfrm>
            <a:off x="616782" y="4955505"/>
            <a:ext cx="106753" cy="792088"/>
          </a:xfrm>
          <a:prstGeom prst="leftBracke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905A4-5DBF-BA44-D57F-7028ECBBEEFD}"/>
              </a:ext>
            </a:extLst>
          </p:cNvPr>
          <p:cNvSpPr txBox="1"/>
          <p:nvPr/>
        </p:nvSpPr>
        <p:spPr bwMode="auto">
          <a:xfrm>
            <a:off x="-60448" y="5205451"/>
            <a:ext cx="851585" cy="292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6</a:t>
            </a:r>
            <a:r>
              <a:rPr kumimoji="1" lang="ko-KR" altLang="en-US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개월</a:t>
            </a:r>
          </a:p>
        </p:txBody>
      </p:sp>
      <p:sp>
        <p:nvSpPr>
          <p:cNvPr id="10" name="왼쪽 대괄호 9">
            <a:extLst>
              <a:ext uri="{FF2B5EF4-FFF2-40B4-BE49-F238E27FC236}">
                <a16:creationId xmlns:a16="http://schemas.microsoft.com/office/drawing/2014/main" id="{F2781A74-B3A2-7DB2-1CC6-D16E255CB811}"/>
              </a:ext>
            </a:extLst>
          </p:cNvPr>
          <p:cNvSpPr/>
          <p:nvPr/>
        </p:nvSpPr>
        <p:spPr>
          <a:xfrm>
            <a:off x="612666" y="5997525"/>
            <a:ext cx="106753" cy="541006"/>
          </a:xfrm>
          <a:prstGeom prst="leftBracke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8C058E-6BEA-7AA3-1A03-954628DBB54A}"/>
              </a:ext>
            </a:extLst>
          </p:cNvPr>
          <p:cNvSpPr txBox="1"/>
          <p:nvPr/>
        </p:nvSpPr>
        <p:spPr bwMode="auto">
          <a:xfrm>
            <a:off x="-203263" y="6120647"/>
            <a:ext cx="1137215" cy="292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3</a:t>
            </a:r>
            <a:r>
              <a:rPr kumimoji="1" lang="ko-KR" altLang="en-US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개월</a:t>
            </a:r>
          </a:p>
        </p:txBody>
      </p:sp>
      <p:sp>
        <p:nvSpPr>
          <p:cNvPr id="14" name="왼쪽 대괄호 13">
            <a:extLst>
              <a:ext uri="{FF2B5EF4-FFF2-40B4-BE49-F238E27FC236}">
                <a16:creationId xmlns:a16="http://schemas.microsoft.com/office/drawing/2014/main" id="{D3F340FB-AA96-6298-BA63-B9E5B5DD39AF}"/>
              </a:ext>
            </a:extLst>
          </p:cNvPr>
          <p:cNvSpPr/>
          <p:nvPr/>
        </p:nvSpPr>
        <p:spPr>
          <a:xfrm>
            <a:off x="607669" y="6715492"/>
            <a:ext cx="106754" cy="1020901"/>
          </a:xfrm>
          <a:prstGeom prst="leftBracket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B9B9C-62B2-F363-FD47-5A213C608428}"/>
              </a:ext>
            </a:extLst>
          </p:cNvPr>
          <p:cNvSpPr txBox="1"/>
          <p:nvPr/>
        </p:nvSpPr>
        <p:spPr bwMode="auto">
          <a:xfrm>
            <a:off x="-203263" y="7079844"/>
            <a:ext cx="1137215" cy="292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02" tIns="44101" rIns="88202" bIns="44101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82019" fontAlgn="base">
              <a:lnSpc>
                <a:spcPct val="120000"/>
              </a:lnSpc>
            </a:pPr>
            <a:r>
              <a:rPr kumimoji="1" lang="en-US" altLang="ko-KR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3</a:t>
            </a:r>
            <a:r>
              <a:rPr kumimoji="1" lang="ko-KR" altLang="en-US" sz="1100" dirty="0">
                <a:latin typeface="신세계 민부리 Medium(TTF)" panose="02000600000000020003" pitchFamily="2" charset="-127"/>
                <a:ea typeface="신세계 민부리 Medium(TTF)" panose="02000600000000020003" pitchFamily="2" charset="-127"/>
                <a:cs typeface="굴림" pitchFamily="50" charset="-127"/>
              </a:rPr>
              <a:t>개월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807AE4-AE84-D195-D7B5-0887CDD23665}"/>
              </a:ext>
            </a:extLst>
          </p:cNvPr>
          <p:cNvSpPr/>
          <p:nvPr/>
        </p:nvSpPr>
        <p:spPr>
          <a:xfrm>
            <a:off x="-6033715" y="4042483"/>
            <a:ext cx="6858000" cy="380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</a:pPr>
            <a:r>
              <a:rPr lang="en-US" altLang="ko-KR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#Appendix. </a:t>
            </a:r>
            <a:r>
              <a:rPr lang="ko-KR" altLang="en-US" u="sng" dirty="0">
                <a:latin typeface="HY견고딕" panose="02030600000101010101" pitchFamily="18" charset="-127"/>
                <a:ea typeface="HY견고딕" panose="02030600000101010101" pitchFamily="18" charset="-127"/>
              </a:rPr>
              <a:t>오세훈 서울시장 법률 리스크</a:t>
            </a:r>
          </a:p>
        </p:txBody>
      </p:sp>
      <p:sp>
        <p:nvSpPr>
          <p:cNvPr id="13" name="Title 101">
            <a:extLst>
              <a:ext uri="{FF2B5EF4-FFF2-40B4-BE49-F238E27FC236}">
                <a16:creationId xmlns:a16="http://schemas.microsoft.com/office/drawing/2014/main" id="{C07AE8AF-C33A-F348-D259-3A415A8ABDC1}"/>
              </a:ext>
            </a:extLst>
          </p:cNvPr>
          <p:cNvSpPr/>
          <p:nvPr/>
        </p:nvSpPr>
        <p:spPr>
          <a:xfrm>
            <a:off x="0" y="0"/>
            <a:ext cx="6857999" cy="535531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2400" b="1" u="sng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서울시장 선거법 위반 진행사항</a:t>
            </a:r>
            <a:endParaRPr lang="ko-KR" sz="24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2532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15"/>
          <p:cNvSpPr txBox="1"/>
          <p:nvPr/>
        </p:nvSpPr>
        <p:spPr>
          <a:xfrm>
            <a:off x="216000" y="251999"/>
            <a:ext cx="6426000" cy="36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통합 사업계획안 (당사 주도 추진 구상)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6" name="TextBox 116"/>
          <p:cNvSpPr txBox="1"/>
          <p:nvPr/>
        </p:nvSpPr>
        <p:spPr>
          <a:xfrm>
            <a:off x="216000" y="630000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사업 개요 (안)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17" name="표 117"/>
          <p:cNvGraphicFramePr>
            <a:graphicFrameLocks noGrp="1"/>
          </p:cNvGraphicFramePr>
          <p:nvPr/>
        </p:nvGraphicFramePr>
        <p:xfrm>
          <a:off x="323999" y="917999"/>
          <a:ext cx="6318000" cy="2127599"/>
        </p:xfrm>
        <a:graphic>
          <a:graphicData uri="http://schemas.openxmlformats.org/drawingml/2006/table">
            <a:tbl>
              <a:tblPr firstRow="1" bandRow="1"/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반포 수상 문화지구 (세빛섬 리모델링 + 수상푸드존 통합운영) 민간투자사업 (가칭)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사업방식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민간제안 BTO (민간투자법 제4조 제1호) / 소유권 市 귀속, 관리운영권 당사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대상시설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(9,995㎡, 3개 섬 + 미디어아트갤러리) + 수상푸드존 (2,797㎡)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사업시행자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주관 SPC (당사 + 百 · F&amp;B 계열 + FI + 시공사) / 당사 최대주주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기본안 817억 (효성 해지시지급금 300 + 세빛섬 리모델링 517)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확장안 최대 1,117억 (+ 푸드존 조성비 300억 분담 시) → 운영기간 연장 근거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기본 30년 (’28.下 ~ ’58.上) 확보 / 확장안 40년 협상 목표 (p.4 벤치마킹)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수익구조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웨딩 · 컨벤션 대관 / F&amp;B 직영 · 임대 / 공연 · 전시 / 광고 · 선착장 연계 (市 협의)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기여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재정 투입 無 / 초과수익 공유 / 시민 개방 · 청년 창업 쿼터 / 통합 안전관리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8" name="TextBox 118"/>
          <p:cNvSpPr txBox="1"/>
          <p:nvPr/>
        </p:nvSpPr>
        <p:spPr>
          <a:xfrm>
            <a:off x="216000" y="3240000"/>
            <a:ext cx="6426000" cy="36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단계별 실행 구상 – 당사가 판을 짜고 끌고 간다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19" name="Shape 119"/>
          <p:cNvSpPr/>
          <p:nvPr/>
        </p:nvSpPr>
        <p:spPr>
          <a:xfrm>
            <a:off x="323999" y="3581999"/>
            <a:ext cx="2034000" cy="503999"/>
          </a:xfrm>
          <a:prstGeom prst="homePlate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Phase 1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판 짜기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’26.4Q ~ ’27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0" name="Shape 120"/>
          <p:cNvSpPr/>
          <p:nvPr/>
        </p:nvSpPr>
        <p:spPr>
          <a:xfrm>
            <a:off x="323999" y="4121999"/>
            <a:ext cx="2034000" cy="12960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wrap="square" lIns="72000" tIns="18000" rIns="72000" bIns="18000" anchor="t">
            <a:noAutofit/>
          </a:bodyPr>
          <a:lstStyle/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·효성 해지시지급금 300억 합의 (광고사업 제외)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·市에 「통합 민간제안」 先 제안 / 정책 연계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·SPC 컨소시엄 구성 · 자문사 선정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·市 · 효성 · 당사 3자 MOU 체결 추진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430000" y="3581999"/>
            <a:ext cx="2034000" cy="503999"/>
          </a:xfrm>
          <a:prstGeom prst="homePlate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Phase 2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협약 · 리모델링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’27 ~ ’28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2" name="Shape 122"/>
          <p:cNvSpPr/>
          <p:nvPr/>
        </p:nvSpPr>
        <p:spPr>
          <a:xfrm>
            <a:off x="2430000" y="4121999"/>
            <a:ext cx="2034000" cy="12960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wrap="square" lIns="72000" tIns="18000" rIns="72000" bIns="18000" anchor="t">
            <a:noAutofit/>
          </a:bodyPr>
          <a:lstStyle/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·적격성 검토 · 제3자 공고 대응 → 실시협약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·세빛섬 리모델링 517억 (웨딩 · 컨벤션 · 공연)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·푸드존 MD 확정 (百 큐레이션 + 청년 쿼터)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·통합 브랜드 · CI 개발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3" name="Shape 123"/>
          <p:cNvSpPr/>
          <p:nvPr/>
        </p:nvSpPr>
        <p:spPr>
          <a:xfrm>
            <a:off x="4536000" y="3581999"/>
            <a:ext cx="2034000" cy="503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Phase 3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통합 개장 · 운영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’29 ~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4" name="Shape 124"/>
          <p:cNvSpPr/>
          <p:nvPr/>
        </p:nvSpPr>
        <p:spPr>
          <a:xfrm>
            <a:off x="4536000" y="4121999"/>
            <a:ext cx="2034000" cy="12960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wrap="square" lIns="72000" tIns="18000" rIns="72000" bIns="18000" anchor="t">
            <a:noAutofit/>
          </a:bodyPr>
          <a:lstStyle/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·’29.初 푸드존 개장과 동시 통합 그랜드 오픈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·통합 멤버십 · 예약 · 마케팅 플랫폼 운영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·성과 기반 재투자 → 운영기간 연장 협의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90000" indent="-90000">
              <a:spcBef>
                <a:spcPts val="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·한강 수상 후속사업 참여 확대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5" name="TextBox 125"/>
          <p:cNvSpPr txBox="1"/>
          <p:nvPr/>
        </p:nvSpPr>
        <p:spPr>
          <a:xfrm>
            <a:off x="216000" y="5580000"/>
            <a:ext cx="6426000" cy="36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핵심 쟁점 / 리스크 대응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26" name="표 126"/>
          <p:cNvGraphicFramePr>
            <a:graphicFrameLocks noGrp="1"/>
          </p:cNvGraphicFramePr>
          <p:nvPr/>
        </p:nvGraphicFramePr>
        <p:xfrm>
          <a:off x="323999" y="5922000"/>
          <a:ext cx="6317999" cy="1763999"/>
        </p:xfrm>
        <a:graphic>
          <a:graphicData uri="http://schemas.openxmlformats.org/drawingml/2006/table">
            <a:tbl>
              <a:tblPr firstRow="1" bandRow="1"/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리스크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내 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대응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효성 협상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해지시지급금 이견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(300억 vs 효성 기대치)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·광고사업 제외 + 잔여 무상기간 가치 산정 근거 제시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·결렬 시 Plan B : 市 사용권 공개입찰 (임대 안) 참여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투자비 인정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해지시지급금의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 반영 여부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·「기존시설 취득비」 성격으로 총사업비 산입 협의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·불인정 시 운영기간 · 사용료 조정으로 보전 요구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정책 리스크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시장 재판 결과에 따른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시정 방향 변경 가능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·’27.1Q 내 제안서 접수 · 검토 착수로 행정절차 선점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·공공성 중심 설계 → 시장 교체와 무관한 사업 명분 확보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수요 · 운영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푸드존 비수기 공동화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수상시설 안전 이슈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행사 수요 송객 + 한강버스 이용객 흡수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·부유체 · 계류 안전 보강비 리모델링 예산 반영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7" name="Shape 127"/>
          <p:cNvSpPr/>
          <p:nvPr/>
        </p:nvSpPr>
        <p:spPr>
          <a:xfrm>
            <a:off x="323999" y="8136000"/>
            <a:ext cx="6318000" cy="540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wrap="square" lIns="108000" tIns="18000" rIns="108000" bIns="18000" anchor="ctr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▶ 당사 추진 원칙 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市 정책 (리버시티 서울) 에 맞춘 「공공성 先 설계」  ② 투자비 최대 인정 → 운영기간 극대화  ③ 효성 · 市 · 당사 3자 구도에서 당사가 협상 주도  ④ 불확실성은 Plan B (임대 안) 로 하방 관리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/>
        </p:nvSpPr>
        <p:spPr>
          <a:xfrm>
            <a:off x="323999" y="90000"/>
            <a:ext cx="1234800" cy="198000"/>
          </a:xfrm>
          <a:prstGeom prst="homePlate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세빛섬 현황 · 투자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17" name="Shape 217"/>
          <p:cNvSpPr/>
          <p:nvPr/>
        </p:nvSpPr>
        <p:spPr>
          <a:xfrm>
            <a:off x="15876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② 수상푸드존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18" name="Shape 218"/>
          <p:cNvSpPr/>
          <p:nvPr/>
        </p:nvSpPr>
        <p:spPr>
          <a:xfrm>
            <a:off x="28512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③ 통합 효과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19" name="Shape 219"/>
          <p:cNvSpPr/>
          <p:nvPr/>
        </p:nvSpPr>
        <p:spPr>
          <a:xfrm>
            <a:off x="41148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002060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④ 추진 계획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53784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⑤ 추진 방법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15" name="TextBox 215"/>
          <p:cNvSpPr txBox="1"/>
          <p:nvPr/>
        </p:nvSpPr>
        <p:spPr>
          <a:xfrm>
            <a:off x="216000" y="341999"/>
            <a:ext cx="6426000" cy="36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5-1. 운영기간 확보 전략 – 투자비 최대 인정 / 벤치마킹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06" name="TextBox 206"/>
          <p:cNvSpPr txBox="1"/>
          <p:nvPr/>
        </p:nvSpPr>
        <p:spPr>
          <a:xfrm>
            <a:off x="216000" y="720000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운영기간은 「적용 법률」 이 결정 → 민간투자법 적용이 핵심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207" name="표 207"/>
          <p:cNvGraphicFramePr>
            <a:graphicFrameLocks noGrp="1"/>
          </p:cNvGraphicFramePr>
          <p:nvPr/>
        </p:nvGraphicFramePr>
        <p:xfrm>
          <a:off x="323999" y="1026000"/>
          <a:ext cx="6318000" cy="892800"/>
        </p:xfrm>
        <a:graphic>
          <a:graphicData uri="http://schemas.openxmlformats.org/drawingml/2006/table">
            <a:tbl>
              <a:tblPr firstRow="1" bandRow="1"/>
              <a:tblGrid>
                <a:gridCol w="8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공유재산법 (기부채납)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민간투자법 (BTO)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무상사용 최대 20년 (+ 1회 10년 갱신)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투자비 회수기간 기준 협약 (통상 30년, 대형 40년)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산정 기준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기부채납 가액 ÷ 연 사용료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 + 적정 수익률 회수에 필요한 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연장 여지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사실상 없음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’24.10 활성화 방안 : 공익 목적 개량 · 증설 시 최대 100년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8" name="TextBox 208"/>
          <p:cNvSpPr txBox="1"/>
          <p:nvPr/>
        </p:nvSpPr>
        <p:spPr>
          <a:xfrm>
            <a:off x="216000" y="2214000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유사 민간투자사업 벤치마킹 – 투자규모 · 공공성 대비 운영기간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209" name="표 209"/>
          <p:cNvGraphicFramePr>
            <a:graphicFrameLocks noGrp="1"/>
          </p:cNvGraphicFramePr>
          <p:nvPr/>
        </p:nvGraphicFramePr>
        <p:xfrm>
          <a:off x="323999" y="2538000"/>
          <a:ext cx="6318000" cy="2039940"/>
        </p:xfrm>
        <a:graphic>
          <a:graphicData uri="http://schemas.openxmlformats.org/drawingml/2006/table">
            <a:tbl>
              <a:tblPr firstRow="1" bandRow="1"/>
              <a:tblGrid>
                <a:gridCol w="10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 업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방식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운영기간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인정받은 공공성 요소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(’14)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BOT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1,413억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(무상20+유상10)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·한강 수상 랜드마크 / 준공 후 市 기부채납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서울아레나 (’27)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3,309억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·동북권 문화 거점 / K-POP 전문공연장 · 지역 상권 활성화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서울링 (추진)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약 4,000억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·관광 랜드마크 / 재정 無 · 민투심 「민자 적정」 (’23.9)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 (’32)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2조 6,955억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·건설 · 운영 보조금 無 전액 민간 / 수익 일부 市 기금 환원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(안)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BTO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817억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(최대 1,117억)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30년 확보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40년 목표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002060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·재정 無 + 초과수익 공유 + 시민 개방 + 청년 창업 쿼터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0" name="TextBox 210"/>
          <p:cNvSpPr txBox="1"/>
          <p:nvPr/>
        </p:nvSpPr>
        <p:spPr>
          <a:xfrm>
            <a:off x="6597650" y="6348600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108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출처 : 각 사업 서울시 발표 · 언론 보도 (총사업비는 협약 · 고시 기준, 서울링은 추정치) / 세빛섬은 ’14 재협약으로 무상 20년 + 유상 10년 변경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11" name="TextBox 211"/>
          <p:cNvSpPr txBox="1"/>
          <p:nvPr/>
        </p:nvSpPr>
        <p:spPr>
          <a:xfrm>
            <a:off x="216000" y="5130000"/>
            <a:ext cx="6426000" cy="1655999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투자비 최대 인정 전략 – 총사업비에 최대한 산입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리모델링 517억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공사비 + 부유체 · 계류 안전보강 + 설계 · 감리 + 부대비 + 건설이자 전액 산입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효성 해지시지급금 300억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「기존시설 취득비」 로 총사업비 반영 → </a:t>
            </a:r>
            <a:r>
              <a:rPr lang="ko-KR" altLang="en-US" sz="11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운영기간 산정의 핵심 쟁점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푸드존 분담 (선택)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 부담 미정인 조성비 300억 · 운영설비 분담 시 1,117억 → 기간 연장 근거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300"/>
              </a:spcBef>
              <a:buNone/>
            </a:pP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1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연계 공공시설 : </a:t>
            </a:r>
            <a:r>
              <a:rPr lang="ko-KR" altLang="en-US" sz="11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↔ 푸드존 보행데크 · 경관조명 · 통합 안전관리 설비 → 공공시설로 산입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12" name="TextBox 212"/>
          <p:cNvSpPr txBox="1"/>
          <p:nvPr/>
        </p:nvSpPr>
        <p:spPr>
          <a:xfrm>
            <a:off x="216000" y="6786000"/>
            <a:ext cx="6426000" cy="360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3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공공성 패키지 → 운영기간 목표</a:t>
            </a:r>
            <a:endParaRPr lang="ko-KR" sz="13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213" name="표 213"/>
          <p:cNvGraphicFramePr>
            <a:graphicFrameLocks noGrp="1"/>
          </p:cNvGraphicFramePr>
          <p:nvPr/>
        </p:nvGraphicFramePr>
        <p:xfrm>
          <a:off x="323999" y="7128000"/>
          <a:ext cx="6318000" cy="1339200"/>
        </p:xfrm>
        <a:graphic>
          <a:graphicData uri="http://schemas.openxmlformats.org/drawingml/2006/table">
            <a:tbl>
              <a:tblPr firstRow="1" bandRow="1"/>
              <a:tblGrid>
                <a:gridCol w="9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공공성 요소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세부 내용 (안)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벤치마킹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재정 부담 無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·리모델링 · 운영 전액 민간 부담, 최소수입보장 (MRG) 요구 無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 · 서울링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 공유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·사업계획 대비 초과수익 일정비율 市 환원 (한강 수상활성화 재원)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잠실 MICE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시민 개방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데크 · 전망공간 상시 무료 개방 / 공공 공연 · 전시 정례화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서울아레나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상생 · 일자리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·푸드존 1/3 청년 · 소상공인 쿼터, 임대료 감면 / 지역 고용 우선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푸드존 취지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안전 · 관리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+ 푸드존 + 선착장 통합 안전관리 (수난 · 부유체 · 계류)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세빛섬 운영 경험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4" name="Shape 214"/>
          <p:cNvSpPr/>
          <p:nvPr/>
        </p:nvSpPr>
        <p:spPr>
          <a:xfrm>
            <a:off x="323999" y="8694000"/>
            <a:ext cx="6318000" cy="900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wrap="square" lIns="108000" tIns="18000" rIns="108000" bIns="18000" anchor="ctr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▶ 목표 운영기간  </a:t>
            </a:r>
            <a:endParaRPr lang="ko-KR" sz="11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300"/>
              </a:spcBef>
              <a:buNone/>
            </a:pP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 기본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투자 817억 규모 → 세빛섬 · 서울아레나 · 서울링 수준 </a:t>
            </a:r>
            <a:r>
              <a:rPr lang="ko-KR" altLang="en-US" sz="10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30년 확보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(’28.下 ~ ’58.上, 사업성 분석 기준)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200"/>
              </a:spcBef>
              <a:buNone/>
            </a:pP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 확장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푸드존 조성비 분담 (1,117억) + 공공성 패키지 → 잠실 MICE 논리 준용 </a:t>
            </a:r>
            <a:r>
              <a:rPr lang="ko-KR" altLang="en-US" sz="1000" b="1" u="sng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40년 협상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200"/>
              </a:spcBef>
              <a:buNone/>
            </a:pPr>
            <a:r>
              <a:rPr lang="ko-KR" altLang="en-US" sz="10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· 추가 : </a:t>
            </a:r>
            <a:r>
              <a:rPr lang="ko-KR" altLang="en-US" sz="10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운영 중 재투자 (개량 · 증설) 시 정부 활성화 방안 근거로 연장 협의 (최대 50년)</a:t>
            </a:r>
            <a:endParaRPr lang="ko-KR" sz="10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/>
        </p:nvSpPr>
        <p:spPr>
          <a:xfrm>
            <a:off x="323999" y="90000"/>
            <a:ext cx="1234800" cy="198000"/>
          </a:xfrm>
          <a:prstGeom prst="homePlate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세빛섬 현황 · 투자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15876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② 수상푸드존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8" name="Shape 248"/>
          <p:cNvSpPr/>
          <p:nvPr/>
        </p:nvSpPr>
        <p:spPr>
          <a:xfrm>
            <a:off x="28512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③ 통합 효과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49" name="Shape 249"/>
          <p:cNvSpPr/>
          <p:nvPr/>
        </p:nvSpPr>
        <p:spPr>
          <a:xfrm>
            <a:off x="41148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④ 추진 계획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50" name="Shape 250"/>
          <p:cNvSpPr/>
          <p:nvPr/>
        </p:nvSpPr>
        <p:spPr>
          <a:xfrm>
            <a:off x="53784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002060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⑤ 추진 방법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51" name="TextBox 251"/>
          <p:cNvSpPr txBox="1"/>
          <p:nvPr/>
        </p:nvSpPr>
        <p:spPr>
          <a:xfrm>
            <a:off x="216000" y="342000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6. 추진 방법 (2) – 선결 과제 / 리스크 / 즉시 착수 과제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52" name="TextBox 252"/>
          <p:cNvSpPr txBox="1"/>
          <p:nvPr/>
        </p:nvSpPr>
        <p:spPr>
          <a:xfrm>
            <a:off x="216000" y="666000"/>
            <a:ext cx="6426000" cy="288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선결 과제 (사업 전제조건) – 당사 선제 대응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253" name="표 253"/>
          <p:cNvGraphicFramePr>
            <a:graphicFrameLocks noGrp="1"/>
          </p:cNvGraphicFramePr>
          <p:nvPr/>
        </p:nvGraphicFramePr>
        <p:xfrm>
          <a:off x="323999" y="954000"/>
          <a:ext cx="6317999" cy="129600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7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과 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대응 / 목표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 점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[효성]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해지시지급금 금액 협의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– 효성 협약 해지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·광고사업 제외 기준 적정 인수가 300억 제시 (외부 가치평가 근거)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·협약 해지 → 市로 세빛섬 소유권 이전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’26.4Q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’27.1Q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[서울시]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민간투자사업 적용 협의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+ 푸드존 통합 복합개발 공공성 인정 (→ p.1 · 2)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·투자비 최대 인정 → 관리운영권 30~50년 (→ p.3)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’26.4Q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~ ’27.4Q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[百 협업]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통합 MD 계획 수립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·역할 분담 : 세빛섬 MICE · 웨딩 · 공연 / 푸드존 F&amp;B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·동선 연계 프로그램 / 통합 브랜딩 / 공동 마케팅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’27.1Q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제안서 반영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4" name="TextBox 254"/>
          <p:cNvSpPr txBox="1"/>
          <p:nvPr/>
        </p:nvSpPr>
        <p:spPr>
          <a:xfrm>
            <a:off x="216000" y="2376000"/>
            <a:ext cx="6426000" cy="12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추진 경로 – 3-Track 병행으로 하방 관리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4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Track A (우선) 민간제안형 : 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당사 통합사업계획 先 제안 → 최초 제안자 우대 확보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Track B 대상지 공모형 : 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市가 공모 시, 당사 공공성 기준 · 통합 운영 조건을 공모 요건에 반영 유도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Track C 사용권 입찰 (임대 안) : 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민투 불인정 시 공개경쟁입찰 참여 (사용료 연 52억 이내)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255" name="TextBox 255"/>
          <p:cNvSpPr txBox="1"/>
          <p:nvPr/>
        </p:nvSpPr>
        <p:spPr>
          <a:xfrm>
            <a:off x="216000" y="3456000"/>
            <a:ext cx="6426000" cy="288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핵심 쟁점 / 리스크 대응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256" name="표 256"/>
          <p:cNvGraphicFramePr>
            <a:graphicFrameLocks noGrp="1"/>
          </p:cNvGraphicFramePr>
          <p:nvPr/>
        </p:nvGraphicFramePr>
        <p:xfrm>
          <a:off x="323999" y="3744000"/>
          <a:ext cx="6317999" cy="1584000"/>
        </p:xfrm>
        <a:graphic>
          <a:graphicData uri="http://schemas.openxmlformats.org/drawingml/2006/table">
            <a:tbl>
              <a:tblPr firstRow="1" bandRow="1"/>
              <a:tblGrid>
                <a:gridCol w="827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리스크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내 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당사 대응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효성 협상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해지시지급금 이견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(300억 vs 효성 700억대)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·광고 불가 가치 (400억) · 실사 (130억) 반영 감액 근거 제시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·결렬 시 Plan B : 市 사용권 공개입찰 (임대 안) 참여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투자비 인정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해지시지급금의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총사업비 반영 여부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·「기존시설 취득비」 성격으로 총사업비 산입 협의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·불인정 시 운영기간 · 사용료 조정으로 보전 요구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정책 · 일정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시장 재판 결과에 따른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시정 방향 변경 가능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·’26년 내 사전협의 완료 · ’27.1Q 제안서 접수로 행정절차 선점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·「재정 無 · 공공성」 중심 명분 → 시장 교체와 무관하게 지속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수요 · 운영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푸드존 비수기 공동화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수상시설 안전 이슈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·세빛섬 행사 수요 송객 + 한강버스 이용객 흡수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·부유체 · 계류 안전 보강비 리모델링 예산 반영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7" name="TextBox 257"/>
          <p:cNvSpPr txBox="1"/>
          <p:nvPr/>
        </p:nvSpPr>
        <p:spPr>
          <a:xfrm>
            <a:off x="216000" y="5508000"/>
            <a:ext cx="6426000" cy="288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즉시 착수 과제 (’26.10 ~ 12월) – 담당별 할 일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258" name="표 258"/>
          <p:cNvGraphicFramePr>
            <a:graphicFrameLocks noGrp="1"/>
          </p:cNvGraphicFramePr>
          <p:nvPr/>
        </p:nvGraphicFramePr>
        <p:xfrm>
          <a:off x="323999" y="5796000"/>
          <a:ext cx="6317999" cy="1332000"/>
        </p:xfrm>
        <a:graphic>
          <a:graphicData uri="http://schemas.openxmlformats.org/drawingml/2006/table">
            <a:tbl>
              <a:tblPr firstRow="1" bandRow="1"/>
              <a:tblGrid>
                <a:gridCol w="827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담 당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할 일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산출물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전략 · 개발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·市 사전협의 채널 구축 / 통합 사업구상 확정 / 3자 MOU 추진 / 자문사 RFP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사업구상서 · MOU (안)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 무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·운영기간별 (30 · 40년) 사업성 · NPV 민감도 / 해지시지급금 산정 근거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재무모델 · 투자심의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MD · 운영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·百 협업 층별 MD 초안 / 푸드존 테넌트 Long-list / 통합 프로그램 연간 캘린더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통합 MD 계획 (안)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설 계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·리모델링 기본구상 (MICE 연회장 · 공연장) / 517억 공사비 검증 / 안전보강 범위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기본구상 · 개략 공사비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법무 · 대관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·민투법 적용 법률검토 / 효성 협약 해지 구조 / 市의회 · 언론 대응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법률 의견서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/>
        </p:nvSpPr>
        <p:spPr>
          <a:xfrm>
            <a:off x="323999" y="90000"/>
            <a:ext cx="1234800" cy="198000"/>
          </a:xfrm>
          <a:prstGeom prst="homePlate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① 세빛섬 현황 · 투자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3" name="Shape 123"/>
          <p:cNvSpPr/>
          <p:nvPr/>
        </p:nvSpPr>
        <p:spPr>
          <a:xfrm>
            <a:off x="15876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002060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② 수상푸드존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4" name="Shape 124"/>
          <p:cNvSpPr/>
          <p:nvPr/>
        </p:nvSpPr>
        <p:spPr>
          <a:xfrm>
            <a:off x="28512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③ 통합 효과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5" name="Shape 125"/>
          <p:cNvSpPr/>
          <p:nvPr/>
        </p:nvSpPr>
        <p:spPr>
          <a:xfrm>
            <a:off x="41148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④ 추진 계획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6" name="Shape 126"/>
          <p:cNvSpPr/>
          <p:nvPr/>
        </p:nvSpPr>
        <p:spPr>
          <a:xfrm>
            <a:off x="5378400" y="90000"/>
            <a:ext cx="1234800" cy="198000"/>
          </a:xfrm>
          <a:prstGeom prst="chevron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 wrap="square" lIns="90000" tIns="18000" rIns="90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7F7F7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⑤ 추진 방법</a:t>
            </a:r>
            <a:endParaRPr lang="ko-KR" sz="8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27" name="TextBox 127"/>
          <p:cNvSpPr txBox="1"/>
          <p:nvPr/>
        </p:nvSpPr>
        <p:spPr>
          <a:xfrm>
            <a:off x="216000" y="342000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3. 서울시 「반포 수상푸드존」 – 어떤 모습인가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pic>
        <p:nvPicPr>
          <p:cNvPr id="128" name="위치도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99" y="666000"/>
            <a:ext cx="3131999" cy="1684800"/>
          </a:xfrm>
          <a:prstGeom prst="rect">
            <a:avLst/>
          </a:prstGeom>
        </p:spPr>
      </p:pic>
      <p:pic>
        <p:nvPicPr>
          <p:cNvPr id="129" name="조감도 1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6000" y="666000"/>
            <a:ext cx="3096000" cy="1684800"/>
          </a:xfrm>
          <a:prstGeom prst="rect">
            <a:avLst/>
          </a:prstGeom>
        </p:spPr>
      </p:pic>
      <p:graphicFrame>
        <p:nvGraphicFramePr>
          <p:cNvPr id="130" name="표 130"/>
          <p:cNvGraphicFramePr>
            <a:graphicFrameLocks noGrp="1"/>
          </p:cNvGraphicFramePr>
          <p:nvPr/>
        </p:nvGraphicFramePr>
        <p:xfrm>
          <a:off x="323999" y="2430000"/>
          <a:ext cx="6318000" cy="129600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위치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반포한강공원 달빛무지개분수 – 제1주차장 사이 / 세빛섬에서 약 450m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규모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연면적 2,797㎡ / 지상 2층 / 최대 2,400명 수용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시설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1층 : 음식 판매 15개소 + 한강버스 복합선착장 (계류 10여 척) / 2층 : 카페 · 소공연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주변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야외 공연장 · 요트 선착장 · 수변 산책로 함께 조성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사업비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300억원 수준 (市 재정 추진, 운영 부담 주체 미정)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일정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19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설계 中 → ’26 말 착공 → ’28 말 준공 → ’29 초 개장 (이후 운영사업자 선정)</a:t>
                      </a:r>
                      <a:endParaRPr lang="ko-KR" sz="919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" name="TextBox 131"/>
          <p:cNvSpPr txBox="1"/>
          <p:nvPr/>
        </p:nvSpPr>
        <p:spPr>
          <a:xfrm>
            <a:off x="216000" y="3834000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0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서울시가 추구하는 것 / 안고 있는 고민</a:t>
            </a:r>
            <a:endParaRPr lang="ko-KR" sz="16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2" name="TextBox 132"/>
          <p:cNvSpPr txBox="1"/>
          <p:nvPr/>
        </p:nvSpPr>
        <p:spPr>
          <a:xfrm>
            <a:off x="216000" y="4121999"/>
            <a:ext cx="6426000" cy="468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342000" indent="-115200"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「2030 리버시티 서울」 (’24.4) : 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한강 수상공간 연 1,000만명 이용 / 총 5.5조 중 민간 3.1조 (57%)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marL="342000" indent="-115200">
              <a:spcBef>
                <a:spcPts val="200"/>
              </a:spcBef>
              <a:buNone/>
            </a:pP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• </a:t>
            </a:r>
            <a:r>
              <a:rPr lang="ko-KR" altLang="en-US" sz="105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수상푸드존 = </a:t>
            </a:r>
            <a:r>
              <a:rPr lang="ko-KR" altLang="en-US" sz="10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한강버스 (교통) + 수변 미식 (여가) 이 결합된 반포 수상 거점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graphicFrame>
        <p:nvGraphicFramePr>
          <p:cNvPr id="133" name="표 133"/>
          <p:cNvGraphicFramePr>
            <a:graphicFrameLocks noGrp="1"/>
          </p:cNvGraphicFramePr>
          <p:nvPr/>
        </p:nvGraphicFramePr>
        <p:xfrm>
          <a:off x="323999" y="4662000"/>
          <a:ext cx="6318000" cy="1584000"/>
        </p:xfrm>
        <a:graphic>
          <a:graphicData uri="http://schemas.openxmlformats.org/drawingml/2006/table">
            <a:tbl>
              <a:tblPr firstRow="1" bandRow="1"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 추구 방향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내 용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市의 고민 (운영 리스크)</a:t>
                      </a:r>
                      <a:endParaRPr lang="ko-KR" sz="95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수상공간 일상화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·한강을 「건너는 곳」 → 「머무는 곳」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·한강버스 이용 + 수변 체류 수요 창출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·F&amp;B 단독 시설로는 체류 동기 약함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·한강버스 이용객 → 체류 전환 장치 부재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재정 부담 최소화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·조성은 재정, 운영은 민간 활용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·민간투자 · 공공기여 방식 선호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·운영비 · 유지관리비 (부유체 · 계류) 부담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·운영사업자 확보 가능성 불확실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상생 · 일자리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·소상공인 · 청년 소자본 창업 기회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·15~20개 판매 부스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·영세 입점자만으로는 집객 · 화제성 한계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·비수기 · 야간 공실 → 입점자 이탈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365일 활성화 · 안전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>
                      <a:noFill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·야외공연 · 요트 · 산책로 연계 상시 운영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·수상시설 안전 관리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·겨울 · 우천 · 평일 공동화 우려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  <a:p>
                      <a:pPr marL="90000" indent="-90000">
                        <a:spcBef>
                          <a:spcPts val="0"/>
                        </a:spcBef>
                        <a:buNone/>
                      </a:pPr>
                      <a:r>
                        <a:rPr lang="ko-KR" altLang="en-US" sz="900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·수난 · 시설 안전 전문 운영 역량 필요</a:t>
                      </a:r>
                      <a:endParaRPr lang="ko-KR" sz="900" dirty="0"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54000" marR="54000" marT="25200" marB="252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" name="TextBox 134"/>
          <p:cNvSpPr txBox="1"/>
          <p:nvPr/>
        </p:nvSpPr>
        <p:spPr>
          <a:xfrm>
            <a:off x="216000" y="6336000"/>
            <a:ext cx="6426000" cy="216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 marL="108000" indent="0"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 출처 : 서울시 「2030 리버시티 서울」 한강 수상활성화 종합계획 (’24.4), 반포 수상푸드존 관련 서울시 발표 · 언론 보도 (’24.9, ’26.6)</a:t>
            </a:r>
            <a:endParaRPr lang="ko-KR" sz="8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5" name="TextBox 135"/>
          <p:cNvSpPr txBox="1"/>
          <p:nvPr/>
        </p:nvSpPr>
        <p:spPr>
          <a:xfrm>
            <a:off x="216000" y="6642000"/>
            <a:ext cx="6426000" cy="324000"/>
          </a:xfrm>
          <a:prstGeom prst="rect">
            <a:avLst/>
          </a:prstGeom>
          <a:noFill/>
        </p:spPr>
        <p:txBody>
          <a:bodyPr wrap="square" lIns="36000" tIns="0" rIns="36000" bIns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</a:t>
            </a:r>
            <a:r>
              <a:rPr lang="ko-KR" altLang="en-US" sz="1200" b="1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시사점 – 市에 필요한 것은 「건물」 이 아니라 「집객 엔진 + 운영 파트너」</a:t>
            </a:r>
            <a:endParaRPr lang="ko-KR" sz="12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6" name="Shape 136"/>
          <p:cNvSpPr/>
          <p:nvPr/>
        </p:nvSpPr>
        <p:spPr>
          <a:xfrm>
            <a:off x="323999" y="7002000"/>
            <a:ext cx="1800000" cy="84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 수상푸드존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유입 관문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한강버스 · F&amp;B 15개소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「사람이 내리는 곳」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7" name="Shape 137"/>
          <p:cNvSpPr/>
          <p:nvPr/>
        </p:nvSpPr>
        <p:spPr>
          <a:xfrm>
            <a:off x="2548800" y="7002000"/>
            <a:ext cx="1800000" cy="846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C0000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부족한 것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체류 콘텐츠 · 상시 집객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운영 · 안전 역량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재정 無 운영 주체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4773600" y="7002000"/>
            <a:ext cx="1800000" cy="8460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txBody>
          <a:bodyPr wrap="square" lIns="36000" tIns="18000" rIns="36000" bIns="1800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 (투자 후)</a:t>
            </a:r>
            <a:endParaRPr lang="ko-KR" sz="10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체류 목적지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MICE · 공연 · 프리미엄 F&amp;B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 algn="ctr">
              <a:spcBef>
                <a:spcPts val="200"/>
              </a:spcBef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「머무는 곳」</a:t>
            </a:r>
            <a:endParaRPr lang="ko-KR" sz="90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206800" y="7326000"/>
            <a:ext cx="259200" cy="198000"/>
          </a:xfrm>
          <a:prstGeom prst="left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000"/>
          </a:p>
        </p:txBody>
      </p:sp>
      <p:sp>
        <p:nvSpPr>
          <p:cNvPr id="140" name="Shape 140"/>
          <p:cNvSpPr/>
          <p:nvPr/>
        </p:nvSpPr>
        <p:spPr>
          <a:xfrm>
            <a:off x="4431600" y="7326000"/>
            <a:ext cx="259200" cy="198000"/>
          </a:xfrm>
          <a:prstGeom prst="leftRightArrow">
            <a:avLst/>
          </a:prstGeom>
          <a:solidFill>
            <a:srgbClr val="A6A6A6"/>
          </a:solidFill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endParaRPr lang="ko-KR" sz="1000"/>
          </a:p>
        </p:txBody>
      </p:sp>
      <p:sp>
        <p:nvSpPr>
          <p:cNvPr id="141" name="Shape 141"/>
          <p:cNvSpPr/>
          <p:nvPr/>
        </p:nvSpPr>
        <p:spPr>
          <a:xfrm>
            <a:off x="323999" y="7956000"/>
            <a:ext cx="6318000" cy="432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wrap="square" lIns="108000" tIns="18000" rIns="108000" bIns="18000" anchor="ctr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002060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▶ 결론  </a:t>
            </a:r>
            <a:r>
              <a:rPr lang="ko-KR" altLang="en-US" sz="950" dirty="0">
                <a:solidFill>
                  <a:srgbClr val="262626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푸드존이 못 가진 「체류 · 집객 · 운영 역량」 을 세빛섬이 보유 → 두 시설을 하나로 묶어 공모 (통합 운영) 할 때 市 목표와 당사 사업성이 동시에 달성됨 (→ p.3)</a:t>
            </a:r>
            <a:endParaRPr lang="ko-KR" sz="950" dirty="0"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653435-8006-9C2A-1F2A-F41C7B8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C89186D-337B-0F5A-54F5-269572537B1D}"/>
              </a:ext>
            </a:extLst>
          </p:cNvPr>
          <p:cNvSpPr/>
          <p:nvPr/>
        </p:nvSpPr>
        <p:spPr>
          <a:xfrm>
            <a:off x="115888" y="639274"/>
            <a:ext cx="6968959" cy="10695236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■ 사업성 </a:t>
            </a:r>
            <a:r>
              <a:rPr lang="en-US" altLang="ko-KR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/ </a:t>
            </a:r>
            <a:r>
              <a:rPr lang="ko-KR" altLang="en-US" sz="1600" dirty="0"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리스크 분석</a:t>
            </a: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20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 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투자금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817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300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리모델링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517)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/ NPV 150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사업가치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PV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450 –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300)</a:t>
            </a: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•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연평균 매출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163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억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/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세전이익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연간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76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억 수준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신세계 민부리 Light(TTF)" panose="02000600000000020003" pitchFamily="2" charset="-127"/>
              <a:ea typeface="신세계 민부리 Light(TTF)" panose="02000600000000020003" pitchFamily="2" charset="-127"/>
              <a:cs typeface="+mn-cs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endParaRPr lang="en-US" altLang="ko-KR" sz="12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20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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기존 안 대비 </a:t>
            </a:r>
            <a:r>
              <a:rPr lang="ko-KR" altLang="en-US" sz="14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손상차손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배임 이슈 리스크 低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 lvl="0">
              <a:spcBef>
                <a:spcPts val="1800"/>
              </a:spcBef>
              <a:tabLst>
                <a:tab pos="227013" algn="l"/>
                <a:tab pos="1165225" algn="l"/>
              </a:tabLst>
              <a:defRPr/>
            </a:pPr>
            <a:r>
              <a:rPr lang="en-US" altLang="ko-KR" sz="1600" dirty="0">
                <a:solidFill>
                  <a:prstClr val="black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       </a:t>
            </a:r>
            <a:endParaRPr lang="en-US" altLang="ko-KR" sz="1600" dirty="0">
              <a:solidFill>
                <a:prstClr val="black"/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spcBef>
                <a:spcPts val="3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</a:endParaRPr>
          </a:p>
          <a:p>
            <a:pPr>
              <a:buNone/>
            </a:pPr>
            <a:endParaRPr lang="ko-KR" altLang="ko-KR" sz="14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F58A6C2C-0EE2-CAF9-9190-D53CC38EFCB5}"/>
              </a:ext>
            </a:extLst>
          </p:cNvPr>
          <p:cNvSpPr/>
          <p:nvPr/>
        </p:nvSpPr>
        <p:spPr>
          <a:xfrm>
            <a:off x="8593895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build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건설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5CD3358-67DD-F6EA-ECC8-EFCCE99855EB}"/>
              </a:ext>
            </a:extLst>
          </p:cNvPr>
          <p:cNvSpPr/>
          <p:nvPr/>
        </p:nvSpPr>
        <p:spPr>
          <a:xfrm>
            <a:off x="10162980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operate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운영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98FBC92-D756-9837-A6F0-4E818F6CF848}"/>
              </a:ext>
            </a:extLst>
          </p:cNvPr>
          <p:cNvSpPr/>
          <p:nvPr/>
        </p:nvSpPr>
        <p:spPr>
          <a:xfrm>
            <a:off x="11732065" y="1552988"/>
            <a:ext cx="1263715" cy="8925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transfer</a:t>
            </a:r>
          </a:p>
          <a:p>
            <a:pPr algn="ctr"/>
            <a:r>
              <a: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이전</a:t>
            </a:r>
          </a:p>
        </p:txBody>
      </p:sp>
      <p:sp>
        <p:nvSpPr>
          <p:cNvPr id="77" name="Arrow 200">
            <a:extLst>
              <a:ext uri="{FF2B5EF4-FFF2-40B4-BE49-F238E27FC236}">
                <a16:creationId xmlns:a16="http://schemas.microsoft.com/office/drawing/2014/main" id="{E1B8CF29-421A-F19C-16EB-FC3DA8180481}"/>
              </a:ext>
            </a:extLst>
          </p:cNvPr>
          <p:cNvSpPr/>
          <p:nvPr/>
        </p:nvSpPr>
        <p:spPr>
          <a:xfrm>
            <a:off x="9929190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Arrow 201">
            <a:extLst>
              <a:ext uri="{FF2B5EF4-FFF2-40B4-BE49-F238E27FC236}">
                <a16:creationId xmlns:a16="http://schemas.microsoft.com/office/drawing/2014/main" id="{4A8549B0-8C62-964C-D363-9F7293AC0502}"/>
              </a:ext>
            </a:extLst>
          </p:cNvPr>
          <p:cNvSpPr/>
          <p:nvPr/>
        </p:nvSpPr>
        <p:spPr>
          <a:xfrm>
            <a:off x="11523674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BOTDesc 202">
            <a:extLst>
              <a:ext uri="{FF2B5EF4-FFF2-40B4-BE49-F238E27FC236}">
                <a16:creationId xmlns:a16="http://schemas.microsoft.com/office/drawing/2014/main" id="{216EB6F6-DBA8-8043-8BFC-3E7B8F7257E3}"/>
              </a:ext>
            </a:extLst>
          </p:cNvPr>
          <p:cNvSpPr txBox="1"/>
          <p:nvPr/>
        </p:nvSpPr>
        <p:spPr>
          <a:xfrm>
            <a:off x="853070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민간 자본 건설</a:t>
            </a:r>
          </a:p>
        </p:txBody>
      </p:sp>
      <p:sp>
        <p:nvSpPr>
          <p:cNvPr id="83" name="BOTDesc 203">
            <a:extLst>
              <a:ext uri="{FF2B5EF4-FFF2-40B4-BE49-F238E27FC236}">
                <a16:creationId xmlns:a16="http://schemas.microsoft.com/office/drawing/2014/main" id="{E763A81C-E3C1-6167-E705-C5BBB916C482}"/>
              </a:ext>
            </a:extLst>
          </p:cNvPr>
          <p:cNvSpPr txBox="1"/>
          <p:nvPr/>
        </p:nvSpPr>
        <p:spPr>
          <a:xfrm>
            <a:off x="10125194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운영·투자비 회수</a:t>
            </a:r>
          </a:p>
        </p:txBody>
      </p:sp>
      <p:sp>
        <p:nvSpPr>
          <p:cNvPr id="85" name="BOTDesc 204">
            <a:extLst>
              <a:ext uri="{FF2B5EF4-FFF2-40B4-BE49-F238E27FC236}">
                <a16:creationId xmlns:a16="http://schemas.microsoft.com/office/drawing/2014/main" id="{6731DD80-BC2D-C0FF-22A1-BC94672A2614}"/>
              </a:ext>
            </a:extLst>
          </p:cNvPr>
          <p:cNvSpPr txBox="1"/>
          <p:nvPr/>
        </p:nvSpPr>
        <p:spPr>
          <a:xfrm>
            <a:off x="1166252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소유권 국가 이전</a:t>
            </a:r>
          </a:p>
        </p:txBody>
      </p:sp>
      <p:sp>
        <p:nvSpPr>
          <p:cNvPr id="87" name="Rounded Rectangle 300">
            <a:extLst>
              <a:ext uri="{FF2B5EF4-FFF2-40B4-BE49-F238E27FC236}">
                <a16:creationId xmlns:a16="http://schemas.microsoft.com/office/drawing/2014/main" id="{BA4304DB-CFD8-1B0F-F47A-8E109714D314}"/>
              </a:ext>
            </a:extLst>
          </p:cNvPr>
          <p:cNvSpPr/>
          <p:nvPr/>
        </p:nvSpPr>
        <p:spPr>
          <a:xfrm>
            <a:off x="13301150" y="1552988"/>
            <a:ext cx="1263715" cy="89251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RE  </a:t>
            </a:r>
          </a:p>
          <a:p>
            <a:pPr algn="ctr"/>
            <a:r>
              <a:rPr lang="en-US" altLang="ko-KR" sz="1300" b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operate</a:t>
            </a:r>
          </a:p>
          <a:p>
            <a:pPr algn="ctr"/>
            <a:r>
              <a:rPr lang="ko-KR" altLang="en-US" sz="1200" err="1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재공모</a:t>
            </a:r>
            <a:endParaRPr lang="ko-KR" altLang="en-US" sz="120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9" name="BOTDesc 301">
            <a:extLst>
              <a:ext uri="{FF2B5EF4-FFF2-40B4-BE49-F238E27FC236}">
                <a16:creationId xmlns:a16="http://schemas.microsoft.com/office/drawing/2014/main" id="{7EB1E307-508B-F76C-701A-06240A0EF10F}"/>
              </a:ext>
            </a:extLst>
          </p:cNvPr>
          <p:cNvSpPr txBox="1"/>
          <p:nvPr/>
        </p:nvSpPr>
        <p:spPr>
          <a:xfrm>
            <a:off x="13247489" y="2510421"/>
            <a:ext cx="1390087" cy="203200"/>
          </a:xfrm>
          <a:prstGeom prst="rect">
            <a:avLst/>
          </a:prstGeom>
        </p:spPr>
        <p:txBody>
          <a:bodyPr wrap="square" lIns="0" tIns="45720" rIns="0" bIns="0" anchor="t">
            <a:noAutofit/>
          </a:bodyPr>
          <a:lstStyle/>
          <a:p>
            <a:pPr algn="ctr">
              <a:buNone/>
            </a:pPr>
            <a:r>
              <a:rPr lang="ko-KR" altLang="en-US" sz="1100">
                <a:solidFill>
                  <a:prstClr val="black">
                    <a:lumMod val="65000"/>
                    <a:lumOff val="3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공개입찰 재선정</a:t>
            </a:r>
          </a:p>
        </p:txBody>
      </p:sp>
      <p:sp>
        <p:nvSpPr>
          <p:cNvPr id="91" name="Arrow 302">
            <a:extLst>
              <a:ext uri="{FF2B5EF4-FFF2-40B4-BE49-F238E27FC236}">
                <a16:creationId xmlns:a16="http://schemas.microsoft.com/office/drawing/2014/main" id="{5F18E03C-8779-B6F7-D5E8-1AF600D88A5A}"/>
              </a:ext>
            </a:extLst>
          </p:cNvPr>
          <p:cNvSpPr/>
          <p:nvPr/>
        </p:nvSpPr>
        <p:spPr>
          <a:xfrm>
            <a:off x="13108635" y="1850494"/>
            <a:ext cx="120935" cy="297505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CEFBF5-6951-D05E-BFA4-03CB4EF0823C}"/>
              </a:ext>
            </a:extLst>
          </p:cNvPr>
          <p:cNvSpPr txBox="1"/>
          <p:nvPr/>
        </p:nvSpPr>
        <p:spPr bwMode="auto">
          <a:xfrm>
            <a:off x="726130" y="6372352"/>
            <a:ext cx="535273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1)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현금수입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1,773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800" b="1" dirty="0" err="1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세전이익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2,303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+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법인세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,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리모델링 등 △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530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억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현재가치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/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할인율 </a:t>
            </a:r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6.9%</a:t>
            </a:r>
            <a:endParaRPr lang="ko-KR" altLang="en-US" sz="800" dirty="0"/>
          </a:p>
        </p:txBody>
      </p:sp>
      <p:pic>
        <p:nvPicPr>
          <p:cNvPr id="10" name="table">
            <a:extLst>
              <a:ext uri="{FF2B5EF4-FFF2-40B4-BE49-F238E27FC236}">
                <a16:creationId xmlns:a16="http://schemas.microsoft.com/office/drawing/2014/main" id="{87AF4823-BD6A-D342-6DE5-F3A411BAF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18765" y="7089261"/>
            <a:ext cx="63819" cy="9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C990A5-9737-1BC1-5D7A-C132E856F563}"/>
              </a:ext>
            </a:extLst>
          </p:cNvPr>
          <p:cNvSpPr txBox="1"/>
          <p:nvPr/>
        </p:nvSpPr>
        <p:spPr bwMode="auto">
          <a:xfrm>
            <a:off x="7918567" y="3962520"/>
            <a:ext cx="7331148" cy="2387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4000"/>
              </a:spcBef>
              <a:tabLst>
                <a:tab pos="227013" algn="l"/>
                <a:tab pos="1165225" algn="l"/>
              </a:tabLst>
            </a:pPr>
            <a:endParaRPr lang="en-US" altLang="ko-KR" sz="1600" dirty="0">
              <a:latin typeface="신세계 민부리 Bold(TTF)" panose="02000600000000020003" pitchFamily="2" charset="-127"/>
              <a:ea typeface="신세계 민부리 Bold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서울시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–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협의 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(</a:t>
            </a:r>
            <a:r>
              <a:rPr lang="ko-KR" altLang="en-US" sz="12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해지시지급금 지급</a:t>
            </a:r>
            <a:r>
              <a:rPr lang="en-US" altLang="ko-KR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)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후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협약 해지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→ 市로 세빛섬 소유권 이전</a:t>
            </a:r>
            <a:endParaRPr lang="en-US" altLang="ko-KR" sz="1400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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市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,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en-US" sz="1400" u="sng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공개경쟁입찰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로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400" dirty="0" err="1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세빛섬의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신규 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사용자 모집 →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당사 입</a:t>
            </a:r>
            <a:r>
              <a:rPr lang="ko-KR" altLang="en-US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찰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참여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/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시설운영권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  <a:r>
              <a:rPr lang="ko-KR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확보</a:t>
            </a:r>
            <a:r>
              <a:rPr lang="en-US" altLang="ko-KR" sz="14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</a:p>
          <a:p>
            <a:pPr>
              <a:spcBef>
                <a:spcPts val="2500"/>
              </a:spcBef>
              <a:tabLst>
                <a:tab pos="227013" algn="l"/>
                <a:tab pos="1165225" algn="l"/>
              </a:tabLst>
            </a:pP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   ※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입찰 전 협의사항</a:t>
            </a:r>
            <a:endParaRPr lang="en-US" altLang="ko-KR" sz="1400" b="1" dirty="0">
              <a:solidFill>
                <a:prstClr val="black">
                  <a:lumMod val="85000"/>
                  <a:lumOff val="15000"/>
                </a:prstClr>
              </a:solidFill>
              <a:latin typeface="신세계 민부리 Light(TTF)" panose="02000600000000020003" pitchFamily="2" charset="-127"/>
              <a:ea typeface="신세계 민부리 Light(TTF)" panose="02000600000000020003" pitchFamily="2" charset="-127"/>
              <a:sym typeface="Wingdings" pitchFamily="2" charset="2"/>
            </a:endParaRPr>
          </a:p>
          <a:p>
            <a:pPr>
              <a:spcBef>
                <a:spcPts val="2000"/>
              </a:spcBef>
              <a:tabLst>
                <a:tab pos="227013" algn="l"/>
                <a:tab pos="1165225" algn="l"/>
              </a:tabLst>
            </a:pP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           </a:t>
            </a:r>
            <a:r>
              <a:rPr lang="en-US" altLang="ko-KR" sz="1200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사용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료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: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최대 연간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52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억 수준 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/ 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서울시 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협의</a:t>
            </a:r>
            <a:r>
              <a:rPr lang="ko-KR" altLang="en-US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로</a:t>
            </a:r>
            <a:r>
              <a:rPr lang="ko-KR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확정</a:t>
            </a:r>
            <a:r>
              <a:rPr lang="en-US" altLang="ko-KR" sz="1200" b="1" dirty="0"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 </a:t>
            </a:r>
          </a:p>
        </p:txBody>
      </p:sp>
      <p:graphicFrame>
        <p:nvGraphicFramePr>
          <p:cNvPr id="9" name="SummaryMerged">
            <a:extLst>
              <a:ext uri="{FF2B5EF4-FFF2-40B4-BE49-F238E27FC236}">
                <a16:creationId xmlns:a16="http://schemas.microsoft.com/office/drawing/2014/main" id="{2114B267-9ECF-463D-AB04-76E426B891CA}"/>
              </a:ext>
            </a:extLst>
          </p:cNvPr>
          <p:cNvGraphicFramePr>
            <a:graphicFrameLocks noGrp="1"/>
          </p:cNvGraphicFramePr>
          <p:nvPr/>
        </p:nvGraphicFramePr>
        <p:xfrm>
          <a:off x="7636009" y="6883907"/>
          <a:ext cx="6066693" cy="1694835"/>
        </p:xfrm>
        <a:graphic>
          <a:graphicData uri="http://schemas.openxmlformats.org/drawingml/2006/table">
            <a:tbl>
              <a:tblPr/>
              <a:tblGrid>
                <a:gridCol w="2022231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3187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ea typeface="신세계 민부리 Light"/>
                        </a:rPr>
                        <a:t>구 분</a:t>
                      </a: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latin typeface="신세계 민부리 Light"/>
                          <a:ea typeface="신세계 민부리 Light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62626"/>
                          </a:solidFill>
                          <a:latin typeface="신세계 민부리 Light"/>
                          <a:ea typeface="신세계 민부리 Light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소유권 이전 방식</a:t>
                      </a:r>
                      <a:endParaRPr lang="en-US" altLang="ko-KR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사용권 부여 방식</a:t>
                      </a:r>
                    </a:p>
                  </a:txBody>
                  <a:tcPr marL="38100" marR="38100" marT="0" marB="0" anchor="ctr">
                    <a:lnL w="0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기존 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SH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공사 부채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자본잠식</a:t>
                      </a:r>
                      <a:r>
                        <a:rPr lang="en-US" altLang="ko-KR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, 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지체상금 등 사업성 까먹는 요인들 </a:t>
                      </a:r>
                      <a:r>
                        <a:rPr lang="ko-KR" altLang="en-US" sz="1200" b="1" err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안끌고와도</a:t>
                      </a:r>
                      <a:r>
                        <a:rPr lang="ko-KR" altLang="en-US" sz="1200" b="1">
                          <a:solidFill>
                            <a:srgbClr val="003399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된다</a:t>
                      </a: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2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graphicFrame>
        <p:nvGraphicFramePr>
          <p:cNvPr id="6" name="SummaryMerged">
            <a:extLst>
              <a:ext uri="{FF2B5EF4-FFF2-40B4-BE49-F238E27FC236}">
                <a16:creationId xmlns:a16="http://schemas.microsoft.com/office/drawing/2014/main" id="{383D085C-63F2-F053-DF37-F1CE4234B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284727"/>
              </p:ext>
            </p:extLst>
          </p:nvPr>
        </p:nvGraphicFramePr>
        <p:xfrm>
          <a:off x="8593895" y="5967118"/>
          <a:ext cx="5706574" cy="1300024"/>
        </p:xfrm>
        <a:graphic>
          <a:graphicData uri="http://schemas.openxmlformats.org/drawingml/2006/table">
            <a:tbl>
              <a:tblPr/>
              <a:tblGrid>
                <a:gridCol w="1662112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249274">
                <a:tc>
                  <a:txBody>
                    <a:bodyPr/>
                    <a:lstStyle/>
                    <a:p>
                      <a:pPr algn="ctr"/>
                      <a:endParaRPr lang="ko-KR" altLang="en-US" sz="1100" b="1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473854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안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高</a:t>
                      </a:r>
                      <a:endParaRPr lang="en-US" altLang="ko-KR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근저당권 설정 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공간 구성 등</a:t>
                      </a:r>
                      <a:r>
                        <a:rPr lang="en-US" altLang="ko-KR" sz="10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高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5768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변경 안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 </a:t>
                      </a:r>
                      <a:r>
                        <a:rPr lang="en-US" altLang="ko-KR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低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低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리스 부채 가능성 有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sp>
        <p:nvSpPr>
          <p:cNvPr id="13" name="NoteBlock">
            <a:extLst>
              <a:ext uri="{FF2B5EF4-FFF2-40B4-BE49-F238E27FC236}">
                <a16:creationId xmlns:a16="http://schemas.microsoft.com/office/drawing/2014/main" id="{080EDCC6-111F-B7AF-DA2E-1DA38360C51A}"/>
              </a:ext>
            </a:extLst>
          </p:cNvPr>
          <p:cNvSpPr txBox="1"/>
          <p:nvPr/>
        </p:nvSpPr>
        <p:spPr>
          <a:xfrm>
            <a:off x="9484470" y="1131232"/>
            <a:ext cx="3568146" cy="185708"/>
          </a:xfrm>
          <a:prstGeom prst="rect">
            <a:avLst/>
          </a:prstGeom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</a:rPr>
              <a:t>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5B3E8-DF2E-8F88-33C2-9C0B569EEF8C}"/>
              </a:ext>
            </a:extLst>
          </p:cNvPr>
          <p:cNvSpPr txBox="1"/>
          <p:nvPr/>
        </p:nvSpPr>
        <p:spPr bwMode="auto">
          <a:xfrm>
            <a:off x="3499379" y="1337544"/>
            <a:ext cx="257175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＊ 리모델링 투자 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517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</a:rPr>
              <a:t>억 집행 후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FEF69-2804-6B48-0715-8A37F2122AFC}"/>
              </a:ext>
            </a:extLst>
          </p:cNvPr>
          <p:cNvSpPr txBox="1"/>
          <p:nvPr/>
        </p:nvSpPr>
        <p:spPr bwMode="auto">
          <a:xfrm>
            <a:off x="8143488" y="9112296"/>
            <a:ext cx="216452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*  </a:t>
            </a:r>
            <a:r>
              <a:rPr lang="ko-KR" altLang="en-US" sz="800" b="1" dirty="0">
                <a:solidFill>
                  <a:srgbClr val="003399"/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효성 해지시지급금 수준</a:t>
            </a:r>
            <a:endParaRPr lang="ko-KR" altLang="en-US" sz="8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6BAE672-ACA5-7638-D005-F2472DD53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14065"/>
              </p:ext>
            </p:extLst>
          </p:nvPr>
        </p:nvGraphicFramePr>
        <p:xfrm>
          <a:off x="770562" y="2027477"/>
          <a:ext cx="5822596" cy="4315376"/>
        </p:xfrm>
        <a:graphic>
          <a:graphicData uri="http://schemas.openxmlformats.org/drawingml/2006/table">
            <a:tbl>
              <a:tblPr/>
              <a:tblGrid>
                <a:gridCol w="801517">
                  <a:extLst>
                    <a:ext uri="{9D8B030D-6E8A-4147-A177-3AD203B41FA5}">
                      <a16:colId xmlns:a16="http://schemas.microsoft.com/office/drawing/2014/main" val="482799065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4256685836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2556338141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291142938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811841804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1697984603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2306787904"/>
                    </a:ext>
                  </a:extLst>
                </a:gridCol>
                <a:gridCol w="717297">
                  <a:extLst>
                    <a:ext uri="{9D8B030D-6E8A-4147-A177-3AD203B41FA5}">
                      <a16:colId xmlns:a16="http://schemas.microsoft.com/office/drawing/2014/main" val="3313437714"/>
                    </a:ext>
                  </a:extLst>
                </a:gridCol>
              </a:tblGrid>
              <a:tr h="3319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구 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28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. 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下</a:t>
                      </a:r>
                      <a:endParaRPr 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‘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’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58</a:t>
                      </a: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. 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上</a:t>
                      </a:r>
                      <a:endParaRPr 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30</a:t>
                      </a:r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년</a:t>
                      </a:r>
                      <a:r>
                        <a:rPr 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442426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120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4,892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5469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116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156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104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4,726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97789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647932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비용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2,589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909056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67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82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2,519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246829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5182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세전이익</a:t>
                      </a:r>
                      <a:endParaRPr 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2,303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406707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49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74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2,207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77767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</a:t>
                      </a:r>
                      <a:r>
                        <a:rPr lang="ko-KR" altLang="en-US" sz="1000" b="0" i="0" u="none" strike="noStrike" dirty="0" err="1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수상푸드존</a:t>
                      </a:r>
                      <a:r>
                        <a:rPr lang="ko-KR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3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96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021342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현재가치</a:t>
                      </a:r>
                      <a:r>
                        <a:rPr lang="en-US" alt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</a:t>
                      </a:r>
                      <a:r>
                        <a:rPr lang="en-US" altLang="ko-KR" sz="1000" b="1" i="1" u="none" strike="noStrike" baseline="30000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1)</a:t>
                      </a:r>
                      <a:endParaRPr 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50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26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(15)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450</a:t>
                      </a:r>
                      <a:endParaRPr lang="ko-KR" sz="1000" b="1" i="1" u="none" strike="noStrike" dirty="0">
                        <a:solidFill>
                          <a:srgbClr val="000000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59734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세빛섬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168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48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25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(15)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423</a:t>
                      </a: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64875"/>
                  </a:ext>
                </a:extLst>
              </a:tr>
              <a:tr h="3319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  선착장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1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…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sz="1000" b="0" i="0" u="none" strike="noStrike" dirty="0">
                        <a:solidFill>
                          <a:srgbClr val="595959"/>
                        </a:solidFill>
                        <a:effectLst/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595959"/>
                          </a:solidFill>
                          <a:effectLst/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</a:rPr>
                        <a:t>27</a:t>
                      </a:r>
                    </a:p>
                  </a:txBody>
                  <a:tcPr marL="36000" marR="144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644813"/>
                  </a:ext>
                </a:extLst>
              </a:tr>
            </a:tbl>
          </a:graphicData>
        </a:graphic>
      </p:graphicFrame>
      <p:graphicFrame>
        <p:nvGraphicFramePr>
          <p:cNvPr id="12" name="SummaryMerged">
            <a:extLst>
              <a:ext uri="{FF2B5EF4-FFF2-40B4-BE49-F238E27FC236}">
                <a16:creationId xmlns:a16="http://schemas.microsoft.com/office/drawing/2014/main" id="{2371E688-B13B-4C71-133D-8B4A204D8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565798"/>
              </p:ext>
            </p:extLst>
          </p:nvPr>
        </p:nvGraphicFramePr>
        <p:xfrm>
          <a:off x="652656" y="7444304"/>
          <a:ext cx="5930392" cy="1579360"/>
        </p:xfrm>
        <a:graphic>
          <a:graphicData uri="http://schemas.openxmlformats.org/drawingml/2006/table">
            <a:tbl>
              <a:tblPr/>
              <a:tblGrid>
                <a:gridCol w="1059490">
                  <a:extLst>
                    <a:ext uri="{9D8B030D-6E8A-4147-A177-3AD203B41FA5}">
                      <a16:colId xmlns:a16="http://schemas.microsoft.com/office/drawing/2014/main" val="971669266"/>
                    </a:ext>
                  </a:extLst>
                </a:gridCol>
                <a:gridCol w="2435451">
                  <a:extLst>
                    <a:ext uri="{9D8B030D-6E8A-4147-A177-3AD203B41FA5}">
                      <a16:colId xmlns:a16="http://schemas.microsoft.com/office/drawing/2014/main" val="4191278934"/>
                    </a:ext>
                  </a:extLst>
                </a:gridCol>
                <a:gridCol w="2435451">
                  <a:extLst>
                    <a:ext uri="{9D8B030D-6E8A-4147-A177-3AD203B41FA5}">
                      <a16:colId xmlns:a16="http://schemas.microsoft.com/office/drawing/2014/main" val="3773814157"/>
                    </a:ext>
                  </a:extLst>
                </a:gridCol>
              </a:tblGrid>
              <a:tr h="379170">
                <a:tc>
                  <a:txBody>
                    <a:bodyPr/>
                    <a:lstStyle/>
                    <a:p>
                      <a:pPr algn="ctr"/>
                      <a:endParaRPr lang="ko-KR" altLang="en-US" sz="1100" b="1" dirty="0">
                        <a:solidFill>
                          <a:srgbClr val="262626"/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장점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262626"/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신세계 민부리 Light"/>
                        </a:rPr>
                        <a:t>단점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85646"/>
                  </a:ext>
                </a:extLst>
              </a:tr>
              <a:tr h="600095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기존 안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소유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高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근저당권 설정 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공간 구성 등</a:t>
                      </a:r>
                      <a:r>
                        <a:rPr lang="en-US" altLang="ko-KR" sz="10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高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63818"/>
                  </a:ext>
                </a:extLst>
              </a:tr>
              <a:tr h="6000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변경 안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임대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0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 dirty="0" err="1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손상차손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배임 이슈 低</a:t>
                      </a: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운영 자율성 低 </a:t>
                      </a:r>
                      <a:r>
                        <a:rPr lang="en-US" altLang="ko-KR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100" kern="12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TTF)" panose="02000600000000020003" pitchFamily="2" charset="-127"/>
                          <a:ea typeface="신세계 민부리 Light(TTF)" panose="02000600000000020003" pitchFamily="2" charset="-127"/>
                          <a:cs typeface="+mn-cs"/>
                        </a:rPr>
                        <a:t>리스부채 가능성 有</a:t>
                      </a:r>
                      <a:endParaRPr lang="en-US" altLang="ko-KR" sz="1100" kern="1200" dirty="0"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신세계 민부리 Light(TTF)" panose="02000600000000020003" pitchFamily="2" charset="-127"/>
                        <a:ea typeface="신세계 민부리 Light(TTF)" panose="02000600000000020003" pitchFamily="2" charset="-127"/>
                        <a:cs typeface="+mn-cs"/>
                      </a:endParaRPr>
                    </a:p>
                  </a:txBody>
                  <a:tcPr marL="38100" marR="381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299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3C88510-2052-B6CB-BF15-C046F632CFDD}"/>
              </a:ext>
            </a:extLst>
          </p:cNvPr>
          <p:cNvSpPr txBox="1"/>
          <p:nvPr/>
        </p:nvSpPr>
        <p:spPr bwMode="auto">
          <a:xfrm>
            <a:off x="8425875" y="3321538"/>
            <a:ext cx="76367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신세계 민부리 Light(TTF)" panose="02000600000000020003" pitchFamily="2" charset="-127"/>
                <a:ea typeface="신세계 민부리 Light(TTF)" panose="02000600000000020003" pitchFamily="2" charset="-127"/>
                <a:cs typeface="+mn-cs"/>
                <a:sym typeface="Wingdings" pitchFamily="2" charset="2"/>
              </a:rPr>
              <a:t>  </a:t>
            </a:r>
            <a:r>
              <a:rPr lang="en-US" altLang="ko-KR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기존 안 대비 </a:t>
            </a:r>
            <a:r>
              <a:rPr lang="ko-KR" altLang="en-US" sz="1400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손상차손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 </a:t>
            </a:r>
            <a:r>
              <a:rPr lang="en-US" altLang="ko-KR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/ </a:t>
            </a:r>
            <a:r>
              <a:rPr lang="ko-KR" alt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TTF)" panose="02000600000000020003" pitchFamily="2" charset="-127"/>
                <a:ea typeface="신세계 민부리 Light(TTF)" panose="02000600000000020003" pitchFamily="2" charset="-127"/>
                <a:sym typeface="Wingdings" pitchFamily="2" charset="2"/>
              </a:rPr>
              <a:t>배임 이슈 리스크 低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5DD280D-8AA9-D278-3B95-0F0EEB26A0C6}"/>
              </a:ext>
            </a:extLst>
          </p:cNvPr>
          <p:cNvSpPr/>
          <p:nvPr/>
        </p:nvSpPr>
        <p:spPr>
          <a:xfrm>
            <a:off x="6071138" y="5380660"/>
            <a:ext cx="511910" cy="246279"/>
          </a:xfrm>
          <a:prstGeom prst="ellipse">
            <a:avLst/>
          </a:prstGeom>
          <a:ln w="19050">
            <a:solidFill>
              <a:srgbClr val="C00000"/>
            </a:solidFill>
            <a:prstDash val="sysDash"/>
          </a:ln>
        </p:spPr>
        <p:txBody>
          <a:bodyPr wrap="square" rtlCol="0" anchor="ctr">
            <a:spAutoFit/>
          </a:bodyPr>
          <a:lstStyle/>
          <a:p>
            <a:pPr algn="l">
              <a:spcBef>
                <a:spcPts val="1200"/>
              </a:spcBef>
              <a:tabLst>
                <a:tab pos="227013" algn="l"/>
                <a:tab pos="1165225" algn="l"/>
              </a:tabLst>
            </a:pPr>
            <a:endParaRPr lang="ko-KR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04053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1">
              <a:lumMod val="65000"/>
            </a:schemeClr>
          </a:solidFill>
        </a:ln>
      </a:spPr>
      <a:bodyPr wrap="square" rtlCol="0" anchor="ctr">
        <a:spAutoFit/>
      </a:bodyPr>
      <a:lstStyle>
        <a:defPPr algn="l">
          <a:spcBef>
            <a:spcPts val="1200"/>
          </a:spcBef>
          <a:tabLst>
            <a:tab pos="227013" algn="l"/>
            <a:tab pos="1165225" algn="l"/>
          </a:tabLst>
          <a:defRPr sz="1400" dirty="0">
            <a:solidFill>
              <a:prstClr val="black">
                <a:lumMod val="85000"/>
                <a:lumOff val="15000"/>
              </a:prstClr>
            </a:solidFill>
            <a:latin typeface="HY견고딕" panose="02030600000101010101" pitchFamily="18" charset="-127"/>
            <a:ea typeface="HY견고딕" panose="02030600000101010101" pitchFamily="18" charset="-127"/>
            <a:sym typeface="Wingdings" pitchFamily="2" charset="2"/>
          </a:defRPr>
        </a:defPPr>
      </a:lstStyle>
    </a:spDef>
    <a:lnDef>
      <a:spPr>
        <a:ln w="952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88202" tIns="44101" rIns="88202" bIns="44101" numCol="1" rtlCol="0" anchor="ctr" anchorCtr="0" compatLnSpc="1">
        <a:prstTxWarp prst="textNoShape">
          <a:avLst/>
        </a:prstTxWarp>
        <a:spAutoFit/>
      </a:bodyPr>
      <a:lstStyle>
        <a:defPPr algn="ctr" defTabSz="882019" fontAlgn="base">
          <a:lnSpc>
            <a:spcPct val="120000"/>
          </a:lnSpc>
          <a:defRPr kumimoji="1" sz="1000" dirty="0">
            <a:latin typeface="신세계 민부리 Medium(TTF)" panose="02000600000000020003" pitchFamily="2" charset="-127"/>
            <a:ea typeface="신세계 민부리 Medium(TTF)" panose="02000600000000020003" pitchFamily="2" charset="-127"/>
            <a:cs typeface="굴림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D37FF66-CCD5-422E-9A98-F685C5801DDC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bf584b2-190d-4075-a553-d3eacefe0dd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79070FF-D4BE-4694-87A7-E047CC96A985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972f339d-2ec9-4e11-b5fa-93c038fc3017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9e769a94-a688-4b1a-b696-1d635af05004}" enabled="1" method="Privileged" siteId="{d4ffc887-d88d-41cc-bf6a-6bb47ec0f3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5821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SHINSEGAE</dc:creator>
  <dcterms:modified xsi:type="dcterms:W3CDTF">2026-10-06T04:15:38Z</dcterms:modified>
  <dc:title>PowerPoint 프레젠테이션</dc:title>
  <cp:lastPrinted>2026-10-02T06:43:16Z</cp:lastPrinted>
  <cp:lastModifiedBy>정유경(파트너) - 부동산금융팀</cp:lastModifiedBy>
  <dcterms:created xsi:type="dcterms:W3CDTF">2017-03-08T10:10:17Z</dcterms:created>
  <cp:revision>101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772263-e823-4541-b19a-907e15bf13d7_SiteId">
    <vt:lpwstr>d4ffc887-d88d-41cc-bf6a-6bb47ec0f3ca</vt:lpwstr>
  </property>
  <property fmtid="{D5CDD505-2E9C-101B-9397-08002B2CF9AE}" pid="3" name="MSIP_Label_aa772263-e823-4541-b19a-907e15bf13d7_SetDate">
    <vt:lpwstr>2026-10-05T23:49:58Z</vt:lpwstr>
  </property>
  <property fmtid="{D5CDD505-2E9C-101B-9397-08002B2CF9AE}" pid="4" name="MSIP_Label_aa772263-e823-4541-b19a-907e15bf13d7_Name">
    <vt:lpwstr>센트럴-서고터 보호</vt:lpwstr>
  </property>
  <property fmtid="{D5CDD505-2E9C-101B-9397-08002B2CF9AE}" pid="5" name="MSIP_Label_aa772263-e823-4541-b19a-907e15bf13d7_Method">
    <vt:lpwstr>Privileged</vt:lpwstr>
  </property>
  <property fmtid="{D5CDD505-2E9C-101B-9397-08002B2CF9AE}" pid="6" name="MSIP_Label_aa772263-e823-4541-b19a-907e15bf13d7_Enabled">
    <vt:lpwstr>true</vt:lpwstr>
  </property>
  <property fmtid="{D5CDD505-2E9C-101B-9397-08002B2CF9AE}" pid="7" name="MSIP_Label_aa772263-e823-4541-b19a-907e15bf13d7_ContentBits">
    <vt:lpwstr>8</vt:lpwstr>
  </property>
</Properties>
</file>