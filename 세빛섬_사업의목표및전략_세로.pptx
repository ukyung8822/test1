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754880" y="3474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세빛섬 사업협약 변경 제안서</a:t>
            </a:r>
            <a:endParaRPr lang="en-US" sz="750" dirty="0"/>
          </a:p>
          <a:p>
            <a:pPr algn="r" indent="0" marL="0">
              <a:buNone/>
            </a:pPr>
            <a:r>
              <a:rPr lang="en-US" sz="7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사업의 개요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31089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사업의 이해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41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 사업의 목표 및 전략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2801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지속적인 운영 적자로 막대한 사회적 손실 우려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591056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 대규모 투자로 완전 정상화 추진</a:t>
            </a:r>
            <a:endParaRPr lang="en-US" sz="2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회수기간 총 30년의 장기 프로젝트로 전환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02920" y="2505456"/>
            <a:ext cx="45720" cy="16459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" y="2487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사업의 목표 및 전략</a:t>
            </a:r>
            <a:endParaRPr lang="en-US" sz="950" dirty="0"/>
          </a:p>
        </p:txBody>
      </p:sp>
      <p:pic>
        <p:nvPicPr>
          <p:cNvPr id="10" name="Image 0" descr="/tmp/claude-0/-home-user-test1/16a59612-0058-5a5d-988b-cb8827092bbe/scratchpad/photo_lef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0" y="3886200"/>
            <a:ext cx="7562088" cy="12893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88720" y="2743200"/>
            <a:ext cx="5184648" cy="457200"/>
          </a:xfrm>
          <a:prstGeom prst="roundRect">
            <a:avLst>
              <a:gd name="adj" fmla="val 16000"/>
            </a:avLst>
          </a:prstGeom>
          <a:solidFill>
            <a:srgbClr val="A8A8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88720" y="2743200"/>
            <a:ext cx="518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한강의 대표적 상징물이나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운영적자 장기 누적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216152" y="3328416"/>
            <a:ext cx="1463040" cy="14630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289304" y="3328416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단독시설로</a:t>
            </a:r>
            <a:endParaRPr lang="en-US" sz="8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시너지 창출 한계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044952" y="3328416"/>
            <a:ext cx="1463040" cy="14630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18104" y="3328416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단순 상업공간에만 의존해</a:t>
            </a:r>
            <a:endParaRPr lang="en-US" sz="8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단조로운 수익구조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873752" y="3328416"/>
            <a:ext cx="1463040" cy="1463040"/>
          </a:xfrm>
          <a:prstGeom prst="ellipse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8A8A8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46904" y="3328416"/>
            <a:ext cx="13167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기획력 부족 및 체계부재로</a:t>
            </a:r>
            <a:endParaRPr lang="en-US" sz="8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운영역량 미흡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477316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097280" y="4773168"/>
            <a:ext cx="5943600" cy="402336"/>
          </a:xfrm>
          <a:prstGeom prst="roundRect">
            <a:avLst>
              <a:gd name="adj" fmla="val 50000"/>
            </a:avLst>
          </a:prstGeom>
          <a:solidFill>
            <a:srgbClr val="EDEDED">
              <a:alpha val="90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325880" y="477316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2014     </a:t>
            </a:r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무상운영 20년</a:t>
            </a:r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2034     </a:t>
            </a:r>
            <a:pPr algn="ctr"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유상운영 10년</a:t>
            </a:r>
            <a:pPr algn="ct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2044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866644" y="5248656"/>
            <a:ext cx="1828800" cy="292608"/>
          </a:xfrm>
          <a:prstGeom prst="rect">
            <a:avLst/>
          </a:prstGeom>
          <a:solidFill>
            <a:srgbClr val="C2A5EE"/>
          </a:solidFill>
          <a:ln/>
        </p:spPr>
      </p:sp>
      <p:sp>
        <p:nvSpPr>
          <p:cNvPr id="23" name="Shape 20"/>
          <p:cNvSpPr/>
          <p:nvPr/>
        </p:nvSpPr>
        <p:spPr>
          <a:xfrm flipV="1">
            <a:off x="2546604" y="5541264"/>
            <a:ext cx="2468880" cy="256032"/>
          </a:xfrm>
          <a:prstGeom prst="triangle">
            <a:avLst/>
          </a:prstGeom>
          <a:solidFill>
            <a:srgbClr val="C2A5E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866644" y="52486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리뉴얼 </a:t>
            </a:r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(대규모 신규투자)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1188720" y="5870448"/>
            <a:ext cx="5184648" cy="457200"/>
          </a:xfrm>
          <a:prstGeom prst="roundRect">
            <a:avLst>
              <a:gd name="adj" fmla="val 16000"/>
            </a:avLst>
          </a:prstGeom>
          <a:solidFill>
            <a:srgbClr val="6B35B5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188720" y="5870448"/>
            <a:ext cx="5184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신규투자를 통한 복합콘텐츠 도입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적극적 운영을 통해 글로벌 아이콘으로 도약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369564" y="6729984"/>
            <a:ext cx="822960" cy="0"/>
          </a:xfrm>
          <a:prstGeom prst="line">
            <a:avLst/>
          </a:prstGeom>
          <a:noFill/>
          <a:ln w="63500">
            <a:solidFill>
              <a:srgbClr val="C2A5EE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 flipH="1">
            <a:off x="4646066" y="8193024"/>
            <a:ext cx="464515" cy="292608"/>
          </a:xfrm>
          <a:prstGeom prst="line">
            <a:avLst/>
          </a:prstGeom>
          <a:noFill/>
          <a:ln w="63500">
            <a:solidFill>
              <a:srgbClr val="C2A5EE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H="1" flipV="1">
            <a:off x="2451506" y="8193024"/>
            <a:ext cx="464515" cy="292608"/>
          </a:xfrm>
          <a:prstGeom prst="line">
            <a:avLst/>
          </a:prstGeom>
          <a:noFill/>
          <a:ln w="63500">
            <a:solidFill>
              <a:srgbClr val="C2A5EE"/>
            </a:solidFill>
            <a:prstDash val="solid"/>
            <a:tailEnd type="triangle"/>
          </a:ln>
        </p:spPr>
      </p:sp>
      <p:sp>
        <p:nvSpPr>
          <p:cNvPr id="30" name="Shape 27"/>
          <p:cNvSpPr/>
          <p:nvPr/>
        </p:nvSpPr>
        <p:spPr>
          <a:xfrm>
            <a:off x="1476756" y="6455664"/>
            <a:ext cx="1682496" cy="1682496"/>
          </a:xfrm>
          <a:prstGeom prst="ellipse">
            <a:avLst/>
          </a:prstGeom>
          <a:solidFill>
            <a:srgbClr val="F4EFFB"/>
          </a:solidFill>
          <a:ln w="19050">
            <a:solidFill>
              <a:srgbClr val="6B35B5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1568196" y="6510528"/>
            <a:ext cx="1499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연계개발 및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리브랜딩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반포 센트럴시티 개발 연계,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'고터-세빛 특구' 통합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브랜딩으로 시너지 극대화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4402836" y="6455664"/>
            <a:ext cx="1682496" cy="1682496"/>
          </a:xfrm>
          <a:prstGeom prst="ellipse">
            <a:avLst/>
          </a:prstGeom>
          <a:solidFill>
            <a:srgbClr val="F4EFFB"/>
          </a:solidFill>
          <a:ln w="19050">
            <a:solidFill>
              <a:srgbClr val="6B35B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494276" y="6510528"/>
            <a:ext cx="1499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 다각화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내·외부 공간의 입체적 활용으로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수익을 다각화하고, 명소화를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통한 지속적인 방문 유도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2939796" y="7370064"/>
            <a:ext cx="1682496" cy="1682496"/>
          </a:xfrm>
          <a:prstGeom prst="ellipse">
            <a:avLst/>
          </a:prstGeom>
          <a:solidFill>
            <a:srgbClr val="F4EFFB"/>
          </a:solidFill>
          <a:ln w="19050">
            <a:solidFill>
              <a:srgbClr val="6B35B5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031236" y="7424928"/>
            <a:ext cx="149961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플랫폼 구축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기후·계절 변화에 대응 가능한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상시 운영 체계 구축 및</a:t>
            </a:r>
            <a:endParaRPr lang="en-US" sz="11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7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안정적인 콘텐츠 공급·관리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1352032" y="6583314"/>
            <a:ext cx="384048" cy="384048"/>
          </a:xfrm>
          <a:prstGeom prst="ellipse">
            <a:avLst/>
          </a:prstGeom>
          <a:solidFill>
            <a:srgbClr val="6B35B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184" y="6656466"/>
            <a:ext cx="237744" cy="237744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826008" y="6583314"/>
            <a:ext cx="384048" cy="384048"/>
          </a:xfrm>
          <a:prstGeom prst="ellipse">
            <a:avLst/>
          </a:prstGeom>
          <a:solidFill>
            <a:srgbClr val="6B35B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9160" y="6656466"/>
            <a:ext cx="237744" cy="237744"/>
          </a:xfrm>
          <a:prstGeom prst="rect">
            <a:avLst/>
          </a:prstGeom>
        </p:spPr>
      </p:pic>
      <p:sp>
        <p:nvSpPr>
          <p:cNvPr id="40" name="Shape 35"/>
          <p:cNvSpPr/>
          <p:nvPr/>
        </p:nvSpPr>
        <p:spPr>
          <a:xfrm>
            <a:off x="3589020" y="8897112"/>
            <a:ext cx="384048" cy="384048"/>
          </a:xfrm>
          <a:prstGeom prst="ellipse">
            <a:avLst/>
          </a:prstGeom>
          <a:solidFill>
            <a:srgbClr val="6B35B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2172" y="8970264"/>
            <a:ext cx="237744" cy="237744"/>
          </a:xfrm>
          <a:prstGeom prst="rect">
            <a:avLst/>
          </a:prstGeom>
        </p:spPr>
      </p:pic>
      <p:sp>
        <p:nvSpPr>
          <p:cNvPr id="42" name="Shape 36"/>
          <p:cNvSpPr/>
          <p:nvPr/>
        </p:nvSpPr>
        <p:spPr>
          <a:xfrm>
            <a:off x="3049524" y="6967728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6B35B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3049524" y="696772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GLOBAL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 LANDMARK</a:t>
            </a:r>
            <a:endParaRPr lang="en-US" sz="800" dirty="0"/>
          </a:p>
        </p:txBody>
      </p:sp>
      <p:sp>
        <p:nvSpPr>
          <p:cNvPr id="44" name="Text 38"/>
          <p:cNvSpPr txBox="1"/>
          <p:nvPr/>
        </p:nvSpPr>
        <p:spPr>
          <a:xfrm>
            <a:off x="502920" y="9473184"/>
            <a:ext cx="65562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A1A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운영 정상화를 위한 신규투자 진행 시, 무상 운영기간 총 30년 이상 필요</a:t>
            </a:r>
            <a:endParaRPr lang="en-US" sz="10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C230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'23년 철도법 개정으로, 민간철도역사 점용기간 30년 → 50년 연장</a:t>
            </a:r>
            <a:endParaRPr lang="en-US" sz="1050" dirty="0"/>
          </a:p>
        </p:txBody>
      </p:sp>
      <p:sp>
        <p:nvSpPr>
          <p:cNvPr id="45" name="Text 39"/>
          <p:cNvSpPr txBox="1"/>
          <p:nvPr/>
        </p:nvSpPr>
        <p:spPr>
          <a:xfrm>
            <a:off x="502920" y="9985248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35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</a:t>
            </a:r>
            <a:endParaRPr lang="en-US" sz="1300" dirty="0"/>
          </a:p>
        </p:txBody>
      </p:sp>
      <p:sp>
        <p:nvSpPr>
          <p:cNvPr id="46" name="Shape 40"/>
          <p:cNvSpPr/>
          <p:nvPr/>
        </p:nvSpPr>
        <p:spPr>
          <a:xfrm>
            <a:off x="1097280" y="9985248"/>
            <a:ext cx="5943600" cy="402336"/>
          </a:xfrm>
          <a:prstGeom prst="roundRect">
            <a:avLst>
              <a:gd name="adj" fmla="val 50000"/>
            </a:avLst>
          </a:prstGeom>
          <a:solidFill>
            <a:srgbClr val="C2A5EE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1325880" y="9985248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2028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무상운영 30년             </a:t>
            </a:r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2058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2026-10-28T08:23:11Z</dcterms:created>
  <dcterms:modified xsi:type="dcterms:W3CDTF">2026-10-28T08:23:11Z</dcterms:modified>
</cp:coreProperties>
</file>