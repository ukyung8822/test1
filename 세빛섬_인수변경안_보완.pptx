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461" r:id="rId2"/>
    <p:sldId id="2145714270" r:id="rId13"/>
    <p:sldId id="2145714271" r:id="rId14"/>
    <p:sldId id="2145714272" r:id="rId15"/>
    <p:sldId id="463" r:id="rId3"/>
    <p:sldId id="2145714269" r:id="rId4"/>
    <p:sldId id="2145714273" r:id="rId16"/>
    <p:sldId id="2145714268" r:id="rId5"/>
  </p:sldIdLst>
  <p:sldSz cx="6858000" cy="9906000" type="A4"/>
  <p:notesSz cx="6735763" cy="9866313"/>
  <p:defaultTextStyle>
    <a:defPPr>
      <a:defRPr lang="ko-KR"/>
    </a:defPPr>
    <a:lvl1pPr marL="0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7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75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35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93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52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10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69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025" userDrawn="1">
          <p15:clr>
            <a:srgbClr val="A4A3A4"/>
          </p15:clr>
        </p15:guide>
        <p15:guide id="2" orient="horz" pos="6114" userDrawn="1">
          <p15:clr>
            <a:srgbClr val="A4A3A4"/>
          </p15:clr>
        </p15:guide>
        <p15:guide id="3" orient="horz" pos="1850" userDrawn="1">
          <p15:clr>
            <a:srgbClr val="A4A3A4"/>
          </p15:clr>
        </p15:guide>
        <p15:guide id="5" orient="horz" pos="3868" userDrawn="1">
          <p15:clr>
            <a:srgbClr val="A4A3A4"/>
          </p15:clr>
        </p15:guide>
        <p15:guide id="6" orient="horz" pos="3551" userDrawn="1">
          <p15:clr>
            <a:srgbClr val="A4A3A4"/>
          </p15:clr>
        </p15:guide>
        <p15:guide id="7" pos="73" userDrawn="1">
          <p15:clr>
            <a:srgbClr val="A4A3A4"/>
          </p15:clr>
        </p15:guide>
        <p15:guide id="10" pos="1933" userDrawn="1">
          <p15:clr>
            <a:srgbClr val="A4A3A4"/>
          </p15:clr>
        </p15:guide>
        <p15:guide id="15" pos="4156" userDrawn="1">
          <p15:clr>
            <a:srgbClr val="A4A3A4"/>
          </p15:clr>
        </p15:guide>
        <p15:guide id="16" pos="414" userDrawn="1">
          <p15:clr>
            <a:srgbClr val="A4A3A4"/>
          </p15:clr>
        </p15:guide>
        <p15:guide id="17" orient="horz" pos="3007" userDrawn="1">
          <p15:clr>
            <a:srgbClr val="A4A3A4"/>
          </p15:clr>
        </p15:guide>
        <p15:guide id="18" orient="horz" pos="1419" userDrawn="1">
          <p15:clr>
            <a:srgbClr val="A4A3A4"/>
          </p15:clr>
        </p15:guide>
        <p15:guide id="19" pos="300" userDrawn="1">
          <p15:clr>
            <a:srgbClr val="A4A3A4"/>
          </p15:clr>
        </p15:guide>
        <p15:guide id="20" pos="66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신혜(파트너) - 부동산금융팀" initials="황-부" lastIdx="1" clrIdx="0">
    <p:extLst>
      <p:ext uri="{19B8F6BF-5375-455C-9EA6-DF929625EA0E}">
        <p15:presenceInfo xmlns:p15="http://schemas.microsoft.com/office/powerpoint/2012/main" userId="황신혜(파트너) - 부동산금융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F2F2F2"/>
    <a:srgbClr val="1E236E"/>
    <a:srgbClr val="E6F2F6"/>
    <a:srgbClr val="D7EAF1"/>
    <a:srgbClr val="FFFFFF"/>
    <a:srgbClr val="FFFF66"/>
    <a:srgbClr val="0000FF"/>
    <a:srgbClr val="0D884F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C1C35A-5266-48D9-A748-AF098CE74BA8}" v="118" dt="2026-09-15T05:20:04.894"/>
    <p1510:client id="{747D17A9-F1C5-4B29-A161-5D23BECA1C99}" v="9014" dt="2026-09-15T23:59:05.064"/>
    <p1510:client id="{994B28C7-1DE2-4FD5-A326-7BA87FBCA7C6}" v="4496" dt="2026-09-15T11:23:24.290"/>
    <p1510:client id="{AD33A71C-E486-4D1E-9E32-97DF2B2ED220}" v="5758" dt="2026-09-16T00:10:02.182"/>
    <p1510:client id="{EBC27CD7-E218-47A1-AE40-1FC25AB1CB18}" v="7" dt="2026-09-15T08:04:31.3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98" d="100"/>
          <a:sy n="98" d="100"/>
        </p:scale>
        <p:origin x="90" y="-24"/>
      </p:cViewPr>
      <p:guideLst>
        <p:guide orient="horz" pos="5025"/>
        <p:guide orient="horz" pos="6114"/>
        <p:guide orient="horz" pos="1850"/>
        <p:guide orient="horz" pos="3868"/>
        <p:guide orient="horz" pos="3551"/>
        <p:guide pos="73"/>
        <p:guide pos="1933"/>
        <p:guide pos="4156"/>
        <p:guide pos="414"/>
        <p:guide orient="horz" pos="3007"/>
        <p:guide orient="horz" pos="1419"/>
        <p:guide pos="300"/>
        <p:guide pos="6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  <Relationship Id="rId13" Type="http://schemas.openxmlformats.org/officeDocument/2006/relationships/slide" Target="slides/slide5.xml"/>
  <Relationship Id="rId14" Type="http://schemas.openxmlformats.org/officeDocument/2006/relationships/slide" Target="slides/slide6.xml"/>
  <Relationship Id="rId15" Type="http://schemas.openxmlformats.org/officeDocument/2006/relationships/slide" Target="slides/slide7.xml"/>
  <Relationship Id="rId16" Type="http://schemas.openxmlformats.org/officeDocument/2006/relationships/slide" Target="slides/slide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5" y="11"/>
            <a:ext cx="2918831" cy="493315"/>
          </a:xfrm>
          <a:prstGeom prst="rect">
            <a:avLst/>
          </a:prstGeom>
        </p:spPr>
        <p:txBody>
          <a:bodyPr vert="horz" lIns="90356" tIns="45175" rIns="90356" bIns="4517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98" y="11"/>
            <a:ext cx="2918831" cy="493315"/>
          </a:xfrm>
          <a:prstGeom prst="rect">
            <a:avLst/>
          </a:prstGeom>
        </p:spPr>
        <p:txBody>
          <a:bodyPr vert="horz" lIns="90356" tIns="45175" rIns="90356" bIns="45175" rtlCol="0"/>
          <a:lstStyle>
            <a:lvl1pPr algn="r">
              <a:defRPr sz="1200"/>
            </a:lvl1pPr>
          </a:lstStyle>
          <a:p>
            <a:fld id="{83D697D7-1998-415A-9AF2-776AF61F1F3B}" type="datetimeFigureOut">
              <a:rPr lang="ko-KR" altLang="en-US" smtClean="0"/>
              <a:pPr/>
              <a:t>2026-10-01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87563" y="739775"/>
            <a:ext cx="2560637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356" tIns="45175" rIns="90356" bIns="451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8" y="4686534"/>
            <a:ext cx="5388610" cy="4439841"/>
          </a:xfrm>
          <a:prstGeom prst="rect">
            <a:avLst/>
          </a:prstGeom>
        </p:spPr>
        <p:txBody>
          <a:bodyPr vert="horz" lIns="90356" tIns="45175" rIns="90356" bIns="45175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5" y="9371299"/>
            <a:ext cx="2918831" cy="493315"/>
          </a:xfrm>
          <a:prstGeom prst="rect">
            <a:avLst/>
          </a:prstGeom>
        </p:spPr>
        <p:txBody>
          <a:bodyPr vert="horz" lIns="90356" tIns="45175" rIns="90356" bIns="4517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98" y="9371299"/>
            <a:ext cx="2918831" cy="493315"/>
          </a:xfrm>
          <a:prstGeom prst="rect">
            <a:avLst/>
          </a:prstGeom>
        </p:spPr>
        <p:txBody>
          <a:bodyPr vert="horz" lIns="90356" tIns="45175" rIns="90356" bIns="45175" rtlCol="0" anchor="b"/>
          <a:lstStyle>
            <a:lvl1pPr algn="r">
              <a:defRPr sz="1200"/>
            </a:lvl1pPr>
          </a:lstStyle>
          <a:p>
            <a:fld id="{7BEC73BA-470C-465C-BD13-ED77CE7BBDE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486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7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5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35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93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52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10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69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C31CC-C9A1-0080-8C05-E84994457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9308A4-6E9C-A87C-9CA8-A9A730C58A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45FB33-F062-2CEF-1766-913C6835E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D1B8F6-FB26-FB5B-D1F4-9298DD7488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C73BA-470C-465C-BD13-ED77CE7BBDE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4978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A880-4D0E-2517-25BC-2C1BD910E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D96D0E-7A43-A5CA-01FF-C7035FDAD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B6600E-A3B1-3EE8-4BF6-20177E7A4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E19981-974A-5DAF-DEBC-A60E94492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C73BA-470C-465C-BD13-ED77CE7BBDE8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823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D1A6B-496C-222F-0752-273E46081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E04A5C-9D01-3EE1-A4EE-AA282A3784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1CBA00-C9CE-F96A-FAA6-275D0D1A8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B4B391-ECAD-C008-7189-C70841846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C73BA-470C-465C-BD13-ED77CE7BBDE8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569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8AEB5-46E9-4315-D4D9-95F0F6641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7B4DD3-E902-E162-4081-28D22546A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87563" y="739775"/>
            <a:ext cx="2560637" cy="370046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ACE060-509C-F72C-7804-2A30B43F6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B45B60-028E-8953-8E5E-B391E9F429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C73BA-470C-465C-BD13-ED77CE7BBDE8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615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1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41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820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230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640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050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460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87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528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600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285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3"/>
            <a:ext cx="5829300" cy="1967442"/>
          </a:xfrm>
        </p:spPr>
        <p:txBody>
          <a:bodyPr anchor="t"/>
          <a:lstStyle>
            <a:lvl1pPr algn="l">
              <a:defRPr sz="3858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9"/>
            <a:ext cx="5829300" cy="2166936"/>
          </a:xfrm>
        </p:spPr>
        <p:txBody>
          <a:bodyPr anchor="b"/>
          <a:lstStyle>
            <a:lvl1pPr marL="0" indent="0">
              <a:buNone/>
              <a:defRPr sz="1929">
                <a:solidFill>
                  <a:schemeClr val="tx1">
                    <a:tint val="75000"/>
                  </a:schemeClr>
                </a:solidFill>
              </a:defRPr>
            </a:lvl1pPr>
            <a:lvl2pPr marL="441009" indent="0">
              <a:buNone/>
              <a:defRPr sz="1736">
                <a:solidFill>
                  <a:schemeClr val="tx1">
                    <a:tint val="75000"/>
                  </a:schemeClr>
                </a:solidFill>
              </a:defRPr>
            </a:lvl2pPr>
            <a:lvl3pPr marL="88201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3pPr>
            <a:lvl4pPr marL="1323029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4pPr>
            <a:lvl5pPr marL="1764039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5pPr>
            <a:lvl6pPr marL="2205049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6pPr>
            <a:lvl7pPr marL="2646058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7pPr>
            <a:lvl8pPr marL="3087068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8pPr>
            <a:lvl9pPr marL="352807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074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82" y="3081870"/>
            <a:ext cx="2257425" cy="8715905"/>
          </a:xfrm>
        </p:spPr>
        <p:txBody>
          <a:bodyPr/>
          <a:lstStyle>
            <a:lvl1pPr>
              <a:defRPr sz="2701"/>
            </a:lvl1pPr>
            <a:lvl2pPr>
              <a:defRPr sz="2315"/>
            </a:lvl2pPr>
            <a:lvl3pPr>
              <a:defRPr sz="1929"/>
            </a:lvl3pPr>
            <a:lvl4pPr>
              <a:defRPr sz="1736"/>
            </a:lvl4pPr>
            <a:lvl5pPr>
              <a:defRPr sz="1736"/>
            </a:lvl5pPr>
            <a:lvl6pPr>
              <a:defRPr sz="1736"/>
            </a:lvl6pPr>
            <a:lvl7pPr>
              <a:defRPr sz="1736"/>
            </a:lvl7pPr>
            <a:lvl8pPr>
              <a:defRPr sz="1736"/>
            </a:lvl8pPr>
            <a:lvl9pPr>
              <a:defRPr sz="173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6" y="3081870"/>
            <a:ext cx="2257425" cy="8715905"/>
          </a:xfrm>
        </p:spPr>
        <p:txBody>
          <a:bodyPr/>
          <a:lstStyle>
            <a:lvl1pPr>
              <a:defRPr sz="2701"/>
            </a:lvl1pPr>
            <a:lvl2pPr>
              <a:defRPr sz="2315"/>
            </a:lvl2pPr>
            <a:lvl3pPr>
              <a:defRPr sz="1929"/>
            </a:lvl3pPr>
            <a:lvl4pPr>
              <a:defRPr sz="1736"/>
            </a:lvl4pPr>
            <a:lvl5pPr>
              <a:defRPr sz="1736"/>
            </a:lvl5pPr>
            <a:lvl6pPr>
              <a:defRPr sz="1736"/>
            </a:lvl6pPr>
            <a:lvl7pPr>
              <a:defRPr sz="1736"/>
            </a:lvl7pPr>
            <a:lvl8pPr>
              <a:defRPr sz="1736"/>
            </a:lvl8pPr>
            <a:lvl9pPr>
              <a:defRPr sz="173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223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702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7"/>
            <a:ext cx="3030141" cy="924101"/>
          </a:xfrm>
        </p:spPr>
        <p:txBody>
          <a:bodyPr anchor="b"/>
          <a:lstStyle>
            <a:lvl1pPr marL="0" indent="0">
              <a:buNone/>
              <a:defRPr sz="2315" b="1"/>
            </a:lvl1pPr>
            <a:lvl2pPr marL="441009" indent="0">
              <a:buNone/>
              <a:defRPr sz="1929" b="1"/>
            </a:lvl2pPr>
            <a:lvl3pPr marL="882019" indent="0">
              <a:buNone/>
              <a:defRPr sz="1736" b="1"/>
            </a:lvl3pPr>
            <a:lvl4pPr marL="1323029" indent="0">
              <a:buNone/>
              <a:defRPr sz="1543" b="1"/>
            </a:lvl4pPr>
            <a:lvl5pPr marL="1764039" indent="0">
              <a:buNone/>
              <a:defRPr sz="1543" b="1"/>
            </a:lvl5pPr>
            <a:lvl6pPr marL="2205049" indent="0">
              <a:buNone/>
              <a:defRPr sz="1543" b="1"/>
            </a:lvl6pPr>
            <a:lvl7pPr marL="2646058" indent="0">
              <a:buNone/>
              <a:defRPr sz="1543" b="1"/>
            </a:lvl7pPr>
            <a:lvl8pPr marL="3087068" indent="0">
              <a:buNone/>
              <a:defRPr sz="1543" b="1"/>
            </a:lvl8pPr>
            <a:lvl9pPr marL="3528077" indent="0">
              <a:buNone/>
              <a:defRPr sz="154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7"/>
            <a:ext cx="3030141" cy="5707416"/>
          </a:xfrm>
        </p:spPr>
        <p:txBody>
          <a:bodyPr/>
          <a:lstStyle>
            <a:lvl1pPr>
              <a:defRPr sz="2315"/>
            </a:lvl1pPr>
            <a:lvl2pPr>
              <a:defRPr sz="1929"/>
            </a:lvl2pPr>
            <a:lvl3pPr>
              <a:defRPr sz="1736"/>
            </a:lvl3pPr>
            <a:lvl4pPr>
              <a:defRPr sz="1543"/>
            </a:lvl4pPr>
            <a:lvl5pPr>
              <a:defRPr sz="1543"/>
            </a:lvl5pPr>
            <a:lvl6pPr>
              <a:defRPr sz="1543"/>
            </a:lvl6pPr>
            <a:lvl7pPr>
              <a:defRPr sz="1543"/>
            </a:lvl7pPr>
            <a:lvl8pPr>
              <a:defRPr sz="1543"/>
            </a:lvl8pPr>
            <a:lvl9pPr>
              <a:defRPr sz="154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4" y="2217387"/>
            <a:ext cx="3031331" cy="924101"/>
          </a:xfrm>
        </p:spPr>
        <p:txBody>
          <a:bodyPr anchor="b"/>
          <a:lstStyle>
            <a:lvl1pPr marL="0" indent="0">
              <a:buNone/>
              <a:defRPr sz="2315" b="1"/>
            </a:lvl1pPr>
            <a:lvl2pPr marL="441009" indent="0">
              <a:buNone/>
              <a:defRPr sz="1929" b="1"/>
            </a:lvl2pPr>
            <a:lvl3pPr marL="882019" indent="0">
              <a:buNone/>
              <a:defRPr sz="1736" b="1"/>
            </a:lvl3pPr>
            <a:lvl4pPr marL="1323029" indent="0">
              <a:buNone/>
              <a:defRPr sz="1543" b="1"/>
            </a:lvl4pPr>
            <a:lvl5pPr marL="1764039" indent="0">
              <a:buNone/>
              <a:defRPr sz="1543" b="1"/>
            </a:lvl5pPr>
            <a:lvl6pPr marL="2205049" indent="0">
              <a:buNone/>
              <a:defRPr sz="1543" b="1"/>
            </a:lvl6pPr>
            <a:lvl7pPr marL="2646058" indent="0">
              <a:buNone/>
              <a:defRPr sz="1543" b="1"/>
            </a:lvl7pPr>
            <a:lvl8pPr marL="3087068" indent="0">
              <a:buNone/>
              <a:defRPr sz="1543" b="1"/>
            </a:lvl8pPr>
            <a:lvl9pPr marL="3528077" indent="0">
              <a:buNone/>
              <a:defRPr sz="154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4" y="3141487"/>
            <a:ext cx="3031331" cy="5707416"/>
          </a:xfrm>
        </p:spPr>
        <p:txBody>
          <a:bodyPr/>
          <a:lstStyle>
            <a:lvl1pPr>
              <a:defRPr sz="2315"/>
            </a:lvl1pPr>
            <a:lvl2pPr>
              <a:defRPr sz="1929"/>
            </a:lvl2pPr>
            <a:lvl3pPr>
              <a:defRPr sz="1736"/>
            </a:lvl3pPr>
            <a:lvl4pPr>
              <a:defRPr sz="1543"/>
            </a:lvl4pPr>
            <a:lvl5pPr>
              <a:defRPr sz="1543"/>
            </a:lvl5pPr>
            <a:lvl6pPr>
              <a:defRPr sz="1543"/>
            </a:lvl6pPr>
            <a:lvl7pPr>
              <a:defRPr sz="1543"/>
            </a:lvl7pPr>
            <a:lvl8pPr>
              <a:defRPr sz="1543"/>
            </a:lvl8pPr>
            <a:lvl9pPr>
              <a:defRPr sz="154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395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767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748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6" y="394407"/>
            <a:ext cx="2256235" cy="1678517"/>
          </a:xfrm>
        </p:spPr>
        <p:txBody>
          <a:bodyPr anchor="b"/>
          <a:lstStyle>
            <a:lvl1pPr algn="l">
              <a:defRPr sz="1929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93" y="394406"/>
            <a:ext cx="3833813" cy="8454497"/>
          </a:xfrm>
        </p:spPr>
        <p:txBody>
          <a:bodyPr/>
          <a:lstStyle>
            <a:lvl1pPr>
              <a:defRPr sz="3087"/>
            </a:lvl1pPr>
            <a:lvl2pPr>
              <a:defRPr sz="2701"/>
            </a:lvl2pPr>
            <a:lvl3pPr>
              <a:defRPr sz="2315"/>
            </a:lvl3pPr>
            <a:lvl4pPr>
              <a:defRPr sz="1929"/>
            </a:lvl4pPr>
            <a:lvl5pPr>
              <a:defRPr sz="1929"/>
            </a:lvl5pPr>
            <a:lvl6pPr>
              <a:defRPr sz="1929"/>
            </a:lvl6pPr>
            <a:lvl7pPr>
              <a:defRPr sz="1929"/>
            </a:lvl7pPr>
            <a:lvl8pPr>
              <a:defRPr sz="1929"/>
            </a:lvl8pPr>
            <a:lvl9pPr>
              <a:defRPr sz="192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6" y="2072926"/>
            <a:ext cx="2256235" cy="6775981"/>
          </a:xfrm>
        </p:spPr>
        <p:txBody>
          <a:bodyPr/>
          <a:lstStyle>
            <a:lvl1pPr marL="0" indent="0">
              <a:buNone/>
              <a:defRPr sz="1350"/>
            </a:lvl1pPr>
            <a:lvl2pPr marL="441009" indent="0">
              <a:buNone/>
              <a:defRPr sz="1158"/>
            </a:lvl2pPr>
            <a:lvl3pPr marL="882019" indent="0">
              <a:buNone/>
              <a:defRPr sz="965"/>
            </a:lvl3pPr>
            <a:lvl4pPr marL="1323029" indent="0">
              <a:buNone/>
              <a:defRPr sz="868"/>
            </a:lvl4pPr>
            <a:lvl5pPr marL="1764039" indent="0">
              <a:buNone/>
              <a:defRPr sz="868"/>
            </a:lvl5pPr>
            <a:lvl6pPr marL="2205049" indent="0">
              <a:buNone/>
              <a:defRPr sz="868"/>
            </a:lvl6pPr>
            <a:lvl7pPr marL="2646058" indent="0">
              <a:buNone/>
              <a:defRPr sz="868"/>
            </a:lvl7pPr>
            <a:lvl8pPr marL="3087068" indent="0">
              <a:buNone/>
              <a:defRPr sz="868"/>
            </a:lvl8pPr>
            <a:lvl9pPr marL="3528077" indent="0">
              <a:buNone/>
              <a:defRPr sz="86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471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1"/>
          </a:xfrm>
        </p:spPr>
        <p:txBody>
          <a:bodyPr anchor="b"/>
          <a:lstStyle>
            <a:lvl1pPr algn="l">
              <a:defRPr sz="1929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087"/>
            </a:lvl1pPr>
            <a:lvl2pPr marL="441009" indent="0">
              <a:buNone/>
              <a:defRPr sz="2701"/>
            </a:lvl2pPr>
            <a:lvl3pPr marL="882019" indent="0">
              <a:buNone/>
              <a:defRPr sz="2315"/>
            </a:lvl3pPr>
            <a:lvl4pPr marL="1323029" indent="0">
              <a:buNone/>
              <a:defRPr sz="1929"/>
            </a:lvl4pPr>
            <a:lvl5pPr marL="1764039" indent="0">
              <a:buNone/>
              <a:defRPr sz="1929"/>
            </a:lvl5pPr>
            <a:lvl6pPr marL="2205049" indent="0">
              <a:buNone/>
              <a:defRPr sz="1929"/>
            </a:lvl6pPr>
            <a:lvl7pPr marL="2646058" indent="0">
              <a:buNone/>
              <a:defRPr sz="1929"/>
            </a:lvl7pPr>
            <a:lvl8pPr marL="3087068" indent="0">
              <a:buNone/>
              <a:defRPr sz="1929"/>
            </a:lvl8pPr>
            <a:lvl9pPr marL="3528077" indent="0">
              <a:buNone/>
              <a:defRPr sz="1929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2"/>
            <a:ext cx="4114800" cy="1162579"/>
          </a:xfrm>
        </p:spPr>
        <p:txBody>
          <a:bodyPr/>
          <a:lstStyle>
            <a:lvl1pPr marL="0" indent="0">
              <a:buNone/>
              <a:defRPr sz="1350"/>
            </a:lvl1pPr>
            <a:lvl2pPr marL="441009" indent="0">
              <a:buNone/>
              <a:defRPr sz="1158"/>
            </a:lvl2pPr>
            <a:lvl3pPr marL="882019" indent="0">
              <a:buNone/>
              <a:defRPr sz="965"/>
            </a:lvl3pPr>
            <a:lvl4pPr marL="1323029" indent="0">
              <a:buNone/>
              <a:defRPr sz="868"/>
            </a:lvl4pPr>
            <a:lvl5pPr marL="1764039" indent="0">
              <a:buNone/>
              <a:defRPr sz="868"/>
            </a:lvl5pPr>
            <a:lvl6pPr marL="2205049" indent="0">
              <a:buNone/>
              <a:defRPr sz="868"/>
            </a:lvl6pPr>
            <a:lvl7pPr marL="2646058" indent="0">
              <a:buNone/>
              <a:defRPr sz="868"/>
            </a:lvl7pPr>
            <a:lvl8pPr marL="3087068" indent="0">
              <a:buNone/>
              <a:defRPr sz="868"/>
            </a:lvl8pPr>
            <a:lvl9pPr marL="3528077" indent="0">
              <a:buNone/>
              <a:defRPr sz="86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208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329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700"/>
            <a:ext cx="1157288" cy="1126807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700"/>
            <a:ext cx="3357563" cy="1126807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79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702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4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8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F66C5-9CC5-4920-8C7D-4C917F0FD76F}" type="datetimeFigureOut">
              <a:rPr lang="ko-KR" altLang="en-US" smtClean="0"/>
              <a:pPr/>
              <a:t>2026-10-01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1" y="9181398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8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105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82019" rtl="0" eaLnBrk="1" latinLnBrk="1" hangingPunct="1">
        <a:spcBef>
          <a:spcPct val="0"/>
        </a:spcBef>
        <a:buNone/>
        <a:defRPr sz="42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757" indent="-330757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3087" kern="1200">
          <a:solidFill>
            <a:schemeClr val="tx1"/>
          </a:solidFill>
          <a:latin typeface="+mn-lt"/>
          <a:ea typeface="+mn-ea"/>
          <a:cs typeface="+mn-cs"/>
        </a:defRPr>
      </a:lvl1pPr>
      <a:lvl2pPr marL="716641" indent="-275630" algn="l" defTabSz="882019" rtl="0" eaLnBrk="1" latinLnBrk="1" hangingPunct="1">
        <a:spcBef>
          <a:spcPct val="20000"/>
        </a:spcBef>
        <a:buFont typeface="Arial" panose="020B0604020202020204" pitchFamily="34" charset="0"/>
        <a:buChar char="–"/>
        <a:defRPr sz="2701" kern="1200">
          <a:solidFill>
            <a:schemeClr val="tx1"/>
          </a:solidFill>
          <a:latin typeface="+mn-lt"/>
          <a:ea typeface="+mn-ea"/>
          <a:cs typeface="+mn-cs"/>
        </a:defRPr>
      </a:lvl2pPr>
      <a:lvl3pPr marL="1102524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3pPr>
      <a:lvl4pPr marL="1543534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–"/>
        <a:defRPr sz="1929" kern="1200">
          <a:solidFill>
            <a:schemeClr val="tx1"/>
          </a:solidFill>
          <a:latin typeface="+mn-lt"/>
          <a:ea typeface="+mn-ea"/>
          <a:cs typeface="+mn-cs"/>
        </a:defRPr>
      </a:lvl4pPr>
      <a:lvl5pPr marL="1984543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»"/>
        <a:defRPr sz="1929" kern="1200">
          <a:solidFill>
            <a:schemeClr val="tx1"/>
          </a:solidFill>
          <a:latin typeface="+mn-lt"/>
          <a:ea typeface="+mn-ea"/>
          <a:cs typeface="+mn-cs"/>
        </a:defRPr>
      </a:lvl5pPr>
      <a:lvl6pPr marL="2425553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1929" kern="1200">
          <a:solidFill>
            <a:schemeClr val="tx1"/>
          </a:solidFill>
          <a:latin typeface="+mn-lt"/>
          <a:ea typeface="+mn-ea"/>
          <a:cs typeface="+mn-cs"/>
        </a:defRPr>
      </a:lvl6pPr>
      <a:lvl7pPr marL="2866563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1929" kern="1200">
          <a:solidFill>
            <a:schemeClr val="tx1"/>
          </a:solidFill>
          <a:latin typeface="+mn-lt"/>
          <a:ea typeface="+mn-ea"/>
          <a:cs typeface="+mn-cs"/>
        </a:defRPr>
      </a:lvl7pPr>
      <a:lvl8pPr marL="3307572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1929" kern="1200">
          <a:solidFill>
            <a:schemeClr val="tx1"/>
          </a:solidFill>
          <a:latin typeface="+mn-lt"/>
          <a:ea typeface="+mn-ea"/>
          <a:cs typeface="+mn-cs"/>
        </a:defRPr>
      </a:lvl8pPr>
      <a:lvl9pPr marL="3748583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19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1pPr>
      <a:lvl2pPr marL="441009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2pPr>
      <a:lvl3pPr marL="882019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3pPr>
      <a:lvl4pPr marL="1323029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4pPr>
      <a:lvl5pPr marL="1764039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5pPr>
      <a:lvl6pPr marL="2205049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6pPr>
      <a:lvl7pPr marL="2646058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7pPr>
      <a:lvl8pPr marL="3087068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8pPr>
      <a:lvl9pPr marL="3528077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5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0" y="0"/>
            <a:ext cx="6857999" cy="535531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2400" b="1" u="sng" dirty="0">
                <a:solidFill>
                  <a:srgbClr val="0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세빛섬 인수 변경 안</a:t>
            </a:r>
            <a:endParaRPr lang="ko-KR" sz="24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02" name="TextBox 102"/>
          <p:cNvSpPr txBox="1"/>
          <p:nvPr/>
        </p:nvSpPr>
        <p:spPr>
          <a:xfrm>
            <a:off x="216000" y="612000"/>
            <a:ext cx="6426000" cy="324000"/>
          </a:xfrm>
          <a:prstGeom prst="rect">
            <a:avLst/>
          </a:prstGeom>
          <a:noFill/>
        </p:spPr>
        <p:txBody>
          <a:bodyPr wrap="square" lIns="36000" rIns="36000" tIns="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0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세빛섬 현황 (As-Is)</a:t>
            </a:r>
            <a:endParaRPr lang="ko-KR" sz="16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pic>
        <p:nvPicPr>
          <p:cNvPr id="103" name="세빛섬 전경 103"/>
          <p:cNvPicPr>
            <a:picLocks noChangeAspect="1"/>
          </p:cNvPicPr>
          <p:nvPr/>
        </p:nvPicPr>
        <p:blipFill>
          <a:blip r:embed="rId5"/>
          <a:srcRect l="19638" t="14176" r="19786"/>
          <a:stretch>
            <a:fillRect/>
          </a:stretch>
        </p:blipFill>
        <p:spPr>
          <a:xfrm>
            <a:off x="323999" y="917999"/>
            <a:ext cx="1655999" cy="1007999"/>
          </a:xfrm>
          <a:prstGeom prst="rect">
            <a:avLst/>
          </a:prstGeom>
        </p:spPr>
      </p:pic>
      <p:graphicFrame>
        <p:nvGraphicFramePr>
          <p:cNvPr id="104" name="표 104"/>
          <p:cNvGraphicFramePr>
            <a:graphicFrameLocks noGrp="1"/>
          </p:cNvGraphicFramePr>
          <p:nvPr/>
        </p:nvGraphicFramePr>
        <p:xfrm>
          <a:off x="2051999" y="917999"/>
          <a:ext cx="4590000" cy="1007999"/>
        </p:xfrm>
        <a:graphic>
          <a:graphicData uri="http://schemas.openxmlformats.org/drawingml/2006/table">
            <a:tbl>
              <a:tblPr firstRow="1" bandRow="1"/>
              <a:tblGrid>
                <a:gridCol w="630000"/>
                <a:gridCol w="3960000"/>
              </a:tblGrid>
              <a:tr h="25199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시설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3개 섬 (가빛 · 채빛 · 솔빛, 2,474평) + 예빛 / 웨딩 · 레스토랑 · 뷔페 · 와인바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㈜세빛섬 (효성TNC 63% · SH공사 30% 等) / 총사업비 1,413억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사업기간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BOT 30년 (’14.9 ~ ’44.9 / 무상 20년 + 유상 10년)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現 이슈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광고 불허로 가치 300억 수준 하락 / 효성 인수가 700억대 고수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5" name="TextBox 105"/>
          <p:cNvSpPr txBox="1"/>
          <p:nvPr/>
        </p:nvSpPr>
        <p:spPr>
          <a:xfrm>
            <a:off x="216000" y="2070000"/>
            <a:ext cx="6426000" cy="324000"/>
          </a:xfrm>
          <a:prstGeom prst="rect">
            <a:avLst/>
          </a:prstGeom>
          <a:noFill/>
        </p:spPr>
        <p:txBody>
          <a:bodyPr wrap="square" lIns="36000" rIns="36000" tIns="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0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변경 후 세빛섬 개요 (To-Be) – 「반포 수상 문화지구」</a:t>
            </a:r>
            <a:endParaRPr lang="ko-KR" sz="16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06" name="Shape 106"/>
          <p:cNvSpPr/>
          <p:nvPr/>
        </p:nvSpPr>
        <p:spPr>
          <a:xfrm>
            <a:off x="323999" y="2376000"/>
            <a:ext cx="6318000" cy="34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36000" rIns="36000" tIns="18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BFD0EA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「효성 소유 단독 시설」 → </a:t>
            </a:r>
            <a:r>
              <a:rPr lang="ko-KR" altLang="en-US" sz="105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「市 소유 + 당사 통합 운영 (세빛섬 + 수상푸드존)」</a:t>
            </a:r>
            <a:endParaRPr lang="ko-KR" sz="10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100"/>
              </a:spcBef>
              <a:buNone/>
            </a:pPr>
            <a:r>
              <a:rPr lang="ko-KR" altLang="en-US" sz="950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웨딩 · 레스토랑 중심 단독 시설을 MICE · 공연 · F&amp;B 가 결합된 반포 한강 체류형 복합 문화지구로 전환</a:t>
            </a:r>
            <a:endParaRPr lang="ko-KR" sz="9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107" name="표 107"/>
          <p:cNvGraphicFramePr>
            <a:graphicFrameLocks noGrp="1"/>
          </p:cNvGraphicFramePr>
          <p:nvPr/>
        </p:nvGraphicFramePr>
        <p:xfrm>
          <a:off x="323999" y="2790000"/>
          <a:ext cx="6318000" cy="1778400"/>
        </p:xfrm>
        <a:graphic>
          <a:graphicData uri="http://schemas.openxmlformats.org/drawingml/2006/table">
            <a:tbl>
              <a:tblPr firstRow="1" bandRow="1"/>
              <a:tblGrid>
                <a:gridCol w="972000"/>
                <a:gridCol w="2124000"/>
                <a:gridCol w="3221999"/>
              </a:tblGrid>
              <a:tr h="21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 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현재 (As-Is)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변경 후 (To-Be)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소유 / 운영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효성 SPC 소유 · 운영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市 소유 (협약 해지) / 당사 SPC 관리운영권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사업방식 · 기간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BOT 무상 잔여 ’34년 (이후 유상)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민간투자 BTO / 30년 확보 (’28 ~ ’58), 최대 50년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공간 범위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세빛섬 단독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세빛섬 + 수상푸드존 + 연결 수변 (약 450m) 통합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콘셉트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웨딩 · 레스토랑 중심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MICE · 공연 · F&amp;B 결합 「체류형 수상 문화지구」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수익구조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대관 · F&amp;B + 광고 (매출 45%)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웨딩 · MICE 대관 / 공연 · 전시 / F&amp;B · 푸드존 임대 다변화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투자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추가 투자 정체 · 시설 노후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리모델링 517억 (MICE 연회장 · 공연장 · 안전보강)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공공성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상업시설 위주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옥상 · 데크 시민 개방 / 청년 창업 쿼터 / 수익 공유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108" name="TextBox 108"/>
          <p:cNvSpPr txBox="1"/>
          <p:nvPr/>
        </p:nvSpPr>
        <p:spPr>
          <a:xfrm>
            <a:off x="216000" y="4734000"/>
            <a:ext cx="6426000" cy="288000"/>
          </a:xfrm>
          <a:prstGeom prst="rect">
            <a:avLst/>
          </a:prstGeom>
          <a:noFill/>
        </p:spPr>
        <p:txBody>
          <a:bodyPr wrap="square" lIns="36000" rIns="36000" tIns="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 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시설별 변경 구상 (안)</a:t>
            </a:r>
            <a:endParaRPr lang="ko-KR" sz="13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109" name="표 109"/>
          <p:cNvGraphicFramePr>
            <a:graphicFrameLocks noGrp="1"/>
          </p:cNvGraphicFramePr>
          <p:nvPr/>
        </p:nvGraphicFramePr>
        <p:xfrm>
          <a:off x="323999" y="5004000"/>
          <a:ext cx="6318000" cy="1108800"/>
        </p:xfrm>
        <a:graphic>
          <a:graphicData uri="http://schemas.openxmlformats.org/drawingml/2006/table">
            <a:tbl>
              <a:tblPr firstRow="1" bandRow="1"/>
              <a:tblGrid>
                <a:gridCol w="1080000"/>
                <a:gridCol w="1332000"/>
                <a:gridCol w="3078000"/>
                <a:gridCol w="827999"/>
              </a:tblGrid>
              <a:tr h="21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 설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현재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변경 후 (안)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역할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가빛 (1,487평)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웨딩 / 연회장 · 레스토랑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MICE 연회장 · 웨딩 (메리어트 협업) / 옥상 전망데크 개방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MICE · 웨딩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채빛 (760평)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뷔페 · 전시 · 펍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신규 공연장 (K-컬처 · 소공연) + 미디어아트 전시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공연 · 전시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솔빛 (227평)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와인바 · 공연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百 큐레이션 F&amp;B 라운지 · 브랜드 팝업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F&amp;B · 팝업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수상푸드존 (신규)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–  (’29 초 개장 예정)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F&amp;B 15개소 (청년 쿼터) + 한강버스 선착장 → 유입 관문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유입 · F&amp;B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0" name="TextBox 110"/>
          <p:cNvSpPr txBox="1"/>
          <p:nvPr/>
        </p:nvSpPr>
        <p:spPr>
          <a:xfrm>
            <a:off x="216000" y="6282000"/>
            <a:ext cx="6426000" cy="1188000"/>
          </a:xfrm>
          <a:prstGeom prst="rect">
            <a:avLst/>
          </a:prstGeom>
          <a:noFill/>
        </p:spPr>
        <p:txBody>
          <a:bodyPr wrap="square" lIns="36000" rIns="36000" tIns="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0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세빛섬 / 반포 수상푸드존 통합 공모 추진</a:t>
            </a:r>
            <a:endParaRPr lang="ko-KR" sz="16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50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 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당사, 「세빛섬 리모델링 + 수상푸드존 조성」 통합사업계획 先 제안</a:t>
            </a:r>
            <a:endParaRPr lang="ko-KR" sz="13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4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•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민간투자사업 (BTO) / </a:t>
            </a:r>
            <a:r>
              <a:rPr lang="ko-KR" altLang="en-US" sz="1100" b="1" u="sng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관리운영권 30~50년 확보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추진 (투자규모 · 공공성 연동, → p.3 · 4)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3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•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세빛섬 – 수상푸드존 동선 / 프로그램 연계로 체류시간 증대, </a:t>
            </a:r>
            <a:r>
              <a:rPr lang="ko-KR" altLang="en-US" sz="11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반포 한강 운영 주도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(→ p.2)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3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•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선결 과제 (효성 해지시지급금 · 市 민투 적용 · 통합 MD) 및 추진 절차 → </a:t>
            </a:r>
            <a:r>
              <a:rPr lang="ko-KR" altLang="en-US" sz="11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p.3 · p.7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pic>
        <p:nvPicPr>
          <p:cNvPr id="111" name="위치도 1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99" y="7668000"/>
            <a:ext cx="1800000" cy="968400"/>
          </a:xfrm>
          <a:prstGeom prst="rect">
            <a:avLst/>
          </a:prstGeom>
        </p:spPr>
      </p:pic>
      <p:pic>
        <p:nvPicPr>
          <p:cNvPr id="112" name="수상푸드존 조감도 1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99" y="8694000"/>
            <a:ext cx="1800000" cy="1011600"/>
          </a:xfrm>
          <a:prstGeom prst="rect">
            <a:avLst/>
          </a:prstGeom>
        </p:spPr>
      </p:pic>
      <p:graphicFrame>
        <p:nvGraphicFramePr>
          <p:cNvPr id="113" name="표 113"/>
          <p:cNvGraphicFramePr>
            <a:graphicFrameLocks noGrp="1"/>
          </p:cNvGraphicFramePr>
          <p:nvPr/>
        </p:nvGraphicFramePr>
        <p:xfrm>
          <a:off x="2231999" y="7668000"/>
          <a:ext cx="4410000" cy="1422000"/>
        </p:xfrm>
        <a:graphic>
          <a:graphicData uri="http://schemas.openxmlformats.org/drawingml/2006/table">
            <a:tbl>
              <a:tblPr firstRow="1" bandRow="1"/>
              <a:tblGrid>
                <a:gridCol w="612000"/>
                <a:gridCol w="3798000"/>
              </a:tblGrid>
              <a:tr h="216000">
                <a:tc gridSpan="2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반포 수상푸드존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/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규모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연면적 2,797㎡ / 지상 2층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시설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1층 : 음식 판매 15개소 · 한강버스 선착장 / 2층 : 카페 · 소공연 · 계류시설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사업비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300억원 수준 (市 재정, 부담 주체 미정)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일정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설계 中 → ’26 말 착공 → ’28 말 준공 → ’29 초 개장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위치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세빛섬 ↔ 약 450m (달빛무지개분수 – 제1주차장 사이)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4" name="TextBox 114"/>
          <p:cNvSpPr txBox="1"/>
          <p:nvPr/>
        </p:nvSpPr>
        <p:spPr>
          <a:xfrm>
            <a:off x="2196000" y="9198000"/>
            <a:ext cx="4464000" cy="503999"/>
          </a:xfrm>
          <a:prstGeom prst="rect">
            <a:avLst/>
          </a:prstGeom>
          <a:noFill/>
        </p:spPr>
        <p:txBody>
          <a:bodyPr wrap="square" lIns="36000" rIns="36000" tIns="0" bIns="0" anchor="t">
            <a:noAutofit/>
          </a:bodyPr>
          <a:lstStyle/>
          <a:p>
            <a:pPr marL="36000" indent="0">
              <a:spcBef>
                <a:spcPts val="0"/>
              </a:spcBef>
              <a:buNone/>
            </a:pP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＊ 민간제안형 : 사업계획 先 제안 / 대상지 공모형 : 서울시 수용 공모 범위, 공공성 기준 先 제시</a:t>
            </a:r>
            <a:endParaRPr lang="ko-KR" sz="8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6000" indent="0">
              <a:spcBef>
                <a:spcPts val="300"/>
              </a:spcBef>
              <a:buNone/>
            </a:pP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＊ 민간투자사업 인정 시 투자규모에 따라 최대 50년 가능 / 한강버스 선착장 유사 사례 有</a:t>
            </a:r>
            <a:endParaRPr lang="ko-KR" sz="8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53435-8006-9C2A-1F2A-F41C7B8C2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C89186D-337B-0F5A-54F5-269572537B1D}"/>
              </a:ext>
            </a:extLst>
          </p:cNvPr>
          <p:cNvSpPr/>
          <p:nvPr/>
        </p:nvSpPr>
        <p:spPr>
          <a:xfrm>
            <a:off x="115888" y="639274"/>
            <a:ext cx="6968959" cy="10695236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3000"/>
              </a:spcBef>
              <a:tabLst>
                <a:tab pos="227013" algn="l"/>
                <a:tab pos="1165225" algn="l"/>
              </a:tabLst>
            </a:pPr>
            <a:r>
              <a:rPr lang="ko-KR" altLang="en-US" sz="1600" dirty="0"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사업성 </a:t>
            </a:r>
            <a:r>
              <a:rPr lang="en-US" altLang="ko-KR" sz="1600" dirty="0"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/ </a:t>
            </a:r>
            <a:r>
              <a:rPr lang="ko-KR" altLang="en-US" sz="1600" dirty="0"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리스크 분석</a:t>
            </a:r>
            <a:endParaRPr lang="en-US" altLang="ko-KR" sz="1600" dirty="0"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>
              <a:spcBef>
                <a:spcPts val="2000"/>
              </a:spcBef>
              <a:tabLst>
                <a:tab pos="227013" algn="l"/>
                <a:tab pos="1165225" algn="l"/>
              </a:tabLst>
              <a:defRPr/>
            </a:pP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  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투자금 </a:t>
            </a: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817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억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효성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300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+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리모델링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517)</a:t>
            </a: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/ NPV 150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억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사업가치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PV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450 –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효성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300)</a:t>
            </a: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 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•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연평균 매출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163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억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/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세전이익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연간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76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억 수준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+mn-cs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2000"/>
              </a:spcBef>
              <a:tabLst>
                <a:tab pos="227013" algn="l"/>
                <a:tab pos="1165225" algn="l"/>
              </a:tabLst>
              <a:defRPr/>
            </a:pP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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기존 안 대비 </a:t>
            </a:r>
            <a:r>
              <a:rPr lang="ko-KR" altLang="en-US" sz="1400" b="1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손상차손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/ 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배임 이슈 리스크 低</a:t>
            </a:r>
            <a:endParaRPr lang="en-US" altLang="ko-KR" sz="14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r>
              <a:rPr lang="en-US" altLang="ko-KR" sz="1600" dirty="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      </a:t>
            </a:r>
            <a:endParaRPr lang="en-US" altLang="ko-KR" sz="1600" dirty="0">
              <a:solidFill>
                <a:prstClr val="black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3000"/>
              </a:spcBef>
              <a:tabLst>
                <a:tab pos="227013" algn="l"/>
                <a:tab pos="1165225" algn="l"/>
              </a:tabLst>
            </a:pPr>
            <a:endParaRPr lang="en-US" altLang="ko-KR" sz="1600" dirty="0"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>
              <a:spcBef>
                <a:spcPts val="3000"/>
              </a:spcBef>
              <a:tabLst>
                <a:tab pos="227013" algn="l"/>
                <a:tab pos="1165225" algn="l"/>
              </a:tabLst>
            </a:pPr>
            <a:endParaRPr lang="en-US" altLang="ko-KR" sz="1600" dirty="0"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>
              <a:spcBef>
                <a:spcPts val="3000"/>
              </a:spcBef>
              <a:tabLst>
                <a:tab pos="227013" algn="l"/>
                <a:tab pos="1165225" algn="l"/>
              </a:tabLst>
            </a:pPr>
            <a:endParaRPr lang="en-US" altLang="ko-KR" sz="1600" dirty="0"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>
              <a:spcBef>
                <a:spcPts val="3000"/>
              </a:spcBef>
              <a:tabLst>
                <a:tab pos="227013" algn="l"/>
                <a:tab pos="1165225" algn="l"/>
              </a:tabLst>
            </a:pPr>
            <a:endParaRPr lang="en-US" altLang="ko-KR" sz="1600" dirty="0"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>
              <a:spcBef>
                <a:spcPts val="3000"/>
              </a:spcBef>
              <a:tabLst>
                <a:tab pos="227013" algn="l"/>
                <a:tab pos="1165225" algn="l"/>
              </a:tabLst>
            </a:pPr>
            <a:endParaRPr lang="en-US" altLang="ko-KR" sz="1600" dirty="0"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>
              <a:buNone/>
            </a:pPr>
            <a:endParaRPr lang="ko-KR" altLang="ko-KR" sz="14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F58A6C2C-0EE2-CAF9-9190-D53CC38EFCB5}"/>
              </a:ext>
            </a:extLst>
          </p:cNvPr>
          <p:cNvSpPr/>
          <p:nvPr/>
        </p:nvSpPr>
        <p:spPr>
          <a:xfrm>
            <a:off x="8593895" y="1552988"/>
            <a:ext cx="1263715" cy="892516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  </a:t>
            </a:r>
          </a:p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build</a:t>
            </a:r>
          </a:p>
          <a:p>
            <a:pPr algn="ctr"/>
            <a:r>
              <a: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건설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C5CD3358-67DD-F6EA-ECC8-EFCCE99855EB}"/>
              </a:ext>
            </a:extLst>
          </p:cNvPr>
          <p:cNvSpPr/>
          <p:nvPr/>
        </p:nvSpPr>
        <p:spPr>
          <a:xfrm>
            <a:off x="10162980" y="1552988"/>
            <a:ext cx="1263715" cy="892516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O  </a:t>
            </a:r>
          </a:p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operate</a:t>
            </a:r>
          </a:p>
          <a:p>
            <a:pPr algn="ctr"/>
            <a:r>
              <a: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운영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B98FBC92-D756-9837-A6F0-4E818F6CF848}"/>
              </a:ext>
            </a:extLst>
          </p:cNvPr>
          <p:cNvSpPr/>
          <p:nvPr/>
        </p:nvSpPr>
        <p:spPr>
          <a:xfrm>
            <a:off x="11732065" y="1552988"/>
            <a:ext cx="1263715" cy="892516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  </a:t>
            </a:r>
          </a:p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transfer</a:t>
            </a:r>
          </a:p>
          <a:p>
            <a:pPr algn="ctr"/>
            <a:r>
              <a: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이전</a:t>
            </a:r>
          </a:p>
        </p:txBody>
      </p:sp>
      <p:sp>
        <p:nvSpPr>
          <p:cNvPr id="77" name="Arrow 200">
            <a:extLst>
              <a:ext uri="{FF2B5EF4-FFF2-40B4-BE49-F238E27FC236}">
                <a16:creationId xmlns:a16="http://schemas.microsoft.com/office/drawing/2014/main" id="{E1B8CF29-421A-F19C-16EB-FC3DA8180481}"/>
              </a:ext>
            </a:extLst>
          </p:cNvPr>
          <p:cNvSpPr/>
          <p:nvPr/>
        </p:nvSpPr>
        <p:spPr>
          <a:xfrm>
            <a:off x="9929190" y="1850494"/>
            <a:ext cx="120935" cy="297505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9" name="Arrow 201">
            <a:extLst>
              <a:ext uri="{FF2B5EF4-FFF2-40B4-BE49-F238E27FC236}">
                <a16:creationId xmlns:a16="http://schemas.microsoft.com/office/drawing/2014/main" id="{4A8549B0-8C62-964C-D363-9F7293AC0502}"/>
              </a:ext>
            </a:extLst>
          </p:cNvPr>
          <p:cNvSpPr/>
          <p:nvPr/>
        </p:nvSpPr>
        <p:spPr>
          <a:xfrm>
            <a:off x="11523674" y="1850494"/>
            <a:ext cx="120935" cy="297505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" name="BOTDesc 202">
            <a:extLst>
              <a:ext uri="{FF2B5EF4-FFF2-40B4-BE49-F238E27FC236}">
                <a16:creationId xmlns:a16="http://schemas.microsoft.com/office/drawing/2014/main" id="{216EB6F6-DBA8-8043-8BFC-3E7B8F7257E3}"/>
              </a:ext>
            </a:extLst>
          </p:cNvPr>
          <p:cNvSpPr txBox="1"/>
          <p:nvPr/>
        </p:nvSpPr>
        <p:spPr>
          <a:xfrm>
            <a:off x="8530709" y="2510421"/>
            <a:ext cx="1390087" cy="203200"/>
          </a:xfrm>
          <a:prstGeom prst="rect">
            <a:avLst/>
          </a:prstGeom>
        </p:spPr>
        <p:txBody>
          <a:bodyPr wrap="square" lIns="0" tIns="45720" rIns="0" bIns="0" anchor="t">
            <a:noAutofit/>
          </a:bodyPr>
          <a:lstStyle/>
          <a:p>
            <a:pPr algn="ctr">
              <a:buNone/>
            </a:pPr>
            <a:r>
              <a:rPr lang="ko-KR" altLang="en-US" sz="1100">
                <a:solidFill>
                  <a:prstClr val="black">
                    <a:lumMod val="65000"/>
                    <a:lumOff val="3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민간 자본 건설</a:t>
            </a:r>
          </a:p>
        </p:txBody>
      </p:sp>
      <p:sp>
        <p:nvSpPr>
          <p:cNvPr id="83" name="BOTDesc 203">
            <a:extLst>
              <a:ext uri="{FF2B5EF4-FFF2-40B4-BE49-F238E27FC236}">
                <a16:creationId xmlns:a16="http://schemas.microsoft.com/office/drawing/2014/main" id="{E763A81C-E3C1-6167-E705-C5BBB916C482}"/>
              </a:ext>
            </a:extLst>
          </p:cNvPr>
          <p:cNvSpPr txBox="1"/>
          <p:nvPr/>
        </p:nvSpPr>
        <p:spPr>
          <a:xfrm>
            <a:off x="10125194" y="2510421"/>
            <a:ext cx="1390087" cy="203200"/>
          </a:xfrm>
          <a:prstGeom prst="rect">
            <a:avLst/>
          </a:prstGeom>
        </p:spPr>
        <p:txBody>
          <a:bodyPr wrap="square" lIns="0" tIns="45720" rIns="0" bIns="0" anchor="t">
            <a:noAutofit/>
          </a:bodyPr>
          <a:lstStyle/>
          <a:p>
            <a:pPr algn="ctr">
              <a:buNone/>
            </a:pPr>
            <a:r>
              <a:rPr lang="ko-KR" altLang="en-US" sz="1100">
                <a:solidFill>
                  <a:prstClr val="black">
                    <a:lumMod val="65000"/>
                    <a:lumOff val="3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운영·투자비 회수</a:t>
            </a:r>
          </a:p>
        </p:txBody>
      </p:sp>
      <p:sp>
        <p:nvSpPr>
          <p:cNvPr id="85" name="BOTDesc 204">
            <a:extLst>
              <a:ext uri="{FF2B5EF4-FFF2-40B4-BE49-F238E27FC236}">
                <a16:creationId xmlns:a16="http://schemas.microsoft.com/office/drawing/2014/main" id="{6731DD80-BC2D-C0FF-22A1-BC94672A2614}"/>
              </a:ext>
            </a:extLst>
          </p:cNvPr>
          <p:cNvSpPr txBox="1"/>
          <p:nvPr/>
        </p:nvSpPr>
        <p:spPr>
          <a:xfrm>
            <a:off x="11662529" y="2510421"/>
            <a:ext cx="1390087" cy="203200"/>
          </a:xfrm>
          <a:prstGeom prst="rect">
            <a:avLst/>
          </a:prstGeom>
        </p:spPr>
        <p:txBody>
          <a:bodyPr wrap="square" lIns="0" tIns="45720" rIns="0" bIns="0" anchor="t">
            <a:noAutofit/>
          </a:bodyPr>
          <a:lstStyle/>
          <a:p>
            <a:pPr algn="ctr">
              <a:buNone/>
            </a:pPr>
            <a:r>
              <a:rPr lang="ko-KR" altLang="en-US" sz="1100">
                <a:solidFill>
                  <a:prstClr val="black">
                    <a:lumMod val="65000"/>
                    <a:lumOff val="3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소유권 국가 이전</a:t>
            </a:r>
          </a:p>
        </p:txBody>
      </p:sp>
      <p:sp>
        <p:nvSpPr>
          <p:cNvPr id="87" name="Rounded Rectangle 300">
            <a:extLst>
              <a:ext uri="{FF2B5EF4-FFF2-40B4-BE49-F238E27FC236}">
                <a16:creationId xmlns:a16="http://schemas.microsoft.com/office/drawing/2014/main" id="{BA4304DB-CFD8-1B0F-F47A-8E109714D314}"/>
              </a:ext>
            </a:extLst>
          </p:cNvPr>
          <p:cNvSpPr/>
          <p:nvPr/>
        </p:nvSpPr>
        <p:spPr>
          <a:xfrm>
            <a:off x="13301150" y="1552988"/>
            <a:ext cx="1263715" cy="89251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RE  </a:t>
            </a:r>
          </a:p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operate</a:t>
            </a:r>
          </a:p>
          <a:p>
            <a:pPr algn="ctr"/>
            <a:r>
              <a:rPr lang="ko-KR" altLang="en-US" sz="1200" err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재공모</a:t>
            </a:r>
            <a:endParaRPr lang="ko-KR" altLang="en-US" sz="1200">
              <a:solidFill>
                <a:prstClr val="black">
                  <a:lumMod val="85000"/>
                  <a:lumOff val="1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9" name="BOTDesc 301">
            <a:extLst>
              <a:ext uri="{FF2B5EF4-FFF2-40B4-BE49-F238E27FC236}">
                <a16:creationId xmlns:a16="http://schemas.microsoft.com/office/drawing/2014/main" id="{7EB1E307-508B-F76C-701A-06240A0EF10F}"/>
              </a:ext>
            </a:extLst>
          </p:cNvPr>
          <p:cNvSpPr txBox="1"/>
          <p:nvPr/>
        </p:nvSpPr>
        <p:spPr>
          <a:xfrm>
            <a:off x="13247489" y="2510421"/>
            <a:ext cx="1390087" cy="203200"/>
          </a:xfrm>
          <a:prstGeom prst="rect">
            <a:avLst/>
          </a:prstGeom>
        </p:spPr>
        <p:txBody>
          <a:bodyPr wrap="square" lIns="0" tIns="45720" rIns="0" bIns="0" anchor="t">
            <a:noAutofit/>
          </a:bodyPr>
          <a:lstStyle/>
          <a:p>
            <a:pPr algn="ctr">
              <a:buNone/>
            </a:pPr>
            <a:r>
              <a:rPr lang="ko-KR" altLang="en-US" sz="1100">
                <a:solidFill>
                  <a:prstClr val="black">
                    <a:lumMod val="65000"/>
                    <a:lumOff val="3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공개입찰 재선정</a:t>
            </a:r>
          </a:p>
        </p:txBody>
      </p:sp>
      <p:sp>
        <p:nvSpPr>
          <p:cNvPr id="91" name="Arrow 302">
            <a:extLst>
              <a:ext uri="{FF2B5EF4-FFF2-40B4-BE49-F238E27FC236}">
                <a16:creationId xmlns:a16="http://schemas.microsoft.com/office/drawing/2014/main" id="{5F18E03C-8779-B6F7-D5E8-1AF600D88A5A}"/>
              </a:ext>
            </a:extLst>
          </p:cNvPr>
          <p:cNvSpPr/>
          <p:nvPr/>
        </p:nvSpPr>
        <p:spPr>
          <a:xfrm>
            <a:off x="13108635" y="1850494"/>
            <a:ext cx="120935" cy="297505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5CEFBF5-6951-D05E-BFA4-03CB4EF0823C}"/>
              </a:ext>
            </a:extLst>
          </p:cNvPr>
          <p:cNvSpPr txBox="1"/>
          <p:nvPr/>
        </p:nvSpPr>
        <p:spPr bwMode="auto">
          <a:xfrm>
            <a:off x="726130" y="6372352"/>
            <a:ext cx="535273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1)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현금수입 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1,773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억 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800" b="1" dirty="0" err="1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세전이익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2,303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억 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+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법인세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, 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리모델링 등 △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530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억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현재가치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/ 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할인율 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6.9%</a:t>
            </a:r>
            <a:endParaRPr lang="ko-KR" altLang="en-US" sz="800" dirty="0"/>
          </a:p>
        </p:txBody>
      </p:sp>
      <p:pic>
        <p:nvPicPr>
          <p:cNvPr id="10" name="table">
            <a:extLst>
              <a:ext uri="{FF2B5EF4-FFF2-40B4-BE49-F238E27FC236}">
                <a16:creationId xmlns:a16="http://schemas.microsoft.com/office/drawing/2014/main" id="{87AF4823-BD6A-D342-6DE5-F3A411BAF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18765" y="7089261"/>
            <a:ext cx="63819" cy="90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C990A5-9737-1BC1-5D7A-C132E856F563}"/>
              </a:ext>
            </a:extLst>
          </p:cNvPr>
          <p:cNvSpPr txBox="1"/>
          <p:nvPr/>
        </p:nvSpPr>
        <p:spPr bwMode="auto">
          <a:xfrm>
            <a:off x="7918567" y="3962520"/>
            <a:ext cx="7331148" cy="2387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4000"/>
              </a:spcBef>
              <a:tabLst>
                <a:tab pos="227013" algn="l"/>
                <a:tab pos="1165225" algn="l"/>
              </a:tabLst>
            </a:pPr>
            <a:endParaRPr lang="en-US" altLang="ko-KR" sz="1600" dirty="0"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  <a:p>
            <a:pPr>
              <a:spcBef>
                <a:spcPts val="2500"/>
              </a:spcBef>
              <a:tabLst>
                <a:tab pos="227013" algn="l"/>
                <a:tab pos="1165225" algn="l"/>
              </a:tabLst>
            </a:pP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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서울시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–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효성 협의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1200" u="sng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해지시지급금 지급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후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협약 해지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→ 市로 세빛섬 소유권 이전</a:t>
            </a:r>
            <a:endParaRPr lang="en-US" altLang="ko-KR" sz="14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2500"/>
              </a:spcBef>
              <a:tabLst>
                <a:tab pos="227013" algn="l"/>
                <a:tab pos="1165225" algn="l"/>
              </a:tabLst>
            </a:pP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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ko-KR" altLang="en-US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市</a:t>
            </a:r>
            <a:r>
              <a:rPr lang="en-US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,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ko-KR" altLang="en-US" sz="1400" u="sng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공개경쟁입찰</a:t>
            </a:r>
            <a:r>
              <a:rPr lang="ko-KR" altLang="en-US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로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ko-KR" altLang="ko-KR" sz="1400" dirty="0" err="1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세빛섬의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신규 </a:t>
            </a:r>
            <a:r>
              <a:rPr lang="ko-KR" altLang="en-US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사용자 모집 → 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당사 입</a:t>
            </a:r>
            <a:r>
              <a:rPr lang="ko-KR" altLang="en-US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찰 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참여</a:t>
            </a:r>
            <a:r>
              <a:rPr lang="en-US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/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시설운영권</a:t>
            </a:r>
            <a:r>
              <a:rPr lang="en-US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확보</a:t>
            </a:r>
            <a:r>
              <a:rPr lang="en-US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</a:p>
          <a:p>
            <a:pPr>
              <a:spcBef>
                <a:spcPts val="2500"/>
              </a:spcBef>
              <a:tabLst>
                <a:tab pos="227013" algn="l"/>
                <a:tab pos="1165225" algn="l"/>
              </a:tabLst>
            </a:pP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※ 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입찰 전 협의사항</a:t>
            </a:r>
            <a:endParaRPr lang="en-US" altLang="ko-KR" sz="14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2000"/>
              </a:spcBef>
              <a:tabLst>
                <a:tab pos="227013" algn="l"/>
                <a:tab pos="1165225" algn="l"/>
              </a:tabLst>
            </a:pPr>
            <a:r>
              <a:rPr lang="en-US" altLang="ko-KR" sz="12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          </a:t>
            </a:r>
            <a:r>
              <a:rPr lang="en-US" altLang="ko-KR" sz="12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</a:t>
            </a:r>
            <a:r>
              <a:rPr lang="ko-KR" altLang="en-US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사용</a:t>
            </a:r>
            <a:r>
              <a:rPr lang="ko-KR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료</a:t>
            </a:r>
            <a:r>
              <a:rPr lang="en-US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: </a:t>
            </a:r>
            <a:r>
              <a:rPr lang="ko-KR" altLang="en-US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최대 연간</a:t>
            </a:r>
            <a:r>
              <a:rPr lang="en-US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52</a:t>
            </a:r>
            <a:r>
              <a:rPr lang="ko-KR" altLang="en-US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억 수준 </a:t>
            </a:r>
            <a:r>
              <a:rPr lang="en-US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/ </a:t>
            </a:r>
            <a:r>
              <a:rPr lang="ko-KR" altLang="en-US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서울시 </a:t>
            </a:r>
            <a:r>
              <a:rPr lang="ko-KR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협의</a:t>
            </a:r>
            <a:r>
              <a:rPr lang="ko-KR" altLang="en-US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로</a:t>
            </a:r>
            <a:r>
              <a:rPr lang="ko-KR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확정</a:t>
            </a:r>
            <a:r>
              <a:rPr lang="en-US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</a:p>
        </p:txBody>
      </p:sp>
      <p:graphicFrame>
        <p:nvGraphicFramePr>
          <p:cNvPr id="9" name="SummaryMerged">
            <a:extLst>
              <a:ext uri="{FF2B5EF4-FFF2-40B4-BE49-F238E27FC236}">
                <a16:creationId xmlns:a16="http://schemas.microsoft.com/office/drawing/2014/main" id="{2114B267-9ECF-463D-AB04-76E426B891CA}"/>
              </a:ext>
            </a:extLst>
          </p:cNvPr>
          <p:cNvGraphicFramePr>
            <a:graphicFrameLocks noGrp="1"/>
          </p:cNvGraphicFramePr>
          <p:nvPr/>
        </p:nvGraphicFramePr>
        <p:xfrm>
          <a:off x="7636009" y="6883907"/>
          <a:ext cx="6066693" cy="1694835"/>
        </p:xfrm>
        <a:graphic>
          <a:graphicData uri="http://schemas.openxmlformats.org/drawingml/2006/table">
            <a:tbl>
              <a:tblPr/>
              <a:tblGrid>
                <a:gridCol w="2022231">
                  <a:extLst>
                    <a:ext uri="{9D8B030D-6E8A-4147-A177-3AD203B41FA5}">
                      <a16:colId xmlns:a16="http://schemas.microsoft.com/office/drawing/2014/main" val="971669266"/>
                    </a:ext>
                  </a:extLst>
                </a:gridCol>
                <a:gridCol w="2022231">
                  <a:extLst>
                    <a:ext uri="{9D8B030D-6E8A-4147-A177-3AD203B41FA5}">
                      <a16:colId xmlns:a16="http://schemas.microsoft.com/office/drawing/2014/main" val="4191278934"/>
                    </a:ext>
                  </a:extLst>
                </a:gridCol>
                <a:gridCol w="2022231">
                  <a:extLst>
                    <a:ext uri="{9D8B030D-6E8A-4147-A177-3AD203B41FA5}">
                      <a16:colId xmlns:a16="http://schemas.microsoft.com/office/drawing/2014/main" val="3773814157"/>
                    </a:ext>
                  </a:extLst>
                </a:gridCol>
              </a:tblGrid>
              <a:tr h="31873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62626"/>
                          </a:solidFill>
                          <a:ea typeface="신세계 민부리 Light"/>
                        </a:rPr>
                        <a:t>구 분</a:t>
                      </a:r>
                    </a:p>
                  </a:txBody>
                  <a:tcPr marL="38100" marR="38100" marT="0" marB="0" anchor="ctr">
                    <a:lnL w="0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62626"/>
                          </a:solidFill>
                          <a:latin typeface="신세계 민부리 Light"/>
                          <a:ea typeface="신세계 민부리 Light"/>
                          <a:cs typeface="신세계 민부리 Light"/>
                        </a:rPr>
                        <a:t>장점</a:t>
                      </a:r>
                    </a:p>
                  </a:txBody>
                  <a:tcPr marL="38100" marR="381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62626"/>
                          </a:solidFill>
                          <a:latin typeface="신세계 민부리 Light"/>
                          <a:ea typeface="신세계 민부리 Light"/>
                          <a:cs typeface="신세계 민부리 Light"/>
                        </a:rPr>
                        <a:t>단점</a:t>
                      </a:r>
                    </a:p>
                  </a:txBody>
                  <a:tcPr marL="38100" marR="381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58564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소유권 이전 방식</a:t>
                      </a:r>
                      <a:endParaRPr lang="en-US" altLang="ko-KR" sz="12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0" marB="0" anchor="ctr">
                    <a:lnL w="0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463818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사용권 부여 방식</a:t>
                      </a:r>
                    </a:p>
                  </a:txBody>
                  <a:tcPr marL="38100" marR="38100" marT="0" marB="0" anchor="ctr">
                    <a:lnL w="0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기존 </a:t>
                      </a:r>
                      <a:r>
                        <a:rPr lang="en-US" altLang="ko-KR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SH</a:t>
                      </a:r>
                      <a:r>
                        <a:rPr lang="ko-KR" altLang="en-US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공사 부채</a:t>
                      </a:r>
                      <a:r>
                        <a:rPr lang="en-US" altLang="ko-KR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자본잠식</a:t>
                      </a:r>
                      <a:r>
                        <a:rPr lang="en-US" altLang="ko-KR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지체상금 등 사업성 까먹는 요인들 </a:t>
                      </a:r>
                      <a:r>
                        <a:rPr lang="ko-KR" altLang="en-US" sz="1200" b="1" err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안끌고와도</a:t>
                      </a:r>
                      <a:r>
                        <a:rPr lang="ko-KR" altLang="en-US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된다</a:t>
                      </a:r>
                      <a:endParaRPr lang="ko-KR" altLang="en-US" sz="12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729937"/>
                  </a:ext>
                </a:extLst>
              </a:tr>
            </a:tbl>
          </a:graphicData>
        </a:graphic>
      </p:graphicFrame>
      <p:graphicFrame>
        <p:nvGraphicFramePr>
          <p:cNvPr id="6" name="SummaryMerged">
            <a:extLst>
              <a:ext uri="{FF2B5EF4-FFF2-40B4-BE49-F238E27FC236}">
                <a16:creationId xmlns:a16="http://schemas.microsoft.com/office/drawing/2014/main" id="{383D085C-63F2-F053-DF37-F1CE4234B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284727"/>
              </p:ext>
            </p:extLst>
          </p:nvPr>
        </p:nvGraphicFramePr>
        <p:xfrm>
          <a:off x="8593895" y="5967118"/>
          <a:ext cx="5706574" cy="1300024"/>
        </p:xfrm>
        <a:graphic>
          <a:graphicData uri="http://schemas.openxmlformats.org/drawingml/2006/table">
            <a:tbl>
              <a:tblPr/>
              <a:tblGrid>
                <a:gridCol w="1662112">
                  <a:extLst>
                    <a:ext uri="{9D8B030D-6E8A-4147-A177-3AD203B41FA5}">
                      <a16:colId xmlns:a16="http://schemas.microsoft.com/office/drawing/2014/main" val="971669266"/>
                    </a:ext>
                  </a:extLst>
                </a:gridCol>
                <a:gridCol w="2022231">
                  <a:extLst>
                    <a:ext uri="{9D8B030D-6E8A-4147-A177-3AD203B41FA5}">
                      <a16:colId xmlns:a16="http://schemas.microsoft.com/office/drawing/2014/main" val="4191278934"/>
                    </a:ext>
                  </a:extLst>
                </a:gridCol>
                <a:gridCol w="2022231">
                  <a:extLst>
                    <a:ext uri="{9D8B030D-6E8A-4147-A177-3AD203B41FA5}">
                      <a16:colId xmlns:a16="http://schemas.microsoft.com/office/drawing/2014/main" val="3773814157"/>
                    </a:ext>
                  </a:extLst>
                </a:gridCol>
              </a:tblGrid>
              <a:tr h="249274">
                <a:tc>
                  <a:txBody>
                    <a:bodyPr/>
                    <a:lstStyle/>
                    <a:p>
                      <a:pPr algn="ctr"/>
                      <a:endParaRPr lang="ko-KR" altLang="en-US" sz="1100" b="1">
                        <a:solidFill>
                          <a:srgbClr val="262626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8100" marR="38100" marT="36000" marB="36000" anchor="ctr">
                    <a:lnL w="0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"/>
                        </a:rPr>
                        <a:t>장점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"/>
                        </a:rPr>
                        <a:t>단점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585646"/>
                  </a:ext>
                </a:extLst>
              </a:tr>
              <a:tr h="473854"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기존 안 </a:t>
                      </a:r>
                      <a:r>
                        <a:rPr lang="en-US" altLang="ko-KR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소유</a:t>
                      </a:r>
                      <a:r>
                        <a:rPr lang="en-US" altLang="ko-KR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0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운영 자율성 高</a:t>
                      </a:r>
                      <a:endParaRPr lang="en-US" altLang="ko-KR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근저당권 설정 </a:t>
                      </a:r>
                      <a:r>
                        <a:rPr lang="en-US" altLang="ko-KR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공간 구성 등</a:t>
                      </a:r>
                      <a:r>
                        <a:rPr lang="en-US" altLang="ko-KR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0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손상차손 </a:t>
                      </a:r>
                      <a:r>
                        <a:rPr lang="en-US" altLang="ko-KR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배임 이슈 高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463818"/>
                  </a:ext>
                </a:extLst>
              </a:tr>
              <a:tr h="57689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변경 안 </a:t>
                      </a:r>
                      <a:r>
                        <a:rPr lang="en-US" altLang="ko-KR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임대</a:t>
                      </a:r>
                      <a:r>
                        <a:rPr lang="en-US" altLang="ko-KR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0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손상차손 </a:t>
                      </a:r>
                      <a:r>
                        <a:rPr lang="en-US" altLang="ko-KR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배임 이슈 低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운영 자율성 低 </a:t>
                      </a:r>
                      <a:r>
                        <a:rPr lang="en-US" altLang="ko-KR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리스 부채 가능성 有</a:t>
                      </a:r>
                      <a:endParaRPr lang="en-US" altLang="ko-KR" sz="11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729937"/>
                  </a:ext>
                </a:extLst>
              </a:tr>
            </a:tbl>
          </a:graphicData>
        </a:graphic>
      </p:graphicFrame>
      <p:sp>
        <p:nvSpPr>
          <p:cNvPr id="13" name="NoteBlock">
            <a:extLst>
              <a:ext uri="{FF2B5EF4-FFF2-40B4-BE49-F238E27FC236}">
                <a16:creationId xmlns:a16="http://schemas.microsoft.com/office/drawing/2014/main" id="{080EDCC6-111F-B7AF-DA2E-1DA38360C51A}"/>
              </a:ext>
            </a:extLst>
          </p:cNvPr>
          <p:cNvSpPr txBox="1"/>
          <p:nvPr/>
        </p:nvSpPr>
        <p:spPr>
          <a:xfrm>
            <a:off x="9484470" y="1131232"/>
            <a:ext cx="3568146" cy="185708"/>
          </a:xfrm>
          <a:prstGeom prst="rect">
            <a:avLst/>
          </a:prstGeom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＊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D5B3E8-DF2E-8F88-33C2-9C0B569EEF8C}"/>
              </a:ext>
            </a:extLst>
          </p:cNvPr>
          <p:cNvSpPr txBox="1"/>
          <p:nvPr/>
        </p:nvSpPr>
        <p:spPr bwMode="auto">
          <a:xfrm>
            <a:off x="3499379" y="1337544"/>
            <a:ext cx="2571759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＊ 리모델링 투자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517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억 집행 후 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FFEF69-2804-6B48-0715-8A37F2122AFC}"/>
              </a:ext>
            </a:extLst>
          </p:cNvPr>
          <p:cNvSpPr txBox="1"/>
          <p:nvPr/>
        </p:nvSpPr>
        <p:spPr bwMode="auto">
          <a:xfrm>
            <a:off x="8143488" y="9112296"/>
            <a:ext cx="216452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*  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효성 해지시지급금 수준</a:t>
            </a:r>
            <a:endParaRPr lang="ko-KR" altLang="en-US" sz="8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6BAE672-ACA5-7638-D005-F2472DD534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414065"/>
              </p:ext>
            </p:extLst>
          </p:nvPr>
        </p:nvGraphicFramePr>
        <p:xfrm>
          <a:off x="770562" y="2027477"/>
          <a:ext cx="5822596" cy="4315376"/>
        </p:xfrm>
        <a:graphic>
          <a:graphicData uri="http://schemas.openxmlformats.org/drawingml/2006/table">
            <a:tbl>
              <a:tblPr/>
              <a:tblGrid>
                <a:gridCol w="801517">
                  <a:extLst>
                    <a:ext uri="{9D8B030D-6E8A-4147-A177-3AD203B41FA5}">
                      <a16:colId xmlns:a16="http://schemas.microsoft.com/office/drawing/2014/main" val="482799065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4256685836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2556338141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1291142938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1811841804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1697984603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2306787904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3313437714"/>
                    </a:ext>
                  </a:extLst>
                </a:gridCol>
              </a:tblGrid>
              <a:tr h="3319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 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</a:t>
                      </a: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28</a:t>
                      </a: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. </a:t>
                      </a:r>
                      <a:r>
                        <a:rPr lang="ko-KR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下</a:t>
                      </a:r>
                      <a:endParaRPr lang="ko-KR" sz="1000" b="1" i="0" u="none" strike="noStrike" dirty="0">
                        <a:solidFill>
                          <a:srgbClr val="FFFFFF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‘</a:t>
                      </a: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‘</a:t>
                      </a: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</a:t>
                      </a: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58</a:t>
                      </a: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. </a:t>
                      </a:r>
                      <a:r>
                        <a:rPr lang="ko-KR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上</a:t>
                      </a:r>
                      <a:endParaRPr lang="ko-KR" sz="1000" b="1" i="0" u="none" strike="noStrike" dirty="0">
                        <a:solidFill>
                          <a:srgbClr val="FFFFFF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</a:t>
                      </a:r>
                      <a:r>
                        <a:rPr lang="ko-KR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</a:t>
                      </a: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442426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수익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120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161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111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4,892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554694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세빛섬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116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156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104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4,726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977895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</a:t>
                      </a:r>
                      <a:r>
                        <a:rPr lang="ko-KR" altLang="en-US" sz="1000" b="0" i="0" u="none" strike="noStrike" dirty="0" err="1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수상푸드존</a:t>
                      </a: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166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1647932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비용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48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69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84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54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2,589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909056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세빛섬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48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82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51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2,519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246829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</a:t>
                      </a:r>
                      <a:r>
                        <a:rPr lang="ko-KR" altLang="en-US" sz="1000" b="0" i="0" u="none" strike="noStrike" dirty="0" err="1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수상푸드존</a:t>
                      </a:r>
                      <a:r>
                        <a:rPr lang="ko-KR" alt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70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051824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세전이익</a:t>
                      </a:r>
                      <a:endParaRPr 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51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2,303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406707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세빛섬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49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74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53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2,207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777675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</a:t>
                      </a:r>
                      <a:r>
                        <a:rPr lang="ko-KR" altLang="en-US" sz="1000" b="0" i="0" u="none" strike="noStrike" dirty="0" err="1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수상푸드존</a:t>
                      </a:r>
                      <a:r>
                        <a:rPr lang="ko-KR" alt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96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021342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현재가치</a:t>
                      </a:r>
                      <a:r>
                        <a:rPr lang="en-US" altLang="ko-KR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1000" b="1" i="1" u="none" strike="noStrike" baseline="30000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1)</a:t>
                      </a:r>
                      <a:endParaRPr lang="en-US" sz="1000" b="1" i="1" u="none" strike="noStrike" dirty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168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1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50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1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1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26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(15)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450</a:t>
                      </a:r>
                      <a:endParaRPr lang="ko-KR" sz="1000" b="1" i="1" u="none" strike="noStrike" dirty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259734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세빛섬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168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48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25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(15)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423</a:t>
                      </a: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464875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선착장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644813"/>
                  </a:ext>
                </a:extLst>
              </a:tr>
            </a:tbl>
          </a:graphicData>
        </a:graphic>
      </p:graphicFrame>
      <p:graphicFrame>
        <p:nvGraphicFramePr>
          <p:cNvPr id="12" name="SummaryMerged">
            <a:extLst>
              <a:ext uri="{FF2B5EF4-FFF2-40B4-BE49-F238E27FC236}">
                <a16:creationId xmlns:a16="http://schemas.microsoft.com/office/drawing/2014/main" id="{2371E688-B13B-4C71-133D-8B4A204D8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565798"/>
              </p:ext>
            </p:extLst>
          </p:nvPr>
        </p:nvGraphicFramePr>
        <p:xfrm>
          <a:off x="652656" y="7444304"/>
          <a:ext cx="5930392" cy="1579360"/>
        </p:xfrm>
        <a:graphic>
          <a:graphicData uri="http://schemas.openxmlformats.org/drawingml/2006/table">
            <a:tbl>
              <a:tblPr/>
              <a:tblGrid>
                <a:gridCol w="1059490">
                  <a:extLst>
                    <a:ext uri="{9D8B030D-6E8A-4147-A177-3AD203B41FA5}">
                      <a16:colId xmlns:a16="http://schemas.microsoft.com/office/drawing/2014/main" val="971669266"/>
                    </a:ext>
                  </a:extLst>
                </a:gridCol>
                <a:gridCol w="2435451">
                  <a:extLst>
                    <a:ext uri="{9D8B030D-6E8A-4147-A177-3AD203B41FA5}">
                      <a16:colId xmlns:a16="http://schemas.microsoft.com/office/drawing/2014/main" val="4191278934"/>
                    </a:ext>
                  </a:extLst>
                </a:gridCol>
                <a:gridCol w="2435451">
                  <a:extLst>
                    <a:ext uri="{9D8B030D-6E8A-4147-A177-3AD203B41FA5}">
                      <a16:colId xmlns:a16="http://schemas.microsoft.com/office/drawing/2014/main" val="3773814157"/>
                    </a:ext>
                  </a:extLst>
                </a:gridCol>
              </a:tblGrid>
              <a:tr h="379170">
                <a:tc>
                  <a:txBody>
                    <a:bodyPr/>
                    <a:lstStyle/>
                    <a:p>
                      <a:pPr algn="ctr"/>
                      <a:endParaRPr lang="ko-KR" altLang="en-US" sz="1100" b="1" dirty="0">
                        <a:solidFill>
                          <a:srgbClr val="262626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8100" marR="38100" marT="36000" marB="36000" anchor="ctr">
                    <a:lnL w="0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"/>
                        </a:rPr>
                        <a:t>장점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"/>
                        </a:rPr>
                        <a:t>단점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585646"/>
                  </a:ext>
                </a:extLst>
              </a:tr>
              <a:tr h="600095"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기존 안 </a:t>
                      </a:r>
                      <a:r>
                        <a:rPr lang="en-US" altLang="ko-KR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소유</a:t>
                      </a:r>
                      <a:r>
                        <a:rPr lang="en-US" altLang="ko-KR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0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운영 자율성 高</a:t>
                      </a:r>
                      <a:endParaRPr lang="en-US" altLang="ko-KR" sz="11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근저당권 설정 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공간 구성 등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 err="1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손상차손</a:t>
                      </a: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배임 이슈 高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463818"/>
                  </a:ext>
                </a:extLst>
              </a:tr>
              <a:tr h="6000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변경 안 </a:t>
                      </a:r>
                      <a:r>
                        <a:rPr lang="en-US" altLang="ko-KR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임대</a:t>
                      </a:r>
                      <a:r>
                        <a:rPr lang="en-US" altLang="ko-KR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0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100" kern="1200" dirty="0" err="1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손상차손</a:t>
                      </a: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배임 이슈 低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운영 자율성 低 </a:t>
                      </a:r>
                      <a:r>
                        <a:rPr lang="en-US" altLang="ko-KR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리스부채 가능성 有</a:t>
                      </a:r>
                      <a:endParaRPr lang="en-US" altLang="ko-KR" sz="11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72993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3C88510-2052-B6CB-BF15-C046F632CFDD}"/>
              </a:ext>
            </a:extLst>
          </p:cNvPr>
          <p:cNvSpPr txBox="1"/>
          <p:nvPr/>
        </p:nvSpPr>
        <p:spPr bwMode="auto">
          <a:xfrm>
            <a:off x="8425875" y="3321538"/>
            <a:ext cx="763674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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기존 안 대비 </a:t>
            </a:r>
            <a:r>
              <a:rPr lang="ko-KR" altLang="en-US" sz="1400" b="1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손상차손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/ 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배임 이슈 리스크 低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5DD280D-8AA9-D278-3B95-0F0EEB26A0C6}"/>
              </a:ext>
            </a:extLst>
          </p:cNvPr>
          <p:cNvSpPr/>
          <p:nvPr/>
        </p:nvSpPr>
        <p:spPr>
          <a:xfrm>
            <a:off x="6071138" y="5380660"/>
            <a:ext cx="511910" cy="246279"/>
          </a:xfrm>
          <a:prstGeom prst="ellipse">
            <a:avLst/>
          </a:prstGeom>
          <a:ln w="19050">
            <a:solidFill>
              <a:srgbClr val="C00000"/>
            </a:solidFill>
            <a:prstDash val="sysDash"/>
          </a:ln>
        </p:spPr>
        <p:txBody>
          <a:bodyPr wrap="square" rtlCol="0" anchor="ctr">
            <a:spAutoFit/>
          </a:bodyPr>
          <a:lstStyle/>
          <a:p>
            <a:pPr algn="l">
              <a:spcBef>
                <a:spcPts val="1200"/>
              </a:spcBef>
              <a:tabLst>
                <a:tab pos="227013" algn="l"/>
                <a:tab pos="1165225" algn="l"/>
              </a:tabLst>
            </a:pPr>
            <a:endParaRPr lang="ko-KR" altLang="en-US" sz="1400" dirty="0">
              <a:solidFill>
                <a:prstClr val="black">
                  <a:lumMod val="85000"/>
                  <a:lumOff val="1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04053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52779-5A42-0295-0337-FAC479221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3921B9A-19C8-D696-F241-593DD1C2DD61}"/>
              </a:ext>
            </a:extLst>
          </p:cNvPr>
          <p:cNvSpPr/>
          <p:nvPr/>
        </p:nvSpPr>
        <p:spPr>
          <a:xfrm>
            <a:off x="115888" y="639274"/>
            <a:ext cx="6968959" cy="10623421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3000"/>
              </a:spcBef>
              <a:tabLst>
                <a:tab pos="227013" algn="l"/>
                <a:tab pos="1165225" algn="l"/>
              </a:tabLst>
            </a:pPr>
            <a:r>
              <a:rPr lang="ko-KR" altLang="en-US" sz="1600" dirty="0"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사업성 </a:t>
            </a:r>
            <a:r>
              <a:rPr lang="en-US" altLang="ko-KR" sz="1600" dirty="0"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/ </a:t>
            </a:r>
            <a:r>
              <a:rPr lang="ko-KR" altLang="en-US" sz="1600" dirty="0"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리스크 분석</a:t>
            </a:r>
            <a:endParaRPr lang="en-US" altLang="ko-KR" sz="1600" dirty="0"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>
              <a:spcBef>
                <a:spcPts val="2000"/>
              </a:spcBef>
              <a:tabLst>
                <a:tab pos="227013" algn="l"/>
                <a:tab pos="1165225" algn="l"/>
              </a:tabLst>
              <a:defRPr/>
            </a:pP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  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투자금 </a:t>
            </a: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817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억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효성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300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+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리모델링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517) </a:t>
            </a: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/ NPV 150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억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사업가치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PV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967 –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투자금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817)        </a:t>
            </a: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          •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연평균 매출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163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억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/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세전이익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연간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76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억 수준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+mn-cs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5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5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5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5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2000"/>
              </a:spcBef>
              <a:tabLst>
                <a:tab pos="227013" algn="l"/>
                <a:tab pos="1165225" algn="l"/>
              </a:tabLst>
              <a:defRPr/>
            </a:pP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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기존 안 대비 </a:t>
            </a:r>
            <a:r>
              <a:rPr lang="ko-KR" altLang="en-US" sz="1400" b="1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손상차손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/ 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배임 이슈 리스크 低</a:t>
            </a:r>
            <a:endParaRPr lang="en-US" altLang="ko-KR" sz="14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r>
              <a:rPr lang="en-US" altLang="ko-KR" sz="1600" dirty="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      </a:t>
            </a:r>
            <a:endParaRPr lang="en-US" altLang="ko-KR" sz="1600" dirty="0">
              <a:solidFill>
                <a:prstClr val="black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3000"/>
              </a:spcBef>
              <a:tabLst>
                <a:tab pos="227013" algn="l"/>
                <a:tab pos="1165225" algn="l"/>
              </a:tabLst>
            </a:pPr>
            <a:endParaRPr lang="en-US" altLang="ko-KR" sz="1600" dirty="0"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>
              <a:spcBef>
                <a:spcPts val="3000"/>
              </a:spcBef>
              <a:tabLst>
                <a:tab pos="227013" algn="l"/>
                <a:tab pos="1165225" algn="l"/>
              </a:tabLst>
            </a:pPr>
            <a:endParaRPr lang="en-US" altLang="ko-KR" sz="1600" dirty="0"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>
              <a:spcBef>
                <a:spcPts val="3000"/>
              </a:spcBef>
              <a:tabLst>
                <a:tab pos="227013" algn="l"/>
                <a:tab pos="1165225" algn="l"/>
              </a:tabLst>
            </a:pPr>
            <a:endParaRPr lang="en-US" altLang="ko-KR" sz="1600" dirty="0"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>
              <a:spcBef>
                <a:spcPts val="3000"/>
              </a:spcBef>
              <a:tabLst>
                <a:tab pos="227013" algn="l"/>
                <a:tab pos="1165225" algn="l"/>
              </a:tabLst>
            </a:pPr>
            <a:endParaRPr lang="en-US" altLang="ko-KR" sz="1600" dirty="0"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>
              <a:spcBef>
                <a:spcPts val="3000"/>
              </a:spcBef>
              <a:tabLst>
                <a:tab pos="227013" algn="l"/>
                <a:tab pos="1165225" algn="l"/>
              </a:tabLst>
            </a:pPr>
            <a:endParaRPr lang="en-US" altLang="ko-KR" sz="1600" dirty="0"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>
              <a:buNone/>
            </a:pPr>
            <a:endParaRPr lang="ko-KR" altLang="ko-KR" sz="14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3CC2489D-13F2-E5FA-EFF4-78DDCD4260FE}"/>
              </a:ext>
            </a:extLst>
          </p:cNvPr>
          <p:cNvSpPr/>
          <p:nvPr/>
        </p:nvSpPr>
        <p:spPr>
          <a:xfrm>
            <a:off x="8593895" y="1552988"/>
            <a:ext cx="1263715" cy="892516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  </a:t>
            </a:r>
          </a:p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build</a:t>
            </a:r>
          </a:p>
          <a:p>
            <a:pPr algn="ctr"/>
            <a:r>
              <a: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건설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5E5FB164-B4D9-1131-8C29-AC9BF6E7167D}"/>
              </a:ext>
            </a:extLst>
          </p:cNvPr>
          <p:cNvSpPr/>
          <p:nvPr/>
        </p:nvSpPr>
        <p:spPr>
          <a:xfrm>
            <a:off x="10162980" y="1552988"/>
            <a:ext cx="1263715" cy="892516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O  </a:t>
            </a:r>
          </a:p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operate</a:t>
            </a:r>
          </a:p>
          <a:p>
            <a:pPr algn="ctr"/>
            <a:r>
              <a: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운영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12804EB5-3C60-0D70-DD02-315FCB4BA373}"/>
              </a:ext>
            </a:extLst>
          </p:cNvPr>
          <p:cNvSpPr/>
          <p:nvPr/>
        </p:nvSpPr>
        <p:spPr>
          <a:xfrm>
            <a:off x="11732065" y="1552988"/>
            <a:ext cx="1263715" cy="892516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  </a:t>
            </a:r>
          </a:p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transfer</a:t>
            </a:r>
          </a:p>
          <a:p>
            <a:pPr algn="ctr"/>
            <a:r>
              <a: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이전</a:t>
            </a:r>
          </a:p>
        </p:txBody>
      </p:sp>
      <p:sp>
        <p:nvSpPr>
          <p:cNvPr id="77" name="Arrow 200">
            <a:extLst>
              <a:ext uri="{FF2B5EF4-FFF2-40B4-BE49-F238E27FC236}">
                <a16:creationId xmlns:a16="http://schemas.microsoft.com/office/drawing/2014/main" id="{7E29C8C2-EDC8-711F-DC6A-8CF517F46C4E}"/>
              </a:ext>
            </a:extLst>
          </p:cNvPr>
          <p:cNvSpPr/>
          <p:nvPr/>
        </p:nvSpPr>
        <p:spPr>
          <a:xfrm>
            <a:off x="9929190" y="1850494"/>
            <a:ext cx="120935" cy="297505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9" name="Arrow 201">
            <a:extLst>
              <a:ext uri="{FF2B5EF4-FFF2-40B4-BE49-F238E27FC236}">
                <a16:creationId xmlns:a16="http://schemas.microsoft.com/office/drawing/2014/main" id="{363265F5-9768-37AB-2306-93705376E45C}"/>
              </a:ext>
            </a:extLst>
          </p:cNvPr>
          <p:cNvSpPr/>
          <p:nvPr/>
        </p:nvSpPr>
        <p:spPr>
          <a:xfrm>
            <a:off x="11523674" y="1850494"/>
            <a:ext cx="120935" cy="297505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" name="BOTDesc 202">
            <a:extLst>
              <a:ext uri="{FF2B5EF4-FFF2-40B4-BE49-F238E27FC236}">
                <a16:creationId xmlns:a16="http://schemas.microsoft.com/office/drawing/2014/main" id="{57328C9F-5B2B-FBFD-48A3-8754F9B4C7BD}"/>
              </a:ext>
            </a:extLst>
          </p:cNvPr>
          <p:cNvSpPr txBox="1"/>
          <p:nvPr/>
        </p:nvSpPr>
        <p:spPr>
          <a:xfrm>
            <a:off x="8530709" y="2510421"/>
            <a:ext cx="1390087" cy="203200"/>
          </a:xfrm>
          <a:prstGeom prst="rect">
            <a:avLst/>
          </a:prstGeom>
        </p:spPr>
        <p:txBody>
          <a:bodyPr wrap="square" lIns="0" tIns="45720" rIns="0" bIns="0" anchor="t">
            <a:noAutofit/>
          </a:bodyPr>
          <a:lstStyle/>
          <a:p>
            <a:pPr algn="ctr">
              <a:buNone/>
            </a:pPr>
            <a:r>
              <a:rPr lang="ko-KR" altLang="en-US" sz="1100">
                <a:solidFill>
                  <a:prstClr val="black">
                    <a:lumMod val="65000"/>
                    <a:lumOff val="3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민간 자본 건설</a:t>
            </a:r>
          </a:p>
        </p:txBody>
      </p:sp>
      <p:sp>
        <p:nvSpPr>
          <p:cNvPr id="83" name="BOTDesc 203">
            <a:extLst>
              <a:ext uri="{FF2B5EF4-FFF2-40B4-BE49-F238E27FC236}">
                <a16:creationId xmlns:a16="http://schemas.microsoft.com/office/drawing/2014/main" id="{F5DB59BD-924D-762C-4C1E-15849436337E}"/>
              </a:ext>
            </a:extLst>
          </p:cNvPr>
          <p:cNvSpPr txBox="1"/>
          <p:nvPr/>
        </p:nvSpPr>
        <p:spPr>
          <a:xfrm>
            <a:off x="10125194" y="2510421"/>
            <a:ext cx="1390087" cy="203200"/>
          </a:xfrm>
          <a:prstGeom prst="rect">
            <a:avLst/>
          </a:prstGeom>
        </p:spPr>
        <p:txBody>
          <a:bodyPr wrap="square" lIns="0" tIns="45720" rIns="0" bIns="0" anchor="t">
            <a:noAutofit/>
          </a:bodyPr>
          <a:lstStyle/>
          <a:p>
            <a:pPr algn="ctr">
              <a:buNone/>
            </a:pPr>
            <a:r>
              <a:rPr lang="ko-KR" altLang="en-US" sz="1100">
                <a:solidFill>
                  <a:prstClr val="black">
                    <a:lumMod val="65000"/>
                    <a:lumOff val="3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운영·투자비 회수</a:t>
            </a:r>
          </a:p>
        </p:txBody>
      </p:sp>
      <p:sp>
        <p:nvSpPr>
          <p:cNvPr id="85" name="BOTDesc 204">
            <a:extLst>
              <a:ext uri="{FF2B5EF4-FFF2-40B4-BE49-F238E27FC236}">
                <a16:creationId xmlns:a16="http://schemas.microsoft.com/office/drawing/2014/main" id="{5D9D2D2F-D71B-70F5-8B4E-A7B3AC52EB0A}"/>
              </a:ext>
            </a:extLst>
          </p:cNvPr>
          <p:cNvSpPr txBox="1"/>
          <p:nvPr/>
        </p:nvSpPr>
        <p:spPr>
          <a:xfrm>
            <a:off x="11662529" y="2510421"/>
            <a:ext cx="1390087" cy="203200"/>
          </a:xfrm>
          <a:prstGeom prst="rect">
            <a:avLst/>
          </a:prstGeom>
        </p:spPr>
        <p:txBody>
          <a:bodyPr wrap="square" lIns="0" tIns="45720" rIns="0" bIns="0" anchor="t">
            <a:noAutofit/>
          </a:bodyPr>
          <a:lstStyle/>
          <a:p>
            <a:pPr algn="ctr">
              <a:buNone/>
            </a:pPr>
            <a:r>
              <a:rPr lang="ko-KR" altLang="en-US" sz="1100">
                <a:solidFill>
                  <a:prstClr val="black">
                    <a:lumMod val="65000"/>
                    <a:lumOff val="3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소유권 국가 이전</a:t>
            </a:r>
          </a:p>
        </p:txBody>
      </p:sp>
      <p:sp>
        <p:nvSpPr>
          <p:cNvPr id="87" name="Rounded Rectangle 300">
            <a:extLst>
              <a:ext uri="{FF2B5EF4-FFF2-40B4-BE49-F238E27FC236}">
                <a16:creationId xmlns:a16="http://schemas.microsoft.com/office/drawing/2014/main" id="{69CBCECB-36E2-F91C-A465-4CAFAB927491}"/>
              </a:ext>
            </a:extLst>
          </p:cNvPr>
          <p:cNvSpPr/>
          <p:nvPr/>
        </p:nvSpPr>
        <p:spPr>
          <a:xfrm>
            <a:off x="13301150" y="1552988"/>
            <a:ext cx="1263715" cy="89251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RE  </a:t>
            </a:r>
          </a:p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operate</a:t>
            </a:r>
          </a:p>
          <a:p>
            <a:pPr algn="ctr"/>
            <a:r>
              <a:rPr lang="ko-KR" altLang="en-US" sz="1200" err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재공모</a:t>
            </a:r>
            <a:endParaRPr lang="ko-KR" altLang="en-US" sz="1200">
              <a:solidFill>
                <a:prstClr val="black">
                  <a:lumMod val="85000"/>
                  <a:lumOff val="1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9" name="BOTDesc 301">
            <a:extLst>
              <a:ext uri="{FF2B5EF4-FFF2-40B4-BE49-F238E27FC236}">
                <a16:creationId xmlns:a16="http://schemas.microsoft.com/office/drawing/2014/main" id="{D6ED3465-42FF-BAA1-B319-9E3579C0C4E1}"/>
              </a:ext>
            </a:extLst>
          </p:cNvPr>
          <p:cNvSpPr txBox="1"/>
          <p:nvPr/>
        </p:nvSpPr>
        <p:spPr>
          <a:xfrm>
            <a:off x="13247489" y="2510421"/>
            <a:ext cx="1390087" cy="203200"/>
          </a:xfrm>
          <a:prstGeom prst="rect">
            <a:avLst/>
          </a:prstGeom>
        </p:spPr>
        <p:txBody>
          <a:bodyPr wrap="square" lIns="0" tIns="45720" rIns="0" bIns="0" anchor="t">
            <a:noAutofit/>
          </a:bodyPr>
          <a:lstStyle/>
          <a:p>
            <a:pPr algn="ctr">
              <a:buNone/>
            </a:pPr>
            <a:r>
              <a:rPr lang="ko-KR" altLang="en-US" sz="1100">
                <a:solidFill>
                  <a:prstClr val="black">
                    <a:lumMod val="65000"/>
                    <a:lumOff val="3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공개입찰 재선정</a:t>
            </a:r>
          </a:p>
        </p:txBody>
      </p:sp>
      <p:sp>
        <p:nvSpPr>
          <p:cNvPr id="91" name="Arrow 302">
            <a:extLst>
              <a:ext uri="{FF2B5EF4-FFF2-40B4-BE49-F238E27FC236}">
                <a16:creationId xmlns:a16="http://schemas.microsoft.com/office/drawing/2014/main" id="{5F1F1513-1A2C-2836-57B6-48435E1F631A}"/>
              </a:ext>
            </a:extLst>
          </p:cNvPr>
          <p:cNvSpPr/>
          <p:nvPr/>
        </p:nvSpPr>
        <p:spPr>
          <a:xfrm>
            <a:off x="13108635" y="1850494"/>
            <a:ext cx="120935" cy="297505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FBF6ADA-D46F-30EF-C7FE-32B6B3876A4E}"/>
              </a:ext>
            </a:extLst>
          </p:cNvPr>
          <p:cNvSpPr txBox="1"/>
          <p:nvPr/>
        </p:nvSpPr>
        <p:spPr bwMode="auto">
          <a:xfrm>
            <a:off x="718404" y="6337453"/>
            <a:ext cx="535273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1) 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현금수입 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2,290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억 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800" b="1" dirty="0" err="1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세전이익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2,303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억 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+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법인세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등 △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13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억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 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현재가치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/ 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할인율 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6.9%</a:t>
            </a:r>
            <a:endParaRPr lang="ko-KR" altLang="en-US" sz="800" dirty="0"/>
          </a:p>
        </p:txBody>
      </p:sp>
      <p:pic>
        <p:nvPicPr>
          <p:cNvPr id="10" name="table">
            <a:extLst>
              <a:ext uri="{FF2B5EF4-FFF2-40B4-BE49-F238E27FC236}">
                <a16:creationId xmlns:a16="http://schemas.microsoft.com/office/drawing/2014/main" id="{4FD93490-88B4-A1AB-D0DB-5A1ABD003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18765" y="7089261"/>
            <a:ext cx="63819" cy="90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A9A82B-4607-B934-CBDA-938C10F37784}"/>
              </a:ext>
            </a:extLst>
          </p:cNvPr>
          <p:cNvSpPr txBox="1"/>
          <p:nvPr/>
        </p:nvSpPr>
        <p:spPr bwMode="auto">
          <a:xfrm>
            <a:off x="7918567" y="3962520"/>
            <a:ext cx="7331148" cy="2387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4000"/>
              </a:spcBef>
              <a:tabLst>
                <a:tab pos="227013" algn="l"/>
                <a:tab pos="1165225" algn="l"/>
              </a:tabLst>
            </a:pPr>
            <a:endParaRPr lang="en-US" altLang="ko-KR" sz="1600" dirty="0"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  <a:p>
            <a:pPr>
              <a:spcBef>
                <a:spcPts val="2500"/>
              </a:spcBef>
              <a:tabLst>
                <a:tab pos="227013" algn="l"/>
                <a:tab pos="1165225" algn="l"/>
              </a:tabLst>
            </a:pP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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서울시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–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효성 협의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1200" u="sng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해지시지급금 지급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후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협약 해지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→ 市로 세빛섬 소유권 이전</a:t>
            </a:r>
            <a:endParaRPr lang="en-US" altLang="ko-KR" sz="14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2500"/>
              </a:spcBef>
              <a:tabLst>
                <a:tab pos="227013" algn="l"/>
                <a:tab pos="1165225" algn="l"/>
              </a:tabLst>
            </a:pP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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ko-KR" altLang="en-US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市</a:t>
            </a:r>
            <a:r>
              <a:rPr lang="en-US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,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ko-KR" altLang="en-US" sz="1400" u="sng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공개경쟁입찰</a:t>
            </a:r>
            <a:r>
              <a:rPr lang="ko-KR" altLang="en-US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로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ko-KR" altLang="ko-KR" sz="1400" dirty="0" err="1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세빛섬의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신규 </a:t>
            </a:r>
            <a:r>
              <a:rPr lang="ko-KR" altLang="en-US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사용자 모집 → 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당사 입</a:t>
            </a:r>
            <a:r>
              <a:rPr lang="ko-KR" altLang="en-US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찰 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참여</a:t>
            </a:r>
            <a:r>
              <a:rPr lang="en-US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/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시설운영권</a:t>
            </a:r>
            <a:r>
              <a:rPr lang="en-US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확보</a:t>
            </a:r>
            <a:r>
              <a:rPr lang="en-US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</a:p>
          <a:p>
            <a:pPr>
              <a:spcBef>
                <a:spcPts val="2500"/>
              </a:spcBef>
              <a:tabLst>
                <a:tab pos="227013" algn="l"/>
                <a:tab pos="1165225" algn="l"/>
              </a:tabLst>
            </a:pP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※ 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입찰 전 협의사항</a:t>
            </a:r>
            <a:endParaRPr lang="en-US" altLang="ko-KR" sz="14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2000"/>
              </a:spcBef>
              <a:tabLst>
                <a:tab pos="227013" algn="l"/>
                <a:tab pos="1165225" algn="l"/>
              </a:tabLst>
            </a:pPr>
            <a:r>
              <a:rPr lang="en-US" altLang="ko-KR" sz="12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          </a:t>
            </a:r>
            <a:r>
              <a:rPr lang="en-US" altLang="ko-KR" sz="12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</a:t>
            </a:r>
            <a:r>
              <a:rPr lang="ko-KR" altLang="en-US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사용</a:t>
            </a:r>
            <a:r>
              <a:rPr lang="ko-KR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료</a:t>
            </a:r>
            <a:r>
              <a:rPr lang="en-US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: </a:t>
            </a:r>
            <a:r>
              <a:rPr lang="ko-KR" altLang="en-US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최대 연간</a:t>
            </a:r>
            <a:r>
              <a:rPr lang="en-US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52</a:t>
            </a:r>
            <a:r>
              <a:rPr lang="ko-KR" altLang="en-US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억 수준 </a:t>
            </a:r>
            <a:r>
              <a:rPr lang="en-US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/ </a:t>
            </a:r>
            <a:r>
              <a:rPr lang="ko-KR" altLang="en-US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서울시 </a:t>
            </a:r>
            <a:r>
              <a:rPr lang="ko-KR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협의</a:t>
            </a:r>
            <a:r>
              <a:rPr lang="ko-KR" altLang="en-US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로</a:t>
            </a:r>
            <a:r>
              <a:rPr lang="ko-KR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확정</a:t>
            </a:r>
            <a:r>
              <a:rPr lang="en-US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</a:p>
        </p:txBody>
      </p:sp>
      <p:graphicFrame>
        <p:nvGraphicFramePr>
          <p:cNvPr id="9" name="SummaryMerged">
            <a:extLst>
              <a:ext uri="{FF2B5EF4-FFF2-40B4-BE49-F238E27FC236}">
                <a16:creationId xmlns:a16="http://schemas.microsoft.com/office/drawing/2014/main" id="{CDEA8080-7C4A-8D98-0FED-858C2BCCA432}"/>
              </a:ext>
            </a:extLst>
          </p:cNvPr>
          <p:cNvGraphicFramePr>
            <a:graphicFrameLocks noGrp="1"/>
          </p:cNvGraphicFramePr>
          <p:nvPr/>
        </p:nvGraphicFramePr>
        <p:xfrm>
          <a:off x="7636009" y="6883907"/>
          <a:ext cx="6066693" cy="1694835"/>
        </p:xfrm>
        <a:graphic>
          <a:graphicData uri="http://schemas.openxmlformats.org/drawingml/2006/table">
            <a:tbl>
              <a:tblPr/>
              <a:tblGrid>
                <a:gridCol w="2022231">
                  <a:extLst>
                    <a:ext uri="{9D8B030D-6E8A-4147-A177-3AD203B41FA5}">
                      <a16:colId xmlns:a16="http://schemas.microsoft.com/office/drawing/2014/main" val="971669266"/>
                    </a:ext>
                  </a:extLst>
                </a:gridCol>
                <a:gridCol w="2022231">
                  <a:extLst>
                    <a:ext uri="{9D8B030D-6E8A-4147-A177-3AD203B41FA5}">
                      <a16:colId xmlns:a16="http://schemas.microsoft.com/office/drawing/2014/main" val="4191278934"/>
                    </a:ext>
                  </a:extLst>
                </a:gridCol>
                <a:gridCol w="2022231">
                  <a:extLst>
                    <a:ext uri="{9D8B030D-6E8A-4147-A177-3AD203B41FA5}">
                      <a16:colId xmlns:a16="http://schemas.microsoft.com/office/drawing/2014/main" val="3773814157"/>
                    </a:ext>
                  </a:extLst>
                </a:gridCol>
              </a:tblGrid>
              <a:tr h="31873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62626"/>
                          </a:solidFill>
                          <a:ea typeface="신세계 민부리 Light"/>
                        </a:rPr>
                        <a:t>구 분</a:t>
                      </a:r>
                    </a:p>
                  </a:txBody>
                  <a:tcPr marL="38100" marR="38100" marT="0" marB="0" anchor="ctr">
                    <a:lnL w="0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62626"/>
                          </a:solidFill>
                          <a:latin typeface="신세계 민부리 Light"/>
                          <a:ea typeface="신세계 민부리 Light"/>
                          <a:cs typeface="신세계 민부리 Light"/>
                        </a:rPr>
                        <a:t>장점</a:t>
                      </a:r>
                    </a:p>
                  </a:txBody>
                  <a:tcPr marL="38100" marR="381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62626"/>
                          </a:solidFill>
                          <a:latin typeface="신세계 민부리 Light"/>
                          <a:ea typeface="신세계 민부리 Light"/>
                          <a:cs typeface="신세계 민부리 Light"/>
                        </a:rPr>
                        <a:t>단점</a:t>
                      </a:r>
                    </a:p>
                  </a:txBody>
                  <a:tcPr marL="38100" marR="381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58564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소유권 이전 방식</a:t>
                      </a:r>
                      <a:endParaRPr lang="en-US" altLang="ko-KR" sz="12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0" marB="0" anchor="ctr">
                    <a:lnL w="0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463818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사용권 부여 방식</a:t>
                      </a:r>
                    </a:p>
                  </a:txBody>
                  <a:tcPr marL="38100" marR="38100" marT="0" marB="0" anchor="ctr">
                    <a:lnL w="0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기존 </a:t>
                      </a:r>
                      <a:r>
                        <a:rPr lang="en-US" altLang="ko-KR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SH</a:t>
                      </a:r>
                      <a:r>
                        <a:rPr lang="ko-KR" altLang="en-US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공사 부채</a:t>
                      </a:r>
                      <a:r>
                        <a:rPr lang="en-US" altLang="ko-KR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자본잠식</a:t>
                      </a:r>
                      <a:r>
                        <a:rPr lang="en-US" altLang="ko-KR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지체상금 등 사업성 까먹는 요인들 </a:t>
                      </a:r>
                      <a:r>
                        <a:rPr lang="ko-KR" altLang="en-US" sz="1200" b="1" err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안끌고와도</a:t>
                      </a:r>
                      <a:r>
                        <a:rPr lang="ko-KR" altLang="en-US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된다</a:t>
                      </a:r>
                      <a:endParaRPr lang="ko-KR" altLang="en-US" sz="12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729937"/>
                  </a:ext>
                </a:extLst>
              </a:tr>
            </a:tbl>
          </a:graphicData>
        </a:graphic>
      </p:graphicFrame>
      <p:graphicFrame>
        <p:nvGraphicFramePr>
          <p:cNvPr id="6" name="SummaryMerged">
            <a:extLst>
              <a:ext uri="{FF2B5EF4-FFF2-40B4-BE49-F238E27FC236}">
                <a16:creationId xmlns:a16="http://schemas.microsoft.com/office/drawing/2014/main" id="{071EFC86-5CFF-F2DE-90FA-2A4CAFB7FF73}"/>
              </a:ext>
            </a:extLst>
          </p:cNvPr>
          <p:cNvGraphicFramePr>
            <a:graphicFrameLocks noGrp="1"/>
          </p:cNvGraphicFramePr>
          <p:nvPr/>
        </p:nvGraphicFramePr>
        <p:xfrm>
          <a:off x="8593895" y="5967118"/>
          <a:ext cx="5706574" cy="1300024"/>
        </p:xfrm>
        <a:graphic>
          <a:graphicData uri="http://schemas.openxmlformats.org/drawingml/2006/table">
            <a:tbl>
              <a:tblPr/>
              <a:tblGrid>
                <a:gridCol w="1662112">
                  <a:extLst>
                    <a:ext uri="{9D8B030D-6E8A-4147-A177-3AD203B41FA5}">
                      <a16:colId xmlns:a16="http://schemas.microsoft.com/office/drawing/2014/main" val="971669266"/>
                    </a:ext>
                  </a:extLst>
                </a:gridCol>
                <a:gridCol w="2022231">
                  <a:extLst>
                    <a:ext uri="{9D8B030D-6E8A-4147-A177-3AD203B41FA5}">
                      <a16:colId xmlns:a16="http://schemas.microsoft.com/office/drawing/2014/main" val="4191278934"/>
                    </a:ext>
                  </a:extLst>
                </a:gridCol>
                <a:gridCol w="2022231">
                  <a:extLst>
                    <a:ext uri="{9D8B030D-6E8A-4147-A177-3AD203B41FA5}">
                      <a16:colId xmlns:a16="http://schemas.microsoft.com/office/drawing/2014/main" val="3773814157"/>
                    </a:ext>
                  </a:extLst>
                </a:gridCol>
              </a:tblGrid>
              <a:tr h="249274">
                <a:tc>
                  <a:txBody>
                    <a:bodyPr/>
                    <a:lstStyle/>
                    <a:p>
                      <a:pPr algn="ctr"/>
                      <a:endParaRPr lang="ko-KR" altLang="en-US" sz="1100" b="1">
                        <a:solidFill>
                          <a:srgbClr val="262626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8100" marR="38100" marT="36000" marB="36000" anchor="ctr">
                    <a:lnL w="0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"/>
                        </a:rPr>
                        <a:t>장점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"/>
                        </a:rPr>
                        <a:t>단점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585646"/>
                  </a:ext>
                </a:extLst>
              </a:tr>
              <a:tr h="473854"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기존 안 </a:t>
                      </a:r>
                      <a:r>
                        <a:rPr lang="en-US" altLang="ko-KR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소유</a:t>
                      </a:r>
                      <a:r>
                        <a:rPr lang="en-US" altLang="ko-KR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0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운영 자율성 高</a:t>
                      </a:r>
                      <a:endParaRPr lang="en-US" altLang="ko-KR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근저당권 설정 </a:t>
                      </a:r>
                      <a:r>
                        <a:rPr lang="en-US" altLang="ko-KR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공간 구성 등</a:t>
                      </a:r>
                      <a:r>
                        <a:rPr lang="en-US" altLang="ko-KR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0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손상차손 </a:t>
                      </a:r>
                      <a:r>
                        <a:rPr lang="en-US" altLang="ko-KR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배임 이슈 高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463818"/>
                  </a:ext>
                </a:extLst>
              </a:tr>
              <a:tr h="57689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변경 안 </a:t>
                      </a:r>
                      <a:r>
                        <a:rPr lang="en-US" altLang="ko-KR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임대</a:t>
                      </a:r>
                      <a:r>
                        <a:rPr lang="en-US" altLang="ko-KR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0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손상차손 </a:t>
                      </a:r>
                      <a:r>
                        <a:rPr lang="en-US" altLang="ko-KR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배임 이슈 低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운영 자율성 低 </a:t>
                      </a:r>
                      <a:r>
                        <a:rPr lang="en-US" altLang="ko-KR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리스 부채 가능성 有</a:t>
                      </a:r>
                      <a:endParaRPr lang="en-US" altLang="ko-KR" sz="11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729937"/>
                  </a:ext>
                </a:extLst>
              </a:tr>
            </a:tbl>
          </a:graphicData>
        </a:graphic>
      </p:graphicFrame>
      <p:sp>
        <p:nvSpPr>
          <p:cNvPr id="13" name="NoteBlock">
            <a:extLst>
              <a:ext uri="{FF2B5EF4-FFF2-40B4-BE49-F238E27FC236}">
                <a16:creationId xmlns:a16="http://schemas.microsoft.com/office/drawing/2014/main" id="{DB97F9D5-EA76-9787-3EA5-E2130AC59ACD}"/>
              </a:ext>
            </a:extLst>
          </p:cNvPr>
          <p:cNvSpPr txBox="1"/>
          <p:nvPr/>
        </p:nvSpPr>
        <p:spPr>
          <a:xfrm>
            <a:off x="9484470" y="1131232"/>
            <a:ext cx="3568146" cy="185708"/>
          </a:xfrm>
          <a:prstGeom prst="rect">
            <a:avLst/>
          </a:prstGeom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＊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3190A3-B7D7-73D3-333E-193F2060F359}"/>
              </a:ext>
            </a:extLst>
          </p:cNvPr>
          <p:cNvSpPr txBox="1"/>
          <p:nvPr/>
        </p:nvSpPr>
        <p:spPr bwMode="auto">
          <a:xfrm>
            <a:off x="9155681" y="958593"/>
            <a:ext cx="2571759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＊ 리모델링 투자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520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억 집행 후 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3DED82-8087-A49B-F449-492E7149CF47}"/>
              </a:ext>
            </a:extLst>
          </p:cNvPr>
          <p:cNvSpPr txBox="1"/>
          <p:nvPr/>
        </p:nvSpPr>
        <p:spPr bwMode="auto">
          <a:xfrm>
            <a:off x="8143488" y="9112296"/>
            <a:ext cx="216452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*  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효성 해지시지급금 수준</a:t>
            </a:r>
            <a:endParaRPr lang="ko-KR" altLang="en-US" sz="8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5D179CE-F706-E711-FF98-BEF8B67C86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492771"/>
              </p:ext>
            </p:extLst>
          </p:nvPr>
        </p:nvGraphicFramePr>
        <p:xfrm>
          <a:off x="777863" y="1969861"/>
          <a:ext cx="5822596" cy="4315376"/>
        </p:xfrm>
        <a:graphic>
          <a:graphicData uri="http://schemas.openxmlformats.org/drawingml/2006/table">
            <a:tbl>
              <a:tblPr/>
              <a:tblGrid>
                <a:gridCol w="801517">
                  <a:extLst>
                    <a:ext uri="{9D8B030D-6E8A-4147-A177-3AD203B41FA5}">
                      <a16:colId xmlns:a16="http://schemas.microsoft.com/office/drawing/2014/main" val="482799065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4256685836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2556338141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1291142938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1811841804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1697984603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2306787904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3313437714"/>
                    </a:ext>
                  </a:extLst>
                </a:gridCol>
              </a:tblGrid>
              <a:tr h="3319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 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</a:t>
                      </a: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28</a:t>
                      </a: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. </a:t>
                      </a:r>
                      <a:r>
                        <a:rPr lang="ko-KR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下</a:t>
                      </a:r>
                      <a:endParaRPr lang="ko-KR" sz="1000" b="1" i="0" u="none" strike="noStrike" dirty="0">
                        <a:solidFill>
                          <a:srgbClr val="FFFFFF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‘</a:t>
                      </a: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‘</a:t>
                      </a: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</a:t>
                      </a: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58</a:t>
                      </a: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. </a:t>
                      </a:r>
                      <a:r>
                        <a:rPr lang="ko-KR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上</a:t>
                      </a:r>
                      <a:endParaRPr lang="ko-KR" sz="1000" b="1" i="0" u="none" strike="noStrike" dirty="0">
                        <a:solidFill>
                          <a:srgbClr val="FFFFFF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</a:t>
                      </a:r>
                      <a:r>
                        <a:rPr lang="ko-KR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</a:t>
                      </a: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442426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수익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120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161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111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4,892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554694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세빛섬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116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156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104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4,726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977895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</a:t>
                      </a:r>
                      <a:r>
                        <a:rPr lang="ko-KR" altLang="en-US" sz="1000" b="0" i="0" u="none" strike="noStrike" dirty="0" err="1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수상푸드존</a:t>
                      </a: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166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1647932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비용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48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69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84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54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2,589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909056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세빛섬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48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82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51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2,519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246829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</a:t>
                      </a:r>
                      <a:r>
                        <a:rPr lang="ko-KR" altLang="en-US" sz="1000" b="0" i="0" u="none" strike="noStrike" dirty="0" err="1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수상푸드존</a:t>
                      </a:r>
                      <a:r>
                        <a:rPr lang="ko-KR" alt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70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051824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세전이익</a:t>
                      </a:r>
                      <a:endParaRPr 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51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2,303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406707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세빛섬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49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74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53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2,207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777675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</a:t>
                      </a:r>
                      <a:r>
                        <a:rPr lang="ko-KR" altLang="en-US" sz="1000" b="0" i="0" u="none" strike="noStrike" dirty="0" err="1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수상푸드존</a:t>
                      </a:r>
                      <a:r>
                        <a:rPr lang="ko-KR" alt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96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021342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현재가치</a:t>
                      </a:r>
                      <a:r>
                        <a:rPr lang="en-US" altLang="ko-KR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1000" b="1" i="1" u="none" strike="noStrike" baseline="30000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1)</a:t>
                      </a:r>
                      <a:endParaRPr lang="en-US" sz="1000" b="1" i="1" u="none" strike="noStrike" baseline="30000" dirty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168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1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50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1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1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26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(15)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967</a:t>
                      </a:r>
                      <a:endParaRPr lang="ko-KR" sz="1000" b="1" i="1" u="none" strike="noStrike" dirty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259734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세빛섬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168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48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25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(15)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940</a:t>
                      </a: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464875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선착장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644813"/>
                  </a:ext>
                </a:extLst>
              </a:tr>
            </a:tbl>
          </a:graphicData>
        </a:graphic>
      </p:graphicFrame>
      <p:graphicFrame>
        <p:nvGraphicFramePr>
          <p:cNvPr id="12" name="SummaryMerged">
            <a:extLst>
              <a:ext uri="{FF2B5EF4-FFF2-40B4-BE49-F238E27FC236}">
                <a16:creationId xmlns:a16="http://schemas.microsoft.com/office/drawing/2014/main" id="{C05A260C-0FB6-C434-EF10-479787A1FF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587347"/>
              </p:ext>
            </p:extLst>
          </p:nvPr>
        </p:nvGraphicFramePr>
        <p:xfrm>
          <a:off x="670067" y="7376427"/>
          <a:ext cx="5930392" cy="1596079"/>
        </p:xfrm>
        <a:graphic>
          <a:graphicData uri="http://schemas.openxmlformats.org/drawingml/2006/table">
            <a:tbl>
              <a:tblPr/>
              <a:tblGrid>
                <a:gridCol w="1059490">
                  <a:extLst>
                    <a:ext uri="{9D8B030D-6E8A-4147-A177-3AD203B41FA5}">
                      <a16:colId xmlns:a16="http://schemas.microsoft.com/office/drawing/2014/main" val="971669266"/>
                    </a:ext>
                  </a:extLst>
                </a:gridCol>
                <a:gridCol w="2435451">
                  <a:extLst>
                    <a:ext uri="{9D8B030D-6E8A-4147-A177-3AD203B41FA5}">
                      <a16:colId xmlns:a16="http://schemas.microsoft.com/office/drawing/2014/main" val="4191278934"/>
                    </a:ext>
                  </a:extLst>
                </a:gridCol>
                <a:gridCol w="2435451">
                  <a:extLst>
                    <a:ext uri="{9D8B030D-6E8A-4147-A177-3AD203B41FA5}">
                      <a16:colId xmlns:a16="http://schemas.microsoft.com/office/drawing/2014/main" val="3773814157"/>
                    </a:ext>
                  </a:extLst>
                </a:gridCol>
              </a:tblGrid>
              <a:tr h="383183">
                <a:tc>
                  <a:txBody>
                    <a:bodyPr/>
                    <a:lstStyle/>
                    <a:p>
                      <a:pPr algn="ctr"/>
                      <a:endParaRPr lang="ko-KR" altLang="en-US" sz="1100" b="1" dirty="0">
                        <a:solidFill>
                          <a:srgbClr val="262626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8100" marR="38100" marT="36000" marB="36000" anchor="ctr">
                    <a:lnL w="0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"/>
                        </a:rPr>
                        <a:t>장점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"/>
                        </a:rPr>
                        <a:t>단점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585646"/>
                  </a:ext>
                </a:extLst>
              </a:tr>
              <a:tr h="606448"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기존 안 </a:t>
                      </a:r>
                      <a:r>
                        <a:rPr lang="en-US" altLang="ko-KR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소유</a:t>
                      </a:r>
                      <a:r>
                        <a:rPr lang="en-US" altLang="ko-KR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0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운영 자율성 高</a:t>
                      </a:r>
                      <a:endParaRPr lang="en-US" altLang="ko-KR" sz="11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근저당권 설정 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공간 구성 등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 err="1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손상차손</a:t>
                      </a: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배임 이슈 高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463818"/>
                  </a:ext>
                </a:extLst>
              </a:tr>
              <a:tr h="60644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변경 안 </a:t>
                      </a:r>
                      <a:r>
                        <a:rPr lang="en-US" altLang="ko-KR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임대</a:t>
                      </a:r>
                      <a:r>
                        <a:rPr lang="en-US" altLang="ko-KR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0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100" kern="1200" dirty="0" err="1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손상차손</a:t>
                      </a: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배임 이슈 低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운영 자율성 低 </a:t>
                      </a:r>
                      <a:r>
                        <a:rPr lang="en-US" altLang="ko-KR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리스부채 가능성 有</a:t>
                      </a:r>
                      <a:endParaRPr lang="en-US" altLang="ko-KR" sz="11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72993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9D1D318-BEEA-875F-04AF-A4D59D25D286}"/>
              </a:ext>
            </a:extLst>
          </p:cNvPr>
          <p:cNvSpPr txBox="1"/>
          <p:nvPr/>
        </p:nvSpPr>
        <p:spPr bwMode="auto">
          <a:xfrm>
            <a:off x="8425875" y="3321538"/>
            <a:ext cx="763674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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기존 안 대비 </a:t>
            </a:r>
            <a:r>
              <a:rPr lang="ko-KR" altLang="en-US" sz="1400" b="1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손상차손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/ 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배임 이슈 리스크 低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8DE0FAF-9798-C3B5-EBE7-E7ED93D6D41D}"/>
              </a:ext>
            </a:extLst>
          </p:cNvPr>
          <p:cNvSpPr/>
          <p:nvPr/>
        </p:nvSpPr>
        <p:spPr>
          <a:xfrm>
            <a:off x="6071138" y="5319016"/>
            <a:ext cx="511910" cy="246279"/>
          </a:xfrm>
          <a:prstGeom prst="ellipse">
            <a:avLst/>
          </a:prstGeom>
          <a:ln w="19050">
            <a:solidFill>
              <a:srgbClr val="C00000"/>
            </a:solidFill>
            <a:prstDash val="sysDash"/>
          </a:ln>
        </p:spPr>
        <p:txBody>
          <a:bodyPr wrap="square" rtlCol="0" anchor="ctr">
            <a:spAutoFit/>
          </a:bodyPr>
          <a:lstStyle/>
          <a:p>
            <a:pPr algn="l">
              <a:spcBef>
                <a:spcPts val="1200"/>
              </a:spcBef>
              <a:tabLst>
                <a:tab pos="227013" algn="l"/>
                <a:tab pos="1165225" algn="l"/>
              </a:tabLst>
            </a:pPr>
            <a:endParaRPr lang="ko-KR" altLang="en-US" sz="1400" dirty="0">
              <a:solidFill>
                <a:prstClr val="black">
                  <a:lumMod val="85000"/>
                  <a:lumOff val="1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55742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2C89A-7484-458D-E4F3-360C209C7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AE61FB8A-3247-349B-3B09-51185CBFE02F}"/>
              </a:ext>
            </a:extLst>
          </p:cNvPr>
          <p:cNvSpPr/>
          <p:nvPr/>
        </p:nvSpPr>
        <p:spPr>
          <a:xfrm>
            <a:off x="120924" y="814256"/>
            <a:ext cx="6415085" cy="9182001"/>
          </a:xfrm>
          <a:prstGeom prst="rect">
            <a:avLst/>
          </a:prstGeom>
        </p:spPr>
        <p:txBody>
          <a:bodyPr wrap="square" lIns="38100" rIns="38100">
            <a:spAutoFit/>
          </a:bodyPr>
          <a:lstStyle/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r>
              <a:rPr lang="ko-KR" altLang="en-US" sz="1600" dirty="0"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</a:t>
            </a:r>
            <a:r>
              <a:rPr lang="ko-KR" alt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오세훈 서울시장 선거법 위반</a:t>
            </a:r>
            <a:endParaRPr lang="en-US" altLang="ko-KR" sz="16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  <a:p>
            <a:pPr>
              <a:spcBef>
                <a:spcPts val="20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 ’21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년 서울시장 선거 관련 오세훈 시장 후원자 </a:t>
            </a:r>
            <a:r>
              <a:rPr lang="ko-KR" altLang="en-US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김한정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→ </a:t>
            </a:r>
            <a:r>
              <a:rPr lang="ko-KR" altLang="en-US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명태균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여론조사 의뢰</a:t>
            </a:r>
            <a:endParaRPr lang="en-US" altLang="ko-KR" sz="14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20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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여론조사 비용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2,100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만원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3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자 대납 의혹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불법 정치자금 기부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</a:t>
            </a:r>
          </a:p>
          <a:p>
            <a:pPr>
              <a:spcBef>
                <a:spcPts val="20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 ’25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년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12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월 특검 오세훈 시장 기소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지방선거 고려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’26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년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5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월 재판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1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개월 중지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</a:t>
            </a:r>
          </a:p>
          <a:p>
            <a:pPr>
              <a:spcBef>
                <a:spcPts val="20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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공직선거법상 벌금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100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만원 이상 확정 시 </a:t>
            </a:r>
            <a:r>
              <a:rPr lang="ko-KR" altLang="en-US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시장직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상실</a:t>
            </a:r>
            <a:endParaRPr lang="en-US" altLang="ko-KR" sz="14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3000"/>
              </a:spcBef>
              <a:tabLst>
                <a:tab pos="240248" algn="l"/>
                <a:tab pos="1233158" algn="l"/>
              </a:tabLst>
              <a:defRPr/>
            </a:pPr>
            <a:r>
              <a:rPr lang="ko-KR" altLang="en-US" sz="1600" dirty="0"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</a:t>
            </a:r>
            <a:r>
              <a:rPr lang="ko-KR" alt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재판 일정</a:t>
            </a:r>
            <a:endParaRPr lang="en-US" altLang="ko-KR" sz="16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  <a:p>
            <a:pPr>
              <a:spcBef>
                <a:spcPts val="2000"/>
              </a:spcBef>
              <a:tabLst>
                <a:tab pos="240248" algn="l"/>
                <a:tab pos="1233158" algn="l"/>
              </a:tabLst>
              <a:defRPr/>
            </a:pP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특검법 제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11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조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6·3·3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원칙 </a:t>
            </a:r>
            <a:endParaRPr lang="en-US" altLang="ko-KR" sz="14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indent="-215900">
              <a:spcBef>
                <a:spcPts val="18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   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• 1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심 선고 →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공소제기일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6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개월 內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/ 2,3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심 선고 →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전심 선고일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3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개월 內</a:t>
            </a:r>
            <a:endParaRPr lang="en-US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endParaRPr lang="en-US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endParaRPr lang="en-US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endParaRPr lang="en-US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OTF)" panose="02000600000000020003" pitchFamily="50" charset="-127"/>
              <a:ea typeface="신세계 민부리 Light(OTF)" panose="02000600000000020003" pitchFamily="50" charset="-127"/>
              <a:sym typeface="Wingdings" pitchFamily="2" charset="2"/>
            </a:endParaRP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endParaRPr lang="en-US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OTF)" panose="02000600000000020003" pitchFamily="50" charset="-127"/>
              <a:ea typeface="신세계 민부리 Light(OTF)" panose="02000600000000020003" pitchFamily="50" charset="-127"/>
              <a:sym typeface="Wingdings" pitchFamily="2" charset="2"/>
            </a:endParaRP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endParaRPr lang="en-US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OTF)" panose="02000600000000020003" pitchFamily="50" charset="-127"/>
              <a:ea typeface="신세계 민부리 Light(OTF)" panose="02000600000000020003" pitchFamily="50" charset="-127"/>
              <a:sym typeface="Wingdings" pitchFamily="2" charset="2"/>
            </a:endParaRP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endParaRPr lang="en-US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OTF)" panose="02000600000000020003" pitchFamily="50" charset="-127"/>
              <a:ea typeface="신세계 민부리 Light(OTF)" panose="02000600000000020003" pitchFamily="50" charset="-127"/>
              <a:sym typeface="Wingdings" pitchFamily="2" charset="2"/>
            </a:endParaRP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endParaRPr lang="en-US" altLang="ko-KR" sz="20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OTF)" panose="02000600000000020003" pitchFamily="50" charset="-127"/>
              <a:ea typeface="신세계 민부리 Light(OTF)" panose="02000600000000020003" pitchFamily="50" charset="-127"/>
              <a:sym typeface="Wingdings" pitchFamily="2" charset="2"/>
            </a:endParaRP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endParaRPr lang="en-US" alt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endParaRPr lang="en-US" altLang="ko-KR" sz="24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1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     </a:t>
            </a:r>
          </a:p>
          <a:p>
            <a:pPr>
              <a:spcBef>
                <a:spcPts val="12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1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     </a:t>
            </a: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        </a:t>
            </a: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 -</a:t>
            </a:r>
            <a:endParaRPr lang="ko-KR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OTF)" panose="02000600000000020003" pitchFamily="50" charset="-127"/>
              <a:ea typeface="신세계 민부리 Light(OTF)" panose="02000600000000020003" pitchFamily="50" charset="-127"/>
            </a:endParaRP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endParaRPr lang="en-US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OTF)" panose="02000600000000020003" pitchFamily="50" charset="-127"/>
              <a:ea typeface="신세계 민부리 Light(OTF)" panose="02000600000000020003" pitchFamily="50" charset="-127"/>
              <a:sym typeface="Wingdings" panose="05000000000000000000" pitchFamily="2" charset="2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2E5FBF3F-CD99-42DA-827E-D815C4D5145F}"/>
              </a:ext>
            </a:extLst>
          </p:cNvPr>
          <p:cNvGraphicFramePr>
            <a:graphicFrameLocks noGrp="1"/>
          </p:cNvGraphicFramePr>
          <p:nvPr/>
        </p:nvGraphicFramePr>
        <p:xfrm>
          <a:off x="7402571" y="5749858"/>
          <a:ext cx="5970561" cy="2160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961">
                  <a:extLst>
                    <a:ext uri="{9D8B030D-6E8A-4147-A177-3AD203B41FA5}">
                      <a16:colId xmlns:a16="http://schemas.microsoft.com/office/drawing/2014/main" val="2052888082"/>
                    </a:ext>
                  </a:extLst>
                </a:gridCol>
                <a:gridCol w="2700300">
                  <a:extLst>
                    <a:ext uri="{9D8B030D-6E8A-4147-A177-3AD203B41FA5}">
                      <a16:colId xmlns:a16="http://schemas.microsoft.com/office/drawing/2014/main" val="1894311995"/>
                    </a:ext>
                  </a:extLst>
                </a:gridCol>
                <a:gridCol w="2700300">
                  <a:extLst>
                    <a:ext uri="{9D8B030D-6E8A-4147-A177-3AD203B41FA5}">
                      <a16:colId xmlns:a16="http://schemas.microsoft.com/office/drawing/2014/main" val="2809982429"/>
                    </a:ext>
                  </a:extLst>
                </a:gridCol>
              </a:tblGrid>
              <a:tr h="325078">
                <a:tc>
                  <a:txBody>
                    <a:bodyPr/>
                    <a:lstStyle/>
                    <a:p>
                      <a:pPr algn="ctr" latinLnBrk="1"/>
                      <a:endParaRPr lang="ko-KR" altLang="en-US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OTF)" panose="02000600000000020003" pitchFamily="50" charset="-127"/>
                        <a:ea typeface="신세계 민부리 Light(OTF)" panose="02000600000000020003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OTF)" panose="02000600000000020003" pitchFamily="50" charset="-127"/>
                        <a:ea typeface="신세계 민부리 Light(OTF)" panose="02000600000000020003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OTF)" panose="02000600000000020003" pitchFamily="50" charset="-127"/>
                        <a:ea typeface="신세계 민부리 Light(OTF)" panose="02000600000000020003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960889"/>
                  </a:ext>
                </a:extLst>
              </a:tr>
              <a:tr h="325078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OTF)" panose="02000600000000020003" pitchFamily="50" charset="-127"/>
                        <a:ea typeface="신세계 민부리 Light(OTF)" panose="02000600000000020003" pitchFamily="50" charset="-127"/>
                        <a:cs typeface="+mn-cs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11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  <a:sym typeface="Wingdings 3" panose="05040102010807070707" pitchFamily="18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410648"/>
                  </a:ext>
                </a:extLst>
              </a:tr>
              <a:tr h="32507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OTF)" panose="02000600000000020003" pitchFamily="50" charset="-127"/>
                        <a:ea typeface="신세계 민부리 Light(OTF)" panose="02000600000000020003" pitchFamily="50" charset="-127"/>
                        <a:cs typeface="+mn-cs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183997"/>
                  </a:ext>
                </a:extLst>
              </a:tr>
              <a:tr h="325078">
                <a:tc rowSpan="3">
                  <a:txBody>
                    <a:bodyPr/>
                    <a:lstStyle/>
                    <a:p>
                      <a:pPr algn="ctr" latinLnBrk="1"/>
                      <a:endParaRPr lang="ko-KR" altLang="en-US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OTF)" panose="02000600000000020003" pitchFamily="50" charset="-127"/>
                        <a:ea typeface="신세계 민부리 Light(OTF)" panose="02000600000000020003" pitchFamily="50" charset="-127"/>
                        <a:cs typeface="+mn-cs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/>
                      <a:endParaRPr lang="en-US" altLang="ko-KR" sz="11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403166"/>
                  </a:ext>
                </a:extLst>
              </a:tr>
              <a:tr h="3250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7819597"/>
                  </a:ext>
                </a:extLst>
              </a:tr>
              <a:tr h="53542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OTF)" panose="02000600000000020003" pitchFamily="50" charset="-127"/>
                        <a:ea typeface="신세계 민부리 Light(OTF)" panose="02000600000000020003" pitchFamily="50" charset="-127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>
                        <a:latin typeface="신세계 민부리 Light(OTF)" panose="02000600000000020003" pitchFamily="50" charset="-127"/>
                        <a:ea typeface="신세계 민부리 Light(OTF)" panose="02000600000000020003" pitchFamily="50" charset="-127"/>
                        <a:sym typeface="Wingdings" panose="05000000000000000000" pitchFamily="2" charset="2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0107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C82FBAA6-311C-5EF3-30B2-0D4112416A36}"/>
              </a:ext>
            </a:extLst>
          </p:cNvPr>
          <p:cNvSpPr txBox="1"/>
          <p:nvPr/>
        </p:nvSpPr>
        <p:spPr bwMode="auto">
          <a:xfrm>
            <a:off x="9261648" y="2936776"/>
            <a:ext cx="1126204" cy="198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lang="en-US" altLang="ko-KR" sz="7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OTF)" panose="02000600000000020003" pitchFamily="50" charset="-127"/>
                <a:ea typeface="신세계 민부리 Bold(OTF)" panose="02000600000000020003" pitchFamily="50" charset="-127"/>
                <a:sym typeface="Wingdings" pitchFamily="2" charset="2"/>
              </a:rPr>
              <a:t> </a:t>
            </a:r>
            <a:r>
              <a:rPr kumimoji="0" lang="en-US" altLang="ko-KR" sz="700" b="1" i="0" u="none" strike="noStrike" kern="12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신세계 민부리 Bold(OTF)" panose="02000600000000020003" pitchFamily="50" charset="-127"/>
                <a:ea typeface="신세계 민부리 Bold(OTF)" panose="02000600000000020003" pitchFamily="50" charset="-127"/>
                <a:sym typeface="Wingdings" pitchFamily="2" charset="2"/>
              </a:rPr>
              <a:t>* </a:t>
            </a:r>
            <a:r>
              <a:rPr kumimoji="0" lang="ko-KR" altLang="en-US" sz="700" b="1" i="0" u="none" strike="noStrike" kern="12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신세계 민부리 Bold(OTF)" panose="02000600000000020003" pitchFamily="50" charset="-127"/>
                <a:ea typeface="신세계 민부리 Bold(OTF)" panose="02000600000000020003" pitchFamily="50" charset="-127"/>
                <a:sym typeface="Wingdings" pitchFamily="2" charset="2"/>
              </a:rPr>
              <a:t>우 </a:t>
            </a:r>
            <a:r>
              <a:rPr kumimoji="0" lang="en-US" altLang="ko-KR" sz="700" b="1" i="0" u="none" strike="noStrike" kern="12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신세계 민부리 Bold(OTF)" panose="02000600000000020003" pitchFamily="50" charset="-127"/>
                <a:ea typeface="신세계 민부리 Bold(OTF)" panose="02000600000000020003" pitchFamily="50" charset="-127"/>
                <a:sym typeface="Wingdings" pitchFamily="2" charset="2"/>
              </a:rPr>
              <a:t>:7.3% / </a:t>
            </a:r>
            <a:r>
              <a:rPr kumimoji="0" lang="ko-KR" altLang="en-US" sz="700" b="1" i="0" u="none" strike="noStrike" kern="12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신세계 민부리 Bold(OTF)" panose="02000600000000020003" pitchFamily="50" charset="-127"/>
                <a:ea typeface="신세계 민부리 Bold(OTF)" panose="02000600000000020003" pitchFamily="50" charset="-127"/>
                <a:sym typeface="Wingdings" pitchFamily="2" charset="2"/>
              </a:rPr>
              <a:t>보 </a:t>
            </a:r>
            <a:r>
              <a:rPr kumimoji="0" lang="en-US" altLang="ko-KR" sz="700" b="1" i="0" u="none" strike="noStrike" kern="12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신세계 민부리 Bold(OTF)" panose="02000600000000020003" pitchFamily="50" charset="-127"/>
                <a:ea typeface="신세계 민부리 Bold(OTF)" panose="02000600000000020003" pitchFamily="50" charset="-127"/>
                <a:sym typeface="Wingdings" pitchFamily="2" charset="2"/>
              </a:rPr>
              <a:t>9.3%</a:t>
            </a:r>
            <a:endParaRPr lang="ko-KR" altLang="en-US" sz="700" b="1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latin typeface="신세계 민부리 Bold(OTF)" panose="02000600000000020003" pitchFamily="50" charset="-127"/>
              <a:ea typeface="신세계 민부리 Bold(OTF)" panose="02000600000000020003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C220ED-B620-6AE5-F4CE-005018337884}"/>
              </a:ext>
            </a:extLst>
          </p:cNvPr>
          <p:cNvSpPr txBox="1"/>
          <p:nvPr/>
        </p:nvSpPr>
        <p:spPr bwMode="auto">
          <a:xfrm>
            <a:off x="1474168" y="1972191"/>
            <a:ext cx="4276757" cy="236796"/>
          </a:xfrm>
          <a:prstGeom prst="rect">
            <a:avLst/>
          </a:prstGeom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lang="en-US" altLang="ko-KR" sz="8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신세계 민부리 Bold(OTF)" panose="02000600000000020003" pitchFamily="50" charset="-127"/>
                <a:ea typeface="신세계 민부리 Bold(OTF)" panose="02000600000000020003" pitchFamily="50" charset="-127"/>
                <a:sym typeface="Wingdings" pitchFamily="2" charset="2"/>
              </a:rPr>
              <a:t> * </a:t>
            </a:r>
            <a:r>
              <a:rPr lang="ko-KR" altLang="en-US" sz="8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신세계 민부리 Bold(OTF)" panose="02000600000000020003" pitchFamily="50" charset="-127"/>
                <a:ea typeface="신세계 민부리 Bold(OTF)" panose="02000600000000020003" pitchFamily="50" charset="-127"/>
                <a:sym typeface="Wingdings" pitchFamily="2" charset="2"/>
              </a:rPr>
              <a:t>여론조사 비용은 정치자금으로 </a:t>
            </a:r>
            <a:r>
              <a:rPr lang="ko-KR" altLang="en-US" sz="800" b="1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신세계 민부리 Bold(OTF)" panose="02000600000000020003" pitchFamily="50" charset="-127"/>
                <a:ea typeface="신세계 민부리 Bold(OTF)" panose="02000600000000020003" pitchFamily="50" charset="-127"/>
                <a:sym typeface="Wingdings" pitchFamily="2" charset="2"/>
              </a:rPr>
              <a:t>기부받거나</a:t>
            </a:r>
            <a:r>
              <a:rPr lang="ko-KR" altLang="en-US" sz="8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신세계 민부리 Bold(OTF)" panose="02000600000000020003" pitchFamily="50" charset="-127"/>
                <a:ea typeface="신세계 민부리 Bold(OTF)" panose="02000600000000020003" pitchFamily="50" charset="-127"/>
                <a:sym typeface="Wingdings" pitchFamily="2" charset="2"/>
              </a:rPr>
              <a:t> 수수하는 것 엄격히 금지</a:t>
            </a:r>
            <a:endParaRPr lang="ko-KR" altLang="en-US" sz="8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latin typeface="신세계 민부리 Bold(OTF)" panose="02000600000000020003" pitchFamily="50" charset="-127"/>
              <a:ea typeface="신세계 민부리 Bold(OTF)" panose="02000600000000020003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2E512D-D3FC-E955-AD4D-B49ED78663CD}"/>
              </a:ext>
            </a:extLst>
          </p:cNvPr>
          <p:cNvSpPr txBox="1"/>
          <p:nvPr/>
        </p:nvSpPr>
        <p:spPr bwMode="auto">
          <a:xfrm>
            <a:off x="8109520" y="1571382"/>
            <a:ext cx="4732978" cy="236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lang="en-US" altLang="ko-KR" sz="8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OTF)" panose="02000600000000020003" pitchFamily="50" charset="-127"/>
                <a:ea typeface="신세계 민부리 Bold(OTF)" panose="02000600000000020003" pitchFamily="50" charset="-127"/>
                <a:sym typeface="Wingdings" pitchFamily="2" charset="2"/>
              </a:rPr>
              <a:t> </a:t>
            </a:r>
            <a:r>
              <a:rPr kumimoji="0" lang="en-US" altLang="ko-KR" sz="800" b="1" i="0" u="none" strike="noStrike" kern="12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신세계 민부리 Bold(OTF)" panose="02000600000000020003" pitchFamily="50" charset="-127"/>
                <a:ea typeface="신세계 민부리 Bold(OTF)" panose="02000600000000020003" pitchFamily="50" charset="-127"/>
                <a:sym typeface="Wingdings" pitchFamily="2" charset="2"/>
              </a:rPr>
              <a:t>*</a:t>
            </a:r>
            <a:endParaRPr lang="ko-KR" altLang="en-US" sz="800" b="1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latin typeface="신세계 민부리 Bold(OTF)" panose="02000600000000020003" pitchFamily="50" charset="-127"/>
              <a:ea typeface="신세계 민부리 Bold(OTF)" panose="02000600000000020003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71A0514-8D47-D5C9-06A4-3DCD0DF17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72000" y="738096"/>
            <a:ext cx="5267577" cy="29817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6E8075-A916-4ED8-EF35-F5536CCE29C8}"/>
              </a:ext>
            </a:extLst>
          </p:cNvPr>
          <p:cNvSpPr txBox="1"/>
          <p:nvPr/>
        </p:nvSpPr>
        <p:spPr bwMode="auto">
          <a:xfrm>
            <a:off x="-4779912" y="4232920"/>
            <a:ext cx="3888432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800">
                <a:effectLst/>
                <a:latin typeface="+mn-lt"/>
              </a:rPr>
              <a:t>오세훈 시장의 재판 일정이랑 (2심 선고 나오면 </a:t>
            </a:r>
            <a:r>
              <a:rPr lang="ko-KR" altLang="ko-KR" sz="1800" err="1">
                <a:effectLst/>
                <a:latin typeface="+mn-lt"/>
              </a:rPr>
              <a:t>언제쯤일지</a:t>
            </a:r>
            <a:r>
              <a:rPr lang="ko-KR" altLang="ko-KR" sz="1800">
                <a:effectLst/>
                <a:latin typeface="+mn-lt"/>
              </a:rPr>
              <a:t> ) 그러면 바로 </a:t>
            </a:r>
            <a:r>
              <a:rPr lang="ko-KR" altLang="ko-KR" sz="1800" err="1">
                <a:effectLst/>
                <a:latin typeface="+mn-lt"/>
              </a:rPr>
              <a:t>물러나는건지</a:t>
            </a:r>
            <a:r>
              <a:rPr lang="ko-KR" altLang="ko-KR" sz="1800">
                <a:effectLst/>
                <a:latin typeface="+mn-lt"/>
              </a:rPr>
              <a:t> 최종 대법판결 받아야 </a:t>
            </a:r>
            <a:r>
              <a:rPr lang="ko-KR" altLang="ko-KR" sz="1800" err="1">
                <a:effectLst/>
                <a:latin typeface="+mn-lt"/>
              </a:rPr>
              <a:t>물러나는건지</a:t>
            </a:r>
            <a:r>
              <a:rPr lang="ko-KR" altLang="ko-KR" sz="1800">
                <a:effectLst/>
                <a:latin typeface="+mn-lt"/>
              </a:rPr>
              <a:t> 그런 거 좀 보고서 1장으로 </a:t>
            </a:r>
            <a:r>
              <a:rPr lang="ko-KR" altLang="ko-KR" sz="1800" err="1">
                <a:effectLst/>
                <a:latin typeface="+mn-lt"/>
              </a:rPr>
              <a:t>어펜</a:t>
            </a:r>
            <a:r>
              <a:rPr lang="ko-KR" altLang="ko-KR" sz="1800">
                <a:effectLst/>
                <a:latin typeface="+mn-lt"/>
              </a:rPr>
              <a:t> 만들어주세요</a:t>
            </a:r>
          </a:p>
          <a:p>
            <a:pPr>
              <a:buNone/>
            </a:pPr>
            <a:r>
              <a:rPr lang="ko-KR" altLang="ko-KR" sz="1800">
                <a:effectLst/>
                <a:latin typeface="+mn-lt"/>
              </a:rPr>
              <a:t> </a:t>
            </a:r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12FD46C-DCBE-46A7-636F-5FEBDC819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441900"/>
              </p:ext>
            </p:extLst>
          </p:nvPr>
        </p:nvGraphicFramePr>
        <p:xfrm>
          <a:off x="774615" y="4797097"/>
          <a:ext cx="597693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04">
                  <a:extLst>
                    <a:ext uri="{9D8B030D-6E8A-4147-A177-3AD203B41FA5}">
                      <a16:colId xmlns:a16="http://schemas.microsoft.com/office/drawing/2014/main" val="45024384"/>
                    </a:ext>
                  </a:extLst>
                </a:gridCol>
                <a:gridCol w="4824834">
                  <a:extLst>
                    <a:ext uri="{9D8B030D-6E8A-4147-A177-3AD203B41FA5}">
                      <a16:colId xmlns:a16="http://schemas.microsoft.com/office/drawing/2014/main" val="28251040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’25</a:t>
                      </a:r>
                      <a:r>
                        <a:rPr lang="ko-KR" altLang="en-US" sz="1200" b="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1200" b="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12</a:t>
                      </a:r>
                      <a:r>
                        <a:rPr lang="ko-KR" altLang="en-US" sz="1200" b="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월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특검 측 </a:t>
                      </a:r>
                      <a:r>
                        <a:rPr lang="ko-KR" altLang="en-US" sz="1200" b="0" kern="1200" dirty="0" err="1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오세훈시장</a:t>
                      </a:r>
                      <a:r>
                        <a:rPr lang="ko-KR" altLang="en-US" sz="1200" b="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불구속 기소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292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’26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월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오세훈 시장 서울시장 당선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456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’26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월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심 벌금 </a:t>
                      </a:r>
                      <a:r>
                        <a:rPr lang="en-US" altLang="ko-KR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1,000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만원</a:t>
                      </a:r>
                      <a:r>
                        <a:rPr lang="en-US" altLang="ko-KR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추징금 </a:t>
                      </a:r>
                      <a:r>
                        <a:rPr lang="en-US" altLang="ko-KR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2,100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만원 선고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여론조사 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건 중 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건 유죄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656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’26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8~10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월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심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항소심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공판 </a:t>
                      </a:r>
                      <a:r>
                        <a:rPr lang="en-US" altLang="ko-KR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회 진행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366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’26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월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심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(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항소심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선고 예정</a:t>
                      </a:r>
                      <a:r>
                        <a:rPr lang="en-US" altLang="ko-KR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벌금 </a:t>
                      </a:r>
                      <a:r>
                        <a:rPr lang="en-US" altLang="ko-KR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100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만원 이상 선고 시 즉시 상고 예정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832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’27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월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심</a:t>
                      </a:r>
                      <a:r>
                        <a:rPr lang="ko-KR" altLang="en-US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상고심</a:t>
                      </a:r>
                      <a:r>
                        <a:rPr lang="en-US" altLang="ko-KR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 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공판 없이 대법원 판결 예정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32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’27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1~4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월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벌금 </a:t>
                      </a:r>
                      <a:r>
                        <a:rPr lang="en-US" altLang="ko-KR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100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만원 이상 확정 즉시 </a:t>
                      </a:r>
                      <a:r>
                        <a:rPr lang="ko-KR" altLang="en-US" sz="1200" kern="1200" dirty="0" err="1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시장직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박탈 → 부시장 대행체제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655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’27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월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서울시장 보궐선거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462350"/>
                  </a:ext>
                </a:extLst>
              </a:tr>
            </a:tbl>
          </a:graphicData>
        </a:graphic>
      </p:graphicFrame>
      <p:sp>
        <p:nvSpPr>
          <p:cNvPr id="2" name="왼쪽 대괄호 1">
            <a:extLst>
              <a:ext uri="{FF2B5EF4-FFF2-40B4-BE49-F238E27FC236}">
                <a16:creationId xmlns:a16="http://schemas.microsoft.com/office/drawing/2014/main" id="{DCAA339F-1891-A612-1DBF-F0D676BAB98F}"/>
              </a:ext>
            </a:extLst>
          </p:cNvPr>
          <p:cNvSpPr/>
          <p:nvPr/>
        </p:nvSpPr>
        <p:spPr>
          <a:xfrm>
            <a:off x="616782" y="4955505"/>
            <a:ext cx="106753" cy="792088"/>
          </a:xfrm>
          <a:prstGeom prst="leftBracket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0905A4-5DBF-BA44-D57F-7028ECBBEEFD}"/>
              </a:ext>
            </a:extLst>
          </p:cNvPr>
          <p:cNvSpPr txBox="1"/>
          <p:nvPr/>
        </p:nvSpPr>
        <p:spPr bwMode="auto">
          <a:xfrm>
            <a:off x="-60448" y="5205451"/>
            <a:ext cx="851585" cy="292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kumimoji="1" lang="en-US" altLang="ko-KR" sz="1100" dirty="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6</a:t>
            </a:r>
            <a:r>
              <a:rPr kumimoji="1" lang="ko-KR" altLang="en-US" sz="1100" dirty="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개월</a:t>
            </a:r>
          </a:p>
        </p:txBody>
      </p:sp>
      <p:sp>
        <p:nvSpPr>
          <p:cNvPr id="10" name="왼쪽 대괄호 9">
            <a:extLst>
              <a:ext uri="{FF2B5EF4-FFF2-40B4-BE49-F238E27FC236}">
                <a16:creationId xmlns:a16="http://schemas.microsoft.com/office/drawing/2014/main" id="{F2781A74-B3A2-7DB2-1CC6-D16E255CB811}"/>
              </a:ext>
            </a:extLst>
          </p:cNvPr>
          <p:cNvSpPr/>
          <p:nvPr/>
        </p:nvSpPr>
        <p:spPr>
          <a:xfrm>
            <a:off x="612666" y="5997525"/>
            <a:ext cx="106753" cy="541006"/>
          </a:xfrm>
          <a:prstGeom prst="leftBracket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8C058E-6BEA-7AA3-1A03-954628DBB54A}"/>
              </a:ext>
            </a:extLst>
          </p:cNvPr>
          <p:cNvSpPr txBox="1"/>
          <p:nvPr/>
        </p:nvSpPr>
        <p:spPr bwMode="auto">
          <a:xfrm>
            <a:off x="-203263" y="6120647"/>
            <a:ext cx="1137215" cy="292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kumimoji="1" lang="en-US" altLang="ko-KR" sz="1100" dirty="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3</a:t>
            </a:r>
            <a:r>
              <a:rPr kumimoji="1" lang="ko-KR" altLang="en-US" sz="1100" dirty="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개월</a:t>
            </a:r>
          </a:p>
        </p:txBody>
      </p:sp>
      <p:sp>
        <p:nvSpPr>
          <p:cNvPr id="14" name="왼쪽 대괄호 13">
            <a:extLst>
              <a:ext uri="{FF2B5EF4-FFF2-40B4-BE49-F238E27FC236}">
                <a16:creationId xmlns:a16="http://schemas.microsoft.com/office/drawing/2014/main" id="{D3F340FB-AA96-6298-BA63-B9E5B5DD39AF}"/>
              </a:ext>
            </a:extLst>
          </p:cNvPr>
          <p:cNvSpPr/>
          <p:nvPr/>
        </p:nvSpPr>
        <p:spPr>
          <a:xfrm>
            <a:off x="607669" y="6715492"/>
            <a:ext cx="106754" cy="1020901"/>
          </a:xfrm>
          <a:prstGeom prst="leftBracket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6B9B9C-62B2-F363-FD47-5A213C608428}"/>
              </a:ext>
            </a:extLst>
          </p:cNvPr>
          <p:cNvSpPr txBox="1"/>
          <p:nvPr/>
        </p:nvSpPr>
        <p:spPr bwMode="auto">
          <a:xfrm>
            <a:off x="-203263" y="7079844"/>
            <a:ext cx="1137215" cy="292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kumimoji="1" lang="en-US" altLang="ko-KR" sz="1100" dirty="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3</a:t>
            </a:r>
            <a:r>
              <a:rPr kumimoji="1" lang="ko-KR" altLang="en-US" sz="1100" dirty="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개월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807AE4-AE84-D195-D7B5-0887CDD23665}"/>
              </a:ext>
            </a:extLst>
          </p:cNvPr>
          <p:cNvSpPr/>
          <p:nvPr/>
        </p:nvSpPr>
        <p:spPr>
          <a:xfrm>
            <a:off x="-4086" y="151780"/>
            <a:ext cx="6858000" cy="380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u="sng" dirty="0">
                <a:latin typeface="HY견고딕" panose="02030600000101010101" pitchFamily="18" charset="-127"/>
                <a:ea typeface="HY견고딕" panose="02030600000101010101" pitchFamily="18" charset="-127"/>
              </a:rPr>
              <a:t>#Appendix. </a:t>
            </a:r>
            <a:r>
              <a:rPr lang="ko-KR" altLang="en-US" u="sng" dirty="0">
                <a:latin typeface="HY견고딕" panose="02030600000101010101" pitchFamily="18" charset="-127"/>
                <a:ea typeface="HY견고딕" panose="02030600000101010101" pitchFamily="18" charset="-127"/>
              </a:rPr>
              <a:t>오세훈 서울시장 법률 리스크</a:t>
            </a:r>
          </a:p>
        </p:txBody>
      </p:sp>
    </p:spTree>
    <p:extLst>
      <p:ext uri="{BB962C8B-B14F-4D97-AF65-F5344CB8AC3E}">
        <p14:creationId xmlns:p14="http://schemas.microsoft.com/office/powerpoint/2010/main" val="962532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15"/>
          <p:cNvSpPr txBox="1"/>
          <p:nvPr/>
        </p:nvSpPr>
        <p:spPr>
          <a:xfrm>
            <a:off x="216000" y="251999"/>
            <a:ext cx="6426000" cy="360000"/>
          </a:xfrm>
          <a:prstGeom prst="rect">
            <a:avLst/>
          </a:prstGeom>
          <a:noFill/>
        </p:spPr>
        <p:txBody>
          <a:bodyPr wrap="square" lIns="36000" rIns="36000" tIns="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0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반포 수상푸드존 – 서울시 추진 방향 / 세빛섬 연계 구상</a:t>
            </a:r>
            <a:endParaRPr lang="ko-KR" sz="16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16" name="TextBox 116"/>
          <p:cNvSpPr txBox="1"/>
          <p:nvPr/>
        </p:nvSpPr>
        <p:spPr>
          <a:xfrm>
            <a:off x="216000" y="630000"/>
            <a:ext cx="6426000" cy="2015999"/>
          </a:xfrm>
          <a:prstGeom prst="rect">
            <a:avLst/>
          </a:prstGeom>
          <a:noFill/>
        </p:spPr>
        <p:txBody>
          <a:bodyPr wrap="square" lIns="36000" rIns="36000" tIns="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 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[서울시] 「2030 리버시티 서울」 핵심 거점으로 수상푸드존 조성</a:t>
            </a:r>
            <a:endParaRPr lang="ko-KR" sz="13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4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• </a:t>
            </a:r>
            <a:r>
              <a:rPr lang="ko-KR" altLang="en-US" sz="11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비전 :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한강 수상공간 연 1,000만명 이용 / 3대 전략 (일상공간 · 여가중심 · 성장거점) 10대 과제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3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•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재원 : 총 5.5조 중 </a:t>
            </a:r>
            <a:r>
              <a:rPr lang="ko-KR" altLang="en-US" sz="1100" b="1" u="sng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민간 3.1조 (57%)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→ 재정 부담 최소화 위해 민간투자 · 공공기여 방식 선호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3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• </a:t>
            </a:r>
            <a:r>
              <a:rPr lang="ko-KR" altLang="en-US" sz="11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수상푸드존 기능 :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한강버스 복합선착장 (1층 1,960㎡) + F&amp;B 15~20개소 + 카페 · 소공연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3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•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공공 가치 : 소상공인 · 청년 </a:t>
            </a:r>
            <a:r>
              <a:rPr lang="ko-KR" altLang="en-US" sz="11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소자본 창업 기회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/ 시민 개방 공간 / 야외공연장 · 요트선착장 · 수변산책로 연계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3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• </a:t>
            </a:r>
            <a:r>
              <a:rPr lang="ko-KR" altLang="en-US" sz="11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市 관심사 :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① 365일 활성화 (비수기 · 야간 공동화 방지)  ② 안전 · 시설관리  ③ 재정 無 운영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0">
              <a:spcBef>
                <a:spcPts val="300"/>
              </a:spcBef>
              <a:buNone/>
            </a:pP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＊ 출처 : 서울시 「2030 리버시티 서울」 한강 수상활성화 종합계획 (’24.4) / 경제효과 연 9,256억 · 일자리 6,800명 추정</a:t>
            </a:r>
            <a:endParaRPr lang="ko-KR" sz="8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17" name="Shape 117"/>
          <p:cNvSpPr/>
          <p:nvPr/>
        </p:nvSpPr>
        <p:spPr>
          <a:xfrm>
            <a:off x="323999" y="2574000"/>
            <a:ext cx="6318000" cy="4500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txBody>
          <a:bodyPr wrap="square" lIns="108000" rIns="108000" tIns="18000" bIns="18000" anchor="ctr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▶ 시사점  </a:t>
            </a:r>
            <a:r>
              <a:rPr lang="ko-KR" altLang="en-US" sz="10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市는 시설 「건설」보다 상시 활성화가 가능한 「운영 · 콘텐츠」 파트너가 필요 → 세빛섬(체류형 콘텐츠) + 푸드존(유입형 F&amp;B)을 한 사업자가 통합 운영해야 市 목표 달성 가능</a:t>
            </a:r>
            <a:endParaRPr lang="ko-KR" sz="10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18" name="TextBox 118"/>
          <p:cNvSpPr txBox="1"/>
          <p:nvPr/>
        </p:nvSpPr>
        <p:spPr>
          <a:xfrm>
            <a:off x="216000" y="3150000"/>
            <a:ext cx="6426000" cy="503999"/>
          </a:xfrm>
          <a:prstGeom prst="rect">
            <a:avLst/>
          </a:prstGeom>
          <a:noFill/>
        </p:spPr>
        <p:txBody>
          <a:bodyPr wrap="square" lIns="36000" rIns="36000" tIns="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 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[당사 구상] 세빛섬 ↔ 수상푸드존 「반포 수상 문화지구 (가칭)」 통합 운영</a:t>
            </a:r>
            <a:endParaRPr lang="ko-KR" sz="13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4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•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푸드존 (한강버스 · F&amp;B) 으로 유입 → 세빛섬 (웨딩 · 컨벤션 · 공연) 체류로 전환하는 「유입 – 체류」 구조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119" name="표 119"/>
          <p:cNvGraphicFramePr>
            <a:graphicFrameLocks noGrp="1"/>
          </p:cNvGraphicFramePr>
          <p:nvPr/>
        </p:nvGraphicFramePr>
        <p:xfrm>
          <a:off x="323999" y="3798000"/>
          <a:ext cx="6317999" cy="2340000"/>
        </p:xfrm>
        <a:graphic>
          <a:graphicData uri="http://schemas.openxmlformats.org/drawingml/2006/table">
            <a:tbl>
              <a:tblPr firstRow="1" bandRow="1"/>
              <a:tblGrid>
                <a:gridCol w="648000"/>
                <a:gridCol w="1152000"/>
                <a:gridCol w="1152000"/>
                <a:gridCol w="3366000"/>
              </a:tblGrid>
              <a:tr h="27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 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세빛섬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수상푸드존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연계 방안 (당사 실행)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역할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체류형 목적지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웨딩 · 컨벤션 · 공연 · 전시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유입형 관문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한강버스 · F&amp;B · 버스킹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·푸드존 방문객 → 세빛섬 공연 · 전시 연계 쿠폰 / 패키지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·세빛섬 행사 고객 → 푸드존 애프터 다이닝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동선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3개 섬 + 미디어아트갤러리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세빛섬 ↔ 약 450m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·수변 보행데크 · 야간 경관조명 · 통합 사인 정비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·한강버스 하차 → 세빛섬 도보 동선 안내 (10분 이내)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프로그램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대형 이벤트 · MICE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푸드마켓 · 야간 F&amp;B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·달빛무지개분수 시간대 연계 「반포 나이트 페스타」 정례화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·계절 축제 (봄 벚꽃 · 여름 수상 · 겨울 빛축제) 공동 기획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리모델링 후 직영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F&amp;B 15개소 MD 운영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·통합 브랜드 / 통합 멤버십 · 예약 / 공동 마케팅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·통합 시설 · 안전관리 센터 (부유체 · 계류 · 수난안전)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MD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百 협업 프리미엄 F&amp;B · 팝업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百 큐레이션 + 청년 창업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·푸드존 15개소 중 1/3 청년 · 소상공인 쿼터 (임대료 감면)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·百 바이어 큐레이션으로 맛집 유치 → 화제성 확보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0" name="TextBox 120"/>
          <p:cNvSpPr txBox="1"/>
          <p:nvPr/>
        </p:nvSpPr>
        <p:spPr>
          <a:xfrm>
            <a:off x="216000" y="6480000"/>
            <a:ext cx="6426000" cy="2160000"/>
          </a:xfrm>
          <a:prstGeom prst="rect">
            <a:avLst/>
          </a:prstGeom>
          <a:noFill/>
        </p:spPr>
        <p:txBody>
          <a:bodyPr wrap="square" lIns="36000" rIns="36000" tIns="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 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기대 효과 / 市 설득 논리</a:t>
            </a:r>
            <a:endParaRPr lang="ko-KR" sz="13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4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• </a:t>
            </a:r>
            <a:r>
              <a:rPr lang="ko-KR" altLang="en-US" sz="11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市 :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푸드존 개장 초기부터 「세빛섬 집객력」 활용 → 공실 · 비수기 리스크 해소, 재정 투입 無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3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• </a:t>
            </a:r>
            <a:r>
              <a:rPr lang="ko-KR" altLang="en-US" sz="11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시민 :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반포 한강 일대가 「교통 (한강버스) + 미식 + 문화」 가 결합된 하루 코스 목적지로 전환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3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• </a:t>
            </a:r>
            <a:r>
              <a:rPr lang="ko-KR" altLang="en-US" sz="11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당사 :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두 시설 통합으로 고정비 (관리 · 보안 · 마케팅) 절감, 상호 송객으로 체류시간 · 객단가 증대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3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• </a:t>
            </a:r>
            <a:r>
              <a:rPr lang="ko-KR" altLang="en-US" sz="11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경쟁력 :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개별 공모 시 F&amp;B 단일 운영사와 경쟁 → </a:t>
            </a:r>
            <a:r>
              <a:rPr lang="ko-KR" altLang="en-US" sz="1100" b="1" u="sng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세빛섬 연계 통합안은 당사만 제시 가능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(차별화 포인트)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90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 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전체 연결 방향 (Big Picture)</a:t>
            </a:r>
            <a:endParaRPr lang="ko-KR" sz="13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21" name="Shape 121"/>
          <p:cNvSpPr/>
          <p:nvPr/>
        </p:nvSpPr>
        <p:spPr>
          <a:xfrm>
            <a:off x="323999" y="8262000"/>
            <a:ext cx="1350000" cy="6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36000" rIns="36000" tIns="18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선행과제</a:t>
            </a:r>
            <a:endParaRPr lang="ko-KR" sz="10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효성 해지 협의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市 민투 적용 협의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22" name="Shape 122"/>
          <p:cNvSpPr/>
          <p:nvPr/>
        </p:nvSpPr>
        <p:spPr>
          <a:xfrm>
            <a:off x="1717200" y="8496000"/>
            <a:ext cx="136800" cy="162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 wrap="square" lIns="36000" rIns="36000" tIns="18000" bIns="18000" anchor="ctr">
            <a:noAutofit/>
          </a:bodyPr>
          <a:lstStyle/>
          <a:p>
            <a:endParaRPr lang="ko-KR" sz="1000"/>
          </a:p>
        </p:txBody>
      </p:sp>
      <p:sp>
        <p:nvSpPr>
          <p:cNvPr id="123" name="Shape 123"/>
          <p:cNvSpPr/>
          <p:nvPr/>
        </p:nvSpPr>
        <p:spPr>
          <a:xfrm>
            <a:off x="1897199" y="8262000"/>
            <a:ext cx="1350000" cy="6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36000" rIns="36000" tIns="18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통합 민간제안</a:t>
            </a:r>
            <a:endParaRPr lang="ko-KR" sz="10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세빛섬 리모델링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+ 푸드존 운영 통합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24" name="Shape 124"/>
          <p:cNvSpPr/>
          <p:nvPr/>
        </p:nvSpPr>
        <p:spPr>
          <a:xfrm>
            <a:off x="3290399" y="8496000"/>
            <a:ext cx="136800" cy="162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 wrap="square" lIns="36000" rIns="36000" tIns="18000" bIns="18000" anchor="ctr">
            <a:noAutofit/>
          </a:bodyPr>
          <a:lstStyle/>
          <a:p>
            <a:endParaRPr lang="ko-KR" sz="1000"/>
          </a:p>
        </p:txBody>
      </p:sp>
      <p:sp>
        <p:nvSpPr>
          <p:cNvPr id="125" name="Shape 125"/>
          <p:cNvSpPr/>
          <p:nvPr/>
        </p:nvSpPr>
        <p:spPr>
          <a:xfrm>
            <a:off x="3470400" y="8262000"/>
            <a:ext cx="1350000" cy="6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36000" rIns="36000" tIns="18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리모델링 · 개장</a:t>
            </a:r>
            <a:endParaRPr lang="ko-KR" sz="10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’28.下 세빛섬 리뉴얼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’29.初 푸드존 개장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26" name="Shape 126"/>
          <p:cNvSpPr/>
          <p:nvPr/>
        </p:nvSpPr>
        <p:spPr>
          <a:xfrm>
            <a:off x="4863600" y="8496000"/>
            <a:ext cx="136800" cy="162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 wrap="square" lIns="36000" rIns="36000" tIns="18000" bIns="18000" anchor="ctr">
            <a:noAutofit/>
          </a:bodyPr>
          <a:lstStyle/>
          <a:p>
            <a:endParaRPr lang="ko-KR" sz="1000"/>
          </a:p>
        </p:txBody>
      </p:sp>
      <p:sp>
        <p:nvSpPr>
          <p:cNvPr id="127" name="Shape 127"/>
          <p:cNvSpPr/>
          <p:nvPr/>
        </p:nvSpPr>
        <p:spPr>
          <a:xfrm>
            <a:off x="5043600" y="8262000"/>
            <a:ext cx="1350000" cy="630000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txBody>
          <a:bodyPr wrap="square" lIns="36000" rIns="36000" tIns="18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통합 운영</a:t>
            </a:r>
            <a:endParaRPr lang="ko-KR" sz="10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관리운영권 30년+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반포 한강 운영 주도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28" name="TextBox 128"/>
          <p:cNvSpPr txBox="1"/>
          <p:nvPr/>
        </p:nvSpPr>
        <p:spPr>
          <a:xfrm>
            <a:off x="216000" y="9000000"/>
            <a:ext cx="6426000" cy="360000"/>
          </a:xfrm>
          <a:prstGeom prst="rect">
            <a:avLst/>
          </a:prstGeom>
          <a:noFill/>
        </p:spPr>
        <p:txBody>
          <a:bodyPr wrap="square" lIns="36000" rIns="36000" tIns="0" bIns="0" anchor="t">
            <a:noAutofit/>
          </a:bodyPr>
          <a:lstStyle/>
          <a:p>
            <a:pPr marL="108000" indent="0">
              <a:spcBef>
                <a:spcPts val="0"/>
              </a:spcBef>
              <a:buNone/>
            </a:pP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＊ 세빛섬 단독이 아닌 「반포 수변 통합 운영권」 확보가 최종 목표 → 향후 한강 수상시설 (수상호텔 · 선착장 등) 후속 사업 참여 교두보</a:t>
            </a:r>
            <a:endParaRPr lang="ko-KR" sz="8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9"/>
          <p:cNvSpPr txBox="1"/>
          <p:nvPr/>
        </p:nvSpPr>
        <p:spPr>
          <a:xfrm>
            <a:off x="216000" y="251999"/>
            <a:ext cx="6426000" cy="360000"/>
          </a:xfrm>
          <a:prstGeom prst="rect">
            <a:avLst/>
          </a:prstGeom>
          <a:noFill/>
        </p:spPr>
        <p:txBody>
          <a:bodyPr wrap="square" lIns="36000" rIns="36000" tIns="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0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통합 사업계획안 (당사 주도 추진 구상)</a:t>
            </a:r>
            <a:endParaRPr lang="ko-KR" sz="16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30" name="TextBox 130"/>
          <p:cNvSpPr txBox="1"/>
          <p:nvPr/>
        </p:nvSpPr>
        <p:spPr>
          <a:xfrm>
            <a:off x="216000" y="630000"/>
            <a:ext cx="6426000" cy="324000"/>
          </a:xfrm>
          <a:prstGeom prst="rect">
            <a:avLst/>
          </a:prstGeom>
          <a:noFill/>
        </p:spPr>
        <p:txBody>
          <a:bodyPr wrap="square" lIns="36000" rIns="36000" tIns="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 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사업 개요 (안)</a:t>
            </a:r>
            <a:endParaRPr lang="ko-KR" sz="13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131" name="표 131"/>
          <p:cNvGraphicFramePr>
            <a:graphicFrameLocks noGrp="1"/>
          </p:cNvGraphicFramePr>
          <p:nvPr/>
        </p:nvGraphicFramePr>
        <p:xfrm>
          <a:off x="323999" y="917999"/>
          <a:ext cx="6318000" cy="2127599"/>
        </p:xfrm>
        <a:graphic>
          <a:graphicData uri="http://schemas.openxmlformats.org/drawingml/2006/table">
            <a:tbl>
              <a:tblPr firstRow="1" bandRow="1"/>
              <a:tblGrid>
                <a:gridCol w="864000"/>
                <a:gridCol w="5454000"/>
              </a:tblGrid>
              <a:tr h="244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사업명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반포 수상 문화지구 (세빛섬 리모델링 + 수상푸드존 통합운영) 민간투자사업 (가칭)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사업방식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민간제안 BTO (민간투자법 제4조 제1호) / 소유권 市 귀속, 관리운영권 당사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대상시설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세빛섬 (9,995㎡, 3개 섬 + 미디어아트갤러리) + 수상푸드존 (2,797㎡)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사업시행자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당사 주관 SPC (당사 + 百 · F&amp;B 계열 + FI + 시공사) / 당사 최대주주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총사업비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기본안 817억 (효성 해지시지급금 300 + 세빛섬 리모델링 517)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확장안 최대 1,117억 (+ 푸드존 조성비 300억 분담 시) → 운영기간 연장 근거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운영기간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기본 30년 (’28.下 ~ ’58.上) 확보 / 확장안 40년 협상 목표 (p.4 벤치마킹)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수익구조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웨딩 · 컨벤션 대관 / F&amp;B 직영 · 임대 / 공연 · 전시 / 광고 · 선착장 연계 (市 협의)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市 기여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재정 투입 無 / 초과수익 공유 / 시민 개방 · 청년 창업 쿼터 / 통합 안전관리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2" name="TextBox 132"/>
          <p:cNvSpPr txBox="1"/>
          <p:nvPr/>
        </p:nvSpPr>
        <p:spPr>
          <a:xfrm>
            <a:off x="216000" y="3150000"/>
            <a:ext cx="6426000" cy="324000"/>
          </a:xfrm>
          <a:prstGeom prst="rect">
            <a:avLst/>
          </a:prstGeom>
          <a:noFill/>
        </p:spPr>
        <p:txBody>
          <a:bodyPr wrap="square" lIns="36000" rIns="36000" tIns="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 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선결 과제 (사업 전제조건) – 당사 선제 대응</a:t>
            </a:r>
            <a:endParaRPr lang="ko-KR" sz="13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133" name="표 133"/>
          <p:cNvGraphicFramePr>
            <a:graphicFrameLocks noGrp="1"/>
          </p:cNvGraphicFramePr>
          <p:nvPr/>
        </p:nvGraphicFramePr>
        <p:xfrm>
          <a:off x="323999" y="3474000"/>
          <a:ext cx="6317999" cy="1296000"/>
        </p:xfrm>
        <a:graphic>
          <a:graphicData uri="http://schemas.openxmlformats.org/drawingml/2006/table">
            <a:tbl>
              <a:tblPr firstRow="1" bandRow="1"/>
              <a:tblGrid>
                <a:gridCol w="720000"/>
                <a:gridCol w="1475999"/>
                <a:gridCol w="4121999"/>
              </a:tblGrid>
              <a:tr h="21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 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과제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당사 대응 / 목표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[효성]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해지시지급금 금액 협의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市 – 효성 협약 해지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·광고사업 제외 기준 적정 인수가 300억 수준 제시 (외부 가치평가 300억 근거)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·협약 해지 → 市로 세빛섬 소유권 이전 후 통합 민투 추진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[서울시]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민간투자사업 적용 협의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·세빛섬 + 수상푸드존 통합 복합개발 공공성 인정 (→ p.2)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·투자비 최대 인정으로 관리운영권 30~50년 확보 (→ p.4)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[百 협업]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통합 MD 계획 수립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·역할 분담 : 세빛섬 웨딩 · 컨벤션 · 공연 / 수상푸드존 F&amp;B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·동선 연계 프로그램 / 통합 브랜딩 / 공동 마케팅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4" name="TextBox 134"/>
          <p:cNvSpPr txBox="1"/>
          <p:nvPr/>
        </p:nvSpPr>
        <p:spPr>
          <a:xfrm>
            <a:off x="216000" y="5076000"/>
            <a:ext cx="6426000" cy="360000"/>
          </a:xfrm>
          <a:prstGeom prst="rect">
            <a:avLst/>
          </a:prstGeom>
          <a:noFill/>
        </p:spPr>
        <p:txBody>
          <a:bodyPr wrap="square" lIns="36000" rIns="36000" tIns="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 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단계별 실행 구상 – 당사가 판을 짜고 끌고 간다</a:t>
            </a:r>
            <a:endParaRPr lang="ko-KR" sz="13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35" name="Shape 135"/>
          <p:cNvSpPr/>
          <p:nvPr/>
        </p:nvSpPr>
        <p:spPr>
          <a:xfrm>
            <a:off x="323999" y="5400000"/>
            <a:ext cx="2034000" cy="450000"/>
          </a:xfrm>
          <a:prstGeom prst="homePlate">
            <a:avLst>
              <a:gd name="adj" fmla="val 25000"/>
            </a:avLst>
          </a:prstGeom>
          <a:solidFill>
            <a:srgbClr val="002060"/>
          </a:solidFill>
          <a:ln>
            <a:noFill/>
          </a:ln>
        </p:spPr>
        <p:txBody>
          <a:bodyPr wrap="square" lIns="36000" rIns="36000" tIns="18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Phase 1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판 짜기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’26.4Q ~ ’27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36" name="Shape 136"/>
          <p:cNvSpPr/>
          <p:nvPr/>
        </p:nvSpPr>
        <p:spPr>
          <a:xfrm>
            <a:off x="323999" y="5878799"/>
            <a:ext cx="2034000" cy="9900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  <p:txBody>
          <a:bodyPr wrap="square" lIns="72000" rIns="72000" tIns="18000" bIns="18000" anchor="t">
            <a:noAutofit/>
          </a:bodyPr>
          <a:lstStyle/>
          <a:p>
            <a:pPr marL="90000" indent="-90000">
              <a:spcBef>
                <a:spcPts val="0"/>
              </a:spcBef>
              <a:buNone/>
            </a:pPr>
            <a:r>
              <a:rPr lang="ko-KR" altLang="en-US" sz="86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·효성 해지시지급금 300억 합의 (광고사업 제외)</a:t>
            </a:r>
            <a:endParaRPr lang="ko-KR" sz="86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90000" indent="-90000">
              <a:spcBef>
                <a:spcPts val="0"/>
              </a:spcBef>
              <a:buNone/>
            </a:pPr>
            <a:r>
              <a:rPr lang="ko-KR" altLang="en-US" sz="86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·市에 「통합 민간제안」 先 제안 / 정책 연계</a:t>
            </a:r>
            <a:endParaRPr lang="ko-KR" sz="86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90000" indent="-90000">
              <a:spcBef>
                <a:spcPts val="0"/>
              </a:spcBef>
              <a:buNone/>
            </a:pPr>
            <a:r>
              <a:rPr lang="ko-KR" altLang="en-US" sz="86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·SPC 컨소시엄 구성 · 자문사 선정</a:t>
            </a:r>
            <a:endParaRPr lang="ko-KR" sz="86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90000" indent="-90000">
              <a:spcBef>
                <a:spcPts val="0"/>
              </a:spcBef>
              <a:buNone/>
            </a:pPr>
            <a:r>
              <a:rPr lang="ko-KR" altLang="en-US" sz="86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·市 · 효성 · 당사 3자 MOU 체결 추진</a:t>
            </a:r>
            <a:endParaRPr lang="ko-KR" sz="86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37" name="Shape 137"/>
          <p:cNvSpPr/>
          <p:nvPr/>
        </p:nvSpPr>
        <p:spPr>
          <a:xfrm>
            <a:off x="2430000" y="5400000"/>
            <a:ext cx="2034000" cy="450000"/>
          </a:xfrm>
          <a:prstGeom prst="homePlate">
            <a:avLst>
              <a:gd name="adj" fmla="val 25000"/>
            </a:avLst>
          </a:prstGeom>
          <a:solidFill>
            <a:srgbClr val="002060"/>
          </a:solidFill>
          <a:ln>
            <a:noFill/>
          </a:ln>
        </p:spPr>
        <p:txBody>
          <a:bodyPr wrap="square" lIns="36000" rIns="36000" tIns="18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Phase 2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협약 · 리모델링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’27 ~ ’28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38" name="Shape 138"/>
          <p:cNvSpPr/>
          <p:nvPr/>
        </p:nvSpPr>
        <p:spPr>
          <a:xfrm>
            <a:off x="2430000" y="5878799"/>
            <a:ext cx="2034000" cy="9900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  <p:txBody>
          <a:bodyPr wrap="square" lIns="72000" rIns="72000" tIns="18000" bIns="18000" anchor="t">
            <a:noAutofit/>
          </a:bodyPr>
          <a:lstStyle/>
          <a:p>
            <a:pPr marL="90000" indent="-90000">
              <a:spcBef>
                <a:spcPts val="0"/>
              </a:spcBef>
              <a:buNone/>
            </a:pPr>
            <a:r>
              <a:rPr lang="ko-KR" altLang="en-US" sz="86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·적격성 검토 · 제3자 공고 대응 → 실시협약</a:t>
            </a:r>
            <a:endParaRPr lang="ko-KR" sz="86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90000" indent="-90000">
              <a:spcBef>
                <a:spcPts val="0"/>
              </a:spcBef>
              <a:buNone/>
            </a:pPr>
            <a:r>
              <a:rPr lang="ko-KR" altLang="en-US" sz="86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·리모델링 517억 (MICE 연회장 · 신규 공연장)</a:t>
            </a:r>
            <a:endParaRPr lang="ko-KR" sz="86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90000" indent="-90000">
              <a:spcBef>
                <a:spcPts val="0"/>
              </a:spcBef>
              <a:buNone/>
            </a:pPr>
            <a:r>
              <a:rPr lang="ko-KR" altLang="en-US" sz="86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·푸드존 MD 확정 (百 큐레이션 + 청년 쿼터)</a:t>
            </a:r>
            <a:endParaRPr lang="ko-KR" sz="86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90000" indent="-90000">
              <a:spcBef>
                <a:spcPts val="0"/>
              </a:spcBef>
              <a:buNone/>
            </a:pPr>
            <a:r>
              <a:rPr lang="ko-KR" altLang="en-US" sz="86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·통합 브랜드 · CI 개발</a:t>
            </a:r>
            <a:endParaRPr lang="ko-KR" sz="86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39" name="Shape 139"/>
          <p:cNvSpPr/>
          <p:nvPr/>
        </p:nvSpPr>
        <p:spPr>
          <a:xfrm>
            <a:off x="4536000" y="5400000"/>
            <a:ext cx="2034000" cy="45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36000" rIns="36000" tIns="18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Phase 3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통합 개장 · 운영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’29 ~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40" name="Shape 140"/>
          <p:cNvSpPr/>
          <p:nvPr/>
        </p:nvSpPr>
        <p:spPr>
          <a:xfrm>
            <a:off x="4536000" y="5878799"/>
            <a:ext cx="2034000" cy="9900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  <p:txBody>
          <a:bodyPr wrap="square" lIns="72000" rIns="72000" tIns="18000" bIns="18000" anchor="t">
            <a:noAutofit/>
          </a:bodyPr>
          <a:lstStyle/>
          <a:p>
            <a:pPr marL="90000" indent="-90000">
              <a:spcBef>
                <a:spcPts val="0"/>
              </a:spcBef>
              <a:buNone/>
            </a:pPr>
            <a:r>
              <a:rPr lang="ko-KR" altLang="en-US" sz="86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·’29.初 푸드존 개장과 동시 통합 그랜드 오픈</a:t>
            </a:r>
            <a:endParaRPr lang="ko-KR" sz="86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90000" indent="-90000">
              <a:spcBef>
                <a:spcPts val="0"/>
              </a:spcBef>
              <a:buNone/>
            </a:pPr>
            <a:r>
              <a:rPr lang="ko-KR" altLang="en-US" sz="86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·통합 멤버십 · 예약 · 마케팅 플랫폼 운영</a:t>
            </a:r>
            <a:endParaRPr lang="ko-KR" sz="86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90000" indent="-90000">
              <a:spcBef>
                <a:spcPts val="0"/>
              </a:spcBef>
              <a:buNone/>
            </a:pPr>
            <a:r>
              <a:rPr lang="ko-KR" altLang="en-US" sz="86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·성과 기반 재투자 → 운영기간 연장 협의</a:t>
            </a:r>
            <a:endParaRPr lang="ko-KR" sz="86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90000" indent="-90000">
              <a:spcBef>
                <a:spcPts val="0"/>
              </a:spcBef>
              <a:buNone/>
            </a:pPr>
            <a:r>
              <a:rPr lang="ko-KR" altLang="en-US" sz="86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·한강 수상 후속사업 참여 확대</a:t>
            </a:r>
            <a:endParaRPr lang="ko-KR" sz="86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41" name="TextBox 141"/>
          <p:cNvSpPr txBox="1"/>
          <p:nvPr/>
        </p:nvSpPr>
        <p:spPr>
          <a:xfrm>
            <a:off x="216000" y="6948000"/>
            <a:ext cx="6426000" cy="360000"/>
          </a:xfrm>
          <a:prstGeom prst="rect">
            <a:avLst/>
          </a:prstGeom>
          <a:noFill/>
        </p:spPr>
        <p:txBody>
          <a:bodyPr wrap="square" lIns="36000" rIns="36000" tIns="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 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핵심 쟁점 / 리스크 대응</a:t>
            </a:r>
            <a:endParaRPr lang="ko-KR" sz="13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142" name="표 142"/>
          <p:cNvGraphicFramePr>
            <a:graphicFrameLocks noGrp="1"/>
          </p:cNvGraphicFramePr>
          <p:nvPr/>
        </p:nvGraphicFramePr>
        <p:xfrm>
          <a:off x="323999" y="7272000"/>
          <a:ext cx="6318000" cy="1584000"/>
        </p:xfrm>
        <a:graphic>
          <a:graphicData uri="http://schemas.openxmlformats.org/drawingml/2006/table">
            <a:tbl>
              <a:tblPr firstRow="1" bandRow="1"/>
              <a:tblGrid>
                <a:gridCol w="864000"/>
                <a:gridCol w="1655999"/>
                <a:gridCol w="3798000"/>
              </a:tblGrid>
              <a:tr h="21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리스크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내 용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당사 대응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효성 협상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해지시지급금 이견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(300억 vs 효성 기대치)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·광고사업 제외 + 잔여 무상기간 가치 산정 근거 제시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·결렬 시 Plan B : 市 사용권 공개입찰 (임대 안) 참여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투자비 인정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해지시지급금의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총사업비 반영 여부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·「기존시설 취득비」 성격으로 총사업비 산입 협의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·불인정 시 운영기간 · 사용료 조정으로 보전 요구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정책 리스크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시장 재판 결과에 따른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시정 방향 변경 가능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·’27.1Q 내 제안서 접수 · 검토 착수로 행정절차 선점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·공공성 중심 설계 → 시장 교체와 무관한 사업 명분 확보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수요 · 운영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푸드존 비수기 공동화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수상시설 안전 이슈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·세빛섬 행사 수요 송객 + 한강버스 이용객 흡수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·부유체 · 계류 안전 보강비 리모델링 예산 반영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3" name="Shape 143"/>
          <p:cNvSpPr/>
          <p:nvPr/>
        </p:nvSpPr>
        <p:spPr>
          <a:xfrm>
            <a:off x="323999" y="9234000"/>
            <a:ext cx="6318000" cy="4680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txBody>
          <a:bodyPr wrap="square" lIns="108000" rIns="108000" tIns="18000" bIns="18000" anchor="ctr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▶ 당사 추진 원칙  </a:t>
            </a:r>
            <a:r>
              <a:rPr lang="ko-KR" altLang="en-US" sz="10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① 市 정책 (리버시티 서울) 에 맞춘 「공공성 先 설계」  ② 투자비 최대 인정 → 운영기간 극대화  ③ 효성 · 市 · 당사 3자 구도에서 당사가 협상 주도  ④ 불확실성은 Plan B (임대 안) 로 하방 관리</a:t>
            </a:r>
            <a:endParaRPr lang="ko-KR" sz="10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44"/>
          <p:cNvSpPr txBox="1"/>
          <p:nvPr/>
        </p:nvSpPr>
        <p:spPr>
          <a:xfrm>
            <a:off x="216000" y="251999"/>
            <a:ext cx="6426000" cy="360000"/>
          </a:xfrm>
          <a:prstGeom prst="rect">
            <a:avLst/>
          </a:prstGeom>
          <a:noFill/>
        </p:spPr>
        <p:txBody>
          <a:bodyPr wrap="square" lIns="36000" rIns="36000" tIns="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0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투자비 최대 인정 / 운영기간 확보 전략 (벤치마킹)</a:t>
            </a:r>
            <a:endParaRPr lang="ko-KR" sz="16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45" name="TextBox 145"/>
          <p:cNvSpPr txBox="1"/>
          <p:nvPr/>
        </p:nvSpPr>
        <p:spPr>
          <a:xfrm>
            <a:off x="216000" y="630000"/>
            <a:ext cx="6426000" cy="324000"/>
          </a:xfrm>
          <a:prstGeom prst="rect">
            <a:avLst/>
          </a:prstGeom>
          <a:noFill/>
        </p:spPr>
        <p:txBody>
          <a:bodyPr wrap="square" lIns="36000" rIns="36000" tIns="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 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운영기간은 「적용 법률」 이 결정 → 민간투자법 적용이 핵심</a:t>
            </a:r>
            <a:endParaRPr lang="ko-KR" sz="13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146" name="표 146"/>
          <p:cNvGraphicFramePr>
            <a:graphicFrameLocks noGrp="1"/>
          </p:cNvGraphicFramePr>
          <p:nvPr/>
        </p:nvGraphicFramePr>
        <p:xfrm>
          <a:off x="323999" y="936000"/>
          <a:ext cx="6318000" cy="892800"/>
        </p:xfrm>
        <a:graphic>
          <a:graphicData uri="http://schemas.openxmlformats.org/drawingml/2006/table">
            <a:tbl>
              <a:tblPr firstRow="1" bandRow="1"/>
              <a:tblGrid>
                <a:gridCol w="864000"/>
                <a:gridCol w="2376000"/>
                <a:gridCol w="3078000"/>
              </a:tblGrid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 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공유재산법 (기부채납)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민간투자법 (BTO)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운영기간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무상사용 최대 20년 (+ 1회 10년 갱신)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투자비 회수기간 기준 협약 (통상 30년, 대형 40년)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산정 기준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기부채납 가액 ÷ 연 사용료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총사업비 + 적정 수익률 회수에 필요한 기간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연장 여지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사실상 없음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’24.10 활성화 방안 : 공익 목적 개량 · 증설 시 최대 100년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7" name="TextBox 147"/>
          <p:cNvSpPr txBox="1"/>
          <p:nvPr/>
        </p:nvSpPr>
        <p:spPr>
          <a:xfrm>
            <a:off x="216000" y="2124000"/>
            <a:ext cx="6426000" cy="324000"/>
          </a:xfrm>
          <a:prstGeom prst="rect">
            <a:avLst/>
          </a:prstGeom>
          <a:noFill/>
        </p:spPr>
        <p:txBody>
          <a:bodyPr wrap="square" lIns="36000" rIns="36000" tIns="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 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유사 민간투자사업 벤치마킹 – 투자규모 · 공공성 대비 운영기간</a:t>
            </a:r>
            <a:endParaRPr lang="ko-KR" sz="13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148" name="표 148"/>
          <p:cNvGraphicFramePr>
            <a:graphicFrameLocks noGrp="1"/>
          </p:cNvGraphicFramePr>
          <p:nvPr/>
        </p:nvGraphicFramePr>
        <p:xfrm>
          <a:off x="323999" y="2448000"/>
          <a:ext cx="6318000" cy="1933200"/>
        </p:xfrm>
        <a:graphic>
          <a:graphicData uri="http://schemas.openxmlformats.org/drawingml/2006/table">
            <a:tbl>
              <a:tblPr firstRow="1" bandRow="1"/>
              <a:tblGrid>
                <a:gridCol w="1026000"/>
                <a:gridCol w="432000"/>
                <a:gridCol w="990000"/>
                <a:gridCol w="882000"/>
                <a:gridCol w="2988000"/>
              </a:tblGrid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 업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방식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총사업비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운영기간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인정받은 공공성 요소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세빛섬 (’14)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BOT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1,413억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(무상20+유상10)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·한강 수상 랜드마크 / 준공 후 市 기부채납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서울아레나 (’27)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BTO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3,309억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·동북권 문화 거점 / K-POP 전문공연장 · 지역 상권 활성화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서울링 (추진)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BTO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약 4,000억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·관광 랜드마크 / 재정 無 · 민투심 「민자 적정」 (’23.9)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잠실 MICE (’32)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BTO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2조 6,955억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40년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·건설 · 운영 보조금 無 전액 민간 / 수익 일부 市 기금 환원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당사 (안)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BTO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817억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(최대 1,117억)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30년 확보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40년 목표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·재정 無 + 초과수익 공유 + 시민 개방 + 청년 창업 쿼터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149" name="TextBox 149"/>
          <p:cNvSpPr txBox="1"/>
          <p:nvPr/>
        </p:nvSpPr>
        <p:spPr>
          <a:xfrm>
            <a:off x="216000" y="4680000"/>
            <a:ext cx="6426000" cy="324000"/>
          </a:xfrm>
          <a:prstGeom prst="rect">
            <a:avLst/>
          </a:prstGeom>
          <a:noFill/>
        </p:spPr>
        <p:txBody>
          <a:bodyPr wrap="square" lIns="36000" rIns="36000" tIns="0" bIns="0" anchor="t">
            <a:noAutofit/>
          </a:bodyPr>
          <a:lstStyle/>
          <a:p>
            <a:pPr marL="108000" indent="0">
              <a:spcBef>
                <a:spcPts val="0"/>
              </a:spcBef>
              <a:buNone/>
            </a:pP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＊ 출처 : 각 사업 서울시 발표 · 언론 보도 (총사업비는 협약 · 고시 기준, 서울링은 추정치) / 세빛섬은 ’14 재협약으로 무상 20년 + 유상 10년 변경</a:t>
            </a:r>
            <a:endParaRPr lang="ko-KR" sz="8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50" name="TextBox 150"/>
          <p:cNvSpPr txBox="1"/>
          <p:nvPr/>
        </p:nvSpPr>
        <p:spPr>
          <a:xfrm>
            <a:off x="216000" y="5040000"/>
            <a:ext cx="6426000" cy="1655999"/>
          </a:xfrm>
          <a:prstGeom prst="rect">
            <a:avLst/>
          </a:prstGeom>
          <a:noFill/>
        </p:spPr>
        <p:txBody>
          <a:bodyPr wrap="square" lIns="36000" rIns="36000" tIns="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 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투자비 최대 인정 전략 – 총사업비에 최대한 산입</a:t>
            </a:r>
            <a:endParaRPr lang="ko-KR" sz="13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4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• </a:t>
            </a:r>
            <a:r>
              <a:rPr lang="ko-KR" altLang="en-US" sz="11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리모델링 517억 :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공사비 + 부유체 · 계류 안전보강 + 설계 · 감리 + 부대비 + 건설이자 전액 산입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3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• </a:t>
            </a:r>
            <a:r>
              <a:rPr lang="ko-KR" altLang="en-US" sz="11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효성 해지시지급금 300억 :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「기존시설 취득비」 로 총사업비 반영 → </a:t>
            </a:r>
            <a:r>
              <a:rPr lang="ko-KR" altLang="en-US" sz="1100" b="1" u="sng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운영기간 산정의 핵심 쟁점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3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• </a:t>
            </a:r>
            <a:r>
              <a:rPr lang="ko-KR" altLang="en-US" sz="11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푸드존 분담 (선택) :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市 부담 미정인 조성비 300억 · 운영설비 분담 시 1,117억 → 기간 연장 근거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3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• </a:t>
            </a:r>
            <a:r>
              <a:rPr lang="ko-KR" altLang="en-US" sz="11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연계 공공시설 :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세빛섬 ↔ 푸드존 보행데크 · 경관조명 · 통합 안전관리 설비 → 공공시설로 산입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51" name="TextBox 151"/>
          <p:cNvSpPr txBox="1"/>
          <p:nvPr/>
        </p:nvSpPr>
        <p:spPr>
          <a:xfrm>
            <a:off x="216000" y="6696000"/>
            <a:ext cx="6426000" cy="360000"/>
          </a:xfrm>
          <a:prstGeom prst="rect">
            <a:avLst/>
          </a:prstGeom>
          <a:noFill/>
        </p:spPr>
        <p:txBody>
          <a:bodyPr wrap="square" lIns="36000" rIns="36000" tIns="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 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공공성 패키지 → 운영기간 목표</a:t>
            </a:r>
            <a:endParaRPr lang="ko-KR" sz="13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152" name="표 152"/>
          <p:cNvGraphicFramePr>
            <a:graphicFrameLocks noGrp="1"/>
          </p:cNvGraphicFramePr>
          <p:nvPr/>
        </p:nvGraphicFramePr>
        <p:xfrm>
          <a:off x="323999" y="7038000"/>
          <a:ext cx="6318000" cy="1339200"/>
        </p:xfrm>
        <a:graphic>
          <a:graphicData uri="http://schemas.openxmlformats.org/drawingml/2006/table">
            <a:tbl>
              <a:tblPr firstRow="1" bandRow="1"/>
              <a:tblGrid>
                <a:gridCol w="936000"/>
                <a:gridCol w="4158000"/>
                <a:gridCol w="1224000"/>
              </a:tblGrid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공공성 요소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세부 내용 (안)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벤치마킹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재정 부담 無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·리모델링 · 운영 전액 민간 부담, 최소수입보장 (MRG) 요구 無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잠실 MICE · 서울링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수익 공유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·사업계획 대비 초과수익 일정비율 市 환원 (한강 수상활성화 재원)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잠실 MICE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시민 개방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·세빛섬 데크 · 전망공간 상시 무료 개방 / 공공 공연 · 전시 정례화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서울아레나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상생 · 일자리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·푸드존 1/3 청년 · 소상공인 쿼터, 임대료 감면 / 지역 고용 우선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市 푸드존 취지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안전 · 관리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·세빛섬 + 푸드존 + 선착장 통합 안전관리 (수난 · 부유체 · 계류)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세빛섬 운영 경험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3" name="Shape 153"/>
          <p:cNvSpPr/>
          <p:nvPr/>
        </p:nvSpPr>
        <p:spPr>
          <a:xfrm>
            <a:off x="323999" y="8604000"/>
            <a:ext cx="6318000" cy="9000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txBody>
          <a:bodyPr wrap="square" lIns="108000" rIns="108000" tIns="18000" bIns="18000" anchor="ctr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▶ 목표 운영기간  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300"/>
              </a:spcBef>
              <a:buNone/>
            </a:pPr>
            <a:r>
              <a:rPr lang="ko-KR" altLang="en-US" sz="10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· 기본 : </a:t>
            </a:r>
            <a:r>
              <a:rPr lang="ko-KR" altLang="en-US" sz="10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투자 817억 규모 → 세빛섬 · 서울아레나 · 서울링 수준 </a:t>
            </a:r>
            <a:r>
              <a:rPr lang="ko-KR" altLang="en-US" sz="1000" b="1" u="sng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30년 확보</a:t>
            </a:r>
            <a:r>
              <a:rPr lang="ko-KR" altLang="en-US" sz="10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(’28.下 ~ ’58.上, 사업성 분석 기준)</a:t>
            </a:r>
            <a:endParaRPr lang="ko-KR" sz="10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200"/>
              </a:spcBef>
              <a:buNone/>
            </a:pPr>
            <a:r>
              <a:rPr lang="ko-KR" altLang="en-US" sz="10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· 확장 : </a:t>
            </a:r>
            <a:r>
              <a:rPr lang="ko-KR" altLang="en-US" sz="10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푸드존 조성비 분담 (1,117억) + 공공성 패키지 → 잠실 MICE 논리 준용 </a:t>
            </a:r>
            <a:r>
              <a:rPr lang="ko-KR" altLang="en-US" sz="1000" b="1" u="sng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40년 협상</a:t>
            </a:r>
            <a:endParaRPr lang="ko-KR" sz="10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200"/>
              </a:spcBef>
              <a:buNone/>
            </a:pPr>
            <a:r>
              <a:rPr lang="ko-KR" altLang="en-US" sz="10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· 추가 : </a:t>
            </a:r>
            <a:r>
              <a:rPr lang="ko-KR" altLang="en-US" sz="10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운영 중 재투자 (개량 · 증설) 시 정부 활성화 방안 근거로 연장 협의 (최대 50년)</a:t>
            </a:r>
            <a:endParaRPr lang="ko-KR" sz="10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Box 154"/>
          <p:cNvSpPr txBox="1"/>
          <p:nvPr/>
        </p:nvSpPr>
        <p:spPr>
          <a:xfrm>
            <a:off x="216000" y="251999"/>
            <a:ext cx="6426000" cy="360000"/>
          </a:xfrm>
          <a:prstGeom prst="rect">
            <a:avLst/>
          </a:prstGeom>
          <a:noFill/>
        </p:spPr>
        <p:txBody>
          <a:bodyPr wrap="square" lIns="36000" rIns="36000" tIns="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0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추진 절차 / 단계별 실행계획 (민간제안 BTO)</a:t>
            </a:r>
            <a:endParaRPr lang="ko-KR" sz="16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55" name="Shape 155"/>
          <p:cNvSpPr/>
          <p:nvPr/>
        </p:nvSpPr>
        <p:spPr>
          <a:xfrm>
            <a:off x="323999" y="666000"/>
            <a:ext cx="784800" cy="522000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txBody>
          <a:bodyPr wrap="square" lIns="36000" rIns="36000" tIns="18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1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사전협의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56" name="Shape 156"/>
          <p:cNvSpPr/>
          <p:nvPr/>
        </p:nvSpPr>
        <p:spPr>
          <a:xfrm>
            <a:off x="1126800" y="853200"/>
            <a:ext cx="97200" cy="144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 wrap="square" lIns="36000" rIns="36000" tIns="18000" bIns="18000" anchor="ctr">
            <a:noAutofit/>
          </a:bodyPr>
          <a:lstStyle/>
          <a:p>
            <a:endParaRPr lang="ko-KR" sz="1000"/>
          </a:p>
        </p:txBody>
      </p:sp>
      <p:sp>
        <p:nvSpPr>
          <p:cNvPr id="157" name="Shape 157"/>
          <p:cNvSpPr/>
          <p:nvPr/>
        </p:nvSpPr>
        <p:spPr>
          <a:xfrm>
            <a:off x="1242000" y="666000"/>
            <a:ext cx="784800" cy="522000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txBody>
          <a:bodyPr wrap="square" lIns="36000" rIns="36000" tIns="18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2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제안서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제출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58" name="Shape 158"/>
          <p:cNvSpPr/>
          <p:nvPr/>
        </p:nvSpPr>
        <p:spPr>
          <a:xfrm>
            <a:off x="2044800" y="853200"/>
            <a:ext cx="97200" cy="144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 wrap="square" lIns="36000" rIns="36000" tIns="18000" bIns="18000" anchor="ctr">
            <a:noAutofit/>
          </a:bodyPr>
          <a:lstStyle/>
          <a:p>
            <a:endParaRPr lang="ko-KR" sz="1000"/>
          </a:p>
        </p:txBody>
      </p:sp>
      <p:sp>
        <p:nvSpPr>
          <p:cNvPr id="159" name="Shape 159"/>
          <p:cNvSpPr/>
          <p:nvPr/>
        </p:nvSpPr>
        <p:spPr>
          <a:xfrm>
            <a:off x="2160000" y="666000"/>
            <a:ext cx="784800" cy="52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36000" rIns="36000" tIns="18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3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제안서 검토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(적격성)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60" name="Shape 160"/>
          <p:cNvSpPr/>
          <p:nvPr/>
        </p:nvSpPr>
        <p:spPr>
          <a:xfrm>
            <a:off x="2962800" y="853200"/>
            <a:ext cx="97200" cy="144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 wrap="square" lIns="36000" rIns="36000" tIns="18000" bIns="18000" anchor="ctr">
            <a:noAutofit/>
          </a:bodyPr>
          <a:lstStyle/>
          <a:p>
            <a:endParaRPr lang="ko-KR" sz="1000"/>
          </a:p>
        </p:txBody>
      </p:sp>
      <p:sp>
        <p:nvSpPr>
          <p:cNvPr id="161" name="Shape 161"/>
          <p:cNvSpPr/>
          <p:nvPr/>
        </p:nvSpPr>
        <p:spPr>
          <a:xfrm>
            <a:off x="3078000" y="666000"/>
            <a:ext cx="784800" cy="52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36000" rIns="36000" tIns="18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4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민투심 ·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市의회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62" name="Shape 162"/>
          <p:cNvSpPr/>
          <p:nvPr/>
        </p:nvSpPr>
        <p:spPr>
          <a:xfrm>
            <a:off x="3880800" y="853200"/>
            <a:ext cx="97200" cy="144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 wrap="square" lIns="36000" rIns="36000" tIns="18000" bIns="18000" anchor="ctr">
            <a:noAutofit/>
          </a:bodyPr>
          <a:lstStyle/>
          <a:p>
            <a:endParaRPr lang="ko-KR" sz="1000"/>
          </a:p>
        </p:txBody>
      </p:sp>
      <p:sp>
        <p:nvSpPr>
          <p:cNvPr id="163" name="Shape 163"/>
          <p:cNvSpPr/>
          <p:nvPr/>
        </p:nvSpPr>
        <p:spPr>
          <a:xfrm>
            <a:off x="3996000" y="666000"/>
            <a:ext cx="784800" cy="52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36000" rIns="36000" tIns="18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5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제3자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제안공고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64" name="Shape 164"/>
          <p:cNvSpPr/>
          <p:nvPr/>
        </p:nvSpPr>
        <p:spPr>
          <a:xfrm>
            <a:off x="4798800" y="853200"/>
            <a:ext cx="97200" cy="144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 wrap="square" lIns="36000" rIns="36000" tIns="18000" bIns="18000" anchor="ctr">
            <a:noAutofit/>
          </a:bodyPr>
          <a:lstStyle/>
          <a:p>
            <a:endParaRPr lang="ko-KR" sz="1000"/>
          </a:p>
        </p:txBody>
      </p:sp>
      <p:sp>
        <p:nvSpPr>
          <p:cNvPr id="165" name="Shape 165"/>
          <p:cNvSpPr/>
          <p:nvPr/>
        </p:nvSpPr>
        <p:spPr>
          <a:xfrm>
            <a:off x="4914000" y="666000"/>
            <a:ext cx="784800" cy="52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36000" rIns="36000" tIns="18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6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협상 ·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실시협약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66" name="Shape 166"/>
          <p:cNvSpPr/>
          <p:nvPr/>
        </p:nvSpPr>
        <p:spPr>
          <a:xfrm>
            <a:off x="5716800" y="853200"/>
            <a:ext cx="97200" cy="144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 wrap="square" lIns="36000" rIns="36000" tIns="18000" bIns="18000" anchor="ctr">
            <a:noAutofit/>
          </a:bodyPr>
          <a:lstStyle/>
          <a:p>
            <a:endParaRPr lang="ko-KR" sz="1000"/>
          </a:p>
        </p:txBody>
      </p:sp>
      <p:sp>
        <p:nvSpPr>
          <p:cNvPr id="167" name="Shape 167"/>
          <p:cNvSpPr/>
          <p:nvPr/>
        </p:nvSpPr>
        <p:spPr>
          <a:xfrm>
            <a:off x="5832000" y="666000"/>
            <a:ext cx="784800" cy="52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36000" rIns="36000" tIns="18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7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착공 ·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통합개장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68" name="TextBox 168"/>
          <p:cNvSpPr txBox="1"/>
          <p:nvPr/>
        </p:nvSpPr>
        <p:spPr>
          <a:xfrm>
            <a:off x="216000" y="1216800"/>
            <a:ext cx="6426000" cy="180000"/>
          </a:xfrm>
          <a:prstGeom prst="rect">
            <a:avLst/>
          </a:prstGeom>
          <a:noFill/>
        </p:spPr>
        <p:txBody>
          <a:bodyPr wrap="square" lIns="36000" rIns="36000" tIns="0" bIns="0" anchor="t">
            <a:noAutofit/>
          </a:bodyPr>
          <a:lstStyle/>
          <a:p>
            <a:pPr marL="108000" indent="0">
              <a:spcBef>
                <a:spcPts val="0"/>
              </a:spcBef>
              <a:buNone/>
            </a:pP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＊ 음영 : 당사 주도 단계 (즉시 착수) / 절차 · 기간은 민간투자법 및 민간투자사업기본계획 기준, 세부 일정은 市 협의로 확정</a:t>
            </a:r>
            <a:endParaRPr lang="ko-KR" sz="8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169" name="표 169"/>
          <p:cNvGraphicFramePr>
            <a:graphicFrameLocks noGrp="1"/>
          </p:cNvGraphicFramePr>
          <p:nvPr/>
        </p:nvGraphicFramePr>
        <p:xfrm>
          <a:off x="323999" y="1422000"/>
          <a:ext cx="6317999" cy="3391200"/>
        </p:xfrm>
        <a:graphic>
          <a:graphicData uri="http://schemas.openxmlformats.org/drawingml/2006/table">
            <a:tbl>
              <a:tblPr firstRow="1" bandRow="1"/>
              <a:tblGrid>
                <a:gridCol w="702000"/>
                <a:gridCol w="666000"/>
                <a:gridCol w="1854000"/>
                <a:gridCol w="3096000"/>
              </a:tblGrid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단계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시기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주요 내용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당사 할 일 / 준비사항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① 사전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협의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’26.10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~ 12월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·市 미래한강본부 · 민간투자 담당 사전 협의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·효성 해지시지급금 협상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·사업구상서 (본 보고서) · 市 정책 부합 논리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·해지시지급금 300억 근거 (외부 가치평가) / 투자심의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·市 · 효성 · 당사 3자 MOU (안) 준비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② 제안서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제출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’27.1Q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·민간투자법 제9조 민간제안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·市 제안서 접수 · 형식요건 검토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·제안서 : 기본설계 · 재무모델 · 운영 / MD 계획 · 공공성 계획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·SPC 컨소시엄 MOU (百 · F&amp;B · FI · 시공사)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·회계 · 법률 · 설계 자문사 선정 (제안비용 예산화)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③ 제안서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검토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’27.2Q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~ 3Q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·전문기관 적격성 검토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 xml:space="preserve">  (수요 · VfM · 재무 타당성)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·市 민투 대상사업 채택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·수요추정 근거 : 세빛섬 실적 + 한강버스 이용 수요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·VfM 대응 : 재정사업 대비 비용 절감 논리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·보완 요청 신속 대응 TF 운영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④ 심의 ·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동의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’27.4Q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·市 민간투자심의위원회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·市의회 동의 (필요 시)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·공공성 패키지 설명자료 / 의회 상임위 설명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·언론 · 여론 대응 (특혜 시비 사전 차단)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⑤ 제3자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공고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’28.1Q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(90일 내외)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·제안내용 공고 · 경쟁 제안 접수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·평가 → 우선협상대상자 지정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·최초 제안자 우대 가점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·경쟁사 대비 차별화 : 세빛섬 연계 · 百 MD 역량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·가격 · 공공성 보강 제안 (경쟁 대비 시나리오)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·컨소시엄 지분 · 역할 확정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⑥ 협상 ·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실시협약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’28.2Q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~ 3Q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·총사업비 · 운영기간 · 사용료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·위험분담 · 해지시지급금 조건 확정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·운영기간 30년+ / 해지시지급금 총사업비 반영 관철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·협상 TF (전략 · 재무 · 법무) / 이사회 승인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⑦ 착공 ·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개장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’28.下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~ ’29.初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·실시계획 승인 → 리모델링 착공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·푸드존 준공 (’28 말) · 개장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·SPC 설립 · 자금조달 (PF) / 시공사 계약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·테넌트 유치 · 통합 브랜드 런칭 · 그랜드 오픈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0" name="TextBox 170"/>
          <p:cNvSpPr txBox="1"/>
          <p:nvPr/>
        </p:nvSpPr>
        <p:spPr>
          <a:xfrm>
            <a:off x="216000" y="5256000"/>
            <a:ext cx="6426000" cy="2088000"/>
          </a:xfrm>
          <a:prstGeom prst="rect">
            <a:avLst/>
          </a:prstGeom>
          <a:noFill/>
        </p:spPr>
        <p:txBody>
          <a:bodyPr wrap="square" lIns="36000" rIns="36000" tIns="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 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추진 경로 – 3-Track 병행으로 하방 관리</a:t>
            </a:r>
            <a:endParaRPr lang="ko-KR" sz="13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4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• </a:t>
            </a:r>
            <a:r>
              <a:rPr lang="ko-KR" altLang="en-US" sz="11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Track A (우선) 민간제안형 :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당사 통합사업계획 先 제안 → 최초 제안자 우대 확보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3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• </a:t>
            </a:r>
            <a:r>
              <a:rPr lang="ko-KR" altLang="en-US" sz="11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Track B 대상지 공모형 :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市가 공모 시, 당사 공공성 기준 · 통합 운영 조건을 공모 요건에 반영 유도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3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• </a:t>
            </a:r>
            <a:r>
              <a:rPr lang="ko-KR" altLang="en-US" sz="11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Track C 사용권 입찰 (임대 안) :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민투 불인정 시 공개경쟁입찰 참여 (사용료 연 52억 이내)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80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 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일정 리스크 관리</a:t>
            </a:r>
            <a:endParaRPr lang="ko-KR" sz="13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4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•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시장 재판 일정 (’27.1~4월 직위 변동 가능) 고려 → </a:t>
            </a:r>
            <a:r>
              <a:rPr lang="ko-KR" altLang="en-US" sz="1100" b="1" u="sng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’26년 내 사전협의 완료 · ’27.1Q 제안서 접수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 로 행정절차 선점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3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 xml:space="preserve">•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부시장 대행 · 보궐선거 시에도 유지되도록 「재정 無 · 공공성」 중심 사업 명분 확보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171" name="표 171"/>
          <p:cNvGraphicFramePr>
            <a:graphicFrameLocks noGrp="1"/>
          </p:cNvGraphicFramePr>
          <p:nvPr/>
        </p:nvGraphicFramePr>
        <p:xfrm>
          <a:off x="323999" y="7523999"/>
          <a:ext cx="6318000" cy="1116000"/>
        </p:xfrm>
        <a:graphic>
          <a:graphicData uri="http://schemas.openxmlformats.org/drawingml/2006/table">
            <a:tbl>
              <a:tblPr firstRow="1" bandRow="1"/>
              <a:tblGrid>
                <a:gridCol w="936000"/>
                <a:gridCol w="5382000"/>
              </a:tblGrid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담당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즉시 착수 과제 (’26.10 ~ 12월)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전략 · 개발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·市 사전협의 채널 구축 / 통합 사업구상서 확정 / 3자 MOU 추진 / 자문사 RFP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재무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·운영기간별 (30 · 40년) 사업성 · NPV 민감도 / 해지시지급금 산정 근거 / 투자심의 상정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MD · 운영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·百 협업 통합 MD 초안 / 푸드존 테넌트 후보 Long-list / 통합 프로그램 연간 캘린더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법무 · 대관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·민투법 적용 가능성 법률검토 / 효성 협약 해지 구조 검토 / 市의회 · 언론 대응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bg1">
              <a:lumMod val="65000"/>
            </a:schemeClr>
          </a:solidFill>
        </a:ln>
      </a:spPr>
      <a:bodyPr wrap="square" rtlCol="0" anchor="ctr">
        <a:spAutoFit/>
      </a:bodyPr>
      <a:lstStyle>
        <a:defPPr algn="l">
          <a:spcBef>
            <a:spcPts val="1200"/>
          </a:spcBef>
          <a:tabLst>
            <a:tab pos="227013" algn="l"/>
            <a:tab pos="1165225" algn="l"/>
          </a:tabLst>
          <a:defRPr sz="1400" dirty="0">
            <a:solidFill>
              <a:prstClr val="black">
                <a:lumMod val="85000"/>
                <a:lumOff val="15000"/>
              </a:prstClr>
            </a:solidFill>
            <a:latin typeface="HY견고딕" panose="02030600000101010101" pitchFamily="18" charset="-127"/>
            <a:ea typeface="HY견고딕" panose="02030600000101010101" pitchFamily="18" charset="-127"/>
            <a:sym typeface="Wingdings" pitchFamily="2" charset="2"/>
          </a:defRPr>
        </a:defPPr>
      </a:lstStyle>
    </a:spDef>
    <a:lnDef>
      <a:spPr>
        <a:ln w="9525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vert="horz" wrap="square" lIns="88202" tIns="44101" rIns="88202" bIns="44101" numCol="1" rtlCol="0" anchor="ctr" anchorCtr="0" compatLnSpc="1">
        <a:prstTxWarp prst="textNoShape">
          <a:avLst/>
        </a:prstTxWarp>
        <a:spAutoFit/>
      </a:bodyPr>
      <a:lstStyle>
        <a:defPPr algn="ctr" defTabSz="882019" fontAlgn="base">
          <a:lnSpc>
            <a:spcPct val="120000"/>
          </a:lnSpc>
          <a:defRPr kumimoji="1" sz="1000" dirty="0">
            <a:latin typeface="신세계 민부리 Medium(TTF)" panose="02000600000000020003" pitchFamily="2" charset="-127"/>
            <a:ea typeface="신세계 민부리 Medium(TTF)" panose="02000600000000020003" pitchFamily="2" charset="-127"/>
            <a:cs typeface="굴림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5D37FF66-CCD5-422E-9A98-F685C5801DDC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3bf584b2-190d-4075-a553-d3eacefe0dd0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479070FF-D4BE-4694-87A7-E047CC96A985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972f339d-2ec9-4e11-b5fa-93c038fc3017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9e769a94-a688-4b1a-b696-1d635af05004}" enabled="1" method="Privileged" siteId="{d4ffc887-d88d-41cc-bf6a-6bb47ec0f3c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Words>1505</Words>
  <TotalTime>0</TotalTime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SHINSEGAE</dc:creator>
  <dcterms:modified xsi:type="dcterms:W3CDTF">2026-10-01T08:18:12Z</dcterms:modified>
  <dc:title>PowerPoint 프레젠테이션</dc:title>
  <cp:lastPrinted>2026-10-01T07:33:16Z</cp:lastPrinted>
  <cp:lastModifiedBy>정유경(파트너) - 부동산금융팀</cp:lastModifiedBy>
  <dcterms:created xsi:type="dcterms:W3CDTF">2017-03-08T10:10:17Z</dcterms:created>
  <cp:revision>77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a772263-e823-4541-b19a-907e15bf13d7_SiteId">
    <vt:lpwstr>d4ffc887-d88d-41cc-bf6a-6bb47ec0f3ca</vt:lpwstr>
  </property>
  <property fmtid="{D5CDD505-2E9C-101B-9397-08002B2CF9AE}" pid="3" name="MSIP_Label_aa772263-e823-4541-b19a-907e15bf13d7_SetDate">
    <vt:lpwstr>2025-12-30T00:09:59Z</vt:lpwstr>
  </property>
  <property fmtid="{D5CDD505-2E9C-101B-9397-08002B2CF9AE}" pid="4" name="MSIP_Label_aa772263-e823-4541-b19a-907e15bf13d7_Name">
    <vt:lpwstr>센트럴-서고터 보호</vt:lpwstr>
  </property>
  <property fmtid="{D5CDD505-2E9C-101B-9397-08002B2CF9AE}" pid="5" name="MSIP_Label_aa772263-e823-4541-b19a-907e15bf13d7_Method">
    <vt:lpwstr>Privileged</vt:lpwstr>
  </property>
  <property fmtid="{D5CDD505-2E9C-101B-9397-08002B2CF9AE}" pid="6" name="MSIP_Label_aa772263-e823-4541-b19a-907e15bf13d7_Enabled">
    <vt:lpwstr>true</vt:lpwstr>
  </property>
  <property fmtid="{D5CDD505-2E9C-101B-9397-08002B2CF9AE}" pid="7" name="MSIP_Label_aa772263-e823-4541-b19a-907e15bf13d7_ContentBits">
    <vt:lpwstr>8</vt:lpwstr>
  </property>
</Properties>
</file>