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461" r:id="rId2"/>
    <p:sldId id="2145714274" r:id="rId3"/>
    <p:sldId id="2145714272" r:id="rId4"/>
    <p:sldId id="463" r:id="rId5"/>
    <p:sldId id="2145714269" r:id="rId6"/>
    <p:sldId id="2145714273" r:id="rId7"/>
    <p:sldId id="2145714275" r:id="rId8"/>
    <p:sldId id="2145714268" r:id="rId9"/>
    <p:sldId id="2145714270" r:id="rId10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25" userDrawn="1">
          <p15:clr>
            <a:srgbClr val="A4A3A4"/>
          </p15:clr>
        </p15:guide>
        <p15:guide id="2" orient="horz" pos="6114" userDrawn="1">
          <p15:clr>
            <a:srgbClr val="A4A3A4"/>
          </p15:clr>
        </p15:guide>
        <p15:guide id="3" orient="horz" pos="1850" userDrawn="1">
          <p15:clr>
            <a:srgbClr val="A4A3A4"/>
          </p15:clr>
        </p15:guide>
        <p15:guide id="5" orient="horz" pos="3868" userDrawn="1">
          <p15:clr>
            <a:srgbClr val="A4A3A4"/>
          </p15:clr>
        </p15:guide>
        <p15:guide id="6" orient="horz" pos="1079" userDrawn="1">
          <p15:clr>
            <a:srgbClr val="A4A3A4"/>
          </p15:clr>
        </p15:guide>
        <p15:guide id="7" pos="73" userDrawn="1">
          <p15:clr>
            <a:srgbClr val="A4A3A4"/>
          </p15:clr>
        </p15:guide>
        <p15:guide id="10" pos="1933" userDrawn="1">
          <p15:clr>
            <a:srgbClr val="A4A3A4"/>
          </p15:clr>
        </p15:guide>
        <p15:guide id="15" pos="4156" userDrawn="1">
          <p15:clr>
            <a:srgbClr val="A4A3A4"/>
          </p15:clr>
        </p15:guide>
        <p15:guide id="16" pos="436" userDrawn="1">
          <p15:clr>
            <a:srgbClr val="A4A3A4"/>
          </p15:clr>
        </p15:guide>
        <p15:guide id="17" orient="horz" pos="2984" userDrawn="1">
          <p15:clr>
            <a:srgbClr val="A4A3A4"/>
          </p15:clr>
        </p15:guide>
        <p15:guide id="18" orient="horz" pos="1419" userDrawn="1">
          <p15:clr>
            <a:srgbClr val="A4A3A4"/>
          </p15:clr>
        </p15:guide>
        <p15:guide id="19" pos="278" userDrawn="1">
          <p15:clr>
            <a:srgbClr val="A4A3A4"/>
          </p15:clr>
        </p15:guide>
        <p15:guide id="20" pos="66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99"/>
    <a:srgbClr val="F2F2F2"/>
    <a:srgbClr val="1E236E"/>
    <a:srgbClr val="E6F2F6"/>
    <a:srgbClr val="D7EAF1"/>
    <a:srgbClr val="FFFFFF"/>
    <a:srgbClr val="FFFF66"/>
    <a:srgbClr val="0000FF"/>
    <a:srgbClr val="0D884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C1C35A-5266-48D9-A748-AF098CE74BA8}" v="118" dt="2026-09-15T05:20:04.894"/>
    <p1510:client id="{747D17A9-F1C5-4B29-A161-5D23BECA1C99}" v="9014" dt="2026-09-15T23:59:05.064"/>
    <p1510:client id="{994B28C7-1DE2-4FD5-A326-7BA87FBCA7C6}" v="4496" dt="2026-09-15T11:23:24.290"/>
    <p1510:client id="{AD33A71C-E486-4D1E-9E32-97DF2B2ED220}" v="5758" dt="2026-09-16T00:10:02.182"/>
    <p1510:client id="{EBC27CD7-E218-47A1-AE40-1FC25AB1CB18}" v="7" dt="2026-09-15T08:04:31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87" d="100"/>
          <a:sy n="87" d="100"/>
        </p:scale>
        <p:origin x="4212" y="-84"/>
      </p:cViewPr>
      <p:guideLst>
        <p:guide orient="horz" pos="5025"/>
        <p:guide orient="horz" pos="6114"/>
        <p:guide orient="horz" pos="1850"/>
        <p:guide orient="horz" pos="3868"/>
        <p:guide orient="horz" pos="1079"/>
        <p:guide pos="73"/>
        <p:guide pos="1933"/>
        <p:guide pos="4156"/>
        <p:guide pos="436"/>
        <p:guide orient="horz" pos="2984"/>
        <p:guide orient="horz" pos="1419"/>
        <p:guide pos="278"/>
        <p:guide pos="6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5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98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56" tIns="45175" rIns="90356" bIns="4517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4"/>
            <a:ext cx="5388610" cy="4439841"/>
          </a:xfrm>
          <a:prstGeom prst="rect">
            <a:avLst/>
          </a:prstGeom>
        </p:spPr>
        <p:txBody>
          <a:bodyPr vert="horz" lIns="90356" tIns="45175" rIns="90356" bIns="4517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5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98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C31CC-C9A1-0080-8C05-E849944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9308A4-6E9C-A87C-9CA8-A9A730C58A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45FB33-F062-2CEF-1766-913C6835E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1B8F6-FB26-FB5B-D1F4-9298DD7488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4978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A880-4D0E-2517-25BC-2C1BD910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D96D0E-7A43-A5CA-01FF-C7035FDAD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6600E-A3B1-3EE8-4BF6-20177E7A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E19981-974A-5DAF-DEBC-A60E94492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82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A6B-496C-222F-0752-273E4608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E04A5C-9D01-3EE1-A4EE-AA282A378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1CBA00-C9CE-F96A-FAA6-275D0D1A87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4B391-ECAD-C008-7189-C70841846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569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8AEB5-46E9-4315-D4D9-95F0F664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7B4DD3-E902-E162-4081-28D22546A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ACE060-509C-F72C-7804-2A30B43F6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B45B60-028E-8953-8E5E-B391E9F42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15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6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1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20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30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64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050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460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870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280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3858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9"/>
            <a:ext cx="5829300" cy="2166936"/>
          </a:xfrm>
        </p:spPr>
        <p:txBody>
          <a:bodyPr anchor="b"/>
          <a:lstStyle>
            <a:lvl1pPr marL="0" indent="0">
              <a:buNone/>
              <a:defRPr sz="1929">
                <a:solidFill>
                  <a:schemeClr val="tx1">
                    <a:tint val="75000"/>
                  </a:schemeClr>
                </a:solidFill>
              </a:defRPr>
            </a:lvl1pPr>
            <a:lvl2pPr marL="441009" indent="0">
              <a:buNone/>
              <a:defRPr sz="1736">
                <a:solidFill>
                  <a:schemeClr val="tx1">
                    <a:tint val="75000"/>
                  </a:schemeClr>
                </a:solidFill>
              </a:defRPr>
            </a:lvl2pPr>
            <a:lvl3pPr marL="882019" indent="0">
              <a:buNone/>
              <a:defRPr sz="1543">
                <a:solidFill>
                  <a:schemeClr val="tx1">
                    <a:tint val="75000"/>
                  </a:schemeClr>
                </a:solidFill>
              </a:defRPr>
            </a:lvl3pPr>
            <a:lvl4pPr marL="132302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4pPr>
            <a:lvl5pPr marL="176403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5pPr>
            <a:lvl6pPr marL="220504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6pPr>
            <a:lvl7pPr marL="264605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7pPr>
            <a:lvl8pPr marL="308706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8pPr>
            <a:lvl9pPr marL="3528077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2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6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7"/>
            <a:ext cx="303014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7"/>
            <a:ext cx="303014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4" y="2217387"/>
            <a:ext cx="303133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4" y="3141487"/>
            <a:ext cx="303133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6" y="394407"/>
            <a:ext cx="2256235" cy="1678517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3" y="394406"/>
            <a:ext cx="3833813" cy="8454497"/>
          </a:xfrm>
        </p:spPr>
        <p:txBody>
          <a:bodyPr/>
          <a:lstStyle>
            <a:lvl1pPr>
              <a:defRPr sz="3087"/>
            </a:lvl1pPr>
            <a:lvl2pPr>
              <a:defRPr sz="2701"/>
            </a:lvl2pPr>
            <a:lvl3pPr>
              <a:defRPr sz="2315"/>
            </a:lvl3pPr>
            <a:lvl4pPr>
              <a:defRPr sz="1929"/>
            </a:lvl4pPr>
            <a:lvl5pPr>
              <a:defRPr sz="1929"/>
            </a:lvl5pPr>
            <a:lvl6pPr>
              <a:defRPr sz="1929"/>
            </a:lvl6pPr>
            <a:lvl7pPr>
              <a:defRPr sz="1929"/>
            </a:lvl7pPr>
            <a:lvl8pPr>
              <a:defRPr sz="1929"/>
            </a:lvl8pPr>
            <a:lvl9pPr>
              <a:defRPr sz="192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6" y="2072926"/>
            <a:ext cx="2256235" cy="6775981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1"/>
            <a:ext cx="4114800" cy="818621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087"/>
            </a:lvl1pPr>
            <a:lvl2pPr marL="441009" indent="0">
              <a:buNone/>
              <a:defRPr sz="2701"/>
            </a:lvl2pPr>
            <a:lvl3pPr marL="882019" indent="0">
              <a:buNone/>
              <a:defRPr sz="2315"/>
            </a:lvl3pPr>
            <a:lvl4pPr marL="1323029" indent="0">
              <a:buNone/>
              <a:defRPr sz="1929"/>
            </a:lvl4pPr>
            <a:lvl5pPr marL="1764039" indent="0">
              <a:buNone/>
              <a:defRPr sz="1929"/>
            </a:lvl5pPr>
            <a:lvl6pPr marL="2205049" indent="0">
              <a:buNone/>
              <a:defRPr sz="1929"/>
            </a:lvl6pPr>
            <a:lvl7pPr marL="2646058" indent="0">
              <a:buNone/>
              <a:defRPr sz="1929"/>
            </a:lvl7pPr>
            <a:lvl8pPr marL="3087068" indent="0">
              <a:buNone/>
              <a:defRPr sz="1929"/>
            </a:lvl8pPr>
            <a:lvl9pPr marL="3528077" indent="0">
              <a:buNone/>
              <a:defRPr sz="1929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9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700"/>
            <a:ext cx="1157288" cy="1126807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700"/>
            <a:ext cx="3357563" cy="1126807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4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2019" rtl="0" eaLnBrk="1" latinLnBrk="1" hangingPunct="1">
        <a:spcBef>
          <a:spcPct val="0"/>
        </a:spcBef>
        <a:buNone/>
        <a:defRPr sz="424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757" indent="-330757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16641" indent="-275630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2701" kern="1200">
          <a:solidFill>
            <a:schemeClr val="tx1"/>
          </a:solidFill>
          <a:latin typeface="+mn-lt"/>
          <a:ea typeface="+mn-ea"/>
          <a:cs typeface="+mn-cs"/>
        </a:defRPr>
      </a:lvl2pPr>
      <a:lvl3pPr marL="110252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3pPr>
      <a:lvl4pPr marL="154353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1929" kern="1200">
          <a:solidFill>
            <a:schemeClr val="tx1"/>
          </a:solidFill>
          <a:latin typeface="+mn-lt"/>
          <a:ea typeface="+mn-ea"/>
          <a:cs typeface="+mn-cs"/>
        </a:defRPr>
      </a:lvl4pPr>
      <a:lvl5pPr marL="198454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»"/>
        <a:defRPr sz="1929" kern="1200">
          <a:solidFill>
            <a:schemeClr val="tx1"/>
          </a:solidFill>
          <a:latin typeface="+mn-lt"/>
          <a:ea typeface="+mn-ea"/>
          <a:cs typeface="+mn-cs"/>
        </a:defRPr>
      </a:lvl5pPr>
      <a:lvl6pPr marL="242555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6pPr>
      <a:lvl7pPr marL="286656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7pPr>
      <a:lvl8pPr marL="3307572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8pPr>
      <a:lvl9pPr marL="374858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1pPr>
      <a:lvl2pPr marL="44100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2pPr>
      <a:lvl3pPr marL="88201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3pPr>
      <a:lvl4pPr marL="132302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4pPr>
      <a:lvl5pPr marL="176403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5pPr>
      <a:lvl6pPr marL="220504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6pPr>
      <a:lvl7pPr marL="264605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7pPr>
      <a:lvl8pPr marL="308706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8pPr>
      <a:lvl9pPr marL="3528077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01"/>
          <p:cNvSpPr/>
          <p:nvPr/>
        </p:nvSpPr>
        <p:spPr>
          <a:xfrm>
            <a:off x="0" y="0"/>
            <a:ext cx="6857999" cy="535531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2400" b="1" u="sng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세빛섬 인수 변경 안</a:t>
            </a:r>
            <a:endParaRPr 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Shape 102"/>
          <p:cNvSpPr/>
          <p:nvPr/>
        </p:nvSpPr>
        <p:spPr>
          <a:xfrm>
            <a:off x="-6639509" y="4919976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3" name="Shape 103"/>
          <p:cNvSpPr/>
          <p:nvPr/>
        </p:nvSpPr>
        <p:spPr>
          <a:xfrm>
            <a:off x="-53759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4" name="Shape 104"/>
          <p:cNvSpPr/>
          <p:nvPr/>
        </p:nvSpPr>
        <p:spPr>
          <a:xfrm>
            <a:off x="-41123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5" name="Shape 105"/>
          <p:cNvSpPr/>
          <p:nvPr/>
        </p:nvSpPr>
        <p:spPr>
          <a:xfrm>
            <a:off x="-28487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-1585108" y="467934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7" name="TextBox 107"/>
          <p:cNvSpPr txBox="1"/>
          <p:nvPr/>
        </p:nvSpPr>
        <p:spPr>
          <a:xfrm>
            <a:off x="75695" y="600900"/>
            <a:ext cx="6782303" cy="17208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4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세빛섬 계획 안</a:t>
            </a:r>
            <a:endParaRPr lang="en-US" altLang="ko-KR" sz="1400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400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 </a:t>
            </a:r>
            <a:r>
              <a:rPr lang="ko-KR" altLang="en-US" sz="14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현황 : </a:t>
            </a: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웨딩 · 외식 위주 콘텐츠로 집객 低 / ’14년 개장 후 시설 노후</a:t>
            </a: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리모델링 (520억) 후 :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MICE · 공연 · F&amp;B 복합 문화공간으로 전환</a:t>
            </a:r>
            <a:endParaRPr lang="ko-KR" altLang="ko-KR" sz="1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</a:t>
            </a: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</a:t>
            </a: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효과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공연으로 평일 집객 ↑ / 연평균 매출 +88억 (75 → 163억)</a:t>
            </a: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 한계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단독 리모델링은 공간 협소 · 접근성 부족으로 상시 유입 한계 (유동인구는 반포대교 건너편에 집중)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반포 </a:t>
            </a:r>
            <a:r>
              <a:rPr lang="ko-KR" altLang="en-US" sz="1600" dirty="0" err="1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수상푸드존</a:t>
            </a:r>
            <a:endParaRPr lang="en-US" altLang="ko-KR" sz="1600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목표 :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(교통) + 수변 미식 (여가) 결합 「반포 수상 거점」 조성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226800">
              <a:spcBef>
                <a:spcPts val="200"/>
              </a:spcBef>
            </a:pP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과제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선착장 · 식음 공간을 넘어 거점이 되려면 전문 운영역량과 대형 공연 등 집객 · 화제성 콘텐츠가 필요</a:t>
            </a:r>
          </a:p>
          <a:p>
            <a:pPr marL="226800">
              <a:spcBef>
                <a:spcPts val="200"/>
              </a:spcBef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226800">
              <a:spcBef>
                <a:spcPts val="200"/>
              </a:spcBef>
            </a:pP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 </a:t>
            </a: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결론 : </a:t>
            </a: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세빛섬의 콘텐츠 · 화제성 (체류) + 푸드존의 교통 · 유동인구 (유입) 결합 → 시너지, 통합 공모 추진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08" name="세빛섬 전경 108"/>
          <p:cNvPicPr>
            <a:picLocks noChangeAspect="1"/>
          </p:cNvPicPr>
          <p:nvPr/>
        </p:nvPicPr>
        <p:blipFill>
          <a:blip r:embed="rId3"/>
          <a:srcRect l="19638" t="14176" r="19786"/>
          <a:stretch>
            <a:fillRect/>
          </a:stretch>
        </p:blipFill>
        <p:spPr>
          <a:xfrm>
            <a:off x="-3604907" y="2008682"/>
            <a:ext cx="1800000" cy="1278000"/>
          </a:xfrm>
          <a:prstGeom prst="rect">
            <a:avLst/>
          </a:prstGeom>
        </p:spPr>
      </p:pic>
      <p:graphicFrame>
        <p:nvGraphicFramePr>
          <p:cNvPr id="109" name="표 1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077091"/>
              </p:ext>
            </p:extLst>
          </p:nvPr>
        </p:nvGraphicFramePr>
        <p:xfrm>
          <a:off x="478892" y="1356945"/>
          <a:ext cx="5918126" cy="1158329"/>
        </p:xfrm>
        <a:graphic>
          <a:graphicData uri="http://schemas.openxmlformats.org/drawingml/2006/table">
            <a:tbl>
              <a:tblPr firstRow="1" bandRow="1"/>
              <a:tblGrid>
                <a:gridCol w="408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38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7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8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옥상공원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(비스타)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/ 연회장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33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· 카페 ·  편의점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전시공간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펍 (비어가든)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와인바 (무드 서울)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0" name="TextBox 110"/>
          <p:cNvSpPr txBox="1"/>
          <p:nvPr/>
        </p:nvSpPr>
        <p:spPr>
          <a:xfrm>
            <a:off x="-4239650" y="1502825"/>
            <a:ext cx="4500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36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㈜세빛섬 (효성TNC 63%) / BOT ’14.9~’44.9 (무상 20 + 유상 10)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1" name="TextBox 111"/>
          <p:cNvSpPr txBox="1"/>
          <p:nvPr/>
        </p:nvSpPr>
        <p:spPr>
          <a:xfrm>
            <a:off x="-5653385" y="3713977"/>
            <a:ext cx="5551753" cy="57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현재의 한계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콘텐츠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웨딩 · 외식 위주 단일 목적 → 평일 · 비수기 집객 약함, 시설 노후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구조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핵심 수익원 광고 (매출 45%) 불허 → 단독 가치 300억 수준 / 효성 소유 한계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2" name="TextBox 112"/>
          <p:cNvSpPr txBox="1"/>
          <p:nvPr/>
        </p:nvSpPr>
        <p:spPr>
          <a:xfrm>
            <a:off x="-7219779" y="168806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2. 당사 투자 후 세빛섬 – 리모델링 517억 (안)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3" name="Shape 113"/>
          <p:cNvSpPr/>
          <p:nvPr/>
        </p:nvSpPr>
        <p:spPr>
          <a:xfrm>
            <a:off x="-7624247" y="6321129"/>
            <a:ext cx="6318000" cy="27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BFD0EA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「웨딩 · 외식 시설」 → </a:t>
            </a: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「MICE · 공연 · 프리미엄 F&amp;B 가 있는 365일 수상 문화 목적지」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4" name="표 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0982844"/>
              </p:ext>
            </p:extLst>
          </p:nvPr>
        </p:nvGraphicFramePr>
        <p:xfrm>
          <a:off x="507783" y="2980047"/>
          <a:ext cx="6065817" cy="1143732"/>
        </p:xfrm>
        <a:graphic>
          <a:graphicData uri="http://schemas.openxmlformats.org/drawingml/2006/table">
            <a:tbl>
              <a:tblPr firstRow="1" bandRow="1"/>
              <a:tblGrid>
                <a:gridCol w="34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20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1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6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724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루프탑 전망 라운지 (시민 개방)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시그니처 다이닝 (百 F&amp;B)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MICE 연회장 </a:t>
                      </a:r>
                      <a:r>
                        <a:rPr lang="en-US" altLang="ko-KR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(JWM</a:t>
                      </a: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협업)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프라이빗 라운지 (소규모 행사)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492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웰컴 라운지 · 카페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큐레이션  팝업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5" name="TextBox 115"/>
          <p:cNvSpPr txBox="1"/>
          <p:nvPr/>
        </p:nvSpPr>
        <p:spPr>
          <a:xfrm>
            <a:off x="-7393708" y="2379958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핵심 변화 3가지</a:t>
            </a:r>
          </a:p>
        </p:txBody>
      </p:sp>
      <p:sp>
        <p:nvSpPr>
          <p:cNvPr id="116" name="Shape 116"/>
          <p:cNvSpPr/>
          <p:nvPr/>
        </p:nvSpPr>
        <p:spPr>
          <a:xfrm>
            <a:off x="-3260308" y="5311386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웨딩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가빛 2F 연회장을 메리어트 협업 MICE 연회장으로 전환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평일 기업 행사 + 주말 웨딩 이중 수요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-3319029" y="3792543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공연 · 전시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채빛 뷔페 2개층을 가변형 공연장으로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저녁 · 주말 정기 공연으로 상시 집객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8" name="Shape 118"/>
          <p:cNvSpPr/>
          <p:nvPr/>
        </p:nvSpPr>
        <p:spPr>
          <a:xfrm>
            <a:off x="-7051109" y="3202400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개방 · F&amp;B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옥상 시민 개방 + 百 큐레이션 F&amp;B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행사 없는 날에도 찾아오는 목적지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9" name="표 1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679977"/>
              </p:ext>
            </p:extLst>
          </p:nvPr>
        </p:nvGraphicFramePr>
        <p:xfrm>
          <a:off x="-7579029" y="5270927"/>
          <a:ext cx="6318000" cy="990000"/>
        </p:xfrm>
        <a:graphic>
          <a:graphicData uri="http://schemas.openxmlformats.org/drawingml/2006/table">
            <a:tbl>
              <a:tblPr firstRow="1" bandRow="1"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3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후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주력 수요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주말 웨딩 · 외식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평일 MICE + 주말 웨딩 · 공연 + 상시 F&amp;B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구조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대관 · F&amp;B + 광고 의존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대관 · 공연 · 전시 · F&amp;B 다변화 (광고 비의존)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사업성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 매출 75억 수준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연평균 매출 163억 / 세전이익 76억 (→ p.6)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 위주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 · 데크 시민 개방 / 공공 공연 · 전시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0" name="Shape 120"/>
          <p:cNvSpPr/>
          <p:nvPr/>
        </p:nvSpPr>
        <p:spPr>
          <a:xfrm>
            <a:off x="-7398650" y="7016877"/>
            <a:ext cx="6318000" cy="45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그러나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단독 리모델링만으로는 한강 접근성 (교통) · 상시 유입이 부족하고, 운영기간도 무상 잔여 (’34년) 에 묶임 → 바로 옆 서울시 「반포 수상푸드존」 과 결합할 때 해결 가능 (→ p.2)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1" name="TextBox 121"/>
          <p:cNvSpPr txBox="1"/>
          <p:nvPr/>
        </p:nvSpPr>
        <p:spPr>
          <a:xfrm>
            <a:off x="-7452650" y="7892625"/>
            <a:ext cx="6426000" cy="162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보고 흐름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① 세빛섬 현황 → 투자 후 모습 (p.1)  ② 서울시 수상푸드존 – 모습 · 추구 방향 (p.2)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③ 세빛섬 + 푸드존 통합 공모 시 효과 (p.3)  ④ 추진 계획 – 사업계획안 · 운영기간 전략 · 사업성 (p.4 ~ 7)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⑤ 추진 방법 – 절차별 일정 · 당사 할 일 (p.8) / 선결 과제 · 리스크 · 즉시 착수 과제 (p.9)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4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층별 투자 후 구성은 당사 구상 (안) 으로, 百 협업 MD 계획 · 설계 검토 후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05BFD2A5-0C6F-3B63-B108-F7149227D4F0}"/>
              </a:ext>
            </a:extLst>
          </p:cNvPr>
          <p:cNvSpPr/>
          <p:nvPr/>
        </p:nvSpPr>
        <p:spPr>
          <a:xfrm>
            <a:off x="-1989650" y="3256775"/>
            <a:ext cx="291402" cy="288000"/>
          </a:xfrm>
          <a:prstGeom prst="downArrow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D960A8-66A7-D5D4-7317-DD32D7FBBF71}"/>
              </a:ext>
            </a:extLst>
          </p:cNvPr>
          <p:cNvSpPr txBox="1"/>
          <p:nvPr/>
        </p:nvSpPr>
        <p:spPr bwMode="auto">
          <a:xfrm>
            <a:off x="-7483369" y="4687953"/>
            <a:ext cx="7244860" cy="441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000" indent="-115200"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「2030 </a:t>
            </a:r>
            <a:r>
              <a:rPr lang="ko-KR" altLang="en-US" sz="1050" b="1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리버시티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서울」 (’24.4)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총 5.5조 중 민간 3.1조 (57%)</a:t>
            </a:r>
            <a:endParaRPr lang="ko-KR" alt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</a:t>
            </a:r>
            <a:endParaRPr lang="ko-KR" altLang="en-US" dirty="0"/>
          </a:p>
        </p:txBody>
      </p:sp>
      <p:pic>
        <p:nvPicPr>
          <p:cNvPr id="6" name="위치도 128">
            <a:extLst>
              <a:ext uri="{FF2B5EF4-FFF2-40B4-BE49-F238E27FC236}">
                <a16:creationId xmlns:a16="http://schemas.microsoft.com/office/drawing/2014/main" id="{43D00AF3-EBBD-296C-A73E-5A3D1FABF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547" y="5789601"/>
            <a:ext cx="2807284" cy="1510126"/>
          </a:xfrm>
          <a:prstGeom prst="rect">
            <a:avLst/>
          </a:prstGeom>
        </p:spPr>
      </p:pic>
      <p:pic>
        <p:nvPicPr>
          <p:cNvPr id="8" name="조감도 129">
            <a:extLst>
              <a:ext uri="{FF2B5EF4-FFF2-40B4-BE49-F238E27FC236}">
                <a16:creationId xmlns:a16="http://schemas.microsoft.com/office/drawing/2014/main" id="{0953A951-E054-D743-A18D-487169F986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522" y="5788680"/>
            <a:ext cx="2775019" cy="1510126"/>
          </a:xfrm>
          <a:prstGeom prst="rect">
            <a:avLst/>
          </a:prstGeom>
        </p:spPr>
      </p:pic>
      <p:graphicFrame>
        <p:nvGraphicFramePr>
          <p:cNvPr id="10" name="표 130">
            <a:extLst>
              <a:ext uri="{FF2B5EF4-FFF2-40B4-BE49-F238E27FC236}">
                <a16:creationId xmlns:a16="http://schemas.microsoft.com/office/drawing/2014/main" id="{5EE72083-D120-7DCA-B794-4816CE20F8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793961"/>
              </p:ext>
            </p:extLst>
          </p:nvPr>
        </p:nvGraphicFramePr>
        <p:xfrm>
          <a:off x="476250" y="7405253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위치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반포한강공원 달빛무지개분수 – 제1주차장 사이 / 세빛섬에서 약 450m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2,797㎡ / 지상 2층 / 최대 2,400명 수용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1층 : 음식 판매 15개소 + 한강버스 복합선착장 (계류 10여 척) / 2층 : 카페 · 소공연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주변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야외 공연장 · 요트 선착장 · 수변 산책로 함께 조성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300억원 수준 (운영 부담 주체 미정)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中 → ’26 말 착공 → ’28 말 준공 → ’29 초 개장 (이후 운영사업자 선정)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01"/>
          <p:cNvSpPr txBox="1"/>
          <p:nvPr/>
        </p:nvSpPr>
        <p:spPr>
          <a:xfrm>
            <a:off x="216000" y="251999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세빛섬 + 수상푸드존 통합 공모 – 효과 / 구상 방향 / 추진 절차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216000" y="674998"/>
            <a:ext cx="6426000" cy="2387367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통합 효과 : 「유입 (한강버스 · 수상푸드존) → 체류 (세빛섬)」 선순환</a:t>
            </a:r>
            <a:endParaRPr lang="en-US" altLang="ko-KR" sz="12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• 선착장 (접근) → 푸드존 (집객) → 세빛섬 (체류) 연결로 반포 수변 운영 주도</a:t>
            </a:r>
            <a:endParaRPr lang="en-US" altLang="ko-KR" sz="12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 동선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수변데크 450m 「빛의 산책로」 – 야간 경관 · 포토존 · 팝업 마켓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 연계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스탬프 투어 · 공연 쿠폰 · 릴레이 버스킹으로 세빛섬 이동 유도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 역할 분담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세빛섬은 문화복합 · 프리미엄 F&amp;B (체류), 푸드존은 2030 캐주얼 F&amp;B · 버스킹 (유입) → 상호 송객 시너지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통합 공모 구조</a:t>
            </a:r>
            <a:endParaRPr lang="en-US" altLang="ko-KR" sz="12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사업방식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민간제안 BTO (민간투자법) / 소유권 市 귀속, 당사 관리운영권 확보</a:t>
            </a:r>
            <a:endParaRPr lang="ko-KR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추진구조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효성 해지시지급금 300억 · 협약 해지 → 市 소유 → 통합 BTO 실시협약 → 당사 리모델링 · 통합 운영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총사업비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817억 (해지시지급금 300 + 리모델링 517) / 확장안 870억 (푸드존 투자비 일부 분담 시)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운영기간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최소 30년 확보 → 공공성 강화 · 투자비 최대 인정으로 50년 협상</a:t>
            </a:r>
            <a:endParaRPr lang="ko-KR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3" name="Shape 103"/>
          <p:cNvSpPr/>
          <p:nvPr/>
        </p:nvSpPr>
        <p:spPr>
          <a:xfrm>
            <a:off x="343877" y="1251334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유입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· 푸드존 F&amp;B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4" name="Shape 104"/>
          <p:cNvSpPr/>
          <p:nvPr/>
        </p:nvSpPr>
        <p:spPr>
          <a:xfrm>
            <a:off x="1780278" y="1352134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05" name="Shape 105"/>
          <p:cNvSpPr/>
          <p:nvPr/>
        </p:nvSpPr>
        <p:spPr>
          <a:xfrm>
            <a:off x="1989078" y="1251334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연결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수변 보행데크 450m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3425478" y="1352134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07" name="Shape 107"/>
          <p:cNvSpPr/>
          <p:nvPr/>
        </p:nvSpPr>
        <p:spPr>
          <a:xfrm>
            <a:off x="3634278" y="1251334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MICE · 공연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8" name="Shape 108"/>
          <p:cNvSpPr/>
          <p:nvPr/>
        </p:nvSpPr>
        <p:spPr>
          <a:xfrm>
            <a:off x="5070678" y="1352134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09" name="Shape 109"/>
          <p:cNvSpPr/>
          <p:nvPr/>
        </p:nvSpPr>
        <p:spPr>
          <a:xfrm>
            <a:off x="5279478" y="1251334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재방문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멤버십 · 축제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0" name="표 1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359379"/>
              </p:ext>
            </p:extLst>
          </p:nvPr>
        </p:nvGraphicFramePr>
        <p:xfrm>
          <a:off x="-6871932" y="1550664"/>
          <a:ext cx="4212000" cy="701999"/>
        </p:xfrm>
        <a:graphic>
          <a:graphicData uri="http://schemas.openxmlformats.org/drawingml/2006/table">
            <a:tbl>
              <a:tblPr firstRow="1" bandRow="1"/>
              <a:tblGrid>
                <a:gridCol w="210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 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없이 푸드존 운영 · 유지관리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·개장 초기부터 공실 · 비수기 해소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·「리버시티 서울」 반포 거점 완성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·상호 송객 → 체류시간 · 객단가 ↑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·관리 · 마케팅 고정비 통합 절감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→ 운영기간 30년+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1" name="TextBox 111"/>
          <p:cNvSpPr txBox="1"/>
          <p:nvPr/>
        </p:nvSpPr>
        <p:spPr>
          <a:xfrm>
            <a:off x="-6721513" y="2954366"/>
            <a:ext cx="6426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개별 추진 시 세빛섬은 무상 잔여 (’34년), 푸드존은 단기 위탁 경쟁 → 통합 공모는 </a:t>
            </a:r>
            <a:r>
              <a:rPr lang="ko-KR" altLang="en-US" sz="85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세빛섬을</a:t>
            </a: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가진 당사만 제시 가능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2" name="TextBox 112"/>
          <p:cNvSpPr txBox="1"/>
          <p:nvPr/>
        </p:nvSpPr>
        <p:spPr>
          <a:xfrm>
            <a:off x="-7576278" y="2810366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어떻게 구상하나 – 사업 구조 / 연계 방향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3" name="표 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2960518"/>
              </p:ext>
            </p:extLst>
          </p:nvPr>
        </p:nvGraphicFramePr>
        <p:xfrm>
          <a:off x="-7100531" y="3368408"/>
          <a:ext cx="6318000" cy="1110624"/>
        </p:xfrm>
        <a:graphic>
          <a:graphicData uri="http://schemas.openxmlformats.org/drawingml/2006/table">
            <a:tbl>
              <a:tblPr firstRow="1" bandRow="1"/>
              <a:tblGrid>
                <a:gridCol w="1614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3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사업방식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민간제안 BTO (민간투자법) – 소유권 市 귀속 / 당사 주관 SPC 가 관리운영권 확보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742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사업구조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→ (해지시지급금 300억, 협약 해지) → 市 소유 → (BTO 실시협약) → 당사 SPC 리모델링 · 통합 운영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817억 (해지시지급금 300 + 리모델링 517) / 확장 1,117억 (푸드존 조성비 300 분담 시)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30년 (’28.下 ~ ’58.上) 확보 → 공공성 패키지로 40년 협상 (→ p.3 벤치마킹)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사업성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총수익 4,892억 / 세전이익 2,303억 / 연평균 매출 163억 / NPV 150억 (→ p.4 · 5)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4" name="표 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491163"/>
              </p:ext>
            </p:extLst>
          </p:nvPr>
        </p:nvGraphicFramePr>
        <p:xfrm>
          <a:off x="-6871932" y="4837398"/>
          <a:ext cx="6318000" cy="990000"/>
        </p:xfrm>
        <a:graphic>
          <a:graphicData uri="http://schemas.openxmlformats.org/drawingml/2006/table">
            <a:tbl>
              <a:tblPr firstRow="1" bandRow="1"/>
              <a:tblGrid>
                <a:gridCol w="7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연계 방향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↔ 수상푸드존 구상 (당사 실행안)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공간 · 동선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·수변 보행데크 · 야간 경관조명 · 통합 사인 → 한강버스 하차 후 세빛섬 도보 10분 동선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프로그램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MICE · 공연 ↔ 푸드존 애프터 다이닝 패키지 / 달빛무지개분수 연계 「나이트 페스타」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바이어 맛집 큐레이션 + 푸드존 1/3 청년 · 소상공인 쿼터 (임대료 감면)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 브랜드 · 멤버십 · 안전관리 센터 / 옥상 · 데크 시민 개방 / 초과수익 市 공유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5" name="TextBox 115"/>
          <p:cNvSpPr txBox="1"/>
          <p:nvPr/>
        </p:nvSpPr>
        <p:spPr>
          <a:xfrm>
            <a:off x="216000" y="5114366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언제 · 어떻게 끌고 가나 – 추진 절차 (민간제안 BTO)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6" name="표 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616313"/>
              </p:ext>
            </p:extLst>
          </p:nvPr>
        </p:nvGraphicFramePr>
        <p:xfrm>
          <a:off x="323999" y="5402365"/>
          <a:ext cx="6426000" cy="4178400"/>
        </p:xfrm>
        <a:graphic>
          <a:graphicData uri="http://schemas.openxmlformats.org/drawingml/2006/table">
            <a:tbl>
              <a:tblPr firstRow="1" bandRow="1"/>
              <a:tblGrid>
                <a:gridCol w="626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1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5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44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 점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 계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주요 내용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당사가 끌고 가는 방법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1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공모 계획 설계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합의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공모 기준 사전협의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·외부 가치평가 근거로 300억 제시 (광고 제외)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· 효성 · 당사 3자 MOU / TF · 자문사 구성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민간제안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·통합사업 제안서 제출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(민간투자법 제9조)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·기본설계 · 재무모델 · 통합 MD · 공공성 계획 先 제출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·시장 재판 일정 前 접수 → 행정절차 선점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1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4Q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검토 · 심의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·적격성 검토 (수요 · VfM)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·민투심 · 市의회 동의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실적 + 한강버스 수요로 수요 근거 제시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패키지로 의회 · 여론 설득 (특혜 시비 차단)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공고 · 협약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·제3자 제안공고 (90일 내외)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·우선협상 → 실시협약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·최초 제안자 우대 + 세빛섬 연계로 경쟁 우위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 30년+ · 해지시지급금 총사업비 반영 관철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1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착공 · 개장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517억 착공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준공 · 통합 개장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설립 · PF 조달 / 百 협업 테넌트 유치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개장과 동시 통합 그랜드 오픈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7" name="TextBox 117"/>
          <p:cNvSpPr txBox="1"/>
          <p:nvPr/>
        </p:nvSpPr>
        <p:spPr>
          <a:xfrm>
            <a:off x="-7100531" y="6543135"/>
            <a:ext cx="6426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단계별 세부 할 일 · 산출물 → p.6 / 선결 과제 · 리스크 · 즉시 착수 과제 → p.7 / 일정은 민투법 · 기본계획 기준,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8" name="TextBox 118"/>
          <p:cNvSpPr txBox="1"/>
          <p:nvPr/>
        </p:nvSpPr>
        <p:spPr>
          <a:xfrm>
            <a:off x="-7100531" y="7167227"/>
            <a:ext cx="6426000" cy="93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추진 경로 – 3-Track 병행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A (우선) 민간제안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통합안 先 제안 → 최초 제안자 우대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B 대상지 공모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공모 시 당사 공공성 · 통합 운영 조건을 공모 요건에 반영 유도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 사용권 입찰 (임대 안)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9" name="Shape 119"/>
          <p:cNvSpPr/>
          <p:nvPr/>
        </p:nvSpPr>
        <p:spPr>
          <a:xfrm>
            <a:off x="-7100531" y="765334"/>
            <a:ext cx="6318000" cy="486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당사 추진 원칙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市 정책에 맞춘 「공공성 先 설계」  ② 투자비 최대 인정 → 운영기간 극대화  ③ 효성 · 市 · 당사 3자 협상을 당사가 주도  ④ 불확실성은 Plan B (임대 안) 로 하방 관리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3A9604-754B-2A3F-FAC3-57CFFF5749A1}"/>
              </a:ext>
            </a:extLst>
          </p:cNvPr>
          <p:cNvSpPr txBox="1"/>
          <p:nvPr/>
        </p:nvSpPr>
        <p:spPr bwMode="auto">
          <a:xfrm>
            <a:off x="-7320836" y="6633135"/>
            <a:ext cx="7215808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</a:t>
            </a:r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216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7" name="Shape 217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8" name="Shape 218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9" name="Shape 219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0" name="Shape 220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5" name="TextBox 215"/>
          <p:cNvSpPr txBox="1"/>
          <p:nvPr/>
        </p:nvSpPr>
        <p:spPr>
          <a:xfrm>
            <a:off x="216000" y="341999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5-1. 운영기간 확보 전략 – 투자비 최대 인정 / 벤치마킹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6" name="TextBox 206"/>
          <p:cNvSpPr txBox="1"/>
          <p:nvPr/>
        </p:nvSpPr>
        <p:spPr>
          <a:xfrm>
            <a:off x="216000" y="720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운영기간은 「적용 법률」 이 결정 → 민간투자법 적용이 핵심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07" name="표 207"/>
          <p:cNvGraphicFramePr>
            <a:graphicFrameLocks noGrp="1"/>
          </p:cNvGraphicFramePr>
          <p:nvPr/>
        </p:nvGraphicFramePr>
        <p:xfrm>
          <a:off x="323999" y="1026000"/>
          <a:ext cx="6318000" cy="892800"/>
        </p:xfrm>
        <a:graphic>
          <a:graphicData uri="http://schemas.openxmlformats.org/drawingml/2006/table">
            <a:tbl>
              <a:tblPr firstRow="1" bandRow="1"/>
              <a:tblGrid>
                <a:gridCol w="8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공유재산법 (기부채납)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민간투자법 (BTO)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무상사용 최대 20년 (+ 1회 10년 갱신)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회수기간 기준 협약 (통상 30년, 대형 40년)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산정 기준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기부채납 가액 ÷ 연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+ 적정 수익률 회수에 필요한 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연장 여지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사실상 없음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’24.10 활성화 방안 : 공익 목적 개량 · 증설 시 최대 100년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8" name="TextBox 208"/>
          <p:cNvSpPr txBox="1"/>
          <p:nvPr/>
        </p:nvSpPr>
        <p:spPr>
          <a:xfrm>
            <a:off x="216000" y="2214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유사 민간투자사업 벤치마킹 – 투자규모 · 공공성 대비 운영기간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09" name="표 209"/>
          <p:cNvGraphicFramePr>
            <a:graphicFrameLocks noGrp="1"/>
          </p:cNvGraphicFramePr>
          <p:nvPr/>
        </p:nvGraphicFramePr>
        <p:xfrm>
          <a:off x="323999" y="2538000"/>
          <a:ext cx="6318000" cy="2039940"/>
        </p:xfrm>
        <a:graphic>
          <a:graphicData uri="http://schemas.openxmlformats.org/drawingml/2006/table">
            <a:tbl>
              <a:tblPr firstRow="1" bandRow="1"/>
              <a:tblGrid>
                <a:gridCol w="102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 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방식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인정받은 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(’14)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BOT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1,413억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(무상20+유상10)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 수상 랜드마크 / 준공 후 市 기부채납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 (’27)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3,309억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·동북권 문화 거점 / K-POP 전문공연장 · 지역 상권 활성화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서울링 (추진)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약 4,000억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·관광 랜드마크 / 재정 無 · 민투심 「민자 적정」 (’23.9)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(’32)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2조 6,955억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·건설 · 운영 보조금 無 전액 민간 / 수익 일부 市 기금 환원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817억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(최대 1,117억)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無 + 초과수익 공유 + 시민 개방 + 청년 창업 쿼터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0" name="TextBox 210"/>
          <p:cNvSpPr txBox="1"/>
          <p:nvPr/>
        </p:nvSpPr>
        <p:spPr>
          <a:xfrm>
            <a:off x="216000" y="4770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각 사업 서울시 발표 · 언론 보도 (총사업비는 협약 · 고시 기준, 서울링은 추정치) / 세빛섬은 ’14 재협약으로 무상 20년 + 유상 10년 변경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1" name="TextBox 211"/>
          <p:cNvSpPr txBox="1"/>
          <p:nvPr/>
        </p:nvSpPr>
        <p:spPr>
          <a:xfrm>
            <a:off x="216000" y="5130000"/>
            <a:ext cx="6426000" cy="1655999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투자비 최대 인정 전략 – 총사업비에 최대한 산입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리모델링 517억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공사비 + 부유체 · 계류 안전보강 + 설계 · 감리 + 부대비 + 건설이자 전액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효성 해지시지급금 300억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「기존시설 취득비」 로 총사업비 반영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운영기간 산정의 핵심 쟁점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분담 (선택)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부담 미정인 조성비 300억 · 운영설비 분담 시 1,117억 → 기간 연장 근거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연계 공공시설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↔ 푸드존 보행데크 · 경관조명 · 통합 안전관리 설비 → 공공시설로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2" name="TextBox 212"/>
          <p:cNvSpPr txBox="1"/>
          <p:nvPr/>
        </p:nvSpPr>
        <p:spPr>
          <a:xfrm>
            <a:off x="216000" y="6786000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공공성 패키지 → 운영기간 목표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13" name="표 213"/>
          <p:cNvGraphicFramePr>
            <a:graphicFrameLocks noGrp="1"/>
          </p:cNvGraphicFramePr>
          <p:nvPr/>
        </p:nvGraphicFramePr>
        <p:xfrm>
          <a:off x="323999" y="7128000"/>
          <a:ext cx="6318000" cy="1339200"/>
        </p:xfrm>
        <a:graphic>
          <a:graphicData uri="http://schemas.openxmlformats.org/drawingml/2006/table">
            <a:tbl>
              <a:tblPr firstRow="1" bandRow="1"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세부 내용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벤치마킹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· 운영 전액 민간 부담, 최소수입보장 (MRG) 요구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· 서울링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공유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·사업계획 대비 초과수익 일정비율 市 환원 (한강 수상활성화 재원)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시민 개방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데크 · 전망공간 상시 무료 개방 / 공공 공연 · 전시 정례화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1/3 청년 · 소상공인 쿼터, 임대료 감면 / 지역 고용 우선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푸드존 취지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안전 · 관리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+ 선착장 통합 안전관리 (수난 · 부유체 · 계류)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운영 경험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4" name="Shape 214"/>
          <p:cNvSpPr/>
          <p:nvPr/>
        </p:nvSpPr>
        <p:spPr>
          <a:xfrm>
            <a:off x="323999" y="8694000"/>
            <a:ext cx="6318000" cy="90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목표 운영기간  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기본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투자 817억 규모 → 세빛섬 · 서울아레나 · 서울링 수준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30년 확보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(’28.下 ~ ’58.上, 사업성 분석 기준)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확장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조성비 분담 (1,117억) + 공공성 패키지 → 잠실 MICE 논리 준용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40년 협상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추가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중 재투자 (개량 · 증설) 시 정부 활성화 방안 근거로 연장 협의 (최대 50년)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53435-8006-9C2A-1F2A-F41C7B8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C89186D-337B-0F5A-54F5-269572537B1D}"/>
              </a:ext>
            </a:extLst>
          </p:cNvPr>
          <p:cNvSpPr/>
          <p:nvPr/>
        </p:nvSpPr>
        <p:spPr>
          <a:xfrm>
            <a:off x="115888" y="639274"/>
            <a:ext cx="6968959" cy="1069523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450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300)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F58A6C2C-0EE2-CAF9-9190-D53CC38EFCB5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5CD3358-67DD-F6EA-ECC8-EFCCE99855EB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98FBC92-D756-9837-A6F0-4E818F6CF848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E1B8CF29-421A-F19C-16EB-FC3DA8180481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4A8549B0-8C62-964C-D363-9F7293AC0502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216EB6F6-DBA8-8043-8BFC-3E7B8F7257E3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E763A81C-E3C1-6167-E705-C5BBB916C482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6731DD80-BC2D-C0FF-22A1-BC94672A2614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BA4304DB-CFD8-1B0F-F47A-8E109714D314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7EB1E307-508B-F76C-701A-06240A0EF10F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8E03C-8779-B6F7-D5E8-1AF600D88A5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5CEFBF5-6951-D05E-BFA4-03CB4EF0823C}"/>
              </a:ext>
            </a:extLst>
          </p:cNvPr>
          <p:cNvSpPr txBox="1"/>
          <p:nvPr/>
        </p:nvSpPr>
        <p:spPr bwMode="auto">
          <a:xfrm>
            <a:off x="726130" y="6372352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1,773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530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87AF4823-BD6A-D342-6DE5-F3A411BA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C990A5-9737-1BC1-5D7A-C132E856F563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2114B267-9ECF-463D-AB04-76E426B891CA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383D085C-63F2-F053-DF37-F1CE4234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284727"/>
              </p:ext>
            </p:extLst>
          </p:nvPr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080EDCC6-111F-B7AF-DA2E-1DA38360C51A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D5B3E8-DF2E-8F88-33C2-9C0B569EEF8C}"/>
              </a:ext>
            </a:extLst>
          </p:cNvPr>
          <p:cNvSpPr txBox="1"/>
          <p:nvPr/>
        </p:nvSpPr>
        <p:spPr bwMode="auto">
          <a:xfrm>
            <a:off x="3499379" y="1337544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517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FEF69-2804-6B48-0715-8A37F2122AFC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6BAE672-ACA5-7638-D005-F2472DD53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414065"/>
              </p:ext>
            </p:extLst>
          </p:nvPr>
        </p:nvGraphicFramePr>
        <p:xfrm>
          <a:off x="770562" y="2027477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450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2371E688-B13B-4C71-133D-8B4A204D8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565798"/>
              </p:ext>
            </p:extLst>
          </p:nvPr>
        </p:nvGraphicFramePr>
        <p:xfrm>
          <a:off x="652656" y="7444304"/>
          <a:ext cx="5930392" cy="1579360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79170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3C88510-2052-B6CB-BF15-C046F632CFDD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5DD280D-8AA9-D278-3B95-0F0EEB26A0C6}"/>
              </a:ext>
            </a:extLst>
          </p:cNvPr>
          <p:cNvSpPr/>
          <p:nvPr/>
        </p:nvSpPr>
        <p:spPr>
          <a:xfrm>
            <a:off x="6071138" y="5380660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204053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2779-5A42-0295-0337-FAC479221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3921B9A-19C8-D696-F241-593DD1C2DD61}"/>
              </a:ext>
            </a:extLst>
          </p:cNvPr>
          <p:cNvSpPr/>
          <p:nvPr/>
        </p:nvSpPr>
        <p:spPr>
          <a:xfrm>
            <a:off x="115888" y="639274"/>
            <a:ext cx="6968959" cy="1062342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967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817)        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      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CC2489D-13F2-E5FA-EFF4-78DDCD4260FE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5E5FB164-B4D9-1131-8C29-AC9BF6E7167D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12804EB5-3C60-0D70-DD02-315FCB4BA373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7E29C8C2-EDC8-711F-DC6A-8CF517F46C4E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363265F5-9768-37AB-2306-93705376E45C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57328C9F-5B2B-FBFD-48A3-8754F9B4C7BD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F5DB59BD-924D-762C-4C1E-15849436337E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5D9D2D2F-D71B-70F5-8B4E-A7B3AC52EB0A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69CBCECB-36E2-F91C-A465-4CAFAB927491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D6ED3465-42FF-BAA1-B319-9E3579C0C4E1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F1513-1A2C-2836-57B6-48435E1F631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BF6ADA-D46F-30EF-C7FE-32B6B3876A4E}"/>
              </a:ext>
            </a:extLst>
          </p:cNvPr>
          <p:cNvSpPr txBox="1"/>
          <p:nvPr/>
        </p:nvSpPr>
        <p:spPr bwMode="auto">
          <a:xfrm>
            <a:off x="718404" y="6337453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2,290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4FD93490-88B4-A1AB-D0DB-5A1ABD003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9A82B-4607-B934-CBDA-938C10F37784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CDEA8080-7C4A-8D98-0FED-858C2BCCA432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071EFC86-5CFF-F2DE-90FA-2A4CAFB7FF73}"/>
              </a:ext>
            </a:extLst>
          </p:cNvPr>
          <p:cNvGraphicFramePr>
            <a:graphicFrameLocks noGrp="1"/>
          </p:cNvGraphicFramePr>
          <p:nvPr/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DB97F9D5-EA76-9787-3EA5-E2130AC59ACD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3190A3-B7D7-73D3-333E-193F2060F359}"/>
              </a:ext>
            </a:extLst>
          </p:cNvPr>
          <p:cNvSpPr txBox="1"/>
          <p:nvPr/>
        </p:nvSpPr>
        <p:spPr bwMode="auto">
          <a:xfrm>
            <a:off x="9155681" y="958593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520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3DED82-8087-A49B-F449-492E7149CF47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5D179CE-F706-E711-FF98-BEF8B67C8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492771"/>
              </p:ext>
            </p:extLst>
          </p:nvPr>
        </p:nvGraphicFramePr>
        <p:xfrm>
          <a:off x="777863" y="1969861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baseline="30000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967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C05A260C-0FB6-C434-EF10-479787A1F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587347"/>
              </p:ext>
            </p:extLst>
          </p:nvPr>
        </p:nvGraphicFramePr>
        <p:xfrm>
          <a:off x="670067" y="7376427"/>
          <a:ext cx="5930392" cy="1596079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83183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9D1D318-BEEA-875F-04AF-A4D59D25D286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8DE0FAF-9798-C3B5-EBE7-E7ED93D6D41D}"/>
              </a:ext>
            </a:extLst>
          </p:cNvPr>
          <p:cNvSpPr/>
          <p:nvPr/>
        </p:nvSpPr>
        <p:spPr>
          <a:xfrm>
            <a:off x="6071138" y="5319016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55742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241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2" name="Shape 242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3" name="Shape 243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4" name="Shape 244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5" name="Shape 245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9" name="TextBox 239"/>
          <p:cNvSpPr txBox="1"/>
          <p:nvPr/>
        </p:nvSpPr>
        <p:spPr>
          <a:xfrm>
            <a:off x="216000" y="341999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6. 추진 방법 (1) – 추진 절차 / 단계별 당사 할 일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2" name="Shape 222"/>
          <p:cNvSpPr/>
          <p:nvPr/>
        </p:nvSpPr>
        <p:spPr>
          <a:xfrm>
            <a:off x="323999" y="75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사전협의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3" name="Shape 223"/>
          <p:cNvSpPr/>
          <p:nvPr/>
        </p:nvSpPr>
        <p:spPr>
          <a:xfrm>
            <a:off x="1126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4" name="Shape 224"/>
          <p:cNvSpPr/>
          <p:nvPr/>
        </p:nvSpPr>
        <p:spPr>
          <a:xfrm>
            <a:off x="1242000" y="75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5" name="Shape 225"/>
          <p:cNvSpPr/>
          <p:nvPr/>
        </p:nvSpPr>
        <p:spPr>
          <a:xfrm>
            <a:off x="2044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6" name="Shape 226"/>
          <p:cNvSpPr/>
          <p:nvPr/>
        </p:nvSpPr>
        <p:spPr>
          <a:xfrm>
            <a:off x="2160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 검토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(적격성)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7" name="Shape 227"/>
          <p:cNvSpPr/>
          <p:nvPr/>
        </p:nvSpPr>
        <p:spPr>
          <a:xfrm>
            <a:off x="2962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8" name="Shape 228"/>
          <p:cNvSpPr/>
          <p:nvPr/>
        </p:nvSpPr>
        <p:spPr>
          <a:xfrm>
            <a:off x="3078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민투심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市의회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9" name="Shape 229"/>
          <p:cNvSpPr/>
          <p:nvPr/>
        </p:nvSpPr>
        <p:spPr>
          <a:xfrm>
            <a:off x="3880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0" name="Shape 230"/>
          <p:cNvSpPr/>
          <p:nvPr/>
        </p:nvSpPr>
        <p:spPr>
          <a:xfrm>
            <a:off x="3996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5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제3자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제안공고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1" name="Shape 231"/>
          <p:cNvSpPr/>
          <p:nvPr/>
        </p:nvSpPr>
        <p:spPr>
          <a:xfrm>
            <a:off x="4798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2" name="Shape 232"/>
          <p:cNvSpPr/>
          <p:nvPr/>
        </p:nvSpPr>
        <p:spPr>
          <a:xfrm>
            <a:off x="4914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협상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실시협약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3" name="Shape 233"/>
          <p:cNvSpPr/>
          <p:nvPr/>
        </p:nvSpPr>
        <p:spPr>
          <a:xfrm>
            <a:off x="5716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4" name="Shape 234"/>
          <p:cNvSpPr/>
          <p:nvPr/>
        </p:nvSpPr>
        <p:spPr>
          <a:xfrm>
            <a:off x="5832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착공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통합개장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5" name="TextBox 235"/>
          <p:cNvSpPr txBox="1"/>
          <p:nvPr/>
        </p:nvSpPr>
        <p:spPr>
          <a:xfrm>
            <a:off x="216000" y="1306800"/>
            <a:ext cx="6426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음영 : 당사 주도 단계 (즉시 착수) / 절차 · 기간은 민간투자법 및 민간투자사업기본계획 기준, 세부 일정은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36" name="표 236"/>
          <p:cNvGraphicFramePr>
            <a:graphicFrameLocks noGrp="1"/>
          </p:cNvGraphicFramePr>
          <p:nvPr/>
        </p:nvGraphicFramePr>
        <p:xfrm>
          <a:off x="323999" y="1512000"/>
          <a:ext cx="6318000" cy="3622200"/>
        </p:xfrm>
        <a:graphic>
          <a:graphicData uri="http://schemas.openxmlformats.org/drawingml/2006/table">
            <a:tbl>
              <a:tblPr firstRow="1" bandRow="1"/>
              <a:tblGrid>
                <a:gridCol w="70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주요 내용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할 일 / 준비사항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사전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’26.10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12월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미래한강본부 · 민간투자 담당 사전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협상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·사업구상서 (본 보고서) · 市 정책 부합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·해지시지급금 300억 근거 (외부 가치평가) / 투자심의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· 효성 · 당사 3자 MOU (안) 준비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·민간투자법 제9조 민간제안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제안서 접수 · 형식요건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·제안서 : 기본설계 · 재무모델 · 운영 / MD 계획 · 공공성 계획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컨소시엄 MOU (百 · F&amp;B · FI · 시공사)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·회계 · 법률 · 설계 자문사 선정 (제안비용 예산화)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·전문기관 적격성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(수요 · VfM · 재무 타당성)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민투 대상사업 채택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·수요추정 근거 : 세빛섬 실적 + 한강버스 이용 수요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·VfM 대응 : 재정사업 대비 비용 절감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·보완 요청 신속 대응 TF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심의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’27.4Q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민간투자심의위원회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·市의회 동의 (필요 시)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패키지 설명자료 / 의회 상임위 설명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·언론 · 여론 대응 (특혜 시비 사전 차단)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제3자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(90일 내외)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·제안내용 공고 · 경쟁 제안 접수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·평가 → 우선협상대상자 지정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·최초 제안자 우대 가점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·경쟁사 대비 차별화 : 세빛섬 연계 · 百 MD 역량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·가격 · 공공성 보강 제안 (경쟁 대비 시나리오)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·컨소시엄 지분 · 역할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협상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실시협약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·총사업비 · 운영기간 ·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·위험분담 · 해지시지급금 조건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 30년+ / 해지시지급금 총사업비 반영 관철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·협상 TF (전략 · 재무 · 법무) / 이사회 승인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착공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·실시계획 승인 → 리모델링 착공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준공 (’28 말) · 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설립 · 자금조달 (PF) / 시공사 계약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·테넌트 유치 · 통합 브랜드 런칭 · 그랜드 오픈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0" name="TextBox 240"/>
          <p:cNvSpPr txBox="1"/>
          <p:nvPr/>
        </p:nvSpPr>
        <p:spPr>
          <a:xfrm>
            <a:off x="216000" y="5364000"/>
            <a:ext cx="6426000" cy="10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일정 리스크 관리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시장 재판 일정 (’27.1~4월 직위 변동 가능) 고려 → </a:t>
            </a:r>
            <a:r>
              <a:rPr lang="ko-KR" altLang="en-US" sz="105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’26년 내 사전협의 완료 · ’27.1Q 제안서 접수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로 행정절차 선점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부시장 대행 · 보궐선거 시에도 유지되도록 「재정 無 · 공공성」 중심 사업 명분 확보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4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선결 과제 · 리스크 대응 · 담당별 즉시 착수 과제 → p.7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246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7" name="Shape 247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8" name="Shape 248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9" name="Shape 249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0" name="Shape 250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1" name="TextBox 251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6. 추진 방법 (2) – 선결 과제 / 리스크 / 즉시 착수 과제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2" name="TextBox 252"/>
          <p:cNvSpPr txBox="1"/>
          <p:nvPr/>
        </p:nvSpPr>
        <p:spPr>
          <a:xfrm>
            <a:off x="216000" y="666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선결 과제 (사업 전제조건) – 당사 선제 대응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3" name="표 253"/>
          <p:cNvGraphicFramePr>
            <a:graphicFrameLocks noGrp="1"/>
          </p:cNvGraphicFramePr>
          <p:nvPr/>
        </p:nvGraphicFramePr>
        <p:xfrm>
          <a:off x="323999" y="954000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7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과 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 /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 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[효성]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금액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– 효성 협약 해지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·광고사업 제외 기준 적정 인수가 300억 제시 (외부 가치평가 근거)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·협약 해지 → 市로 세빛섬 소유권 이전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’27.1Q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[서울시]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민간투자사업 적용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통합 복합개발 공공성 인정 (→ p.1 · 2)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·투자비 최대 인정 → 관리운영권 30~50년 (→ p.3)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’27.4Q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[百 협업]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수립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·역할 분담 : 세빛섬 MICE · 웨딩 · 공연 / 푸드존 F&amp;B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·동선 연계 프로그램 / 통합 브랜딩 / 공동 마케팅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제안서 반영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4" name="TextBox 254"/>
          <p:cNvSpPr txBox="1"/>
          <p:nvPr/>
        </p:nvSpPr>
        <p:spPr>
          <a:xfrm>
            <a:off x="216000" y="2376000"/>
            <a:ext cx="6426000" cy="12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추진 경로 – 3-Track 병행으로 하방 관리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A (우선) 민간제안형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통합사업계획 先 제안 → 최초 제안자 우대 확보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B 대상지 공모형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市가 공모 시, 당사 공공성 기준 · 통합 운영 조건을 공모 요건에 반영 유도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C 사용권 입찰 (임대 안)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5" name="TextBox 255"/>
          <p:cNvSpPr txBox="1"/>
          <p:nvPr/>
        </p:nvSpPr>
        <p:spPr>
          <a:xfrm>
            <a:off x="216000" y="3456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핵심 쟁점 / 리스크 대응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6" name="표 256"/>
          <p:cNvGraphicFramePr>
            <a:graphicFrameLocks noGrp="1"/>
          </p:cNvGraphicFramePr>
          <p:nvPr/>
        </p:nvGraphicFramePr>
        <p:xfrm>
          <a:off x="323999" y="3744000"/>
          <a:ext cx="6318000" cy="1584000"/>
        </p:xfrm>
        <a:graphic>
          <a:graphicData uri="http://schemas.openxmlformats.org/drawingml/2006/table">
            <a:tbl>
              <a:tblPr firstRow="1" bandRow="1"/>
              <a:tblGrid>
                <a:gridCol w="827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협상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이견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(300억 vs 효성 700억대)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 불가 가치 (400억) · 실사 (130억) 반영 감액 근거 제시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·결렬 시 Plan B : 市 사용권 공개입찰 (임대 안) 참여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인정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반영 여부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·「기존시설 취득비」 성격으로 총사업비 산입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·불인정 시 운영기간 · 사용료 조정으로 보전 요구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정책 · 일정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시장 재판 결과에 따른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시정 방향 변경 가능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·’26년 내 사전협의 완료 · ’27.1Q 제안서 접수로 행정절차 선점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·「재정 無 · 공공성」 중심 명분 → 시장 교체와 무관하게 지속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수요 ·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푸드존 비수기 공동화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수상시설 안전 이슈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수요 송객 + 한강버스 이용객 흡수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·부유체 · 계류 안전 보강비 리모델링 예산 반영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7" name="TextBox 257"/>
          <p:cNvSpPr txBox="1"/>
          <p:nvPr/>
        </p:nvSpPr>
        <p:spPr>
          <a:xfrm>
            <a:off x="216000" y="5508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즉시 착수 과제 (’26.10 ~ 12월) – 담당별 할 일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8" name="표 258"/>
          <p:cNvGraphicFramePr>
            <a:graphicFrameLocks noGrp="1"/>
          </p:cNvGraphicFramePr>
          <p:nvPr/>
        </p:nvGraphicFramePr>
        <p:xfrm>
          <a:off x="323999" y="5796000"/>
          <a:ext cx="6317999" cy="1332000"/>
        </p:xfrm>
        <a:graphic>
          <a:graphicData uri="http://schemas.openxmlformats.org/drawingml/2006/table">
            <a:tbl>
              <a:tblPr firstRow="1" bandRow="1"/>
              <a:tblGrid>
                <a:gridCol w="827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 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할 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산출물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 · 개발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사전협의 채널 구축 / 통합 사업구상 확정 / 3자 MOU 추진 / 자문사 RFP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사업구상서 · MOU (안)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 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·운영기간별 (30 · 40년) 사업성 · NPV 민감도 / 해지시지급금 산정 근거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재무모델 · 투자심의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 ·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협업 층별 MD 초안 / 푸드존 테넌트 Long-list / 통합 프로그램 연간 캘린더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(안)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 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기본구상 (MICE 연회장 · 공연장) / 517억 공사비 검증 / 안전보강 범위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기본구상 · 개략 공사비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법무 · 대관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법률검토 / 효성 협약 해지 구조 / 市의회 · 언론 대응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법률 의견서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C89A-7484-458D-E4F3-360C209C7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61FB8A-3247-349B-3B09-51185CBFE02F}"/>
              </a:ext>
            </a:extLst>
          </p:cNvPr>
          <p:cNvSpPr/>
          <p:nvPr/>
        </p:nvSpPr>
        <p:spPr>
          <a:xfrm>
            <a:off x="120924" y="814256"/>
            <a:ext cx="6415085" cy="918200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오세훈 서울시장 선거법 위반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서울시장 선거 관련 오세훈 시장 후원자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김한정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명태균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여론조사 의뢰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여론조사 비용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 대납 의혹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불법 정치자금 기부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’25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12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특검 오세훈 시장 기소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지방선거 고려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’26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재판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중지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공직선거법상 벌금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이상 확정 시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시장직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상실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3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재판 일정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특검법 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6·3·3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원칙 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indent="-215900">
              <a:spcBef>
                <a:spcPts val="1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• 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공소제기일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2,3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전심 선고일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0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2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-</a:t>
            </a:r>
            <a:endParaRPr lang="ko-KR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anose="05000000000000000000" pitchFamily="2" charset="2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2E5FBF3F-CD99-42DA-827E-D815C4D5145F}"/>
              </a:ext>
            </a:extLst>
          </p:cNvPr>
          <p:cNvGraphicFramePr>
            <a:graphicFrameLocks noGrp="1"/>
          </p:cNvGraphicFramePr>
          <p:nvPr/>
        </p:nvGraphicFramePr>
        <p:xfrm>
          <a:off x="7402571" y="5749858"/>
          <a:ext cx="5970561" cy="2160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961">
                  <a:extLst>
                    <a:ext uri="{9D8B030D-6E8A-4147-A177-3AD203B41FA5}">
                      <a16:colId xmlns:a16="http://schemas.microsoft.com/office/drawing/2014/main" val="2052888082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1894311995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2809982429"/>
                    </a:ext>
                  </a:extLst>
                </a:gridCol>
              </a:tblGrid>
              <a:tr h="32507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960889"/>
                  </a:ext>
                </a:extLst>
              </a:tr>
              <a:tr h="325078"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 3" panose="05040102010807070707" pitchFamily="18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10648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183997"/>
                  </a:ext>
                </a:extLst>
              </a:tr>
              <a:tr h="325078"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8403166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819597"/>
                  </a:ext>
                </a:extLst>
              </a:tr>
              <a:tr h="535422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60107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82FBAA6-311C-5EF3-30B2-0D4112416A36}"/>
              </a:ext>
            </a:extLst>
          </p:cNvPr>
          <p:cNvSpPr txBox="1"/>
          <p:nvPr/>
        </p:nvSpPr>
        <p:spPr bwMode="auto">
          <a:xfrm>
            <a:off x="9261648" y="2936776"/>
            <a:ext cx="1126204" cy="198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7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우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:7.3% /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보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9.3%</a:t>
            </a:r>
            <a:endParaRPr lang="ko-KR" altLang="en-US" sz="7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220ED-B620-6AE5-F4CE-005018337884}"/>
              </a:ext>
            </a:extLst>
          </p:cNvPr>
          <p:cNvSpPr txBox="1"/>
          <p:nvPr/>
        </p:nvSpPr>
        <p:spPr bwMode="auto">
          <a:xfrm>
            <a:off x="1474168" y="1972191"/>
            <a:ext cx="4276757" cy="236796"/>
          </a:xfrm>
          <a:prstGeom prst="rect">
            <a:avLst/>
          </a:prstGeom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* 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여론조사 비용은 정치자금으로 </a:t>
            </a:r>
            <a:r>
              <a:rPr lang="ko-KR" altLang="en-US" sz="800" b="1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기부받거나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수수하는 것 엄격히 금지</a:t>
            </a:r>
            <a:endParaRPr lang="ko-KR" altLang="en-US" sz="800" b="1" dirty="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2E512D-D3FC-E955-AD4D-B49ED78663CD}"/>
              </a:ext>
            </a:extLst>
          </p:cNvPr>
          <p:cNvSpPr txBox="1"/>
          <p:nvPr/>
        </p:nvSpPr>
        <p:spPr bwMode="auto">
          <a:xfrm>
            <a:off x="8109520" y="1571382"/>
            <a:ext cx="4732978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8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71A0514-8D47-D5C9-06A4-3DCD0DF17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72000" y="738096"/>
            <a:ext cx="5267577" cy="29817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6E8075-A916-4ED8-EF35-F5536CCE29C8}"/>
              </a:ext>
            </a:extLst>
          </p:cNvPr>
          <p:cNvSpPr txBox="1"/>
          <p:nvPr/>
        </p:nvSpPr>
        <p:spPr bwMode="auto">
          <a:xfrm>
            <a:off x="-4779912" y="4232920"/>
            <a:ext cx="388843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오세훈 시장의 재판 일정이랑 (2심 선고 나오면 </a:t>
            </a:r>
            <a:r>
              <a:rPr lang="ko-KR" altLang="ko-KR" sz="1800" err="1">
                <a:effectLst/>
                <a:latin typeface="+mn-lt"/>
              </a:rPr>
              <a:t>언제쯤일지</a:t>
            </a:r>
            <a:r>
              <a:rPr lang="ko-KR" altLang="ko-KR" sz="1800">
                <a:effectLst/>
                <a:latin typeface="+mn-lt"/>
              </a:rPr>
              <a:t> ) 그러면 바로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최종 대법판결 받아야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그런 거 좀 보고서 1장으로 </a:t>
            </a:r>
            <a:r>
              <a:rPr lang="ko-KR" altLang="ko-KR" sz="1800" err="1">
                <a:effectLst/>
                <a:latin typeface="+mn-lt"/>
              </a:rPr>
              <a:t>어펜</a:t>
            </a:r>
            <a:r>
              <a:rPr lang="ko-KR" altLang="ko-KR" sz="1800">
                <a:effectLst/>
                <a:latin typeface="+mn-lt"/>
              </a:rPr>
              <a:t> 만들어주세요</a:t>
            </a:r>
          </a:p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 </a:t>
            </a:r>
            <a:endParaRPr lang="ko-KR" altLang="en-US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12FD46C-DCBE-46A7-636F-5FEBDC819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441900"/>
              </p:ext>
            </p:extLst>
          </p:nvPr>
        </p:nvGraphicFramePr>
        <p:xfrm>
          <a:off x="774615" y="4797097"/>
          <a:ext cx="597693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04">
                  <a:extLst>
                    <a:ext uri="{9D8B030D-6E8A-4147-A177-3AD203B41FA5}">
                      <a16:colId xmlns:a16="http://schemas.microsoft.com/office/drawing/2014/main" val="45024384"/>
                    </a:ext>
                  </a:extLst>
                </a:gridCol>
                <a:gridCol w="4824834">
                  <a:extLst>
                    <a:ext uri="{9D8B030D-6E8A-4147-A177-3AD203B41FA5}">
                      <a16:colId xmlns:a16="http://schemas.microsoft.com/office/drawing/2014/main" val="2825104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특검 측 </a:t>
                      </a:r>
                      <a:r>
                        <a:rPr lang="ko-KR" altLang="en-US" sz="1200" b="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오세훈시장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불구속 기소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292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 시장 서울시장 당선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45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 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추징금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선고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여론조사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중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유죄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65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8~10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공판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 진행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366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선고 예정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선고 시 즉시 상고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832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상고심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공판 없이 대법원 판결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32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1~4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확정 즉시 </a:t>
                      </a:r>
                      <a:r>
                        <a:rPr lang="ko-KR" altLang="en-US" sz="12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시장직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박탈 → 부시장 대행체제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655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서울시장 보궐선거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62350"/>
                  </a:ext>
                </a:extLst>
              </a:tr>
            </a:tbl>
          </a:graphicData>
        </a:graphic>
      </p:graphicFrame>
      <p:sp>
        <p:nvSpPr>
          <p:cNvPr id="2" name="왼쪽 대괄호 1">
            <a:extLst>
              <a:ext uri="{FF2B5EF4-FFF2-40B4-BE49-F238E27FC236}">
                <a16:creationId xmlns:a16="http://schemas.microsoft.com/office/drawing/2014/main" id="{DCAA339F-1891-A612-1DBF-F0D676BAB98F}"/>
              </a:ext>
            </a:extLst>
          </p:cNvPr>
          <p:cNvSpPr/>
          <p:nvPr/>
        </p:nvSpPr>
        <p:spPr>
          <a:xfrm>
            <a:off x="616782" y="4955505"/>
            <a:ext cx="106753" cy="792088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905A4-5DBF-BA44-D57F-7028ECBBEEFD}"/>
              </a:ext>
            </a:extLst>
          </p:cNvPr>
          <p:cNvSpPr txBox="1"/>
          <p:nvPr/>
        </p:nvSpPr>
        <p:spPr bwMode="auto">
          <a:xfrm>
            <a:off x="-60448" y="5205451"/>
            <a:ext cx="85158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6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F2781A74-B3A2-7DB2-1CC6-D16E255CB811}"/>
              </a:ext>
            </a:extLst>
          </p:cNvPr>
          <p:cNvSpPr/>
          <p:nvPr/>
        </p:nvSpPr>
        <p:spPr>
          <a:xfrm>
            <a:off x="612666" y="5997525"/>
            <a:ext cx="106753" cy="541006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C058E-6BEA-7AA3-1A03-954628DBB54A}"/>
              </a:ext>
            </a:extLst>
          </p:cNvPr>
          <p:cNvSpPr txBox="1"/>
          <p:nvPr/>
        </p:nvSpPr>
        <p:spPr bwMode="auto">
          <a:xfrm>
            <a:off x="-203263" y="6120647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4" name="왼쪽 대괄호 13">
            <a:extLst>
              <a:ext uri="{FF2B5EF4-FFF2-40B4-BE49-F238E27FC236}">
                <a16:creationId xmlns:a16="http://schemas.microsoft.com/office/drawing/2014/main" id="{D3F340FB-AA96-6298-BA63-B9E5B5DD39AF}"/>
              </a:ext>
            </a:extLst>
          </p:cNvPr>
          <p:cNvSpPr/>
          <p:nvPr/>
        </p:nvSpPr>
        <p:spPr>
          <a:xfrm>
            <a:off x="607669" y="6715492"/>
            <a:ext cx="106754" cy="1020901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6B9B9C-62B2-F363-FD47-5A213C608428}"/>
              </a:ext>
            </a:extLst>
          </p:cNvPr>
          <p:cNvSpPr txBox="1"/>
          <p:nvPr/>
        </p:nvSpPr>
        <p:spPr bwMode="auto">
          <a:xfrm>
            <a:off x="-203263" y="7079844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9807AE4-AE84-D195-D7B5-0887CDD23665}"/>
              </a:ext>
            </a:extLst>
          </p:cNvPr>
          <p:cNvSpPr/>
          <p:nvPr/>
        </p:nvSpPr>
        <p:spPr>
          <a:xfrm>
            <a:off x="-4086" y="151780"/>
            <a:ext cx="6858000" cy="380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#Appendix. </a:t>
            </a:r>
            <a:r>
              <a:rPr lang="ko-KR" altLang="en-US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오세훈 서울시장 법률 리스크</a:t>
            </a:r>
          </a:p>
        </p:txBody>
      </p:sp>
    </p:spTree>
    <p:extLst>
      <p:ext uri="{BB962C8B-B14F-4D97-AF65-F5344CB8AC3E}">
        <p14:creationId xmlns:p14="http://schemas.microsoft.com/office/powerpoint/2010/main" val="962532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22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3" name="Shape 123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4" name="Shape 124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5" name="Shape 125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6" name="Shape 126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7" name="TextBox 127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3. 서울시 「반포 수상푸드존」 – 어떤 모습인가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28" name="위치도 1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99" y="666000"/>
            <a:ext cx="3131999" cy="1684800"/>
          </a:xfrm>
          <a:prstGeom prst="rect">
            <a:avLst/>
          </a:prstGeom>
        </p:spPr>
      </p:pic>
      <p:pic>
        <p:nvPicPr>
          <p:cNvPr id="129" name="조감도 1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000" y="666000"/>
            <a:ext cx="3096000" cy="1684800"/>
          </a:xfrm>
          <a:prstGeom prst="rect">
            <a:avLst/>
          </a:prstGeom>
        </p:spPr>
      </p:pic>
      <p:graphicFrame>
        <p:nvGraphicFramePr>
          <p:cNvPr id="130" name="표 130"/>
          <p:cNvGraphicFramePr>
            <a:graphicFrameLocks noGrp="1"/>
          </p:cNvGraphicFramePr>
          <p:nvPr/>
        </p:nvGraphicFramePr>
        <p:xfrm>
          <a:off x="323999" y="2430000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위치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반포한강공원 달빛무지개분수 – 제1주차장 사이 / 세빛섬에서 약 450m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2,797㎡ / 지상 2층 / 최대 2,400명 수용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1층 : 음식 판매 15개소 + 한강버스 복합선착장 (계류 10여 척) / 2층 : 카페 · 소공연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주변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야외 공연장 · 요트 선착장 · 수변 산책로 함께 조성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300억원 수준 (市 재정 추진, 운영 부담 주체 미정)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中 → ’26 말 착공 → ’28 말 준공 → ’29 초 개장 (이후 운영사업자 선정)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1" name="TextBox 131"/>
          <p:cNvSpPr txBox="1"/>
          <p:nvPr/>
        </p:nvSpPr>
        <p:spPr>
          <a:xfrm>
            <a:off x="216000" y="3834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서울시가 추구하는 것 / 안고 있는 고민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2" name="TextBox 132"/>
          <p:cNvSpPr txBox="1"/>
          <p:nvPr/>
        </p:nvSpPr>
        <p:spPr>
          <a:xfrm>
            <a:off x="216000" y="4121999"/>
            <a:ext cx="6426000" cy="46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342000" indent="-115200"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「2030 리버시티 서울」 (’24.4)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총 5.5조 중 민간 3.1조 (57%)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수상푸드존 =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(교통) + 수변 미식 (여가) 이 결합된 반포 수상 거점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33" name="표 133"/>
          <p:cNvGraphicFramePr>
            <a:graphicFrameLocks noGrp="1"/>
          </p:cNvGraphicFramePr>
          <p:nvPr/>
        </p:nvGraphicFramePr>
        <p:xfrm>
          <a:off x="323999" y="4662000"/>
          <a:ext cx="6318000" cy="1584000"/>
        </p:xfrm>
        <a:graphic>
          <a:graphicData uri="http://schemas.openxmlformats.org/drawingml/2006/table">
            <a:tbl>
              <a:tblPr firstRow="1" bandRow="1"/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추구 방향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市의 고민 (운영 리스크)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수상공간 일상화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·한강을 「건너는 곳」 → 「머무는 곳」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이용 + 수변 체류 수요 창출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·F&amp;B 단독 시설로는 체류 동기 약함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이용객 → 체류 전환 장치 부재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최소화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·조성은 재정, 운영은 민간 활용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 · 공공기여 방식 선호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·운영비 · 유지관리비 (부유체 · 계류) 부담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·운영사업자 확보 가능성 불확실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·소상공인 · 청년 소자본 창업 기회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·15~20개 판매 부스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·영세 입점자만으로는 집객 · 화제성 한계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·비수기 · 야간 공실 → 입점자 이탈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365일 활성화 · 안전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·야외공연 · 요트 · 산책로 연계 상시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·수상시설 안전 관리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·겨울 · 우천 · 평일 공동화 우려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·수난 · 시설 안전 전문 운영 역량 필요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TextBox 134"/>
          <p:cNvSpPr txBox="1"/>
          <p:nvPr/>
        </p:nvSpPr>
        <p:spPr>
          <a:xfrm>
            <a:off x="216000" y="6336000"/>
            <a:ext cx="6426000" cy="21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서울시 「2030 리버시티 서울」 한강 수상활성화 종합계획 (’24.4), 반포 수상푸드존 관련 서울시 발표 · 언론 보도 (’24.9, ’26.6)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5" name="TextBox 135"/>
          <p:cNvSpPr txBox="1"/>
          <p:nvPr/>
        </p:nvSpPr>
        <p:spPr>
          <a:xfrm>
            <a:off x="216000" y="66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시사점 – 市에 필요한 것은 「건물」 이 아니라 「집객 엔진 + 운영 파트너」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6" name="Shape 136"/>
          <p:cNvSpPr/>
          <p:nvPr/>
        </p:nvSpPr>
        <p:spPr>
          <a:xfrm>
            <a:off x="323999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수상푸드존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유입 관문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· F&amp;B 15개소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「사람이 내리는 곳」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7" name="Shape 137"/>
          <p:cNvSpPr/>
          <p:nvPr/>
        </p:nvSpPr>
        <p:spPr>
          <a:xfrm>
            <a:off x="2548800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C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부족한 것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 콘텐츠 · 상시 집객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· 안전 역량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재정 無 운영 주체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8" name="Shape 138"/>
          <p:cNvSpPr/>
          <p:nvPr/>
        </p:nvSpPr>
        <p:spPr>
          <a:xfrm>
            <a:off x="4773600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(투자 후)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 목적지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공연 · 프리미엄 F&amp;B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「머무는 곳」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206800" y="7326000"/>
            <a:ext cx="259200" cy="198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0" name="Shape 140"/>
          <p:cNvSpPr/>
          <p:nvPr/>
        </p:nvSpPr>
        <p:spPr>
          <a:xfrm>
            <a:off x="4431600" y="7326000"/>
            <a:ext cx="259200" cy="198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1" name="Shape 141"/>
          <p:cNvSpPr/>
          <p:nvPr/>
        </p:nvSpPr>
        <p:spPr>
          <a:xfrm>
            <a:off x="323999" y="7956000"/>
            <a:ext cx="6318000" cy="432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결론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푸드존이 못 가진 「체류 · 집객 · 운영 역량」 을 세빛섬이 보유 → 두 시설을 하나로 묶어 공모 (통합 운영) 할 때 市 목표와 당사 사업성이 동시에 달성됨 (→ p.3)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D37FF66-CCD5-422E-9A98-F685C5801DDC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bf584b2-190d-4075-a553-d3eacefe0dd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479070FF-D4BE-4694-87A7-E047CC96A985}">
  <we:reference id="wa200010001" version="1.0.0.1" store="ko-KR" storeType="OMEX"/>
  <we:alternateReferences>
    <we:reference id="WA200010001" version="1.0.0.1" store="WA200010001" storeType="OMEX"/>
  </we:alternateReferences>
  <we:properties>
    <we:property name="claude.fileId" value="&quot;972f339d-2ec9-4e11-b5fa-93c038fc3017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4723</Words>
  <Application>Microsoft Office PowerPoint</Application>
  <PresentationFormat>A4 용지(210x297mm)</PresentationFormat>
  <Paragraphs>939</Paragraphs>
  <Slides>9</Slides>
  <Notes>4</Notes>
  <HiddenSlides>1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20" baseType="lpstr">
      <vt:lpstr>HY견고딕</vt:lpstr>
      <vt:lpstr>맑은 고딕</vt:lpstr>
      <vt:lpstr>신세계 민부리 Bold(OTF)</vt:lpstr>
      <vt:lpstr>신세계 민부리 Bold(TTF)</vt:lpstr>
      <vt:lpstr>신세계 민부리 Light</vt:lpstr>
      <vt:lpstr>신세계 민부리 Light(OTF)</vt:lpstr>
      <vt:lpstr>신세계 민부리 Light(TTF)</vt:lpstr>
      <vt:lpstr>신세계 민부리 Medium(TTF)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SHINSEGAE</dc:creator>
  <cp:lastModifiedBy>정유경(파트너) - 부동산금융팀</cp:lastModifiedBy>
  <cp:revision>82</cp:revision>
  <cp:lastPrinted>2026-10-02T06:43:16Z</cp:lastPrinted>
  <dcterms:created xsi:type="dcterms:W3CDTF">2017-03-08T10:10:17Z</dcterms:created>
  <dcterms:modified xsi:type="dcterms:W3CDTF">2026-10-02T07:25:50Z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2026-10-02T06:41:46Z</vt:lpwstr>
  </property>
  <property fmtid="{D5CDD505-2E9C-101B-9397-08002B2CF9AE}" pid="4" name="MSIP_Label_aa772263-e823-4541-b19a-907e15bf13d7_Name">
    <vt:lpwstr>센트럴-서고터 보호</vt:lpwstr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