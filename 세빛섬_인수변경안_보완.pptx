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461" r:id="rId2"/>
    <p:sldId id="2145714270" r:id="rId13"/>
    <p:sldId id="2145714274" r:id="rId17"/>
    <p:sldId id="2145714271" r:id="rId14"/>
    <p:sldId id="2145714272" r:id="rId15"/>
    <p:sldId id="463" r:id="rId3"/>
    <p:sldId id="2145714269" r:id="rId4"/>
    <p:sldId id="2145714273" r:id="rId16"/>
    <p:sldId id="2145714275" r:id="rId18"/>
    <p:sldId id="2145714268" r:id="rId5"/>
  </p:sldIdLst>
  <p:sldSz cx="6858000" cy="9906000" type="A4"/>
  <p:notesSz cx="6735763" cy="9866313"/>
  <p:defaultTextStyle>
    <a:defPPr>
      <a:defRPr lang="ko-KR"/>
    </a:defPPr>
    <a:lvl1pPr marL="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25" userDrawn="1">
          <p15:clr>
            <a:srgbClr val="A4A3A4"/>
          </p15:clr>
        </p15:guide>
        <p15:guide id="2" orient="horz" pos="6114" userDrawn="1">
          <p15:clr>
            <a:srgbClr val="A4A3A4"/>
          </p15:clr>
        </p15:guide>
        <p15:guide id="3" orient="horz" pos="1850" userDrawn="1">
          <p15:clr>
            <a:srgbClr val="A4A3A4"/>
          </p15:clr>
        </p15:guide>
        <p15:guide id="5" orient="horz" pos="3868" userDrawn="1">
          <p15:clr>
            <a:srgbClr val="A4A3A4"/>
          </p15:clr>
        </p15:guide>
        <p15:guide id="6" orient="horz" pos="3551" userDrawn="1">
          <p15:clr>
            <a:srgbClr val="A4A3A4"/>
          </p15:clr>
        </p15:guide>
        <p15:guide id="7" pos="73" userDrawn="1">
          <p15:clr>
            <a:srgbClr val="A4A3A4"/>
          </p15:clr>
        </p15:guide>
        <p15:guide id="10" pos="1933" userDrawn="1">
          <p15:clr>
            <a:srgbClr val="A4A3A4"/>
          </p15:clr>
        </p15:guide>
        <p15:guide id="15" pos="4156" userDrawn="1">
          <p15:clr>
            <a:srgbClr val="A4A3A4"/>
          </p15:clr>
        </p15:guide>
        <p15:guide id="16" pos="414" userDrawn="1">
          <p15:clr>
            <a:srgbClr val="A4A3A4"/>
          </p15:clr>
        </p15:guide>
        <p15:guide id="17" orient="horz" pos="3007" userDrawn="1">
          <p15:clr>
            <a:srgbClr val="A4A3A4"/>
          </p15:clr>
        </p15:guide>
        <p15:guide id="18" orient="horz" pos="1419" userDrawn="1">
          <p15:clr>
            <a:srgbClr val="A4A3A4"/>
          </p15:clr>
        </p15:guide>
        <p15:guide id="19" pos="300" userDrawn="1">
          <p15:clr>
            <a:srgbClr val="A4A3A4"/>
          </p15:clr>
        </p15:guide>
        <p15:guide id="20" pos="66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황신혜(파트너) - 부동산금융팀" initials="황-부" lastIdx="1" clrIdx="0">
    <p:extLst>
      <p:ext uri="{19B8F6BF-5375-455C-9EA6-DF929625EA0E}">
        <p15:presenceInfo xmlns:p15="http://schemas.microsoft.com/office/powerpoint/2012/main" userId="황신혜(파트너) - 부동산금융팀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99"/>
    <a:srgbClr val="F2F2F2"/>
    <a:srgbClr val="1E236E"/>
    <a:srgbClr val="E6F2F6"/>
    <a:srgbClr val="D7EAF1"/>
    <a:srgbClr val="FFFFFF"/>
    <a:srgbClr val="FFFF66"/>
    <a:srgbClr val="0000FF"/>
    <a:srgbClr val="0D884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C1C35A-5266-48D9-A748-AF098CE74BA8}" v="118" dt="2026-09-15T05:20:04.894"/>
    <p1510:client id="{747D17A9-F1C5-4B29-A161-5D23BECA1C99}" v="9014" dt="2026-09-15T23:59:05.064"/>
    <p1510:client id="{994B28C7-1DE2-4FD5-A326-7BA87FBCA7C6}" v="4496" dt="2026-09-15T11:23:24.290"/>
    <p1510:client id="{AD33A71C-E486-4D1E-9E32-97DF2B2ED220}" v="5758" dt="2026-09-16T00:10:02.182"/>
    <p1510:client id="{EBC27CD7-E218-47A1-AE40-1FC25AB1CB18}" v="7" dt="2026-09-15T08:04:31.3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98" d="100"/>
          <a:sy n="98" d="100"/>
        </p:scale>
        <p:origin x="90" y="-24"/>
      </p:cViewPr>
      <p:guideLst>
        <p:guide orient="horz" pos="5025"/>
        <p:guide orient="horz" pos="6114"/>
        <p:guide orient="horz" pos="1850"/>
        <p:guide orient="horz" pos="3868"/>
        <p:guide orient="horz" pos="3551"/>
        <p:guide pos="73"/>
        <p:guide pos="1933"/>
        <p:guide pos="4156"/>
        <p:guide pos="414"/>
        <p:guide orient="horz" pos="3007"/>
        <p:guide orient="horz" pos="1419"/>
        <p:guide pos="300"/>
        <p:guide pos="6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  <Relationship Id="rId13" Type="http://schemas.openxmlformats.org/officeDocument/2006/relationships/slide" Target="slides/slide5.xml"/>
  <Relationship Id="rId14" Type="http://schemas.openxmlformats.org/officeDocument/2006/relationships/slide" Target="slides/slide6.xml"/>
  <Relationship Id="rId15" Type="http://schemas.openxmlformats.org/officeDocument/2006/relationships/slide" Target="slides/slide7.xml"/>
  <Relationship Id="rId16" Type="http://schemas.openxmlformats.org/officeDocument/2006/relationships/slide" Target="slides/slide8.xml"/>
  <Relationship Id="rId17" Type="http://schemas.openxmlformats.org/officeDocument/2006/relationships/slide" Target="slides/slide9.xml"/>
  <Relationship Id="rId18" Type="http://schemas.openxmlformats.org/officeDocument/2006/relationships/slide" Target="slides/slide1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5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98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r">
              <a:defRPr sz="1200"/>
            </a:lvl1pPr>
          </a:lstStyle>
          <a:p>
            <a:fld id="{83D697D7-1998-415A-9AF2-776AF61F1F3B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87563" y="739775"/>
            <a:ext cx="25606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356" tIns="45175" rIns="90356" bIns="4517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8" y="4686534"/>
            <a:ext cx="5388610" cy="4439841"/>
          </a:xfrm>
          <a:prstGeom prst="rect">
            <a:avLst/>
          </a:prstGeom>
        </p:spPr>
        <p:txBody>
          <a:bodyPr vert="horz" lIns="90356" tIns="45175" rIns="90356" bIns="4517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5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98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r">
              <a:defRPr sz="1200"/>
            </a:lvl1pPr>
          </a:lstStyle>
          <a:p>
            <a:fld id="{7BEC73BA-470C-465C-BD13-ED77CE7BBDE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486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C31CC-C9A1-0080-8C05-E849944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9308A4-6E9C-A87C-9CA8-A9A730C58A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45FB33-F062-2CEF-1766-913C6835E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1B8F6-FB26-FB5B-D1F4-9298DD7488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4978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A880-4D0E-2517-25BC-2C1BD910E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D96D0E-7A43-A5CA-01FF-C7035FDAD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B6600E-A3B1-3EE8-4BF6-20177E7A4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E19981-974A-5DAF-DEBC-A60E94492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6823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1A6B-496C-222F-0752-273E4608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E04A5C-9D01-3EE1-A4EE-AA282A378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1CBA00-C9CE-F96A-FAA6-275D0D1A87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B4B391-ECAD-C008-7189-C70841846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569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8AEB5-46E9-4315-D4D9-95F0F664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7B4DD3-E902-E162-4081-28D22546A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ACE060-509C-F72C-7804-2A30B43F6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B45B60-028E-8953-8E5E-B391E9F42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615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1" y="3077286"/>
            <a:ext cx="5829300" cy="21233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1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1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20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30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640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050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460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870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280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00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285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3"/>
            <a:ext cx="5829300" cy="1967442"/>
          </a:xfrm>
        </p:spPr>
        <p:txBody>
          <a:bodyPr anchor="t"/>
          <a:lstStyle>
            <a:lvl1pPr algn="l">
              <a:defRPr sz="3858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9"/>
            <a:ext cx="5829300" cy="2166936"/>
          </a:xfrm>
        </p:spPr>
        <p:txBody>
          <a:bodyPr anchor="b"/>
          <a:lstStyle>
            <a:lvl1pPr marL="0" indent="0">
              <a:buNone/>
              <a:defRPr sz="1929">
                <a:solidFill>
                  <a:schemeClr val="tx1">
                    <a:tint val="75000"/>
                  </a:schemeClr>
                </a:solidFill>
              </a:defRPr>
            </a:lvl1pPr>
            <a:lvl2pPr marL="441009" indent="0">
              <a:buNone/>
              <a:defRPr sz="1736">
                <a:solidFill>
                  <a:schemeClr val="tx1">
                    <a:tint val="75000"/>
                  </a:schemeClr>
                </a:solidFill>
              </a:defRPr>
            </a:lvl2pPr>
            <a:lvl3pPr marL="882019" indent="0">
              <a:buNone/>
              <a:defRPr sz="1543">
                <a:solidFill>
                  <a:schemeClr val="tx1">
                    <a:tint val="75000"/>
                  </a:schemeClr>
                </a:solidFill>
              </a:defRPr>
            </a:lvl3pPr>
            <a:lvl4pPr marL="132302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4pPr>
            <a:lvl5pPr marL="176403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5pPr>
            <a:lvl6pPr marL="220504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6pPr>
            <a:lvl7pPr marL="264605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7pPr>
            <a:lvl8pPr marL="308706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8pPr>
            <a:lvl9pPr marL="3528077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74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82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6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322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7"/>
            <a:ext cx="303014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7"/>
            <a:ext cx="303014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4" y="2217387"/>
            <a:ext cx="303133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4" y="3141487"/>
            <a:ext cx="303133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395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76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74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6" y="394407"/>
            <a:ext cx="2256235" cy="1678517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93" y="394406"/>
            <a:ext cx="3833813" cy="8454497"/>
          </a:xfrm>
        </p:spPr>
        <p:txBody>
          <a:bodyPr/>
          <a:lstStyle>
            <a:lvl1pPr>
              <a:defRPr sz="3087"/>
            </a:lvl1pPr>
            <a:lvl2pPr>
              <a:defRPr sz="2701"/>
            </a:lvl2pPr>
            <a:lvl3pPr>
              <a:defRPr sz="2315"/>
            </a:lvl3pPr>
            <a:lvl4pPr>
              <a:defRPr sz="1929"/>
            </a:lvl4pPr>
            <a:lvl5pPr>
              <a:defRPr sz="1929"/>
            </a:lvl5pPr>
            <a:lvl6pPr>
              <a:defRPr sz="1929"/>
            </a:lvl6pPr>
            <a:lvl7pPr>
              <a:defRPr sz="1929"/>
            </a:lvl7pPr>
            <a:lvl8pPr>
              <a:defRPr sz="1929"/>
            </a:lvl8pPr>
            <a:lvl9pPr>
              <a:defRPr sz="192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6" y="2072926"/>
            <a:ext cx="2256235" cy="6775981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47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1"/>
            <a:ext cx="4114800" cy="818621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087"/>
            </a:lvl1pPr>
            <a:lvl2pPr marL="441009" indent="0">
              <a:buNone/>
              <a:defRPr sz="2701"/>
            </a:lvl2pPr>
            <a:lvl3pPr marL="882019" indent="0">
              <a:buNone/>
              <a:defRPr sz="2315"/>
            </a:lvl3pPr>
            <a:lvl4pPr marL="1323029" indent="0">
              <a:buNone/>
              <a:defRPr sz="1929"/>
            </a:lvl4pPr>
            <a:lvl5pPr marL="1764039" indent="0">
              <a:buNone/>
              <a:defRPr sz="1929"/>
            </a:lvl5pPr>
            <a:lvl6pPr marL="2205049" indent="0">
              <a:buNone/>
              <a:defRPr sz="1929"/>
            </a:lvl6pPr>
            <a:lvl7pPr marL="2646058" indent="0">
              <a:buNone/>
              <a:defRPr sz="1929"/>
            </a:lvl7pPr>
            <a:lvl8pPr marL="3087068" indent="0">
              <a:buNone/>
              <a:defRPr sz="1929"/>
            </a:lvl8pPr>
            <a:lvl9pPr marL="3528077" indent="0">
              <a:buNone/>
              <a:defRPr sz="1929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2"/>
            <a:ext cx="4114800" cy="1162579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20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32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700"/>
            <a:ext cx="1157288" cy="1126807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700"/>
            <a:ext cx="3357563" cy="1126807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79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4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1" y="9181398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9105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2019" rtl="0" eaLnBrk="1" latinLnBrk="1" hangingPunct="1">
        <a:spcBef>
          <a:spcPct val="0"/>
        </a:spcBef>
        <a:buNone/>
        <a:defRPr sz="424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757" indent="-330757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16641" indent="-275630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2701" kern="1200">
          <a:solidFill>
            <a:schemeClr val="tx1"/>
          </a:solidFill>
          <a:latin typeface="+mn-lt"/>
          <a:ea typeface="+mn-ea"/>
          <a:cs typeface="+mn-cs"/>
        </a:defRPr>
      </a:lvl2pPr>
      <a:lvl3pPr marL="110252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3pPr>
      <a:lvl4pPr marL="154353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1929" kern="1200">
          <a:solidFill>
            <a:schemeClr val="tx1"/>
          </a:solidFill>
          <a:latin typeface="+mn-lt"/>
          <a:ea typeface="+mn-ea"/>
          <a:cs typeface="+mn-cs"/>
        </a:defRPr>
      </a:lvl4pPr>
      <a:lvl5pPr marL="198454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»"/>
        <a:defRPr sz="1929" kern="1200">
          <a:solidFill>
            <a:schemeClr val="tx1"/>
          </a:solidFill>
          <a:latin typeface="+mn-lt"/>
          <a:ea typeface="+mn-ea"/>
          <a:cs typeface="+mn-cs"/>
        </a:defRPr>
      </a:lvl5pPr>
      <a:lvl6pPr marL="242555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6pPr>
      <a:lvl7pPr marL="286656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7pPr>
      <a:lvl8pPr marL="3307572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8pPr>
      <a:lvl9pPr marL="374858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1pPr>
      <a:lvl2pPr marL="44100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2pPr>
      <a:lvl3pPr marL="88201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3pPr>
      <a:lvl4pPr marL="132302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4pPr>
      <a:lvl5pPr marL="176403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5pPr>
      <a:lvl6pPr marL="220504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6pPr>
      <a:lvl7pPr marL="264605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7pPr>
      <a:lvl8pPr marL="308706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8pPr>
      <a:lvl9pPr marL="3528077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101"/>
          <p:cNvSpPr/>
          <p:nvPr/>
        </p:nvSpPr>
        <p:spPr>
          <a:xfrm>
            <a:off x="0" y="0"/>
            <a:ext cx="6857999" cy="535531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2400" b="1" u="sng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세빛섬 인수 변경 안</a:t>
            </a:r>
            <a:endParaRPr lang="ko-KR" sz="2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2" name="Shape 102"/>
          <p:cNvSpPr/>
          <p:nvPr/>
        </p:nvSpPr>
        <p:spPr>
          <a:xfrm>
            <a:off x="323999" y="54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3" name="Shape 103"/>
          <p:cNvSpPr/>
          <p:nvPr/>
        </p:nvSpPr>
        <p:spPr>
          <a:xfrm>
            <a:off x="1587600" y="54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4" name="Shape 104"/>
          <p:cNvSpPr/>
          <p:nvPr/>
        </p:nvSpPr>
        <p:spPr>
          <a:xfrm>
            <a:off x="2851200" y="54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5" name="Shape 105"/>
          <p:cNvSpPr/>
          <p:nvPr/>
        </p:nvSpPr>
        <p:spPr>
          <a:xfrm>
            <a:off x="4114800" y="54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5378400" y="54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7" name="TextBox 107"/>
          <p:cNvSpPr txBox="1"/>
          <p:nvPr/>
        </p:nvSpPr>
        <p:spPr>
          <a:xfrm>
            <a:off x="216000" y="846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1. 세빛섬 현황 – 지금의 세빛섬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pic>
        <p:nvPicPr>
          <p:cNvPr id="108" name="세빛섬 전경 108"/>
          <p:cNvPicPr>
            <a:picLocks noChangeAspect="1"/>
          </p:cNvPicPr>
          <p:nvPr/>
        </p:nvPicPr>
        <p:blipFill>
          <a:blip r:embed="rId5"/>
          <a:srcRect l="19638" t="14176" r="19786"/>
          <a:stretch>
            <a:fillRect/>
          </a:stretch>
        </p:blipFill>
        <p:spPr>
          <a:xfrm>
            <a:off x="323999" y="1152000"/>
            <a:ext cx="1800000" cy="1278000"/>
          </a:xfrm>
          <a:prstGeom prst="rect">
            <a:avLst/>
          </a:prstGeom>
        </p:spPr>
      </p:pic>
      <p:graphicFrame>
        <p:nvGraphicFramePr>
          <p:cNvPr id="109" name="표 109"/>
          <p:cNvGraphicFramePr>
            <a:graphicFrameLocks noGrp="1"/>
          </p:cNvGraphicFramePr>
          <p:nvPr/>
        </p:nvGraphicFramePr>
        <p:xfrm>
          <a:off x="2214000" y="1152000"/>
          <a:ext cx="4428000" cy="1134000"/>
        </p:xfrm>
        <a:graphic>
          <a:graphicData uri="http://schemas.openxmlformats.org/drawingml/2006/table">
            <a:tbl>
              <a:tblPr firstRow="1" bandRow="1"/>
              <a:tblGrid>
                <a:gridCol w="306000"/>
                <a:gridCol w="1835999"/>
                <a:gridCol w="1007999"/>
                <a:gridCol w="1278000"/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가빛 | 1,487평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채빛 | 760평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솔빛 | 227평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옥상공원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레스토랑 (비스타)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뷔페 (채빛 쿠진)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웨딩 / 연회장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뷔페 (채빛 쿠진)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공연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레스토랑 (이솔라) · 카페 (돌체)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GS25 / 수상레저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전시공간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펍 (비어가든)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와인바 (무드 서울)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0" name="TextBox 110"/>
          <p:cNvSpPr txBox="1"/>
          <p:nvPr/>
        </p:nvSpPr>
        <p:spPr>
          <a:xfrm>
            <a:off x="2178000" y="2322000"/>
            <a:ext cx="4500000" cy="18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36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㈜세빛섬 (효성TNC 63%) / BOT ’14.9~’44.9 (무상 20 + 유상 10)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1" name="TextBox 111"/>
          <p:cNvSpPr txBox="1"/>
          <p:nvPr/>
        </p:nvSpPr>
        <p:spPr>
          <a:xfrm>
            <a:off x="216000" y="2538000"/>
            <a:ext cx="6426000" cy="576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현재의 한계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콘텐츠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웨딩 · 외식 위주 단일 목적 → 평일 · 비수기 집객 약함, 시설 노후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구조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핵심 수익원 광고 (매출 45%) 불허 → 단독 가치 300억 수준 / 효성 소유 한계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2" name="TextBox 112"/>
          <p:cNvSpPr txBox="1"/>
          <p:nvPr/>
        </p:nvSpPr>
        <p:spPr>
          <a:xfrm>
            <a:off x="216000" y="3240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2. 당사 투자 후 세빛섬 – 리모델링 517억 (안)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3" name="Shape 113"/>
          <p:cNvSpPr/>
          <p:nvPr/>
        </p:nvSpPr>
        <p:spPr>
          <a:xfrm>
            <a:off x="323999" y="3546000"/>
            <a:ext cx="6318000" cy="27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BFD0EA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「웨딩 · 외식 시설」 → </a:t>
            </a: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「MICE · 공연 · 프리미엄 F&amp;B 가 있는 365일 수상 문화 목적지」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4" name="표 114"/>
          <p:cNvGraphicFramePr>
            <a:graphicFrameLocks noGrp="1"/>
          </p:cNvGraphicFramePr>
          <p:nvPr/>
        </p:nvGraphicFramePr>
        <p:xfrm>
          <a:off x="323999" y="3888000"/>
          <a:ext cx="6318000" cy="1224000"/>
        </p:xfrm>
        <a:graphic>
          <a:graphicData uri="http://schemas.openxmlformats.org/drawingml/2006/table">
            <a:tbl>
              <a:tblPr firstRow="1" bandRow="1"/>
              <a:tblGrid>
                <a:gridCol w="360000"/>
                <a:gridCol w="2304000"/>
                <a:gridCol w="1710000"/>
                <a:gridCol w="1944000"/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가빛 | 1,487평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채빛 | 760평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솔빛 | 227평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루프탑 전망 라운지 (시민 개방)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시그니처 다이닝 (百 F&amp;B)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공연장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 · 3층 통합, 가변형 객석)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MICE 연회장 · 웨딩 겸용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(메리어트 협업)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/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프라이빗 라운지 (소규모 행사)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웰컴 라운지 · 카페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수상레저 거점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공연 로비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미디어아트 전시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큐레이션 와인 · 팝업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115" name="TextBox 115"/>
          <p:cNvSpPr txBox="1"/>
          <p:nvPr/>
        </p:nvSpPr>
        <p:spPr>
          <a:xfrm>
            <a:off x="216000" y="5202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핵심 변화 3가지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323999" y="5490000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웨딩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가빛 2F 연회장을 메리어트 협업 MICE 연회장으로 전환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평일 기업 행사 + 주말 웨딩 이중 수요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454000" y="5490000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공연 · 전시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채빛 뷔페 2개층을 가변형 공연장으로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저녁 · 주말 정기 공연으로 상시 집객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8" name="Shape 118"/>
          <p:cNvSpPr/>
          <p:nvPr/>
        </p:nvSpPr>
        <p:spPr>
          <a:xfrm>
            <a:off x="4584000" y="5490000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개방 · F&amp;B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옥상 시민 개방 + 百 큐레이션 F&amp;B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행사 없는 날에도 찾아오는 목적지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9" name="표 119"/>
          <p:cNvGraphicFramePr>
            <a:graphicFrameLocks noGrp="1"/>
          </p:cNvGraphicFramePr>
          <p:nvPr/>
        </p:nvGraphicFramePr>
        <p:xfrm>
          <a:off x="323999" y="6300000"/>
          <a:ext cx="6318000" cy="990000"/>
        </p:xfrm>
        <a:graphic>
          <a:graphicData uri="http://schemas.openxmlformats.org/drawingml/2006/table">
            <a:tbl>
              <a:tblPr firstRow="1" bandRow="1"/>
              <a:tblGrid>
                <a:gridCol w="936000"/>
                <a:gridCol w="1944000"/>
                <a:gridCol w="3438000"/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 후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주력 수요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주말 웨딩 · 외식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평일 MICE + 주말 웨딩 · 공연 + 상시 F&amp;B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구조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대관 · F&amp;B + 광고 의존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대관 · 공연 · 전시 · F&amp;B 다변화 (광고 비의존)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사업성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 매출 75억 수준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연평균 매출 163억 / 세전이익 76억 (→ p.6)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 위주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옥상 · 데크 시민 개방 / 공공 공연 · 전시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120" name="Shape 120"/>
          <p:cNvSpPr/>
          <p:nvPr/>
        </p:nvSpPr>
        <p:spPr>
          <a:xfrm>
            <a:off x="323999" y="7416000"/>
            <a:ext cx="6318000" cy="45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rIns="108000" tIns="1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▶ 그러나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단독 리모델링만으로는 한강 접근성 (교통) · 상시 유입이 부족하고, 운영기간도 무상 잔여 (’34년) 에 묶임 → 바로 옆 서울시 「반포 수상푸드존」 과 결합할 때 해결 가능 (→ p.2)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1" name="TextBox 121"/>
          <p:cNvSpPr txBox="1"/>
          <p:nvPr/>
        </p:nvSpPr>
        <p:spPr>
          <a:xfrm>
            <a:off x="216000" y="7973999"/>
            <a:ext cx="6426000" cy="162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보고 흐름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→ 투자 후 모습 (p.1)  ② 서울시 수상푸드존 – 모습 · 추구 방향 (p.2)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세빛섬 + 푸드존 통합 공모 시 효과 (p.3)  ④ 추진 계획 – 사업계획안 · 운영기간 전략 · 사업성 (p.4 ~ 7)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 – 절차별 일정 · 당사 할 일 (p.8) / 선결 과제 · 리스크 · 즉시 착수 과제 (p.9)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0">
              <a:spcBef>
                <a:spcPts val="40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층별 투자 후 구성은 당사 구상 (안) 으로, 百 협업 MD 계획 · 설계 검토 후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53435-8006-9C2A-1F2A-F41C7B8C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C89186D-337B-0F5A-54F5-269572537B1D}"/>
              </a:ext>
            </a:extLst>
          </p:cNvPr>
          <p:cNvSpPr/>
          <p:nvPr/>
        </p:nvSpPr>
        <p:spPr>
          <a:xfrm>
            <a:off x="115888" y="639274"/>
            <a:ext cx="6968959" cy="10695236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450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300)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F58A6C2C-0EE2-CAF9-9190-D53CC38EFCB5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C5CD3358-67DD-F6EA-ECC8-EFCCE99855EB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98FBC92-D756-9837-A6F0-4E818F6CF848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E1B8CF29-421A-F19C-16EB-FC3DA8180481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4A8549B0-8C62-964C-D363-9F7293AC0502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216EB6F6-DBA8-8043-8BFC-3E7B8F7257E3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E763A81C-E3C1-6167-E705-C5BBB916C482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6731DD80-BC2D-C0FF-22A1-BC94672A2614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BA4304DB-CFD8-1B0F-F47A-8E109714D314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7EB1E307-508B-F76C-701A-06240A0EF10F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8E03C-8779-B6F7-D5E8-1AF600D88A5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5CEFBF5-6951-D05E-BFA4-03CB4EF0823C}"/>
              </a:ext>
            </a:extLst>
          </p:cNvPr>
          <p:cNvSpPr txBox="1"/>
          <p:nvPr/>
        </p:nvSpPr>
        <p:spPr bwMode="auto">
          <a:xfrm>
            <a:off x="726130" y="6372352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1,773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530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87AF4823-BD6A-D342-6DE5-F3A411BA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C990A5-9737-1BC1-5D7A-C132E856F563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2114B267-9ECF-463D-AB04-76E426B891CA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383D085C-63F2-F053-DF37-F1CE4234B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1284727"/>
              </p:ext>
            </p:extLst>
          </p:nvPr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080EDCC6-111F-B7AF-DA2E-1DA38360C51A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D5B3E8-DF2E-8F88-33C2-9C0B569EEF8C}"/>
              </a:ext>
            </a:extLst>
          </p:cNvPr>
          <p:cNvSpPr txBox="1"/>
          <p:nvPr/>
        </p:nvSpPr>
        <p:spPr bwMode="auto">
          <a:xfrm>
            <a:off x="3499379" y="1337544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517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FFEF69-2804-6B48-0715-8A37F2122AFC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6BAE672-ACA5-7638-D005-F2472DD53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7414065"/>
              </p:ext>
            </p:extLst>
          </p:nvPr>
        </p:nvGraphicFramePr>
        <p:xfrm>
          <a:off x="770562" y="2027477"/>
          <a:ext cx="5822596" cy="4315376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3319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450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423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2371E688-B13B-4C71-133D-8B4A204D88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565798"/>
              </p:ext>
            </p:extLst>
          </p:nvPr>
        </p:nvGraphicFramePr>
        <p:xfrm>
          <a:off x="652656" y="7444304"/>
          <a:ext cx="5930392" cy="1579360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79170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3C88510-2052-B6CB-BF15-C046F632CFDD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5DD280D-8AA9-D278-3B95-0F0EEB26A0C6}"/>
              </a:ext>
            </a:extLst>
          </p:cNvPr>
          <p:cNvSpPr/>
          <p:nvPr/>
        </p:nvSpPr>
        <p:spPr>
          <a:xfrm>
            <a:off x="6071138" y="5380660"/>
            <a:ext cx="511910" cy="246279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4204053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2779-5A42-0295-0337-FAC479221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3921B9A-19C8-D696-F241-593DD1C2DD61}"/>
              </a:ext>
            </a:extLst>
          </p:cNvPr>
          <p:cNvSpPr/>
          <p:nvPr/>
        </p:nvSpPr>
        <p:spPr>
          <a:xfrm>
            <a:off x="115888" y="639274"/>
            <a:ext cx="6968959" cy="10623421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967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817)        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      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3CC2489D-13F2-E5FA-EFF4-78DDCD4260FE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5E5FB164-B4D9-1131-8C29-AC9BF6E7167D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12804EB5-3C60-0D70-DD02-315FCB4BA373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7E29C8C2-EDC8-711F-DC6A-8CF517F46C4E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363265F5-9768-37AB-2306-93705376E45C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57328C9F-5B2B-FBFD-48A3-8754F9B4C7BD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F5DB59BD-924D-762C-4C1E-15849436337E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5D9D2D2F-D71B-70F5-8B4E-A7B3AC52EB0A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69CBCECB-36E2-F91C-A465-4CAFAB927491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D6ED3465-42FF-BAA1-B319-9E3579C0C4E1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F1513-1A2C-2836-57B6-48435E1F631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BF6ADA-D46F-30EF-C7FE-32B6B3876A4E}"/>
              </a:ext>
            </a:extLst>
          </p:cNvPr>
          <p:cNvSpPr txBox="1"/>
          <p:nvPr/>
        </p:nvSpPr>
        <p:spPr bwMode="auto">
          <a:xfrm>
            <a:off x="718404" y="6337453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2,290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4FD93490-88B4-A1AB-D0DB-5A1ABD003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9A82B-4607-B934-CBDA-938C10F37784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CDEA8080-7C4A-8D98-0FED-858C2BCCA432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071EFC86-5CFF-F2DE-90FA-2A4CAFB7FF73}"/>
              </a:ext>
            </a:extLst>
          </p:cNvPr>
          <p:cNvGraphicFramePr>
            <a:graphicFrameLocks noGrp="1"/>
          </p:cNvGraphicFramePr>
          <p:nvPr/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DB97F9D5-EA76-9787-3EA5-E2130AC59ACD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3190A3-B7D7-73D3-333E-193F2060F359}"/>
              </a:ext>
            </a:extLst>
          </p:cNvPr>
          <p:cNvSpPr txBox="1"/>
          <p:nvPr/>
        </p:nvSpPr>
        <p:spPr bwMode="auto">
          <a:xfrm>
            <a:off x="9155681" y="958593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520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3DED82-8087-A49B-F449-492E7149CF47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5D179CE-F706-E711-FF98-BEF8B67C8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492771"/>
              </p:ext>
            </p:extLst>
          </p:nvPr>
        </p:nvGraphicFramePr>
        <p:xfrm>
          <a:off x="777863" y="1969861"/>
          <a:ext cx="5822596" cy="4315376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3319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baseline="30000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967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940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C05A260C-0FB6-C434-EF10-479787A1F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587347"/>
              </p:ext>
            </p:extLst>
          </p:nvPr>
        </p:nvGraphicFramePr>
        <p:xfrm>
          <a:off x="670067" y="7376427"/>
          <a:ext cx="5930392" cy="1596079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83183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606448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60644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9D1D318-BEEA-875F-04AF-A4D59D25D286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8DE0FAF-9798-C3B5-EBE7-E7ED93D6D41D}"/>
              </a:ext>
            </a:extLst>
          </p:cNvPr>
          <p:cNvSpPr/>
          <p:nvPr/>
        </p:nvSpPr>
        <p:spPr>
          <a:xfrm>
            <a:off x="6071138" y="5319016"/>
            <a:ext cx="511910" cy="246279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455742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2C89A-7484-458D-E4F3-360C209C7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61FB8A-3247-349B-3B09-51185CBFE02F}"/>
              </a:ext>
            </a:extLst>
          </p:cNvPr>
          <p:cNvSpPr/>
          <p:nvPr/>
        </p:nvSpPr>
        <p:spPr>
          <a:xfrm>
            <a:off x="120924" y="814256"/>
            <a:ext cx="6415085" cy="9182001"/>
          </a:xfrm>
          <a:prstGeom prst="rect">
            <a:avLst/>
          </a:prstGeom>
        </p:spPr>
        <p:txBody>
          <a:bodyPr wrap="square" lIns="38100" rIns="38100">
            <a:spAutoFit/>
          </a:bodyPr>
          <a:lstStyle/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오세훈 서울시장 선거법 위반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서울시장 선거 관련 오세훈 시장 후원자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김한정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→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명태균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여론조사 의뢰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여론조사 비용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자 대납 의혹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불법 정치자금 기부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’25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12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특검 오세훈 시장 기소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지방선거 고려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’26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재판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중지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공직선거법상 벌금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이상 확정 시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시장직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상실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3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재판 일정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특검법 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6·3·3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원칙 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indent="-215900">
              <a:spcBef>
                <a:spcPts val="1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• 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공소제기일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2,3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전심 선고일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0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2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-</a:t>
            </a:r>
            <a:endParaRPr lang="ko-KR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anose="05000000000000000000" pitchFamily="2" charset="2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2E5FBF3F-CD99-42DA-827E-D815C4D5145F}"/>
              </a:ext>
            </a:extLst>
          </p:cNvPr>
          <p:cNvGraphicFramePr>
            <a:graphicFrameLocks noGrp="1"/>
          </p:cNvGraphicFramePr>
          <p:nvPr/>
        </p:nvGraphicFramePr>
        <p:xfrm>
          <a:off x="7402571" y="5749858"/>
          <a:ext cx="5970561" cy="2160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961">
                  <a:extLst>
                    <a:ext uri="{9D8B030D-6E8A-4147-A177-3AD203B41FA5}">
                      <a16:colId xmlns:a16="http://schemas.microsoft.com/office/drawing/2014/main" val="2052888082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1894311995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2809982429"/>
                    </a:ext>
                  </a:extLst>
                </a:gridCol>
              </a:tblGrid>
              <a:tr h="32507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960889"/>
                  </a:ext>
                </a:extLst>
              </a:tr>
              <a:tr h="325078"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 3" panose="05040102010807070707" pitchFamily="18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10648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183997"/>
                  </a:ext>
                </a:extLst>
              </a:tr>
              <a:tr h="325078"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8403166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819597"/>
                  </a:ext>
                </a:extLst>
              </a:tr>
              <a:tr h="535422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60107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82FBAA6-311C-5EF3-30B2-0D4112416A36}"/>
              </a:ext>
            </a:extLst>
          </p:cNvPr>
          <p:cNvSpPr txBox="1"/>
          <p:nvPr/>
        </p:nvSpPr>
        <p:spPr bwMode="auto">
          <a:xfrm>
            <a:off x="9261648" y="2936776"/>
            <a:ext cx="1126204" cy="198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7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우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:7.3% /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보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9.3%</a:t>
            </a:r>
            <a:endParaRPr lang="ko-KR" altLang="en-US" sz="7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C220ED-B620-6AE5-F4CE-005018337884}"/>
              </a:ext>
            </a:extLst>
          </p:cNvPr>
          <p:cNvSpPr txBox="1"/>
          <p:nvPr/>
        </p:nvSpPr>
        <p:spPr bwMode="auto">
          <a:xfrm>
            <a:off x="1474168" y="1972191"/>
            <a:ext cx="4276757" cy="236796"/>
          </a:xfrm>
          <a:prstGeom prst="rect">
            <a:avLst/>
          </a:prstGeom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* 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여론조사 비용은 정치자금으로 </a:t>
            </a:r>
            <a:r>
              <a:rPr lang="ko-KR" altLang="en-US" sz="800" b="1" dirty="0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기부받거나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수수하는 것 엄격히 금지</a:t>
            </a:r>
            <a:endParaRPr lang="ko-KR" altLang="en-US" sz="800" b="1" dirty="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2E512D-D3FC-E955-AD4D-B49ED78663CD}"/>
              </a:ext>
            </a:extLst>
          </p:cNvPr>
          <p:cNvSpPr txBox="1"/>
          <p:nvPr/>
        </p:nvSpPr>
        <p:spPr bwMode="auto">
          <a:xfrm>
            <a:off x="8109520" y="1571382"/>
            <a:ext cx="4732978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8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</a:t>
            </a:r>
            <a:endParaRPr lang="ko-KR" altLang="en-US" sz="8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71A0514-8D47-D5C9-06A4-3DCD0DF17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572000" y="738096"/>
            <a:ext cx="5267577" cy="29817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6E8075-A916-4ED8-EF35-F5536CCE29C8}"/>
              </a:ext>
            </a:extLst>
          </p:cNvPr>
          <p:cNvSpPr txBox="1"/>
          <p:nvPr/>
        </p:nvSpPr>
        <p:spPr bwMode="auto">
          <a:xfrm>
            <a:off x="-4779912" y="4232920"/>
            <a:ext cx="388843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오세훈 시장의 재판 일정이랑 (2심 선고 나오면 </a:t>
            </a:r>
            <a:r>
              <a:rPr lang="ko-KR" altLang="ko-KR" sz="1800" err="1">
                <a:effectLst/>
                <a:latin typeface="+mn-lt"/>
              </a:rPr>
              <a:t>언제쯤일지</a:t>
            </a:r>
            <a:r>
              <a:rPr lang="ko-KR" altLang="ko-KR" sz="1800">
                <a:effectLst/>
                <a:latin typeface="+mn-lt"/>
              </a:rPr>
              <a:t> ) 그러면 바로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최종 대법판결 받아야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그런 거 좀 보고서 1장으로 </a:t>
            </a:r>
            <a:r>
              <a:rPr lang="ko-KR" altLang="ko-KR" sz="1800" err="1">
                <a:effectLst/>
                <a:latin typeface="+mn-lt"/>
              </a:rPr>
              <a:t>어펜</a:t>
            </a:r>
            <a:r>
              <a:rPr lang="ko-KR" altLang="ko-KR" sz="1800">
                <a:effectLst/>
                <a:latin typeface="+mn-lt"/>
              </a:rPr>
              <a:t> 만들어주세요</a:t>
            </a:r>
          </a:p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 </a:t>
            </a:r>
            <a:endParaRPr lang="ko-KR" altLang="en-US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12FD46C-DCBE-46A7-636F-5FEBDC819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441900"/>
              </p:ext>
            </p:extLst>
          </p:nvPr>
        </p:nvGraphicFramePr>
        <p:xfrm>
          <a:off x="774615" y="4797097"/>
          <a:ext cx="597693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04">
                  <a:extLst>
                    <a:ext uri="{9D8B030D-6E8A-4147-A177-3AD203B41FA5}">
                      <a16:colId xmlns:a16="http://schemas.microsoft.com/office/drawing/2014/main" val="45024384"/>
                    </a:ext>
                  </a:extLst>
                </a:gridCol>
                <a:gridCol w="4824834">
                  <a:extLst>
                    <a:ext uri="{9D8B030D-6E8A-4147-A177-3AD203B41FA5}">
                      <a16:colId xmlns:a16="http://schemas.microsoft.com/office/drawing/2014/main" val="28251040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’25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특검 측 </a:t>
                      </a:r>
                      <a:r>
                        <a:rPr lang="ko-KR" altLang="en-US" sz="1200" b="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오세훈시장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불구속 기소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292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 시장 서울시장 당선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456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 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추징금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선고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여론조사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중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유죄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65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8~10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공판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 진행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366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선고 예정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선고 시 즉시 상고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832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상고심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공판 없이 대법원 판결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324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1~4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확정 즉시 </a:t>
                      </a:r>
                      <a:r>
                        <a:rPr lang="ko-KR" altLang="en-US" sz="12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시장직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박탈 → 부시장 대행체제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655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서울시장 보궐선거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462350"/>
                  </a:ext>
                </a:extLst>
              </a:tr>
            </a:tbl>
          </a:graphicData>
        </a:graphic>
      </p:graphicFrame>
      <p:sp>
        <p:nvSpPr>
          <p:cNvPr id="2" name="왼쪽 대괄호 1">
            <a:extLst>
              <a:ext uri="{FF2B5EF4-FFF2-40B4-BE49-F238E27FC236}">
                <a16:creationId xmlns:a16="http://schemas.microsoft.com/office/drawing/2014/main" id="{DCAA339F-1891-A612-1DBF-F0D676BAB98F}"/>
              </a:ext>
            </a:extLst>
          </p:cNvPr>
          <p:cNvSpPr/>
          <p:nvPr/>
        </p:nvSpPr>
        <p:spPr>
          <a:xfrm>
            <a:off x="616782" y="4955505"/>
            <a:ext cx="106753" cy="792088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0905A4-5DBF-BA44-D57F-7028ECBBEEFD}"/>
              </a:ext>
            </a:extLst>
          </p:cNvPr>
          <p:cNvSpPr txBox="1"/>
          <p:nvPr/>
        </p:nvSpPr>
        <p:spPr bwMode="auto">
          <a:xfrm>
            <a:off x="-60448" y="5205451"/>
            <a:ext cx="85158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6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F2781A74-B3A2-7DB2-1CC6-D16E255CB811}"/>
              </a:ext>
            </a:extLst>
          </p:cNvPr>
          <p:cNvSpPr/>
          <p:nvPr/>
        </p:nvSpPr>
        <p:spPr>
          <a:xfrm>
            <a:off x="612666" y="5997525"/>
            <a:ext cx="106753" cy="541006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8C058E-6BEA-7AA3-1A03-954628DBB54A}"/>
              </a:ext>
            </a:extLst>
          </p:cNvPr>
          <p:cNvSpPr txBox="1"/>
          <p:nvPr/>
        </p:nvSpPr>
        <p:spPr bwMode="auto">
          <a:xfrm>
            <a:off x="-203263" y="6120647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4" name="왼쪽 대괄호 13">
            <a:extLst>
              <a:ext uri="{FF2B5EF4-FFF2-40B4-BE49-F238E27FC236}">
                <a16:creationId xmlns:a16="http://schemas.microsoft.com/office/drawing/2014/main" id="{D3F340FB-AA96-6298-BA63-B9E5B5DD39AF}"/>
              </a:ext>
            </a:extLst>
          </p:cNvPr>
          <p:cNvSpPr/>
          <p:nvPr/>
        </p:nvSpPr>
        <p:spPr>
          <a:xfrm>
            <a:off x="607669" y="6715492"/>
            <a:ext cx="106754" cy="1020901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6B9B9C-62B2-F363-FD47-5A213C608428}"/>
              </a:ext>
            </a:extLst>
          </p:cNvPr>
          <p:cNvSpPr txBox="1"/>
          <p:nvPr/>
        </p:nvSpPr>
        <p:spPr bwMode="auto">
          <a:xfrm>
            <a:off x="-203263" y="7079844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9807AE4-AE84-D195-D7B5-0887CDD23665}"/>
              </a:ext>
            </a:extLst>
          </p:cNvPr>
          <p:cNvSpPr/>
          <p:nvPr/>
        </p:nvSpPr>
        <p:spPr>
          <a:xfrm>
            <a:off x="-4086" y="151780"/>
            <a:ext cx="6858000" cy="380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#Appendix. </a:t>
            </a:r>
            <a:r>
              <a:rPr lang="ko-KR" altLang="en-US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오세훈 서울시장 법률 리스크</a:t>
            </a:r>
          </a:p>
        </p:txBody>
      </p:sp>
    </p:spTree>
    <p:extLst>
      <p:ext uri="{BB962C8B-B14F-4D97-AF65-F5344CB8AC3E}">
        <p14:creationId xmlns:p14="http://schemas.microsoft.com/office/powerpoint/2010/main" val="9625324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22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3" name="Shape 123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4" name="Shape 124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5" name="Shape 125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6" name="Shape 126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7" name="TextBox 127"/>
          <p:cNvSpPr txBox="1"/>
          <p:nvPr/>
        </p:nvSpPr>
        <p:spPr>
          <a:xfrm>
            <a:off x="216000" y="342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3. 서울시 「반포 수상푸드존」 – 어떤 모습인가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pic>
        <p:nvPicPr>
          <p:cNvPr id="128" name="위치도 1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999" y="666000"/>
            <a:ext cx="3131999" cy="1684800"/>
          </a:xfrm>
          <a:prstGeom prst="rect">
            <a:avLst/>
          </a:prstGeom>
        </p:spPr>
      </p:pic>
      <p:pic>
        <p:nvPicPr>
          <p:cNvPr id="129" name="조감도 1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6000" y="666000"/>
            <a:ext cx="3096000" cy="1684800"/>
          </a:xfrm>
          <a:prstGeom prst="rect">
            <a:avLst/>
          </a:prstGeom>
        </p:spPr>
      </p:pic>
      <p:graphicFrame>
        <p:nvGraphicFramePr>
          <p:cNvPr id="130" name="표 130"/>
          <p:cNvGraphicFramePr>
            <a:graphicFrameLocks noGrp="1"/>
          </p:cNvGraphicFramePr>
          <p:nvPr/>
        </p:nvGraphicFramePr>
        <p:xfrm>
          <a:off x="323999" y="2430000"/>
          <a:ext cx="6318000" cy="1296000"/>
        </p:xfrm>
        <a:graphic>
          <a:graphicData uri="http://schemas.openxmlformats.org/drawingml/2006/table">
            <a:tbl>
              <a:tblPr firstRow="1" bandRow="1"/>
              <a:tblGrid>
                <a:gridCol w="720000"/>
                <a:gridCol w="5598000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위치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반포한강공원 달빛무지개분수 – 제1주차장 사이 / 세빛섬에서 약 450m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2,797㎡ / 지상 2층 / 최대 2,400명 수용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1층 : 음식 판매 15개소 + 한강버스 복합선착장 (계류 10여 척) / 2층 : 카페 · 소공연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주변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야외 공연장 · 요트 선착장 · 수변 산책로 함께 조성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300억원 수준 (市 재정 추진, 운영 부담 주체 미정)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일정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 中 → ’26 말 착공 → ’28 말 준공 → ’29 초 개장 (이후 운영사업자 선정)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1" name="TextBox 131"/>
          <p:cNvSpPr txBox="1"/>
          <p:nvPr/>
        </p:nvSpPr>
        <p:spPr>
          <a:xfrm>
            <a:off x="216000" y="3834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서울시가 추구하는 것 / 안고 있는 고민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2" name="TextBox 132"/>
          <p:cNvSpPr txBox="1"/>
          <p:nvPr/>
        </p:nvSpPr>
        <p:spPr>
          <a:xfrm>
            <a:off x="216000" y="4121999"/>
            <a:ext cx="6426000" cy="46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342000" indent="-115200"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「2030 리버시티 서울」 (’24.4)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 수상공간 연 1,000만명 이용 / 총 5.5조 중 민간 3.1조 (57%)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수상푸드존 =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(교통) + 수변 미식 (여가) 이 결합된 반포 수상 거점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33" name="표 133"/>
          <p:cNvGraphicFramePr>
            <a:graphicFrameLocks noGrp="1"/>
          </p:cNvGraphicFramePr>
          <p:nvPr/>
        </p:nvGraphicFramePr>
        <p:xfrm>
          <a:off x="323999" y="4662000"/>
          <a:ext cx="6318000" cy="1584000"/>
        </p:xfrm>
        <a:graphic>
          <a:graphicData uri="http://schemas.openxmlformats.org/drawingml/2006/table">
            <a:tbl>
              <a:tblPr firstRow="1" bandRow="1"/>
              <a:tblGrid>
                <a:gridCol w="1080000"/>
                <a:gridCol w="2520000"/>
                <a:gridCol w="2718000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추구 방향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 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市의 고민 (운영 리스크)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수상공간 일상화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·한강을 「건너는 곳」 → 「머무는 곳」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이용 + 수변 체류 수요 창출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·F&amp;B 단독 시설로는 체류 동기 약함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이용객 → 체류 전환 장치 부재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부담 최소화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·조성은 재정, 운영은 민간 활용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·민간투자 · 공공기여 방식 선호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·운영비 · 유지관리비 (부유체 · 계류) 부담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·운영사업자 확보 가능성 불확실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상생 · 일자리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·소상공인 · 청년 소자본 창업 기회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·15~20개 판매 부스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·영세 입점자만으로는 집객 · 화제성 한계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·비수기 · 야간 공실 → 입점자 이탈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365일 활성화 · 안전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·야외공연 · 요트 · 산책로 연계 상시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·수상시설 안전 관리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·겨울 · 우천 · 평일 공동화 우려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·수난 · 시설 안전 전문 운영 역량 필요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4" name="TextBox 134"/>
          <p:cNvSpPr txBox="1"/>
          <p:nvPr/>
        </p:nvSpPr>
        <p:spPr>
          <a:xfrm>
            <a:off x="216000" y="6336000"/>
            <a:ext cx="6426000" cy="216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서울시 「2030 리버시티 서울」 한강 수상활성화 종합계획 (’24.4), 반포 수상푸드존 관련 서울시 발표 · 언론 보도 (’24.9, ’26.6)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5" name="TextBox 135"/>
          <p:cNvSpPr txBox="1"/>
          <p:nvPr/>
        </p:nvSpPr>
        <p:spPr>
          <a:xfrm>
            <a:off x="216000" y="6642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시사점 – 市에 필요한 것은 「건물」 이 아니라 「집객 엔진 + 운영 파트너」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6" name="Shape 136"/>
          <p:cNvSpPr/>
          <p:nvPr/>
        </p:nvSpPr>
        <p:spPr>
          <a:xfrm>
            <a:off x="323999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수상푸드존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유입 관문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· F&amp;B 15개소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「사람이 내리는 곳」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7" name="Shape 137"/>
          <p:cNvSpPr/>
          <p:nvPr/>
        </p:nvSpPr>
        <p:spPr>
          <a:xfrm>
            <a:off x="2548800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C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부족한 것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 콘텐츠 · 상시 집객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 · 안전 역량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재정 無 운영 주체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8" name="Shape 138"/>
          <p:cNvSpPr/>
          <p:nvPr/>
        </p:nvSpPr>
        <p:spPr>
          <a:xfrm>
            <a:off x="4773600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(투자 후)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 목적지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공연 · 프리미엄 F&amp;B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「머무는 곳」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206800" y="7326000"/>
            <a:ext cx="259200" cy="198000"/>
          </a:xfrm>
          <a:prstGeom prst="left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0" name="Shape 140"/>
          <p:cNvSpPr/>
          <p:nvPr/>
        </p:nvSpPr>
        <p:spPr>
          <a:xfrm>
            <a:off x="4431600" y="7326000"/>
            <a:ext cx="259200" cy="198000"/>
          </a:xfrm>
          <a:prstGeom prst="left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1" name="Shape 141"/>
          <p:cNvSpPr/>
          <p:nvPr/>
        </p:nvSpPr>
        <p:spPr>
          <a:xfrm>
            <a:off x="323999" y="7956000"/>
            <a:ext cx="6318000" cy="432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rIns="108000" tIns="1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▶ 결론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푸드존이 못 가진 「체류 · 집객 · 운영 역량」 을 세빛섬이 보유 → 두 시설을 하나로 묶어 공모 (통합 운영) 할 때 市 목표와 당사 사업성이 동시에 달성됨 (→ p.3)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69" name="Shape 169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70" name="Shape 170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71" name="Shape 171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72" name="Shape 172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73" name="TextBox 173"/>
          <p:cNvSpPr txBox="1"/>
          <p:nvPr/>
        </p:nvSpPr>
        <p:spPr>
          <a:xfrm>
            <a:off x="216000" y="342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5. 추진 계획 – 통합 사업계획안 (당사 주도)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74" name="TextBox 174"/>
          <p:cNvSpPr txBox="1"/>
          <p:nvPr/>
        </p:nvSpPr>
        <p:spPr>
          <a:xfrm>
            <a:off x="216000" y="666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사업 개요 (안)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75" name="표 175"/>
          <p:cNvGraphicFramePr>
            <a:graphicFrameLocks noGrp="1"/>
          </p:cNvGraphicFramePr>
          <p:nvPr/>
        </p:nvGraphicFramePr>
        <p:xfrm>
          <a:off x="323999" y="954000"/>
          <a:ext cx="6318000" cy="1871999"/>
        </p:xfrm>
        <a:graphic>
          <a:graphicData uri="http://schemas.openxmlformats.org/drawingml/2006/table">
            <a:tbl>
              <a:tblPr firstRow="1" bandRow="1"/>
              <a:tblGrid>
                <a:gridCol w="827999"/>
                <a:gridCol w="5490000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사업명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 수상 문화지구 (세빛섬 리모델링 + 수상푸드존 통합운영) 민간투자사업 (가칭)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사업방식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민간제안 BTO (민간투자법 제4조 제1호) / 소유권 市 귀속, 관리운영권 당사 SPC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대상시설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(9,995㎡, 3개 섬 + 예빛) + 수상푸드존 (2,797㎡) + 연결 수변 (약 450m)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사업시행자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주관 SPC (당사 + 百 · F&amp;B 계열 + 재무적 투자자 + 시공사) / 당사 최대주주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기본안 817억 (효성 해지시지급금 300 + 세빛섬 리모델링 517)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확장안 최대 1,117억 (+ 푸드존 조성비 300억 분담 시) → 운영기간 연장 근거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 30년 (’28.下 ~ ’58.上) 확보 / 확장안 40년 협상 목표 (→ p.5)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수익구조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MICE · 웨딩 대관 / 공연 · 전시 / F&amp;B 직영 · 푸드존 임대 / 선착장 연계 (市 협의)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기여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투입 無 / 초과수익 공유 / 시민 개방 · 청년 창업 쿼터 / 통합 안전관리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6" name="TextBox 176"/>
          <p:cNvSpPr txBox="1"/>
          <p:nvPr/>
        </p:nvSpPr>
        <p:spPr>
          <a:xfrm>
            <a:off x="216000" y="2951999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사업 구조 – 효성 · 서울시 · 당사 3자 구도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77" name="Shape 177"/>
          <p:cNvSpPr/>
          <p:nvPr/>
        </p:nvSpPr>
        <p:spPr>
          <a:xfrm>
            <a:off x="323999" y="3258000"/>
            <a:ext cx="1655999" cy="82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효 성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現 세빛섬 사업자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협약 해지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78" name="Shape 178"/>
          <p:cNvSpPr/>
          <p:nvPr/>
        </p:nvSpPr>
        <p:spPr>
          <a:xfrm>
            <a:off x="2700000" y="3258000"/>
            <a:ext cx="1655999" cy="82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+ 푸드존 소유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주무관청 (실시협약)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79" name="Shape 179"/>
          <p:cNvSpPr/>
          <p:nvPr/>
        </p:nvSpPr>
        <p:spPr>
          <a:xfrm>
            <a:off x="5076000" y="3258000"/>
            <a:ext cx="1674000" cy="827999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SPC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리모델링 투자 · 통합 운영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관리운영권 30년+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80" name="TextBox 180"/>
          <p:cNvSpPr txBox="1"/>
          <p:nvPr/>
        </p:nvSpPr>
        <p:spPr>
          <a:xfrm>
            <a:off x="1998000" y="3348000"/>
            <a:ext cx="684000" cy="3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19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소유권 이전</a:t>
            </a:r>
            <a:endParaRPr lang="ko-KR" sz="819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19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해지시지급금 300억</a:t>
            </a:r>
            <a:endParaRPr lang="ko-KR" sz="819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81" name="Shape 181"/>
          <p:cNvSpPr/>
          <p:nvPr/>
        </p:nvSpPr>
        <p:spPr>
          <a:xfrm>
            <a:off x="2015999" y="3690000"/>
            <a:ext cx="648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82" name="TextBox 182"/>
          <p:cNvSpPr txBox="1"/>
          <p:nvPr/>
        </p:nvSpPr>
        <p:spPr>
          <a:xfrm>
            <a:off x="4374000" y="3348000"/>
            <a:ext cx="684000" cy="3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19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BTO 협약</a:t>
            </a:r>
            <a:endParaRPr lang="ko-KR" sz="819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19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운영권 부여</a:t>
            </a:r>
            <a:endParaRPr lang="ko-KR" sz="819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83" name="Shape 183"/>
          <p:cNvSpPr/>
          <p:nvPr/>
        </p:nvSpPr>
        <p:spPr>
          <a:xfrm>
            <a:off x="4392000" y="3690000"/>
            <a:ext cx="648000" cy="162000"/>
          </a:xfrm>
          <a:prstGeom prst="left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84" name="TextBox 184"/>
          <p:cNvSpPr txBox="1"/>
          <p:nvPr/>
        </p:nvSpPr>
        <p:spPr>
          <a:xfrm>
            <a:off x="216000" y="4140000"/>
            <a:ext cx="6426000" cy="18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해지시지급금은 당사 SPC 가 부담하고 총사업비 (기존시설 취득비) 로 인정받는 구조로 협의 → 운영기간 산정에 반영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85" name="TextBox 185"/>
          <p:cNvSpPr txBox="1"/>
          <p:nvPr/>
        </p:nvSpPr>
        <p:spPr>
          <a:xfrm>
            <a:off x="216000" y="4410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단계별 실행 구상 – 당사가 판을 짜고 끌고 간다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86" name="Shape 186"/>
          <p:cNvSpPr/>
          <p:nvPr/>
        </p:nvSpPr>
        <p:spPr>
          <a:xfrm>
            <a:off x="323999" y="4716000"/>
            <a:ext cx="2034000" cy="342000"/>
          </a:xfrm>
          <a:prstGeom prst="homePlate">
            <a:avLst>
              <a:gd name="adj" fmla="val 25000"/>
            </a:avLst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Phase 1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판 짜기 · ’26.4Q ~ ’27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87" name="Shape 187"/>
          <p:cNvSpPr/>
          <p:nvPr/>
        </p:nvSpPr>
        <p:spPr>
          <a:xfrm>
            <a:off x="323999" y="5086800"/>
            <a:ext cx="2034000" cy="774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rIns="72000" tIns="18000" bIns="18000" anchor="t">
            <a:noAutofit/>
          </a:bodyPr>
          <a:lstStyle/>
          <a:p>
            <a:pPr marL="90000" indent="-90000">
              <a:spcBef>
                <a:spcPts val="0"/>
              </a:spcBef>
              <a:buNone/>
            </a:pPr>
            <a:r>
              <a:rPr lang="ko-KR" altLang="en-US" sz="88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·효성 해지시지급금 300억 합의</a:t>
            </a:r>
            <a:endParaRPr lang="ko-KR" sz="88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8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·市에 「통합 민간제안」 先 제안</a:t>
            </a:r>
            <a:endParaRPr lang="ko-KR" sz="88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8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·SPC 컨소시엄 · 자문사 구성</a:t>
            </a:r>
            <a:endParaRPr lang="ko-KR" sz="88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8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·市 · 효성 · 당사 3자 MOU</a:t>
            </a:r>
            <a:endParaRPr lang="ko-KR" sz="88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88" name="Shape 188"/>
          <p:cNvSpPr/>
          <p:nvPr/>
        </p:nvSpPr>
        <p:spPr>
          <a:xfrm>
            <a:off x="2430000" y="4716000"/>
            <a:ext cx="2034000" cy="342000"/>
          </a:xfrm>
          <a:prstGeom prst="homePlate">
            <a:avLst>
              <a:gd name="adj" fmla="val 25000"/>
            </a:avLst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Phase 2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협약 · 리모델링 · ’27 ~ ’28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89" name="Shape 189"/>
          <p:cNvSpPr/>
          <p:nvPr/>
        </p:nvSpPr>
        <p:spPr>
          <a:xfrm>
            <a:off x="2430000" y="5086800"/>
            <a:ext cx="2034000" cy="774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rIns="72000" tIns="18000" bIns="18000" anchor="t">
            <a:noAutofit/>
          </a:bodyPr>
          <a:lstStyle/>
          <a:p>
            <a:pPr marL="90000" indent="-90000">
              <a:spcBef>
                <a:spcPts val="0"/>
              </a:spcBef>
              <a:buNone/>
            </a:pPr>
            <a:r>
              <a:rPr lang="ko-KR" altLang="en-US" sz="88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·적격성 · 제3자 공고 → 실시협약</a:t>
            </a:r>
            <a:endParaRPr lang="ko-KR" sz="88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8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·리모델링 517억 (MICE · 공연장)</a:t>
            </a:r>
            <a:endParaRPr lang="ko-KR" sz="88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8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·푸드존 MD (百 큐레이션 + 청년)</a:t>
            </a:r>
            <a:endParaRPr lang="ko-KR" sz="88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8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·통합 브랜드 · CI 개발</a:t>
            </a:r>
            <a:endParaRPr lang="ko-KR" sz="88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90" name="Shape 190"/>
          <p:cNvSpPr/>
          <p:nvPr/>
        </p:nvSpPr>
        <p:spPr>
          <a:xfrm>
            <a:off x="4536000" y="4716000"/>
            <a:ext cx="2034000" cy="342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Phase 3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개장 · 운영 · ’29 ~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91" name="Shape 191"/>
          <p:cNvSpPr/>
          <p:nvPr/>
        </p:nvSpPr>
        <p:spPr>
          <a:xfrm>
            <a:off x="4536000" y="5086800"/>
            <a:ext cx="2034000" cy="774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rIns="72000" tIns="18000" bIns="18000" anchor="t">
            <a:noAutofit/>
          </a:bodyPr>
          <a:lstStyle/>
          <a:p>
            <a:pPr marL="90000" indent="-90000">
              <a:spcBef>
                <a:spcPts val="0"/>
              </a:spcBef>
              <a:buNone/>
            </a:pPr>
            <a:r>
              <a:rPr lang="ko-KR" altLang="en-US" sz="88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·’29.初 푸드존 개장 + 그랜드 오픈</a:t>
            </a:r>
            <a:endParaRPr lang="ko-KR" sz="88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8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·통합 멤버십 · 예약 · 마케팅</a:t>
            </a:r>
            <a:endParaRPr lang="ko-KR" sz="88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8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·성과 기반 재투자 → 기간 연장</a:t>
            </a:r>
            <a:endParaRPr lang="ko-KR" sz="88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8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·한강 수상 후속사업 참여</a:t>
            </a:r>
            <a:endParaRPr lang="ko-KR" sz="88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92" name="Shape 192"/>
          <p:cNvSpPr/>
          <p:nvPr/>
        </p:nvSpPr>
        <p:spPr>
          <a:xfrm>
            <a:off x="323999" y="5976000"/>
            <a:ext cx="6318000" cy="522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rIns="108000" tIns="1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▶ 당사 추진 원칙 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市 정책 (리버시티 서울) 에 맞춘 「공공성 先 설계」  ② 투자비 최대 인정 → 운영기간 극대화  ③ 효성 · 市 · 당사 3자 구도에서 당사가 협상 주도  ④ 불확실성은 Plan B (사용권 입찰 / 임대 안) 로 하방 관리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93" name="TextBox 193"/>
          <p:cNvSpPr txBox="1"/>
          <p:nvPr/>
        </p:nvSpPr>
        <p:spPr>
          <a:xfrm>
            <a:off x="216000" y="6623999"/>
            <a:ext cx="6426000" cy="216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운영기간 확보 근거 (벤치마킹) → p.5 / 30년 기준 사업성 · NPV → p.6 · 7 / 추진 절차 · 할 일 → p.8 · 9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94" name="TextBox 194"/>
          <p:cNvSpPr txBox="1"/>
          <p:nvPr/>
        </p:nvSpPr>
        <p:spPr>
          <a:xfrm>
            <a:off x="216000" y="6912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투자 · 수익 요약 (30년, 세빛섬 + 수상푸드존)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95" name="표 195"/>
          <p:cNvGraphicFramePr>
            <a:graphicFrameLocks noGrp="1"/>
          </p:cNvGraphicFramePr>
          <p:nvPr/>
        </p:nvGraphicFramePr>
        <p:xfrm>
          <a:off x="323999" y="7200000"/>
          <a:ext cx="6318000" cy="737999"/>
        </p:xfrm>
        <a:graphic>
          <a:graphicData uri="http://schemas.openxmlformats.org/drawingml/2006/table">
            <a:tbl>
              <a:tblPr firstRow="1" bandRow="1"/>
              <a:tblGrid>
                <a:gridCol w="1296000"/>
                <a:gridCol w="1350000"/>
                <a:gridCol w="1296000"/>
                <a:gridCol w="1260000"/>
                <a:gridCol w="1116000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투자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총수익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세전이익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연평균 매출 / 세전이익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NPV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34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817억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163억 / 76억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150억</a:t>
                      </a:r>
                      <a:endParaRPr lang="ko-KR" sz="10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8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300</a:t>
                      </a:r>
                      <a:endParaRPr lang="ko-KR" sz="7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8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리모델링 517</a:t>
                      </a:r>
                      <a:endParaRPr lang="ko-KR" sz="7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8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4,726</a:t>
                      </a:r>
                      <a:endParaRPr lang="ko-KR" sz="7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8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푸드존 166</a:t>
                      </a:r>
                      <a:endParaRPr lang="ko-KR" sz="7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8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2,207</a:t>
                      </a:r>
                      <a:endParaRPr lang="ko-KR" sz="7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8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푸드존 96</a:t>
                      </a:r>
                      <a:endParaRPr lang="ko-KR" sz="7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4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’28.下 ~ ’58.上</a:t>
                      </a:r>
                      <a:endParaRPr lang="ko-KR" sz="84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4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할인율 6.9%</a:t>
                      </a:r>
                      <a:endParaRPr lang="ko-KR" sz="84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6" name="TextBox 196"/>
          <p:cNvSpPr txBox="1"/>
          <p:nvPr/>
        </p:nvSpPr>
        <p:spPr>
          <a:xfrm>
            <a:off x="216000" y="8046000"/>
            <a:ext cx="6426000" cy="18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상세 연도별 수익 · 비용 · 현재가치 → p.6 · 7 사업성 / 리스크 분석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97" name="TextBox 197"/>
          <p:cNvSpPr txBox="1"/>
          <p:nvPr/>
        </p:nvSpPr>
        <p:spPr>
          <a:xfrm>
            <a:off x="216000" y="8262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추진 체계 – 「세빛섬 통합사업 TF」 구성 (안)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98" name="Shape 198"/>
          <p:cNvSpPr/>
          <p:nvPr/>
        </p:nvSpPr>
        <p:spPr>
          <a:xfrm>
            <a:off x="323999" y="8568000"/>
            <a:ext cx="6318000" cy="2519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TF 총괄 (사업 책임 임원)</a:t>
            </a: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 –  市 · 효성 협상 창구 일원화 / 주간 진척 점검 · 경영진 보고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99" name="Shape 199"/>
          <p:cNvSpPr/>
          <p:nvPr/>
        </p:nvSpPr>
        <p:spPr>
          <a:xfrm>
            <a:off x="323999" y="8856000"/>
            <a:ext cx="1234800" cy="413999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전략 · 개발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100"/>
              </a:spcBef>
              <a:buNone/>
            </a:pPr>
            <a:r>
              <a:rPr lang="ko-KR" altLang="en-US" sz="8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협의 · 제안서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0" name="Shape 200"/>
          <p:cNvSpPr/>
          <p:nvPr/>
        </p:nvSpPr>
        <p:spPr>
          <a:xfrm>
            <a:off x="1594800" y="8856000"/>
            <a:ext cx="1234800" cy="413999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재 무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100"/>
              </a:spcBef>
              <a:buNone/>
            </a:pPr>
            <a:r>
              <a:rPr lang="ko-KR" altLang="en-US" sz="8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재무모델 · PF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1" name="Shape 201"/>
          <p:cNvSpPr/>
          <p:nvPr/>
        </p:nvSpPr>
        <p:spPr>
          <a:xfrm>
            <a:off x="2865600" y="8856000"/>
            <a:ext cx="1234800" cy="413999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MD · 운영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100"/>
              </a:spcBef>
              <a:buNone/>
            </a:pPr>
            <a:r>
              <a:rPr lang="ko-KR" altLang="en-US" sz="8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百 협업 · 테넌트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Shape 202"/>
          <p:cNvSpPr/>
          <p:nvPr/>
        </p:nvSpPr>
        <p:spPr>
          <a:xfrm>
            <a:off x="4136400" y="8856000"/>
            <a:ext cx="1234800" cy="413999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설계 · 시공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100"/>
              </a:spcBef>
              <a:buNone/>
            </a:pPr>
            <a:r>
              <a:rPr lang="ko-KR" altLang="en-US" sz="8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리모델링 · 안전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3" name="Shape 203"/>
          <p:cNvSpPr/>
          <p:nvPr/>
        </p:nvSpPr>
        <p:spPr>
          <a:xfrm>
            <a:off x="5407200" y="8856000"/>
            <a:ext cx="1234800" cy="413999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법무 · 대관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100"/>
              </a:spcBef>
              <a:buNone/>
            </a:pPr>
            <a:r>
              <a:rPr lang="ko-KR" altLang="en-US" sz="8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민투법 · 의회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4" name="TextBox 204"/>
          <p:cNvSpPr txBox="1"/>
          <p:nvPr/>
        </p:nvSpPr>
        <p:spPr>
          <a:xfrm>
            <a:off x="216000" y="9324000"/>
            <a:ext cx="6426000" cy="18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팀별 즉시 착수 과제 · 산출물 → p.9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216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7" name="Shape 217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8" name="Shape 218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9" name="Shape 219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0" name="Shape 220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5" name="TextBox 215"/>
          <p:cNvSpPr txBox="1"/>
          <p:nvPr/>
        </p:nvSpPr>
        <p:spPr>
          <a:xfrm>
            <a:off x="216000" y="341999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5-1. 운영기간 확보 전략 – 투자비 최대 인정 / 벤치마킹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6" name="TextBox 206"/>
          <p:cNvSpPr txBox="1"/>
          <p:nvPr/>
        </p:nvSpPr>
        <p:spPr>
          <a:xfrm>
            <a:off x="216000" y="720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운영기간은 「적용 법률」 이 결정 → 민간투자법 적용이 핵심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07" name="표 207"/>
          <p:cNvGraphicFramePr>
            <a:graphicFrameLocks noGrp="1"/>
          </p:cNvGraphicFramePr>
          <p:nvPr/>
        </p:nvGraphicFramePr>
        <p:xfrm>
          <a:off x="323999" y="1026000"/>
          <a:ext cx="6318000" cy="892800"/>
        </p:xfrm>
        <a:graphic>
          <a:graphicData uri="http://schemas.openxmlformats.org/drawingml/2006/table">
            <a:tbl>
              <a:tblPr firstRow="1" bandRow="1"/>
              <a:tblGrid>
                <a:gridCol w="864000"/>
                <a:gridCol w="2376000"/>
                <a:gridCol w="3078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공유재산법 (기부채납)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민간투자법 (BTO)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무상사용 최대 20년 (+ 1회 10년 갱신)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회수기간 기준 협약 (통상 30년, 대형 40년)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산정 기준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기부채납 가액 ÷ 연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+ 적정 수익률 회수에 필요한 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연장 여지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사실상 없음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’24.10 활성화 방안 : 공익 목적 개량 · 증설 시 최대 100년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8" name="TextBox 208"/>
          <p:cNvSpPr txBox="1"/>
          <p:nvPr/>
        </p:nvSpPr>
        <p:spPr>
          <a:xfrm>
            <a:off x="216000" y="2214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유사 민간투자사업 벤치마킹 – 투자규모 · 공공성 대비 운영기간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09" name="표 209"/>
          <p:cNvGraphicFramePr>
            <a:graphicFrameLocks noGrp="1"/>
          </p:cNvGraphicFramePr>
          <p:nvPr/>
        </p:nvGraphicFramePr>
        <p:xfrm>
          <a:off x="323999" y="2538000"/>
          <a:ext cx="6318000" cy="1933200"/>
        </p:xfrm>
        <a:graphic>
          <a:graphicData uri="http://schemas.openxmlformats.org/drawingml/2006/table">
            <a:tbl>
              <a:tblPr firstRow="1" bandRow="1"/>
              <a:tblGrid>
                <a:gridCol w="1026000"/>
                <a:gridCol w="432000"/>
                <a:gridCol w="990000"/>
                <a:gridCol w="882000"/>
                <a:gridCol w="2988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 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방식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인정받은 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(’14)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BOT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1,413억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(무상20+유상10)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 수상 랜드마크 / 준공 후 市 기부채납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 (’27)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3,309억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·동북권 문화 거점 / K-POP 전문공연장 · 지역 상권 활성화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서울링 (추진)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약 4,000억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·관광 랜드마크 / 재정 無 · 민투심 「민자 적정」 (’23.9)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(’32)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2조 6,955억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·건설 · 운영 보조금 無 전액 민간 / 수익 일부 市 기금 환원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817억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(최대 1,117억)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확보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 목표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·재정 無 + 초과수익 공유 + 시민 개방 + 청년 창업 쿼터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210" name="TextBox 210"/>
          <p:cNvSpPr txBox="1"/>
          <p:nvPr/>
        </p:nvSpPr>
        <p:spPr>
          <a:xfrm>
            <a:off x="216000" y="4770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각 사업 서울시 발표 · 언론 보도 (총사업비는 협약 · 고시 기준, 서울링은 추정치) / 세빛섬은 ’14 재협약으로 무상 20년 + 유상 10년 변경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1" name="TextBox 211"/>
          <p:cNvSpPr txBox="1"/>
          <p:nvPr/>
        </p:nvSpPr>
        <p:spPr>
          <a:xfrm>
            <a:off x="216000" y="5130000"/>
            <a:ext cx="6426000" cy="1655999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투자비 최대 인정 전략 – 총사업비에 최대한 산입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리모델링 517억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공사비 + 부유체 · 계류 안전보강 + 설계 · 감리 + 부대비 + 건설이자 전액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효성 해지시지급금 300억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「기존시설 취득비」 로 총사업비 반영 →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운영기간 산정의 핵심 쟁점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푸드존 분담 (선택)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부담 미정인 조성비 300억 · 운영설비 분담 시 1,117억 → 기간 연장 근거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연계 공공시설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↔ 푸드존 보행데크 · 경관조명 · 통합 안전관리 설비 → 공공시설로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2" name="TextBox 212"/>
          <p:cNvSpPr txBox="1"/>
          <p:nvPr/>
        </p:nvSpPr>
        <p:spPr>
          <a:xfrm>
            <a:off x="216000" y="6786000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공공성 패키지 → 운영기간 목표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13" name="표 213"/>
          <p:cNvGraphicFramePr>
            <a:graphicFrameLocks noGrp="1"/>
          </p:cNvGraphicFramePr>
          <p:nvPr/>
        </p:nvGraphicFramePr>
        <p:xfrm>
          <a:off x="323999" y="7128000"/>
          <a:ext cx="6318000" cy="1339200"/>
        </p:xfrm>
        <a:graphic>
          <a:graphicData uri="http://schemas.openxmlformats.org/drawingml/2006/table">
            <a:tbl>
              <a:tblPr firstRow="1" bandRow="1"/>
              <a:tblGrid>
                <a:gridCol w="936000"/>
                <a:gridCol w="4158000"/>
                <a:gridCol w="1224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세부 내용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벤치마킹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부담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· 운영 전액 민간 부담, 최소수입보장 (MRG) 요구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· 서울링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공유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·사업계획 대비 초과수익 일정비율 市 환원 (한강 수상활성화 재원)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시민 개방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데크 · 전망공간 상시 무료 개방 / 공공 공연 · 전시 정례화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상생 · 일자리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1/3 청년 · 소상공인 쿼터, 임대료 감면 / 지역 고용 우선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푸드존 취지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안전 · 관리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+ 푸드존 + 선착장 통합 안전관리 (수난 · 부유체 · 계류)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운영 경험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14" name="Shape 214"/>
          <p:cNvSpPr/>
          <p:nvPr/>
        </p:nvSpPr>
        <p:spPr>
          <a:xfrm>
            <a:off x="323999" y="8694000"/>
            <a:ext cx="6318000" cy="90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rIns="108000" tIns="18000" bIns="18000" anchor="ctr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▶ 목표 운영기간  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· 기본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투자 817억 규모 → 세빛섬 · 서울아레나 · 서울링 수준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30년 확보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(’28.下 ~ ’58.上, 사업성 분석 기준)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· 확장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푸드존 조성비 분담 (1,117억) + 공공성 패키지 → 잠실 MICE 논리 준용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40년 협상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· 추가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 중 재투자 (개량 · 증설) 시 정부 활성화 방안 근거로 연장 협의 (최대 50년)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241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2" name="Shape 242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3" name="Shape 243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4" name="Shape 244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5" name="Shape 245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9" name="TextBox 239"/>
          <p:cNvSpPr txBox="1"/>
          <p:nvPr/>
        </p:nvSpPr>
        <p:spPr>
          <a:xfrm>
            <a:off x="216000" y="341999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6. 추진 방법 (1) – 추진 절차 / 단계별 당사 할 일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2" name="Shape 222"/>
          <p:cNvSpPr/>
          <p:nvPr/>
        </p:nvSpPr>
        <p:spPr>
          <a:xfrm>
            <a:off x="323999" y="75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사전협의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3" name="Shape 223"/>
          <p:cNvSpPr/>
          <p:nvPr/>
        </p:nvSpPr>
        <p:spPr>
          <a:xfrm>
            <a:off x="1126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4" name="Shape 224"/>
          <p:cNvSpPr/>
          <p:nvPr/>
        </p:nvSpPr>
        <p:spPr>
          <a:xfrm>
            <a:off x="1242000" y="75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5" name="Shape 225"/>
          <p:cNvSpPr/>
          <p:nvPr/>
        </p:nvSpPr>
        <p:spPr>
          <a:xfrm>
            <a:off x="2044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6" name="Shape 226"/>
          <p:cNvSpPr/>
          <p:nvPr/>
        </p:nvSpPr>
        <p:spPr>
          <a:xfrm>
            <a:off x="2160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 검토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(적격성)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7" name="Shape 227"/>
          <p:cNvSpPr/>
          <p:nvPr/>
        </p:nvSpPr>
        <p:spPr>
          <a:xfrm>
            <a:off x="2962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8" name="Shape 228"/>
          <p:cNvSpPr/>
          <p:nvPr/>
        </p:nvSpPr>
        <p:spPr>
          <a:xfrm>
            <a:off x="3078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민투심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市의회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9" name="Shape 229"/>
          <p:cNvSpPr/>
          <p:nvPr/>
        </p:nvSpPr>
        <p:spPr>
          <a:xfrm>
            <a:off x="3880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0" name="Shape 230"/>
          <p:cNvSpPr/>
          <p:nvPr/>
        </p:nvSpPr>
        <p:spPr>
          <a:xfrm>
            <a:off x="3996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5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제3자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제안공고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1" name="Shape 231"/>
          <p:cNvSpPr/>
          <p:nvPr/>
        </p:nvSpPr>
        <p:spPr>
          <a:xfrm>
            <a:off x="4798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2" name="Shape 232"/>
          <p:cNvSpPr/>
          <p:nvPr/>
        </p:nvSpPr>
        <p:spPr>
          <a:xfrm>
            <a:off x="4914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6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협상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실시협약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3" name="Shape 233"/>
          <p:cNvSpPr/>
          <p:nvPr/>
        </p:nvSpPr>
        <p:spPr>
          <a:xfrm>
            <a:off x="5716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4" name="Shape 234"/>
          <p:cNvSpPr/>
          <p:nvPr/>
        </p:nvSpPr>
        <p:spPr>
          <a:xfrm>
            <a:off x="5832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착공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통합개장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5" name="TextBox 235"/>
          <p:cNvSpPr txBox="1"/>
          <p:nvPr/>
        </p:nvSpPr>
        <p:spPr>
          <a:xfrm>
            <a:off x="216000" y="1306800"/>
            <a:ext cx="6426000" cy="18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음영 : 당사 주도 단계 (즉시 착수) / 절차 · 기간은 민간투자법 및 민간투자사업기본계획 기준, 세부 일정은 市 협의로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36" name="표 236"/>
          <p:cNvGraphicFramePr>
            <a:graphicFrameLocks noGrp="1"/>
          </p:cNvGraphicFramePr>
          <p:nvPr/>
        </p:nvGraphicFramePr>
        <p:xfrm>
          <a:off x="323999" y="1512000"/>
          <a:ext cx="6317999" cy="3391200"/>
        </p:xfrm>
        <a:graphic>
          <a:graphicData uri="http://schemas.openxmlformats.org/drawingml/2006/table">
            <a:tbl>
              <a:tblPr firstRow="1" bandRow="1"/>
              <a:tblGrid>
                <a:gridCol w="702000"/>
                <a:gridCol w="666000"/>
                <a:gridCol w="1854000"/>
                <a:gridCol w="3096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주요 내용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할 일 / 준비사항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사전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’26.10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12월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미래한강본부 · 민간투자 담당 사전 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·효성 해지시지급금 협상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·사업구상서 (본 보고서) · 市 정책 부합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·해지시지급금 300억 근거 (외부 가치평가) / 투자심의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· 효성 · 당사 3자 MOU (안) 준비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·민간투자법 제9조 민간제안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제안서 접수 · 형식요건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·제안서 : 기본설계 · 재무모델 · 운영 / MD 계획 · 공공성 계획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컨소시엄 MOU (百 · F&amp;B · FI · 시공사)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·회계 · 법률 · 설계 자문사 선정 (제안비용 예산화)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·전문기관 적격성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 xml:space="preserve">  (수요 · VfM · 재무 타당성)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민투 대상사업 채택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·수요추정 근거 : 세빛섬 실적 + 한강버스 이용 수요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·VfM 대응 : 재정사업 대비 비용 절감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·보완 요청 신속 대응 TF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심의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’27.4Q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민간투자심의위원회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·市의회 동의 (필요 시)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·공공성 패키지 설명자료 / 의회 상임위 설명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·언론 · 여론 대응 (특혜 시비 사전 차단)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제3자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(90일 내외)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·제안내용 공고 · 경쟁 제안 접수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·평가 → 우선협상대상자 지정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·최초 제안자 우대 가점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·경쟁사 대비 차별화 : 세빛섬 연계 · 百 MD 역량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·가격 · 공공성 보강 제안 (경쟁 대비 시나리오)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·컨소시엄 지분 · 역할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협상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실시협약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·총사업비 · 운영기간 ·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·위험분담 · 해지시지급금 조건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 30년+ / 해지시지급금 총사업비 반영 관철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·협상 TF (전략 · 재무 · 법무) / 이사회 승인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착공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’28.下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’29.初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·실시계획 승인 → 리모델링 착공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준공 (’28 말) · 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설립 · 자금조달 (PF) / 시공사 계약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·테넌트 유치 · 통합 브랜드 런칭 · 그랜드 오픈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40" name="TextBox 240"/>
          <p:cNvSpPr txBox="1"/>
          <p:nvPr/>
        </p:nvSpPr>
        <p:spPr>
          <a:xfrm>
            <a:off x="216000" y="5364000"/>
            <a:ext cx="6426000" cy="108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일정 리스크 관리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시장 재판 일정 (’27.1~4월 직위 변동 가능) 고려 → </a:t>
            </a:r>
            <a:r>
              <a:rPr lang="ko-KR" altLang="en-US" sz="105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’26년 내 사전협의 완료 · ’27.1Q 제안서 접수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로 행정절차 선점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부시장 대행 · 보궐선거 시에도 유지되도록 「재정 無 · 공공성」 중심 사업 명분 확보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0">
              <a:spcBef>
                <a:spcPts val="40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선결 과제 · 리스크 대응 · 담당별 즉시 착수 과제 → p.9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142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3" name="Shape 143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4" name="Shape 144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5" name="Shape 145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6" name="Shape 146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7" name="TextBox 147"/>
          <p:cNvSpPr txBox="1"/>
          <p:nvPr/>
        </p:nvSpPr>
        <p:spPr>
          <a:xfrm>
            <a:off x="216000" y="342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4. 세빛섬 + 수상푸드존 통합 공모 – 무엇이 좋아지나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8" name="TextBox 148"/>
          <p:cNvSpPr txBox="1"/>
          <p:nvPr/>
        </p:nvSpPr>
        <p:spPr>
          <a:xfrm>
            <a:off x="216000" y="666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통합 구조 : 「유입 (푸드존) → 연결 (수변 450m) → 체류 (세빛섬)」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9" name="Shape 149"/>
          <p:cNvSpPr/>
          <p:nvPr/>
        </p:nvSpPr>
        <p:spPr>
          <a:xfrm>
            <a:off x="323999" y="990000"/>
            <a:ext cx="1386000" cy="61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유입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100"/>
              </a:spcBef>
              <a:buNone/>
            </a:pPr>
            <a:r>
              <a:rPr lang="ko-KR" altLang="en-US" sz="919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· 푸드존</a:t>
            </a:r>
            <a:endParaRPr lang="ko-KR" sz="919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1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하차 · 식사 · 버스킹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50" name="Shape 150"/>
          <p:cNvSpPr/>
          <p:nvPr/>
        </p:nvSpPr>
        <p:spPr>
          <a:xfrm>
            <a:off x="1760400" y="1216800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51" name="Shape 151"/>
          <p:cNvSpPr/>
          <p:nvPr/>
        </p:nvSpPr>
        <p:spPr>
          <a:xfrm>
            <a:off x="1969200" y="990000"/>
            <a:ext cx="1386000" cy="612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연결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100"/>
              </a:spcBef>
              <a:buNone/>
            </a:pPr>
            <a:r>
              <a:rPr lang="ko-KR" altLang="en-US" sz="919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수변 보행데크 450m</a:t>
            </a:r>
            <a:endParaRPr lang="ko-KR" sz="919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1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야간경관 · 통합 사인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52" name="Shape 152"/>
          <p:cNvSpPr/>
          <p:nvPr/>
        </p:nvSpPr>
        <p:spPr>
          <a:xfrm>
            <a:off x="3405600" y="1216800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53" name="Shape 153"/>
          <p:cNvSpPr/>
          <p:nvPr/>
        </p:nvSpPr>
        <p:spPr>
          <a:xfrm>
            <a:off x="3614400" y="990000"/>
            <a:ext cx="1386000" cy="61200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100"/>
              </a:spcBef>
              <a:buNone/>
            </a:pPr>
            <a:r>
              <a:rPr lang="ko-KR" altLang="en-US" sz="919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</a:t>
            </a:r>
            <a:endParaRPr lang="ko-KR" sz="919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100"/>
              </a:spcBef>
              <a:buNone/>
            </a:pPr>
            <a:r>
              <a:rPr lang="ko-KR" altLang="en-US" sz="86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공연 · 다이닝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54" name="Shape 154"/>
          <p:cNvSpPr/>
          <p:nvPr/>
        </p:nvSpPr>
        <p:spPr>
          <a:xfrm>
            <a:off x="5050800" y="1216800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55" name="Shape 155"/>
          <p:cNvSpPr/>
          <p:nvPr/>
        </p:nvSpPr>
        <p:spPr>
          <a:xfrm>
            <a:off x="5259600" y="990000"/>
            <a:ext cx="1386000" cy="61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재방문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100"/>
              </a:spcBef>
              <a:buNone/>
            </a:pPr>
            <a:r>
              <a:rPr lang="ko-KR" altLang="en-US" sz="919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멤버십</a:t>
            </a:r>
            <a:endParaRPr lang="ko-KR" sz="919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1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예약 · 쿠폰 · 축제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56" name="TextBox 156"/>
          <p:cNvSpPr txBox="1"/>
          <p:nvPr/>
        </p:nvSpPr>
        <p:spPr>
          <a:xfrm>
            <a:off x="216000" y="1710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연계 운영 구상 (당사 실행안)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57" name="표 157"/>
          <p:cNvGraphicFramePr>
            <a:graphicFrameLocks noGrp="1"/>
          </p:cNvGraphicFramePr>
          <p:nvPr/>
        </p:nvGraphicFramePr>
        <p:xfrm>
          <a:off x="323999" y="1998000"/>
          <a:ext cx="6318000" cy="1926000"/>
        </p:xfrm>
        <a:graphic>
          <a:graphicData uri="http://schemas.openxmlformats.org/drawingml/2006/table">
            <a:tbl>
              <a:tblPr firstRow="1" bandRow="1"/>
              <a:tblGrid>
                <a:gridCol w="684000"/>
                <a:gridCol w="1080000"/>
                <a:gridCol w="1116000"/>
                <a:gridCol w="3438000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시 연계 방안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역할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체류형 목적지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유입형 관문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방문객 → 세빛섬 공연 · 전시 연계 쿠폰 / 패키지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행사 고객 → 푸드존 애프터 다이닝 송객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동선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3개 섬 + 예빛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↔ 450m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·수변 보행데크 · 야간 경관조명 · 통합 사인 정비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하차 → 세빛섬 도보 10분 동선 안내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프로그램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MICE · 공연 · 웨딩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푸드마켓 · 야간 F&amp;B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·달빛무지개분수 연계 「반포 나이트 페스타」 정례화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·계절 축제 (벚꽃 · 여름 수상 · 겨울 빛축제) 공동 기획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프리미엄 F&amp;B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큐레이션 + 청년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15개소 중 1/3 청년 · 소상공인 쿼터 (임대료 감면)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바이어가 맛집 유치 → 개장 초기 화제성 확보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직영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통합 위탁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 브랜드 · 멤버십 · 예약 / 공동 마케팅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 시설 · 안전관리 센터 (부유체 · 계류 · 수난)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8" name="TextBox 158"/>
          <p:cNvSpPr txBox="1"/>
          <p:nvPr/>
        </p:nvSpPr>
        <p:spPr>
          <a:xfrm>
            <a:off x="216000" y="4158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기대 효과 – 누구에게 무엇이 좋은가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59" name="Shape 159"/>
          <p:cNvSpPr/>
          <p:nvPr/>
        </p:nvSpPr>
        <p:spPr>
          <a:xfrm>
            <a:off x="323999" y="4464000"/>
            <a:ext cx="2058000" cy="216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60" name="Shape 160"/>
          <p:cNvSpPr/>
          <p:nvPr/>
        </p:nvSpPr>
        <p:spPr>
          <a:xfrm>
            <a:off x="323999" y="4698000"/>
            <a:ext cx="2058000" cy="846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rIns="72000" tIns="18000" bIns="18000" anchor="t">
            <a:noAutofit/>
          </a:bodyPr>
          <a:lstStyle/>
          <a:p>
            <a:pPr marL="90000" indent="-90000">
              <a:spcBef>
                <a:spcPts val="3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재정 투입 없이 푸드존 운영 · 유지관리 해결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3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개장 초기부터 세빛섬 집객으로 공실 · 비수기 해소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3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「리버시티 서울」 반포 거점 조기 완성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61" name="Shape 161"/>
          <p:cNvSpPr/>
          <p:nvPr/>
        </p:nvSpPr>
        <p:spPr>
          <a:xfrm>
            <a:off x="2454000" y="4464000"/>
            <a:ext cx="2058000" cy="216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시 민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62" name="Shape 162"/>
          <p:cNvSpPr/>
          <p:nvPr/>
        </p:nvSpPr>
        <p:spPr>
          <a:xfrm>
            <a:off x="2454000" y="4698000"/>
            <a:ext cx="2058000" cy="846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rIns="72000" tIns="18000" bIns="18000" anchor="t">
            <a:noAutofit/>
          </a:bodyPr>
          <a:lstStyle/>
          <a:p>
            <a:pPr marL="90000" indent="-90000">
              <a:spcBef>
                <a:spcPts val="3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교통 (한강버스) + 미식 + 문화 하루 코스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3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옥상 · 데크 · 공연 등 개방 공간 확대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3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청년 · 소상공인 창업 기회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63" name="Shape 163"/>
          <p:cNvSpPr/>
          <p:nvPr/>
        </p:nvSpPr>
        <p:spPr>
          <a:xfrm>
            <a:off x="4584000" y="4464000"/>
            <a:ext cx="2058000" cy="216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 사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64" name="Shape 164"/>
          <p:cNvSpPr/>
          <p:nvPr/>
        </p:nvSpPr>
        <p:spPr>
          <a:xfrm>
            <a:off x="4584000" y="4698000"/>
            <a:ext cx="2058000" cy="846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rIns="72000" tIns="18000" bIns="18000" anchor="t">
            <a:noAutofit/>
          </a:bodyPr>
          <a:lstStyle/>
          <a:p>
            <a:pPr marL="90000" indent="-90000">
              <a:spcBef>
                <a:spcPts val="3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상호 송객 → 체류시간 · 객단가 증대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3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관리 · 보안 · 마케팅 고정비 통합 절감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3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운영기간 30년+ 확보 / 반포 한강 운영 주도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65" name="TextBox 165"/>
          <p:cNvSpPr txBox="1"/>
          <p:nvPr/>
        </p:nvSpPr>
        <p:spPr>
          <a:xfrm>
            <a:off x="216000" y="5670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왜 「통합」 공모여야 하나 – 개별 추진 대비 비교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66" name="표 166"/>
          <p:cNvGraphicFramePr>
            <a:graphicFrameLocks noGrp="1"/>
          </p:cNvGraphicFramePr>
          <p:nvPr/>
        </p:nvGraphicFramePr>
        <p:xfrm>
          <a:off x="323999" y="5976000"/>
          <a:ext cx="6318000" cy="1080000"/>
        </p:xfrm>
        <a:graphic>
          <a:graphicData uri="http://schemas.openxmlformats.org/drawingml/2006/table">
            <a:tbl>
              <a:tblPr firstRow="1" bandRow="1"/>
              <a:tblGrid>
                <a:gridCol w="1044000"/>
                <a:gridCol w="2484000"/>
                <a:gridCol w="2790000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개별 추진 (세빛섬 / 푸드존 각각)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공모 (당사 제안)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 법률 · 기간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: 무상 잔여 ’34년 / 푸드존 : 단기 위탁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민간투자법 BTO → 관리운영권 30~50년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집객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각자 집객 · 비수기 공동화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유입 + 체류 결합 → 365일 활성화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재정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푸드존 운영비 · 유지관리 市 부담 가능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· 유지관리 전액 민간 (재정 無)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경쟁 구도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F&amp;B 운영사 다수와 가격 경쟁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연계안은 당사만 제시 가능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167" name="Shape 167"/>
          <p:cNvSpPr/>
          <p:nvPr/>
        </p:nvSpPr>
        <p:spPr>
          <a:xfrm>
            <a:off x="323999" y="7182000"/>
            <a:ext cx="6318000" cy="432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rIns="108000" tIns="1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▶ 그래서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당사가 「세빛섬 리모델링 + 수상푸드존 운영」 통합사업계획을 서울시에 先 제안하여 민간투자사업 (BTO) 으로 추진 → 구체적 사업계획 (p.4) / 운영기간 확보 전략 (p.5) / 사업성 (p.6 · 7)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246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7" name="Shape 247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8" name="Shape 248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9" name="Shape 249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0" name="Shape 250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rIns="90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1" name="TextBox 251"/>
          <p:cNvSpPr txBox="1"/>
          <p:nvPr/>
        </p:nvSpPr>
        <p:spPr>
          <a:xfrm>
            <a:off x="216000" y="342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6. 추진 방법 (2) – 선결 과제 / 리스크 / 즉시 착수 과제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2" name="TextBox 252"/>
          <p:cNvSpPr txBox="1"/>
          <p:nvPr/>
        </p:nvSpPr>
        <p:spPr>
          <a:xfrm>
            <a:off x="216000" y="666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선결 과제 (사업 전제조건) – 당사 선제 대응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3" name="표 253"/>
          <p:cNvGraphicFramePr>
            <a:graphicFrameLocks noGrp="1"/>
          </p:cNvGraphicFramePr>
          <p:nvPr/>
        </p:nvGraphicFramePr>
        <p:xfrm>
          <a:off x="323999" y="954000"/>
          <a:ext cx="6318000" cy="1296000"/>
        </p:xfrm>
        <a:graphic>
          <a:graphicData uri="http://schemas.openxmlformats.org/drawingml/2006/table">
            <a:tbl>
              <a:tblPr firstRow="1" bandRow="1"/>
              <a:tblGrid>
                <a:gridCol w="720000"/>
                <a:gridCol w="1404000"/>
                <a:gridCol w="3456000"/>
                <a:gridCol w="737999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과 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 / 목표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 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[효성]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금액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– 효성 협약 해지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·광고사업 제외 기준 적정 인수가 300억 제시 (외부 가치평가 근거)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·협약 해지 → 市로 세빛섬 소유권 이전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’27.1Q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[서울시]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민간투자사업 적용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+ 푸드존 통합 복합개발 공공성 인정 (→ p.2 · 3)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·투자비 최대 인정 → 관리운영권 30~50년 (→ p.5)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’27.4Q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[百 협업]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MD 계획 수립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·역할 분담 : 세빛섬 MICE · 웨딩 · 공연 / 푸드존 F&amp;B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·동선 연계 프로그램 / 통합 브랜딩 / 공동 마케팅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제안서 반영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54" name="TextBox 254"/>
          <p:cNvSpPr txBox="1"/>
          <p:nvPr/>
        </p:nvSpPr>
        <p:spPr>
          <a:xfrm>
            <a:off x="216000" y="2376000"/>
            <a:ext cx="6426000" cy="12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추진 경로 – 3-Track 병행으로 하방 관리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Track A (우선) 민간제안형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통합사업계획 先 제안 → 최초 제안자 우대 확보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Track B 대상지 공모형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市가 공모 시, 당사 공공성 기준 · 통합 운영 조건을 공모 요건에 반영 유도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Track C 사용권 입찰 (임대 안)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 불인정 시 공개경쟁입찰 참여 (사용료 연 52억 이내)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5" name="TextBox 255"/>
          <p:cNvSpPr txBox="1"/>
          <p:nvPr/>
        </p:nvSpPr>
        <p:spPr>
          <a:xfrm>
            <a:off x="216000" y="3456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핵심 쟁점 / 리스크 대응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6" name="표 256"/>
          <p:cNvGraphicFramePr>
            <a:graphicFrameLocks noGrp="1"/>
          </p:cNvGraphicFramePr>
          <p:nvPr/>
        </p:nvGraphicFramePr>
        <p:xfrm>
          <a:off x="323999" y="3744000"/>
          <a:ext cx="6318000" cy="1584000"/>
        </p:xfrm>
        <a:graphic>
          <a:graphicData uri="http://schemas.openxmlformats.org/drawingml/2006/table">
            <a:tbl>
              <a:tblPr firstRow="1" bandRow="1"/>
              <a:tblGrid>
                <a:gridCol w="827999"/>
                <a:gridCol w="1620000"/>
                <a:gridCol w="3870000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리스크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 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협상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이견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(300억 vs 효성 700억대)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 불가 가치 (400억) · 실사 (130억) 반영 감액 근거 제시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·결렬 시 Plan B : 市 사용권 공개입찰 (임대 안) 참여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인정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반영 여부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·「기존시설 취득비」 성격으로 총사업비 산입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·불인정 시 운영기간 · 사용료 조정으로 보전 요구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정책 · 일정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시장 재판 결과에 따른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시정 방향 변경 가능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·’26년 내 사전협의 완료 · ’27.1Q 제안서 접수로 행정절차 선점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·「재정 無 · 공공성」 중심 명분 → 시장 교체와 무관하게 지속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수요 ·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푸드존 비수기 공동화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수상시설 안전 이슈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행사 수요 송객 + 한강버스 이용객 흡수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·부유체 · 계류 안전 보강비 리모델링 예산 반영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57" name="TextBox 257"/>
          <p:cNvSpPr txBox="1"/>
          <p:nvPr/>
        </p:nvSpPr>
        <p:spPr>
          <a:xfrm>
            <a:off x="216000" y="5508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즉시 착수 과제 (’26.10 ~ 12월) – 담당별 할 일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8" name="표 258"/>
          <p:cNvGraphicFramePr>
            <a:graphicFrameLocks noGrp="1"/>
          </p:cNvGraphicFramePr>
          <p:nvPr/>
        </p:nvGraphicFramePr>
        <p:xfrm>
          <a:off x="323999" y="5796000"/>
          <a:ext cx="6317999" cy="1332000"/>
        </p:xfrm>
        <a:graphic>
          <a:graphicData uri="http://schemas.openxmlformats.org/drawingml/2006/table">
            <a:tbl>
              <a:tblPr firstRow="1" bandRow="1"/>
              <a:tblGrid>
                <a:gridCol w="827999"/>
                <a:gridCol w="4176000"/>
                <a:gridCol w="1314000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 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할 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산출물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전략 · 개발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사전협의 채널 구축 / 통합 사업구상 확정 / 3자 MOU 추진 / 자문사 RFP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사업구상서 · MOU (안)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 무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·운영기간별 (30 · 40년) 사업성 · NPV 민감도 / 해지시지급금 산정 근거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재무모델 · 투자심의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 ·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협업 층별 MD 초안 / 푸드존 테넌트 Long-list / 통합 프로그램 연간 캘린더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MD 계획 (안)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 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기본구상 (MICE 연회장 · 공연장) / 517억 공사비 검증 / 안전보강 범위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기본구상 · 개략 공사비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법무 · 대관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·민투법 적용 법률검토 / 효성 협약 해지 구조 / 市의회 · 언론 대응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법률 의견서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65000"/>
            </a:schemeClr>
          </a:solidFill>
        </a:ln>
      </a:spPr>
      <a:bodyPr wrap="square" rtlCol="0" anchor="ctr">
        <a:spAutoFit/>
      </a:bodyPr>
      <a:lstStyle>
        <a:defPPr algn="l">
          <a:spcBef>
            <a:spcPts val="1200"/>
          </a:spcBef>
          <a:tabLst>
            <a:tab pos="227013" algn="l"/>
            <a:tab pos="1165225" algn="l"/>
          </a:tabLst>
          <a:defRPr sz="1400" dirty="0">
            <a:solidFill>
              <a:prstClr val="black">
                <a:lumMod val="85000"/>
                <a:lumOff val="15000"/>
              </a:prstClr>
            </a:solidFill>
            <a:latin typeface="HY견고딕" panose="02030600000101010101" pitchFamily="18" charset="-127"/>
            <a:ea typeface="HY견고딕" panose="02030600000101010101" pitchFamily="18" charset="-127"/>
            <a:sym typeface="Wingdings" pitchFamily="2" charset="2"/>
          </a:defRPr>
        </a:defPPr>
      </a:lstStyle>
    </a:spDef>
    <a:lnDef>
      <a:spPr>
        <a:ln w="952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88202" tIns="44101" rIns="88202" bIns="44101" numCol="1" rtlCol="0" anchor="ctr" anchorCtr="0" compatLnSpc="1">
        <a:prstTxWarp prst="textNoShape">
          <a:avLst/>
        </a:prstTxWarp>
        <a:spAutoFit/>
      </a:bodyPr>
      <a:lstStyle>
        <a:defPPr algn="ctr" defTabSz="882019" fontAlgn="base">
          <a:lnSpc>
            <a:spcPct val="120000"/>
          </a:lnSpc>
          <a:defRPr kumimoji="1" sz="1000" dirty="0">
            <a:latin typeface="신세계 민부리 Medium(TTF)" panose="02000600000000020003" pitchFamily="2" charset="-127"/>
            <a:ea typeface="신세계 민부리 Medium(TTF)" panose="02000600000000020003" pitchFamily="2" charset="-127"/>
            <a:cs typeface="굴림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D37FF66-CCD5-422E-9A98-F685C5801DDC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bf584b2-190d-4075-a553-d3eacefe0dd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479070FF-D4BE-4694-87A7-E047CC96A985}">
  <we:reference id="wa200010001" version="1.0.0.1" store="ko-KR" storeType="OMEX"/>
  <we:alternateReferences>
    <we:reference id="WA200010001" version="1.0.0.1" store="WA200010001" storeType="OMEX"/>
  </we:alternateReferences>
  <we:properties>
    <we:property name="claude.fileId" value="&quot;972f339d-2ec9-4e11-b5fa-93c038fc3017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9e769a94-a688-4b1a-b696-1d635af05004}" enabled="1" method="Privileged" siteId="{d4ffc887-d88d-41cc-bf6a-6bb47ec0f3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Words>1505</Words>
  <TotalTime>0</TotalTime>
  <Application>Microsoft Office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SHINSEGAE</dc:creator>
  <dcterms:modified xsi:type="dcterms:W3CDTF">2026-10-01T08:18:12Z</dcterms:modified>
  <dc:title>PowerPoint 프레젠테이션</dc:title>
  <cp:lastPrinted>2026-10-01T07:33:16Z</cp:lastPrinted>
  <cp:lastModifiedBy>정유경(파트너) - 부동산금융팀</cp:lastModifiedBy>
  <dcterms:created xsi:type="dcterms:W3CDTF">2017-03-08T10:10:17Z</dcterms:created>
  <cp:revision>77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a772263-e823-4541-b19a-907e15bf13d7_SiteId">
    <vt:lpwstr>d4ffc887-d88d-41cc-bf6a-6bb47ec0f3ca</vt:lpwstr>
  </property>
  <property fmtid="{D5CDD505-2E9C-101B-9397-08002B2CF9AE}" pid="3" name="MSIP_Label_aa772263-e823-4541-b19a-907e15bf13d7_SetDate">
    <vt:lpwstr>2025-12-30T00:09:59Z</vt:lpwstr>
  </property>
  <property fmtid="{D5CDD505-2E9C-101B-9397-08002B2CF9AE}" pid="4" name="MSIP_Label_aa772263-e823-4541-b19a-907e15bf13d7_Name">
    <vt:lpwstr>센트럴-서고터 보호</vt:lpwstr>
  </property>
  <property fmtid="{D5CDD505-2E9C-101B-9397-08002B2CF9AE}" pid="5" name="MSIP_Label_aa772263-e823-4541-b19a-907e15bf13d7_Method">
    <vt:lpwstr>Privileged</vt:lpwstr>
  </property>
  <property fmtid="{D5CDD505-2E9C-101B-9397-08002B2CF9AE}" pid="6" name="MSIP_Label_aa772263-e823-4541-b19a-907e15bf13d7_Enabled">
    <vt:lpwstr>true</vt:lpwstr>
  </property>
  <property fmtid="{D5CDD505-2E9C-101B-9397-08002B2CF9AE}" pid="7" name="MSIP_Label_aa772263-e823-4541-b19a-907e15bf13d7_ContentBits">
    <vt:lpwstr>8</vt:lpwstr>
  </property>
</Properties>
</file>