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415" r:id="rId2"/>
  </p:sldIdLst>
  <p:sldSz cx="9359900" cy="6858000"/>
  <p:notesSz cx="6735763" cy="9866313"/>
  <p:defaultTextStyle>
    <a:defPPr>
      <a:defRPr lang="ko-KR"/>
    </a:defPPr>
    <a:lvl1pPr marL="0" algn="l" defTabSz="91431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58" algn="l" defTabSz="91431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17" algn="l" defTabSz="91431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75" algn="l" defTabSz="91431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35" algn="l" defTabSz="91431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93" algn="l" defTabSz="91431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952" algn="l" defTabSz="91431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110" algn="l" defTabSz="91431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269" algn="l" defTabSz="91431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54" userDrawn="1">
          <p15:clr>
            <a:srgbClr val="A4A3A4"/>
          </p15:clr>
        </p15:guide>
        <p15:guide id="2" orient="horz" pos="5669" userDrawn="1">
          <p15:clr>
            <a:srgbClr val="A4A3A4"/>
          </p15:clr>
        </p15:guide>
        <p15:guide id="3" orient="horz" pos="436" userDrawn="1">
          <p15:clr>
            <a:srgbClr val="A4A3A4"/>
          </p15:clr>
        </p15:guide>
        <p15:guide id="4" orient="horz" pos="482" userDrawn="1">
          <p15:clr>
            <a:srgbClr val="A4A3A4"/>
          </p15:clr>
        </p15:guide>
        <p15:guide id="5" orient="horz" pos="3175" userDrawn="1">
          <p15:clr>
            <a:srgbClr val="A4A3A4"/>
          </p15:clr>
        </p15:guide>
        <p15:guide id="6" orient="horz" pos="2812" userDrawn="1">
          <p15:clr>
            <a:srgbClr val="A4A3A4"/>
          </p15:clr>
        </p15:guide>
        <p15:guide id="7" pos="119" userDrawn="1">
          <p15:clr>
            <a:srgbClr val="A4A3A4"/>
          </p15:clr>
        </p15:guide>
        <p15:guide id="10" pos="2160" userDrawn="1">
          <p15:clr>
            <a:srgbClr val="A4A3A4"/>
          </p15:clr>
        </p15:guide>
        <p15:guide id="15" pos="4201" userDrawn="1">
          <p15:clr>
            <a:srgbClr val="A4A3A4"/>
          </p15:clr>
        </p15:guide>
        <p15:guide id="16" pos="13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황신혜(파트너) - 부동산금융팀" initials="황-부" lastIdx="1" clrIdx="0">
    <p:extLst>
      <p:ext uri="{19B8F6BF-5375-455C-9EA6-DF929625EA0E}">
        <p15:presenceInfo xmlns:p15="http://schemas.microsoft.com/office/powerpoint/2012/main" userId="황신혜(파트너) - 부동산금융팀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66"/>
    <a:srgbClr val="1E236E"/>
    <a:srgbClr val="0000FF"/>
    <a:srgbClr val="E6F2F6"/>
    <a:srgbClr val="D7EAF1"/>
    <a:srgbClr val="FFFFFF"/>
    <a:srgbClr val="003399"/>
    <a:srgbClr val="0D884F"/>
    <a:srgbClr val="333333"/>
    <a:srgbClr val="F3F9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11BBF7-7A53-48C4-BC9A-532167B398A0}" v="259" dt="2026-10-29T04:12:20.750"/>
    <p1510:client id="{609907E8-0334-4ECB-8780-5CCE5D8E651D}" v="28" dt="2026-10-30T02:33:18.130"/>
    <p1510:client id="{6A0F9D7A-8780-4429-B0FA-BEC456694CC9}" v="29" dt="2026-10-29T05:08:44.9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203" autoAdjust="0"/>
    <p:restoredTop sz="97438" autoAdjust="0"/>
  </p:normalViewPr>
  <p:slideViewPr>
    <p:cSldViewPr snapToObjects="1" showGuides="1">
      <p:cViewPr varScale="1">
        <p:scale>
          <a:sx n="107" d="100"/>
          <a:sy n="107" d="100"/>
        </p:scale>
        <p:origin x="786" y="102"/>
      </p:cViewPr>
      <p:guideLst>
        <p:guide orient="horz" pos="4354"/>
        <p:guide orient="horz" pos="5669"/>
        <p:guide orient="horz" pos="436"/>
        <p:guide orient="horz" pos="482"/>
        <p:guide orient="horz" pos="3175"/>
        <p:guide orient="horz" pos="2812"/>
        <p:guide pos="119"/>
        <p:guide pos="2160"/>
        <p:guide pos="4201"/>
        <p:guide pos="1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6" y="12"/>
            <a:ext cx="2918831" cy="493315"/>
          </a:xfrm>
          <a:prstGeom prst="rect">
            <a:avLst/>
          </a:prstGeom>
        </p:spPr>
        <p:txBody>
          <a:bodyPr vert="horz" lIns="90350" tIns="45172" rIns="90350" bIns="4517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99" y="12"/>
            <a:ext cx="2918831" cy="493315"/>
          </a:xfrm>
          <a:prstGeom prst="rect">
            <a:avLst/>
          </a:prstGeom>
        </p:spPr>
        <p:txBody>
          <a:bodyPr vert="horz" lIns="90350" tIns="45172" rIns="90350" bIns="45172" rtlCol="0"/>
          <a:lstStyle>
            <a:lvl1pPr algn="r">
              <a:defRPr sz="1200"/>
            </a:lvl1pPr>
          </a:lstStyle>
          <a:p>
            <a:fld id="{83D697D7-1998-415A-9AF2-776AF61F1F3B}" type="datetimeFigureOut">
              <a:rPr lang="ko-KR" altLang="en-US" smtClean="0"/>
              <a:pPr/>
              <a:t>2026-10-30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842963" y="739775"/>
            <a:ext cx="5049837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350" tIns="45172" rIns="90350" bIns="45172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8" y="4686535"/>
            <a:ext cx="5388610" cy="4439841"/>
          </a:xfrm>
          <a:prstGeom prst="rect">
            <a:avLst/>
          </a:prstGeom>
        </p:spPr>
        <p:txBody>
          <a:bodyPr vert="horz" lIns="90350" tIns="45172" rIns="90350" bIns="45172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6" y="9371300"/>
            <a:ext cx="2918831" cy="493315"/>
          </a:xfrm>
          <a:prstGeom prst="rect">
            <a:avLst/>
          </a:prstGeom>
        </p:spPr>
        <p:txBody>
          <a:bodyPr vert="horz" lIns="90350" tIns="45172" rIns="90350" bIns="4517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99" y="9371300"/>
            <a:ext cx="2918831" cy="493315"/>
          </a:xfrm>
          <a:prstGeom prst="rect">
            <a:avLst/>
          </a:prstGeom>
        </p:spPr>
        <p:txBody>
          <a:bodyPr vert="horz" lIns="90350" tIns="45172" rIns="90350" bIns="45172" rtlCol="0" anchor="b"/>
          <a:lstStyle>
            <a:lvl1pPr algn="r">
              <a:defRPr sz="1200"/>
            </a:lvl1pPr>
          </a:lstStyle>
          <a:p>
            <a:fld id="{7BEC73BA-470C-465C-BD13-ED77CE7BBDE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7486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1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58" algn="l" defTabSz="91431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17" algn="l" defTabSz="91431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75" algn="l" defTabSz="91431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635" algn="l" defTabSz="91431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93" algn="l" defTabSz="91431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952" algn="l" defTabSz="91431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110" algn="l" defTabSz="91431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269" algn="l" defTabSz="91431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1" y="2907641"/>
            <a:ext cx="5829300" cy="200631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303944"/>
            <a:ext cx="4800600" cy="239197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410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820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230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7640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050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6460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0870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5280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F66C5-9CC5-4920-8C7D-4C917F0FD76F}" type="datetimeFigureOut">
              <a:rPr lang="ko-KR" altLang="en-US" smtClean="0"/>
              <a:pPr/>
              <a:t>2026-10-30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9600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F66C5-9CC5-4920-8C7D-4C917F0FD76F}" type="datetimeFigureOut">
              <a:rPr lang="ko-KR" altLang="en-US" smtClean="0"/>
              <a:pPr/>
              <a:t>2026-10-30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A9B7-C6A9-4D18-8805-BC65FADB00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1285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014603"/>
            <a:ext cx="5829300" cy="1858980"/>
          </a:xfrm>
        </p:spPr>
        <p:txBody>
          <a:bodyPr anchor="t"/>
          <a:lstStyle>
            <a:lvl1pPr algn="l">
              <a:defRPr sz="3858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967129"/>
            <a:ext cx="5829300" cy="2047477"/>
          </a:xfrm>
        </p:spPr>
        <p:txBody>
          <a:bodyPr anchor="b"/>
          <a:lstStyle>
            <a:lvl1pPr marL="0" indent="0">
              <a:buNone/>
              <a:defRPr sz="1929">
                <a:solidFill>
                  <a:schemeClr val="tx1">
                    <a:tint val="75000"/>
                  </a:schemeClr>
                </a:solidFill>
              </a:defRPr>
            </a:lvl1pPr>
            <a:lvl2pPr marL="441009" indent="0">
              <a:buNone/>
              <a:defRPr sz="1736">
                <a:solidFill>
                  <a:schemeClr val="tx1">
                    <a:tint val="75000"/>
                  </a:schemeClr>
                </a:solidFill>
              </a:defRPr>
            </a:lvl2pPr>
            <a:lvl3pPr marL="88201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3pPr>
            <a:lvl4pPr marL="1323029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4pPr>
            <a:lvl5pPr marL="1764039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5pPr>
            <a:lvl6pPr marL="2205049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6pPr>
            <a:lvl7pPr marL="2646058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7pPr>
            <a:lvl8pPr marL="3087068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8pPr>
            <a:lvl9pPr marL="3528077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F66C5-9CC5-4920-8C7D-4C917F0FD76F}" type="datetimeFigureOut">
              <a:rPr lang="ko-KR" altLang="en-US" smtClean="0"/>
              <a:pPr/>
              <a:t>2026-10-30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A9B7-C6A9-4D18-8805-BC65FADB00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6074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82" y="2911971"/>
            <a:ext cx="2257425" cy="8235413"/>
          </a:xfrm>
        </p:spPr>
        <p:txBody>
          <a:bodyPr/>
          <a:lstStyle>
            <a:lvl1pPr>
              <a:defRPr sz="2701"/>
            </a:lvl1pPr>
            <a:lvl2pPr>
              <a:defRPr sz="2315"/>
            </a:lvl2pPr>
            <a:lvl3pPr>
              <a:defRPr sz="1929"/>
            </a:lvl3pPr>
            <a:lvl4pPr>
              <a:defRPr sz="1736"/>
            </a:lvl4pPr>
            <a:lvl5pPr>
              <a:defRPr sz="1736"/>
            </a:lvl5pPr>
            <a:lvl6pPr>
              <a:defRPr sz="1736"/>
            </a:lvl6pPr>
            <a:lvl7pPr>
              <a:defRPr sz="1736"/>
            </a:lvl7pPr>
            <a:lvl8pPr>
              <a:defRPr sz="1736"/>
            </a:lvl8pPr>
            <a:lvl9pPr>
              <a:defRPr sz="173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6" y="2911971"/>
            <a:ext cx="2257425" cy="8235413"/>
          </a:xfrm>
        </p:spPr>
        <p:txBody>
          <a:bodyPr/>
          <a:lstStyle>
            <a:lvl1pPr>
              <a:defRPr sz="2701"/>
            </a:lvl1pPr>
            <a:lvl2pPr>
              <a:defRPr sz="2315"/>
            </a:lvl2pPr>
            <a:lvl3pPr>
              <a:defRPr sz="1929"/>
            </a:lvl3pPr>
            <a:lvl4pPr>
              <a:defRPr sz="1736"/>
            </a:lvl4pPr>
            <a:lvl5pPr>
              <a:defRPr sz="1736"/>
            </a:lvl5pPr>
            <a:lvl6pPr>
              <a:defRPr sz="1736"/>
            </a:lvl6pPr>
            <a:lvl7pPr>
              <a:defRPr sz="1736"/>
            </a:lvl7pPr>
            <a:lvl8pPr>
              <a:defRPr sz="1736"/>
            </a:lvl8pPr>
            <a:lvl9pPr>
              <a:defRPr sz="173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F66C5-9CC5-4920-8C7D-4C917F0FD76F}" type="datetimeFigureOut">
              <a:rPr lang="ko-KR" altLang="en-US" smtClean="0"/>
              <a:pPr/>
              <a:t>2026-10-30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A9B7-C6A9-4D18-8805-BC65FADB00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3223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74833"/>
            <a:ext cx="6172200" cy="1559983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1" y="2095146"/>
            <a:ext cx="3030141" cy="873157"/>
          </a:xfrm>
        </p:spPr>
        <p:txBody>
          <a:bodyPr anchor="b"/>
          <a:lstStyle>
            <a:lvl1pPr marL="0" indent="0">
              <a:buNone/>
              <a:defRPr sz="2315" b="1"/>
            </a:lvl1pPr>
            <a:lvl2pPr marL="441009" indent="0">
              <a:buNone/>
              <a:defRPr sz="1929" b="1"/>
            </a:lvl2pPr>
            <a:lvl3pPr marL="882019" indent="0">
              <a:buNone/>
              <a:defRPr sz="1736" b="1"/>
            </a:lvl3pPr>
            <a:lvl4pPr marL="1323029" indent="0">
              <a:buNone/>
              <a:defRPr sz="1543" b="1"/>
            </a:lvl4pPr>
            <a:lvl5pPr marL="1764039" indent="0">
              <a:buNone/>
              <a:defRPr sz="1543" b="1"/>
            </a:lvl5pPr>
            <a:lvl6pPr marL="2205049" indent="0">
              <a:buNone/>
              <a:defRPr sz="1543" b="1"/>
            </a:lvl6pPr>
            <a:lvl7pPr marL="2646058" indent="0">
              <a:buNone/>
              <a:defRPr sz="1543" b="1"/>
            </a:lvl7pPr>
            <a:lvl8pPr marL="3087068" indent="0">
              <a:buNone/>
              <a:defRPr sz="1543" b="1"/>
            </a:lvl8pPr>
            <a:lvl9pPr marL="3528077" indent="0">
              <a:buNone/>
              <a:defRPr sz="1543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1" y="2968303"/>
            <a:ext cx="3030141" cy="5392776"/>
          </a:xfrm>
        </p:spPr>
        <p:txBody>
          <a:bodyPr/>
          <a:lstStyle>
            <a:lvl1pPr>
              <a:defRPr sz="2315"/>
            </a:lvl1pPr>
            <a:lvl2pPr>
              <a:defRPr sz="1929"/>
            </a:lvl2pPr>
            <a:lvl3pPr>
              <a:defRPr sz="1736"/>
            </a:lvl3pPr>
            <a:lvl4pPr>
              <a:defRPr sz="1543"/>
            </a:lvl4pPr>
            <a:lvl5pPr>
              <a:defRPr sz="1543"/>
            </a:lvl5pPr>
            <a:lvl6pPr>
              <a:defRPr sz="1543"/>
            </a:lvl6pPr>
            <a:lvl7pPr>
              <a:defRPr sz="1543"/>
            </a:lvl7pPr>
            <a:lvl8pPr>
              <a:defRPr sz="1543"/>
            </a:lvl8pPr>
            <a:lvl9pPr>
              <a:defRPr sz="1543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4" y="2095146"/>
            <a:ext cx="3031331" cy="873157"/>
          </a:xfrm>
        </p:spPr>
        <p:txBody>
          <a:bodyPr anchor="b"/>
          <a:lstStyle>
            <a:lvl1pPr marL="0" indent="0">
              <a:buNone/>
              <a:defRPr sz="2315" b="1"/>
            </a:lvl1pPr>
            <a:lvl2pPr marL="441009" indent="0">
              <a:buNone/>
              <a:defRPr sz="1929" b="1"/>
            </a:lvl2pPr>
            <a:lvl3pPr marL="882019" indent="0">
              <a:buNone/>
              <a:defRPr sz="1736" b="1"/>
            </a:lvl3pPr>
            <a:lvl4pPr marL="1323029" indent="0">
              <a:buNone/>
              <a:defRPr sz="1543" b="1"/>
            </a:lvl4pPr>
            <a:lvl5pPr marL="1764039" indent="0">
              <a:buNone/>
              <a:defRPr sz="1543" b="1"/>
            </a:lvl5pPr>
            <a:lvl6pPr marL="2205049" indent="0">
              <a:buNone/>
              <a:defRPr sz="1543" b="1"/>
            </a:lvl6pPr>
            <a:lvl7pPr marL="2646058" indent="0">
              <a:buNone/>
              <a:defRPr sz="1543" b="1"/>
            </a:lvl7pPr>
            <a:lvl8pPr marL="3087068" indent="0">
              <a:buNone/>
              <a:defRPr sz="1543" b="1"/>
            </a:lvl8pPr>
            <a:lvl9pPr marL="3528077" indent="0">
              <a:buNone/>
              <a:defRPr sz="1543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4" y="2968303"/>
            <a:ext cx="3031331" cy="5392776"/>
          </a:xfrm>
        </p:spPr>
        <p:txBody>
          <a:bodyPr/>
          <a:lstStyle>
            <a:lvl1pPr>
              <a:defRPr sz="2315"/>
            </a:lvl1pPr>
            <a:lvl2pPr>
              <a:defRPr sz="1929"/>
            </a:lvl2pPr>
            <a:lvl3pPr>
              <a:defRPr sz="1736"/>
            </a:lvl3pPr>
            <a:lvl4pPr>
              <a:defRPr sz="1543"/>
            </a:lvl4pPr>
            <a:lvl5pPr>
              <a:defRPr sz="1543"/>
            </a:lvl5pPr>
            <a:lvl6pPr>
              <a:defRPr sz="1543"/>
            </a:lvl6pPr>
            <a:lvl7pPr>
              <a:defRPr sz="1543"/>
            </a:lvl7pPr>
            <a:lvl8pPr>
              <a:defRPr sz="1543"/>
            </a:lvl8pPr>
            <a:lvl9pPr>
              <a:defRPr sz="1543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F66C5-9CC5-4920-8C7D-4C917F0FD76F}" type="datetimeFigureOut">
              <a:rPr lang="ko-KR" altLang="en-US" smtClean="0"/>
              <a:pPr/>
              <a:t>2026-10-30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A9B7-C6A9-4D18-8805-BC65FADB00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2395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F66C5-9CC5-4920-8C7D-4C917F0FD76F}" type="datetimeFigureOut">
              <a:rPr lang="ko-KR" altLang="en-US" smtClean="0"/>
              <a:pPr/>
              <a:t>2026-10-30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A9B7-C6A9-4D18-8805-BC65FADB00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0767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F66C5-9CC5-4920-8C7D-4C917F0FD76F}" type="datetimeFigureOut">
              <a:rPr lang="ko-KR" altLang="en-US" smtClean="0"/>
              <a:pPr/>
              <a:t>2026-10-30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A9B7-C6A9-4D18-8805-BC65FADB00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5748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6" y="372664"/>
            <a:ext cx="2256235" cy="1585983"/>
          </a:xfrm>
        </p:spPr>
        <p:txBody>
          <a:bodyPr anchor="b"/>
          <a:lstStyle>
            <a:lvl1pPr algn="l">
              <a:defRPr sz="1929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93" y="372664"/>
            <a:ext cx="3833813" cy="7988415"/>
          </a:xfrm>
        </p:spPr>
        <p:txBody>
          <a:bodyPr/>
          <a:lstStyle>
            <a:lvl1pPr>
              <a:defRPr sz="3087"/>
            </a:lvl1pPr>
            <a:lvl2pPr>
              <a:defRPr sz="2701"/>
            </a:lvl2pPr>
            <a:lvl3pPr>
              <a:defRPr sz="2315"/>
            </a:lvl3pPr>
            <a:lvl4pPr>
              <a:defRPr sz="1929"/>
            </a:lvl4pPr>
            <a:lvl5pPr>
              <a:defRPr sz="1929"/>
            </a:lvl5pPr>
            <a:lvl6pPr>
              <a:defRPr sz="1929"/>
            </a:lvl6pPr>
            <a:lvl7pPr>
              <a:defRPr sz="1929"/>
            </a:lvl7pPr>
            <a:lvl8pPr>
              <a:defRPr sz="1929"/>
            </a:lvl8pPr>
            <a:lvl9pPr>
              <a:defRPr sz="1929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6" y="1958650"/>
            <a:ext cx="2256235" cy="6402434"/>
          </a:xfrm>
        </p:spPr>
        <p:txBody>
          <a:bodyPr/>
          <a:lstStyle>
            <a:lvl1pPr marL="0" indent="0">
              <a:buNone/>
              <a:defRPr sz="1350"/>
            </a:lvl1pPr>
            <a:lvl2pPr marL="441009" indent="0">
              <a:buNone/>
              <a:defRPr sz="1158"/>
            </a:lvl2pPr>
            <a:lvl3pPr marL="882019" indent="0">
              <a:buNone/>
              <a:defRPr sz="965"/>
            </a:lvl3pPr>
            <a:lvl4pPr marL="1323029" indent="0">
              <a:buNone/>
              <a:defRPr sz="868"/>
            </a:lvl4pPr>
            <a:lvl5pPr marL="1764039" indent="0">
              <a:buNone/>
              <a:defRPr sz="868"/>
            </a:lvl5pPr>
            <a:lvl6pPr marL="2205049" indent="0">
              <a:buNone/>
              <a:defRPr sz="868"/>
            </a:lvl6pPr>
            <a:lvl7pPr marL="2646058" indent="0">
              <a:buNone/>
              <a:defRPr sz="868"/>
            </a:lvl7pPr>
            <a:lvl8pPr marL="3087068" indent="0">
              <a:buNone/>
              <a:defRPr sz="868"/>
            </a:lvl8pPr>
            <a:lvl9pPr marL="3528077" indent="0">
              <a:buNone/>
              <a:defRPr sz="868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F66C5-9CC5-4920-8C7D-4C917F0FD76F}" type="datetimeFigureOut">
              <a:rPr lang="ko-KR" altLang="en-US" smtClean="0"/>
              <a:pPr/>
              <a:t>2026-10-30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A9B7-C6A9-4D18-8805-BC65FADB00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1471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551932"/>
            <a:ext cx="4114800" cy="773492"/>
          </a:xfrm>
        </p:spPr>
        <p:txBody>
          <a:bodyPr anchor="b"/>
          <a:lstStyle>
            <a:lvl1pPr algn="l">
              <a:defRPr sz="1929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36324"/>
            <a:ext cx="4114800" cy="5615940"/>
          </a:xfrm>
        </p:spPr>
        <p:txBody>
          <a:bodyPr/>
          <a:lstStyle>
            <a:lvl1pPr marL="0" indent="0">
              <a:buNone/>
              <a:defRPr sz="3087"/>
            </a:lvl1pPr>
            <a:lvl2pPr marL="441009" indent="0">
              <a:buNone/>
              <a:defRPr sz="2701"/>
            </a:lvl2pPr>
            <a:lvl3pPr marL="882019" indent="0">
              <a:buNone/>
              <a:defRPr sz="2315"/>
            </a:lvl3pPr>
            <a:lvl4pPr marL="1323029" indent="0">
              <a:buNone/>
              <a:defRPr sz="1929"/>
            </a:lvl4pPr>
            <a:lvl5pPr marL="1764039" indent="0">
              <a:buNone/>
              <a:defRPr sz="1929"/>
            </a:lvl5pPr>
            <a:lvl6pPr marL="2205049" indent="0">
              <a:buNone/>
              <a:defRPr sz="1929"/>
            </a:lvl6pPr>
            <a:lvl7pPr marL="2646058" indent="0">
              <a:buNone/>
              <a:defRPr sz="1929"/>
            </a:lvl7pPr>
            <a:lvl8pPr marL="3087068" indent="0">
              <a:buNone/>
              <a:defRPr sz="1929"/>
            </a:lvl8pPr>
            <a:lvl9pPr marL="3528077" indent="0">
              <a:buNone/>
              <a:defRPr sz="1929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325424"/>
            <a:ext cx="4114800" cy="1098488"/>
          </a:xfrm>
        </p:spPr>
        <p:txBody>
          <a:bodyPr/>
          <a:lstStyle>
            <a:lvl1pPr marL="0" indent="0">
              <a:buNone/>
              <a:defRPr sz="1350"/>
            </a:lvl1pPr>
            <a:lvl2pPr marL="441009" indent="0">
              <a:buNone/>
              <a:defRPr sz="1158"/>
            </a:lvl2pPr>
            <a:lvl3pPr marL="882019" indent="0">
              <a:buNone/>
              <a:defRPr sz="965"/>
            </a:lvl3pPr>
            <a:lvl4pPr marL="1323029" indent="0">
              <a:buNone/>
              <a:defRPr sz="868"/>
            </a:lvl4pPr>
            <a:lvl5pPr marL="1764039" indent="0">
              <a:buNone/>
              <a:defRPr sz="868"/>
            </a:lvl5pPr>
            <a:lvl6pPr marL="2205049" indent="0">
              <a:buNone/>
              <a:defRPr sz="868"/>
            </a:lvl6pPr>
            <a:lvl7pPr marL="2646058" indent="0">
              <a:buNone/>
              <a:defRPr sz="868"/>
            </a:lvl7pPr>
            <a:lvl8pPr marL="3087068" indent="0">
              <a:buNone/>
              <a:defRPr sz="868"/>
            </a:lvl8pPr>
            <a:lvl9pPr marL="3528077" indent="0">
              <a:buNone/>
              <a:defRPr sz="868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F66C5-9CC5-4920-8C7D-4C917F0FD76F}" type="datetimeFigureOut">
              <a:rPr lang="ko-KR" altLang="en-US" smtClean="0"/>
              <a:pPr/>
              <a:t>2026-10-30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A9B7-C6A9-4D18-8805-BC65FADB00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2208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F66C5-9CC5-4920-8C7D-4C917F0FD76F}" type="datetimeFigureOut">
              <a:rPr lang="ko-KR" altLang="en-US" smtClean="0"/>
              <a:pPr/>
              <a:t>2026-10-30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A9B7-C6A9-4D18-8805-BC65FADB00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1329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00498"/>
            <a:ext cx="1157288" cy="1064688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00498"/>
            <a:ext cx="3357563" cy="1064688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F66C5-9CC5-4920-8C7D-4C917F0FD76F}" type="datetimeFigureOut">
              <a:rPr lang="ko-KR" altLang="en-US" smtClean="0"/>
              <a:pPr/>
              <a:t>2026-10-30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A9B7-C6A9-4D18-8805-BC65FADB00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479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74833"/>
            <a:ext cx="6172200" cy="15599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83982"/>
            <a:ext cx="6172200" cy="61771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675244"/>
            <a:ext cx="1600200" cy="49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5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EF66C5-9CC5-4920-8C7D-4C917F0FD76F}" type="datetimeFigureOut">
              <a:rPr lang="ko-KR" altLang="en-US" smtClean="0"/>
              <a:pPr/>
              <a:t>2026-10-30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1" y="8675244"/>
            <a:ext cx="2171700" cy="49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5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675244"/>
            <a:ext cx="1600200" cy="49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5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C0A9B7-C6A9-4D18-8805-BC65FADB00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9105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882019" rtl="0" eaLnBrk="1" latinLnBrk="1" hangingPunct="1">
        <a:spcBef>
          <a:spcPct val="0"/>
        </a:spcBef>
        <a:buNone/>
        <a:defRPr sz="42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0757" indent="-330757" algn="l" defTabSz="882019" rtl="0" eaLnBrk="1" latinLnBrk="1" hangingPunct="1">
        <a:spcBef>
          <a:spcPct val="20000"/>
        </a:spcBef>
        <a:buFont typeface="Arial" panose="020B0604020202020204" pitchFamily="34" charset="0"/>
        <a:buChar char="•"/>
        <a:defRPr sz="3087" kern="1200">
          <a:solidFill>
            <a:schemeClr val="tx1"/>
          </a:solidFill>
          <a:latin typeface="+mn-lt"/>
          <a:ea typeface="+mn-ea"/>
          <a:cs typeface="+mn-cs"/>
        </a:defRPr>
      </a:lvl1pPr>
      <a:lvl2pPr marL="716641" indent="-275630" algn="l" defTabSz="882019" rtl="0" eaLnBrk="1" latinLnBrk="1" hangingPunct="1">
        <a:spcBef>
          <a:spcPct val="20000"/>
        </a:spcBef>
        <a:buFont typeface="Arial" panose="020B0604020202020204" pitchFamily="34" charset="0"/>
        <a:buChar char="–"/>
        <a:defRPr sz="2701" kern="1200">
          <a:solidFill>
            <a:schemeClr val="tx1"/>
          </a:solidFill>
          <a:latin typeface="+mn-lt"/>
          <a:ea typeface="+mn-ea"/>
          <a:cs typeface="+mn-cs"/>
        </a:defRPr>
      </a:lvl2pPr>
      <a:lvl3pPr marL="1102524" indent="-220506" algn="l" defTabSz="882019" rtl="0" eaLnBrk="1" latinLnBrk="1" hangingPunct="1">
        <a:spcBef>
          <a:spcPct val="20000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3pPr>
      <a:lvl4pPr marL="1543534" indent="-220506" algn="l" defTabSz="882019" rtl="0" eaLnBrk="1" latinLnBrk="1" hangingPunct="1">
        <a:spcBef>
          <a:spcPct val="20000"/>
        </a:spcBef>
        <a:buFont typeface="Arial" panose="020B0604020202020204" pitchFamily="34" charset="0"/>
        <a:buChar char="–"/>
        <a:defRPr sz="1929" kern="1200">
          <a:solidFill>
            <a:schemeClr val="tx1"/>
          </a:solidFill>
          <a:latin typeface="+mn-lt"/>
          <a:ea typeface="+mn-ea"/>
          <a:cs typeface="+mn-cs"/>
        </a:defRPr>
      </a:lvl4pPr>
      <a:lvl5pPr marL="1984543" indent="-220506" algn="l" defTabSz="882019" rtl="0" eaLnBrk="1" latinLnBrk="1" hangingPunct="1">
        <a:spcBef>
          <a:spcPct val="20000"/>
        </a:spcBef>
        <a:buFont typeface="Arial" panose="020B0604020202020204" pitchFamily="34" charset="0"/>
        <a:buChar char="»"/>
        <a:defRPr sz="1929" kern="1200">
          <a:solidFill>
            <a:schemeClr val="tx1"/>
          </a:solidFill>
          <a:latin typeface="+mn-lt"/>
          <a:ea typeface="+mn-ea"/>
          <a:cs typeface="+mn-cs"/>
        </a:defRPr>
      </a:lvl5pPr>
      <a:lvl6pPr marL="2425553" indent="-220506" algn="l" defTabSz="882019" rtl="0" eaLnBrk="1" latinLnBrk="1" hangingPunct="1">
        <a:spcBef>
          <a:spcPct val="20000"/>
        </a:spcBef>
        <a:buFont typeface="Arial" panose="020B0604020202020204" pitchFamily="34" charset="0"/>
        <a:buChar char="•"/>
        <a:defRPr sz="1929" kern="1200">
          <a:solidFill>
            <a:schemeClr val="tx1"/>
          </a:solidFill>
          <a:latin typeface="+mn-lt"/>
          <a:ea typeface="+mn-ea"/>
          <a:cs typeface="+mn-cs"/>
        </a:defRPr>
      </a:lvl6pPr>
      <a:lvl7pPr marL="2866563" indent="-220506" algn="l" defTabSz="882019" rtl="0" eaLnBrk="1" latinLnBrk="1" hangingPunct="1">
        <a:spcBef>
          <a:spcPct val="20000"/>
        </a:spcBef>
        <a:buFont typeface="Arial" panose="020B0604020202020204" pitchFamily="34" charset="0"/>
        <a:buChar char="•"/>
        <a:defRPr sz="1929" kern="1200">
          <a:solidFill>
            <a:schemeClr val="tx1"/>
          </a:solidFill>
          <a:latin typeface="+mn-lt"/>
          <a:ea typeface="+mn-ea"/>
          <a:cs typeface="+mn-cs"/>
        </a:defRPr>
      </a:lvl7pPr>
      <a:lvl8pPr marL="3307572" indent="-220506" algn="l" defTabSz="882019" rtl="0" eaLnBrk="1" latinLnBrk="1" hangingPunct="1">
        <a:spcBef>
          <a:spcPct val="20000"/>
        </a:spcBef>
        <a:buFont typeface="Arial" panose="020B0604020202020204" pitchFamily="34" charset="0"/>
        <a:buChar char="•"/>
        <a:defRPr sz="1929" kern="1200">
          <a:solidFill>
            <a:schemeClr val="tx1"/>
          </a:solidFill>
          <a:latin typeface="+mn-lt"/>
          <a:ea typeface="+mn-ea"/>
          <a:cs typeface="+mn-cs"/>
        </a:defRPr>
      </a:lvl8pPr>
      <a:lvl9pPr marL="3748583" indent="-220506" algn="l" defTabSz="882019" rtl="0" eaLnBrk="1" latinLnBrk="1" hangingPunct="1">
        <a:spcBef>
          <a:spcPct val="20000"/>
        </a:spcBef>
        <a:buFont typeface="Arial" panose="020B0604020202020204" pitchFamily="34" charset="0"/>
        <a:buChar char="•"/>
        <a:defRPr sz="192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82019" rtl="0" eaLnBrk="1" latinLnBrk="1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1pPr>
      <a:lvl2pPr marL="441009" algn="l" defTabSz="882019" rtl="0" eaLnBrk="1" latinLnBrk="1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2pPr>
      <a:lvl3pPr marL="882019" algn="l" defTabSz="882019" rtl="0" eaLnBrk="1" latinLnBrk="1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3pPr>
      <a:lvl4pPr marL="1323029" algn="l" defTabSz="882019" rtl="0" eaLnBrk="1" latinLnBrk="1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4pPr>
      <a:lvl5pPr marL="1764039" algn="l" defTabSz="882019" rtl="0" eaLnBrk="1" latinLnBrk="1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5pPr>
      <a:lvl6pPr marL="2205049" algn="l" defTabSz="882019" rtl="0" eaLnBrk="1" latinLnBrk="1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6pPr>
      <a:lvl7pPr marL="2646058" algn="l" defTabSz="882019" rtl="0" eaLnBrk="1" latinLnBrk="1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7pPr>
      <a:lvl8pPr marL="3087068" algn="l" defTabSz="882019" rtl="0" eaLnBrk="1" latinLnBrk="1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8pPr>
      <a:lvl9pPr marL="3528077" algn="l" defTabSz="882019" rtl="0" eaLnBrk="1" latinLnBrk="1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"/>
          <p:cNvSpPr txBox="1"/>
          <p:nvPr/>
        </p:nvSpPr>
        <p:spPr>
          <a:xfrm>
            <a:off x="0" y="120000"/>
            <a:ext cx="9359900" cy="47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marL="0" indent="0" algn="ctr" latinLnBrk="1">
              <a:lnSpc>
                <a:spcPct val="110000"/>
              </a:lnSpc>
              <a:buNone/>
            </a:pPr>
            <a:r>
              <a:rPr lang="ko-KR" altLang="en-US" sz="2200" u="sng" dirty="0">
                <a:solidFill>
                  <a:prstClr val="black">
                    <a:lumMod val="85000"/>
                    <a:lumOff val="1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주요 프로젝트 추진 현황</a:t>
            </a:r>
          </a:p>
        </p:txBody>
      </p:sp>
      <p:sp>
        <p:nvSpPr>
          <p:cNvPr id="103" name="Frame 1"/>
          <p:cNvSpPr/>
          <p:nvPr/>
        </p:nvSpPr>
        <p:spPr>
          <a:xfrm>
            <a:off x="9680510" y="1059153"/>
            <a:ext cx="4379950" cy="2864000"/>
          </a:xfrm>
          <a:prstGeom prst="rect">
            <a:avLst/>
          </a:prstGeom>
          <a:noFill/>
          <a:ln w="9525">
            <a:solidFill>
              <a:srgbClr val="A6A6A6"/>
            </a:solidFill>
          </a:ln>
        </p:spPr>
        <p:txBody>
          <a:bodyPr wrap="square" lIns="36000" tIns="18000" rIns="36000" bIns="18000" anchor="t">
            <a:noAutofit/>
          </a:bodyPr>
          <a:lstStyle/>
          <a:p>
            <a:endParaRPr lang="ko-KR" sz="900"/>
          </a:p>
        </p:txBody>
      </p:sp>
      <p:sp>
        <p:nvSpPr>
          <p:cNvPr id="104" name="Header 1"/>
          <p:cNvSpPr/>
          <p:nvPr/>
        </p:nvSpPr>
        <p:spPr>
          <a:xfrm>
            <a:off x="9680510" y="1059153"/>
            <a:ext cx="4379950" cy="300000"/>
          </a:xfrm>
          <a:prstGeom prst="rect">
            <a:avLst/>
          </a:prstGeom>
          <a:solidFill>
            <a:srgbClr val="1E236E"/>
          </a:solidFill>
          <a:ln>
            <a:noFill/>
          </a:ln>
        </p:spPr>
        <p:txBody>
          <a:bodyPr wrap="square" lIns="90000" tIns="0" rIns="90000" bIns="0" anchor="ctr">
            <a:noAutofit/>
          </a:bodyPr>
          <a:lstStyle/>
          <a:p>
            <a:pPr marL="0" indent="0" algn="l" latinLnBrk="1">
              <a:lnSpc>
                <a:spcPct val="100000"/>
              </a:lnSpc>
              <a:buNone/>
            </a:pPr>
            <a:r>
              <a:rPr lang="ko-KR" altLang="en-US" sz="1300" dirty="0">
                <a:solidFill>
                  <a:srgbClr val="FFFFFF"/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1. 센텀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12114236" y="1059153"/>
            <a:ext cx="1856224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 latinLnBrk="1">
              <a:lnSpc>
                <a:spcPct val="100000"/>
              </a:lnSpc>
              <a:buNone/>
            </a:pPr>
            <a:endParaRPr lang="ko-KR" altLang="en-US" sz="950" dirty="0">
              <a:solidFill>
                <a:srgbClr val="FFFFFF"/>
              </a:solidFill>
              <a:latin typeface="신세계 민부리 Medium(OTF)" panose="02000600000000020003" pitchFamily="50" charset="-127"/>
              <a:ea typeface="신세계 민부리 Medium(OTF)" panose="02000600000000020003" pitchFamily="50" charset="-127"/>
            </a:endParaRPr>
          </a:p>
        </p:txBody>
      </p:sp>
      <p:sp>
        <p:nvSpPr>
          <p:cNvPr id="106" name="개요 1"/>
          <p:cNvSpPr/>
          <p:nvPr/>
        </p:nvSpPr>
        <p:spPr>
          <a:xfrm>
            <a:off x="9740510" y="1419153"/>
            <a:ext cx="4259950" cy="28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70000" tIns="0" rIns="70000" bIns="0" anchor="ctr">
            <a:noAutofit/>
          </a:bodyPr>
          <a:lstStyle/>
          <a:p>
            <a:pPr>
              <a:lnSpc>
                <a:spcPct val="110000"/>
              </a:lnSpc>
            </a:pPr>
            <a:r>
              <a:rPr lang="ko-KR" altLang="en-US" sz="95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위치 : 부산 해운대구 우동 </a:t>
            </a:r>
            <a:r>
              <a:rPr lang="en-US" altLang="ko-KR" sz="95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1492</a:t>
            </a:r>
            <a:r>
              <a:rPr lang="ko-KR" altLang="en-US" sz="95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  |  규모 : </a:t>
            </a:r>
            <a:r>
              <a:rPr lang="en-US" altLang="ko-KR" sz="95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82,200</a:t>
            </a:r>
            <a:r>
              <a:rPr lang="ko-KR" altLang="en-US" sz="95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평  |  사업비 : </a:t>
            </a:r>
            <a:r>
              <a:rPr lang="en-US" altLang="ko-KR" sz="95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16,820</a:t>
            </a:r>
            <a:r>
              <a:rPr lang="ko-KR" altLang="en-US" sz="95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억</a:t>
            </a:r>
          </a:p>
        </p:txBody>
      </p:sp>
      <p:sp>
        <p:nvSpPr>
          <p:cNvPr id="108" name="Frame 2"/>
          <p:cNvSpPr/>
          <p:nvPr/>
        </p:nvSpPr>
        <p:spPr>
          <a:xfrm>
            <a:off x="4749950" y="760000"/>
            <a:ext cx="4379950" cy="2864000"/>
          </a:xfrm>
          <a:prstGeom prst="rect">
            <a:avLst/>
          </a:prstGeom>
          <a:noFill/>
          <a:ln w="9525">
            <a:solidFill>
              <a:srgbClr val="A6A6A6"/>
            </a:solidFill>
          </a:ln>
        </p:spPr>
        <p:txBody>
          <a:bodyPr wrap="square" lIns="36000" tIns="18000" rIns="36000" bIns="18000" anchor="t">
            <a:noAutofit/>
          </a:bodyPr>
          <a:lstStyle/>
          <a:p>
            <a:endParaRPr lang="ko-KR" sz="900"/>
          </a:p>
        </p:txBody>
      </p:sp>
      <p:sp>
        <p:nvSpPr>
          <p:cNvPr id="109" name="Header 2"/>
          <p:cNvSpPr/>
          <p:nvPr/>
        </p:nvSpPr>
        <p:spPr>
          <a:xfrm>
            <a:off x="4749950" y="760000"/>
            <a:ext cx="4379950" cy="300000"/>
          </a:xfrm>
          <a:prstGeom prst="rect">
            <a:avLst/>
          </a:prstGeom>
          <a:solidFill>
            <a:srgbClr val="1E236E"/>
          </a:solidFill>
          <a:ln>
            <a:noFill/>
          </a:ln>
        </p:spPr>
        <p:txBody>
          <a:bodyPr wrap="square" lIns="90000" tIns="0" rIns="90000" bIns="0" anchor="ctr">
            <a:noAutofit/>
          </a:bodyPr>
          <a:lstStyle/>
          <a:p>
            <a:r>
              <a:rPr lang="en-US" altLang="ko-KR" sz="1300" dirty="0">
                <a:solidFill>
                  <a:srgbClr val="FFFFFF"/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2</a:t>
            </a:r>
            <a:r>
              <a:rPr lang="ko-KR" altLang="en-US" sz="1300" dirty="0">
                <a:solidFill>
                  <a:srgbClr val="FFFFFF"/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. </a:t>
            </a:r>
            <a:r>
              <a:rPr lang="ko-KR" altLang="en-US" sz="1300" dirty="0" err="1">
                <a:solidFill>
                  <a:srgbClr val="FFFFFF"/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센텀</a:t>
            </a:r>
            <a:endParaRPr lang="ko-KR" altLang="en-US" sz="1300" dirty="0">
              <a:solidFill>
                <a:srgbClr val="FFFFFF"/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</a:endParaRPr>
          </a:p>
        </p:txBody>
      </p:sp>
      <p:sp>
        <p:nvSpPr>
          <p:cNvPr id="111" name="개요 2"/>
          <p:cNvSpPr/>
          <p:nvPr/>
        </p:nvSpPr>
        <p:spPr>
          <a:xfrm>
            <a:off x="4809950" y="1120000"/>
            <a:ext cx="4259950" cy="28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70000" tIns="0" rIns="70000" bIns="0" anchor="ctr">
            <a:noAutofit/>
          </a:bodyPr>
          <a:lstStyle/>
          <a:p>
            <a:pPr>
              <a:lnSpc>
                <a:spcPct val="110000"/>
              </a:lnSpc>
            </a:pPr>
            <a:r>
              <a:rPr lang="ko-KR" altLang="en-US" sz="95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위치 : 부산 해운대구 우동 </a:t>
            </a:r>
            <a:r>
              <a:rPr lang="en-US" altLang="ko-KR" sz="95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1492</a:t>
            </a:r>
            <a:r>
              <a:rPr lang="ko-KR" altLang="en-US" sz="95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  |  규모 : </a:t>
            </a:r>
            <a:r>
              <a:rPr lang="en-US" altLang="ko-KR" sz="95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82,200</a:t>
            </a:r>
            <a:r>
              <a:rPr lang="ko-KR" altLang="en-US" sz="95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평  |  사업비 : </a:t>
            </a:r>
            <a:r>
              <a:rPr lang="en-US" altLang="ko-KR" sz="95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16,820</a:t>
            </a:r>
            <a:r>
              <a:rPr lang="ko-KR" altLang="en-US" sz="95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억</a:t>
            </a:r>
          </a:p>
        </p:txBody>
      </p:sp>
      <p:sp>
        <p:nvSpPr>
          <p:cNvPr id="112" name="Body 2"/>
          <p:cNvSpPr txBox="1"/>
          <p:nvPr/>
        </p:nvSpPr>
        <p:spPr>
          <a:xfrm>
            <a:off x="4789950" y="1420000"/>
            <a:ext cx="4299950" cy="2174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0" rIns="36000" bIns="0" anchor="t">
            <a:noAutofit/>
          </a:bodyPr>
          <a:lstStyle/>
          <a:p>
            <a:pPr marL="0" marR="0" lvl="0" indent="0" algn="l" defTabSz="914317" rtl="0" eaLnBrk="1" fontAlgn="auto" latinLnBrk="1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Bold(TTF)" panose="02000600000000020003" pitchFamily="2" charset="-127"/>
                <a:ea typeface="신세계 민부리 Bold(TTF)" panose="02000600000000020003" pitchFamily="2" charset="-127"/>
                <a:cs typeface="+mn-cs"/>
                <a:sym typeface="Wingdings" panose="05000000000000000000" pitchFamily="2" charset="2"/>
              </a:rPr>
              <a:t>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Bold(TTF)" panose="02000600000000020003" pitchFamily="2" charset="-127"/>
                <a:ea typeface="신세계 민부리 Bold(TTF)" panose="02000600000000020003" pitchFamily="2" charset="-127"/>
                <a:cs typeface="+mn-cs"/>
              </a:rPr>
              <a:t> 추진 현황</a:t>
            </a:r>
          </a:p>
          <a:p>
            <a:pPr marL="300000" marR="0" lvl="0" indent="-130000" algn="l" defTabSz="914317" rtl="0" eaLnBrk="1" fontAlgn="auto" latinLnBrk="1" hangingPunct="1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cs typeface="+mn-cs"/>
                <a:sym typeface="Wingdings" pitchFamily="2" charset="2"/>
              </a:rPr>
              <a:t>•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cs typeface="+mn-cs"/>
              </a:rPr>
              <a:t> AMC 선정 : 이지스 우선협상대상자 선정 완료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cs typeface="+mn-cs"/>
              </a:rPr>
              <a:t>(’26.8)</a:t>
            </a:r>
          </a:p>
          <a:p>
            <a:pPr marL="300000" marR="0" lvl="0" indent="-130000" algn="l" defTabSz="914317" rtl="0" eaLnBrk="1" fontAlgn="auto" latinLnBrk="1" hangingPunct="1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cs typeface="+mn-cs"/>
                <a:sym typeface="Wingdings" pitchFamily="2" charset="2"/>
              </a:rPr>
              <a:t>•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cs typeface="+mn-cs"/>
              </a:rPr>
              <a:t> 금융 구조화·상품성 개선방안 : 협의 중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신세계 민부리 Light(OTF)" panose="02000600000000020003" pitchFamily="50" charset="-127"/>
              <a:ea typeface="신세계 민부리 Light(OTF)" panose="02000600000000020003" pitchFamily="50" charset="-127"/>
              <a:cs typeface="+mn-cs"/>
            </a:endParaRPr>
          </a:p>
          <a:p>
            <a:pPr marL="0" marR="0" lvl="0" indent="0" algn="l" defTabSz="914317" rtl="0" eaLnBrk="1" fontAlgn="auto" latinLnBrk="1" hangingPunct="1">
              <a:lnSpc>
                <a:spcPct val="3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Bold(TTF)" panose="02000600000000020003" pitchFamily="2" charset="-127"/>
                <a:ea typeface="신세계 민부리 Bold(TTF)" panose="02000600000000020003" pitchFamily="2" charset="-127"/>
                <a:cs typeface="+mn-cs"/>
                <a:sym typeface="Wingdings" pitchFamily="2" charset="2"/>
              </a:rPr>
              <a:t>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Bold(TTF)" panose="02000600000000020003" pitchFamily="2" charset="-127"/>
                <a:ea typeface="신세계 민부리 Bold(TTF)" panose="02000600000000020003" pitchFamily="2" charset="-127"/>
                <a:cs typeface="+mn-cs"/>
              </a:rPr>
              <a:t>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Bold(TTF)" panose="02000600000000020003" pitchFamily="2" charset="-127"/>
                <a:ea typeface="신세계 민부리 Bold(TTF)" panose="02000600000000020003" pitchFamily="2" charset="-127"/>
                <a:cs typeface="+mn-cs"/>
              </a:rPr>
              <a:t>’27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Bold(TTF)" panose="02000600000000020003" pitchFamily="2" charset="-127"/>
                <a:ea typeface="신세계 민부리 Bold(TTF)" panose="02000600000000020003" pitchFamily="2" charset="-127"/>
                <a:cs typeface="+mn-cs"/>
              </a:rPr>
              <a:t>년 계획</a:t>
            </a:r>
          </a:p>
          <a:p>
            <a:pPr marL="300000" marR="0" lvl="0" indent="-130000" algn="l" defTabSz="914317" rtl="0" eaLnBrk="1" fontAlgn="auto" latinLnBrk="1" hangingPunct="1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cs typeface="+mn-cs"/>
                <a:sym typeface="Wingdings" pitchFamily="2" charset="2"/>
              </a:rPr>
              <a:t>•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cs typeface="+mn-cs"/>
              </a:rPr>
              <a:t> 금융 구조 확정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cs typeface="+mn-cs"/>
              </a:rPr>
              <a:t>(비히클·지분구조 등)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신세계 민부리 Light(OTF)" panose="02000600000000020003" pitchFamily="50" charset="-127"/>
              <a:ea typeface="신세계 민부리 Light(OTF)" panose="02000600000000020003" pitchFamily="50" charset="-127"/>
              <a:cs typeface="+mn-cs"/>
            </a:endParaRPr>
          </a:p>
          <a:p>
            <a:pPr marL="300000" marR="0" lvl="0" indent="-130000" algn="l" defTabSz="914317" rtl="0" eaLnBrk="1" fontAlgn="auto" latinLnBrk="1" hangingPunct="1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cs typeface="+mn-cs"/>
                <a:sym typeface="Wingdings" pitchFamily="2" charset="2"/>
              </a:rPr>
              <a:t>•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cs typeface="+mn-cs"/>
              </a:rPr>
              <a:t> SPC 설립·토지매매계약 체결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cs typeface="+mn-cs"/>
              </a:rPr>
              <a:t>(’27.下)</a:t>
            </a:r>
          </a:p>
          <a:p>
            <a:pPr marL="300000" lvl="0" indent="-130000">
              <a:spcBef>
                <a:spcPts val="100"/>
              </a:spcBef>
              <a:defRPr/>
            </a:pPr>
            <a:r>
              <a:rPr lang="ko-KR" altLang="ko-KR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 </a:t>
            </a:r>
            <a:r>
              <a:rPr lang="en-US" altLang="ko-KR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  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cs typeface="+mn-cs"/>
              </a:rPr>
              <a:t>→ 필요사항 : 당사 160억 출자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cs typeface="+mn-cs"/>
              </a:rPr>
              <a:t>(SPC 설립 10억 + 토지 계약금 150억)</a:t>
            </a:r>
            <a:endParaRPr lang="ko-KR" altLang="en-US" sz="1000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OTF)" panose="02000600000000020003" pitchFamily="50" charset="-127"/>
              <a:ea typeface="신세계 민부리 Light(OTF)" panose="02000600000000020003" pitchFamily="50" charset="-127"/>
            </a:endParaRPr>
          </a:p>
        </p:txBody>
      </p:sp>
      <p:sp>
        <p:nvSpPr>
          <p:cNvPr id="113" name="Frame 3"/>
          <p:cNvSpPr/>
          <p:nvPr/>
        </p:nvSpPr>
        <p:spPr>
          <a:xfrm>
            <a:off x="230000" y="3764000"/>
            <a:ext cx="4379950" cy="2864000"/>
          </a:xfrm>
          <a:prstGeom prst="rect">
            <a:avLst/>
          </a:prstGeom>
          <a:noFill/>
          <a:ln w="9525">
            <a:solidFill>
              <a:srgbClr val="A6A6A6"/>
            </a:solidFill>
          </a:ln>
        </p:spPr>
        <p:txBody>
          <a:bodyPr wrap="square" lIns="36000" tIns="18000" rIns="36000" bIns="18000" anchor="t">
            <a:noAutofit/>
          </a:bodyPr>
          <a:lstStyle/>
          <a:p>
            <a:endParaRPr lang="ko-KR" sz="900"/>
          </a:p>
        </p:txBody>
      </p:sp>
      <p:sp>
        <p:nvSpPr>
          <p:cNvPr id="114" name="Header 3"/>
          <p:cNvSpPr/>
          <p:nvPr/>
        </p:nvSpPr>
        <p:spPr>
          <a:xfrm>
            <a:off x="230000" y="3764000"/>
            <a:ext cx="4379950" cy="300000"/>
          </a:xfrm>
          <a:prstGeom prst="rect">
            <a:avLst/>
          </a:prstGeom>
          <a:solidFill>
            <a:srgbClr val="1E236E"/>
          </a:solidFill>
          <a:ln>
            <a:noFill/>
          </a:ln>
        </p:spPr>
        <p:txBody>
          <a:bodyPr wrap="square" lIns="90000" tIns="0" rIns="90000" bIns="0" anchor="ctr">
            <a:noAutofit/>
          </a:bodyPr>
          <a:lstStyle/>
          <a:p>
            <a:r>
              <a:rPr lang="en-US" altLang="ko-KR" sz="1300" dirty="0">
                <a:solidFill>
                  <a:srgbClr val="FFFFFF"/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3</a:t>
            </a:r>
            <a:r>
              <a:rPr lang="ko-KR" altLang="en-US" sz="1300" dirty="0">
                <a:solidFill>
                  <a:srgbClr val="FFFFFF"/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. 송도</a:t>
            </a:r>
          </a:p>
        </p:txBody>
      </p:sp>
      <p:sp>
        <p:nvSpPr>
          <p:cNvPr id="116" name="개요 3"/>
          <p:cNvSpPr/>
          <p:nvPr/>
        </p:nvSpPr>
        <p:spPr>
          <a:xfrm>
            <a:off x="290000" y="4124000"/>
            <a:ext cx="4259950" cy="28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70000" tIns="0" rIns="70000" bIns="0" anchor="ctr">
            <a:noAutofit/>
          </a:bodyPr>
          <a:lstStyle/>
          <a:p>
            <a:pPr>
              <a:lnSpc>
                <a:spcPct val="110000"/>
              </a:lnSpc>
            </a:pPr>
            <a:r>
              <a:rPr lang="ko-KR" altLang="en-US" sz="95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위치 : 인천 연수구 송도동 </a:t>
            </a:r>
            <a:r>
              <a:rPr lang="en-US" altLang="ko-KR" sz="95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10-1 </a:t>
            </a:r>
            <a:r>
              <a:rPr lang="ko-KR" altLang="en-US" sz="95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 |  규모 : </a:t>
            </a:r>
            <a:r>
              <a:rPr lang="en-US" altLang="ko-KR" sz="95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161,200</a:t>
            </a:r>
            <a:r>
              <a:rPr lang="ko-KR" altLang="en-US" sz="95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평  |  사업비 : </a:t>
            </a:r>
            <a:r>
              <a:rPr lang="en-US" altLang="ko-KR" sz="95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2</a:t>
            </a:r>
            <a:r>
              <a:rPr lang="ko-KR" altLang="en-US" sz="95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조 </a:t>
            </a:r>
            <a:r>
              <a:rPr lang="en-US" altLang="ko-KR" sz="95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5,246</a:t>
            </a:r>
            <a:r>
              <a:rPr lang="ko-KR" altLang="en-US" sz="95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억</a:t>
            </a:r>
          </a:p>
        </p:txBody>
      </p:sp>
      <p:sp>
        <p:nvSpPr>
          <p:cNvPr id="117" name="Body 3"/>
          <p:cNvSpPr txBox="1"/>
          <p:nvPr/>
        </p:nvSpPr>
        <p:spPr>
          <a:xfrm>
            <a:off x="270000" y="4424000"/>
            <a:ext cx="4299950" cy="2174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0" rIns="36000" bIns="0" anchor="t">
            <a:noAutofit/>
          </a:bodyPr>
          <a:lstStyle/>
          <a:p>
            <a:pPr marL="0" marR="0" lvl="0" indent="0" algn="l" defTabSz="914317" rtl="0" eaLnBrk="1" fontAlgn="auto" latinLnBrk="1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Bold(TTF)" panose="02000600000000020003" pitchFamily="2" charset="-127"/>
                <a:ea typeface="신세계 민부리 Bold(TTF)" panose="02000600000000020003" pitchFamily="2" charset="-127"/>
                <a:cs typeface="+mn-cs"/>
                <a:sym typeface="Wingdings" pitchFamily="2" charset="2"/>
              </a:rPr>
              <a:t>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Bold(TTF)" panose="02000600000000020003" pitchFamily="2" charset="-127"/>
                <a:ea typeface="신세계 민부리 Bold(TTF)" panose="02000600000000020003" pitchFamily="2" charset="-127"/>
                <a:cs typeface="+mn-cs"/>
              </a:rPr>
              <a:t> 추진 현황</a:t>
            </a:r>
          </a:p>
          <a:p>
            <a:pPr marL="300000" marR="0" lvl="0" indent="-130000" algn="l" defTabSz="914317" rtl="0" eaLnBrk="1" fontAlgn="auto" latinLnBrk="1" hangingPunct="1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cs typeface="+mn-cs"/>
                <a:sym typeface="Wingdings" pitchFamily="2" charset="2"/>
              </a:rPr>
              <a:t>•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cs typeface="+mn-cs"/>
              </a:rPr>
              <a:t> GIC 투자구조 : 우선주 전환 협의 중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신세계 민부리 Light(OTF)" panose="02000600000000020003" pitchFamily="50" charset="-127"/>
              <a:ea typeface="신세계 민부리 Light(OTF)" panose="02000600000000020003" pitchFamily="50" charset="-127"/>
              <a:cs typeface="+mn-cs"/>
            </a:endParaRPr>
          </a:p>
          <a:p>
            <a:pPr marL="300000" marR="0" lvl="0" indent="-130000" algn="l" defTabSz="914317" rtl="0" eaLnBrk="1" fontAlgn="auto" latinLnBrk="1" hangingPunct="1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cs typeface="+mn-cs"/>
                <a:sym typeface="Wingdings" pitchFamily="2" charset="2"/>
              </a:rPr>
              <a:t>•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cs typeface="+mn-cs"/>
              </a:rPr>
              <a:t>건축인허가 : 착수 및 추진 중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신세계 민부리 Light(OTF)" panose="02000600000000020003" pitchFamily="50" charset="-127"/>
              <a:ea typeface="신세계 민부리 Light(OTF)" panose="02000600000000020003" pitchFamily="50" charset="-127"/>
              <a:cs typeface="+mn-cs"/>
            </a:endParaRPr>
          </a:p>
          <a:p>
            <a:pPr marL="0" marR="0" lvl="0" indent="0" algn="l" defTabSz="914317" rtl="0" eaLnBrk="1" fontAlgn="auto" latinLnBrk="1" hangingPunct="1">
              <a:lnSpc>
                <a:spcPct val="3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Bold(TTF)" panose="02000600000000020003" pitchFamily="2" charset="-127"/>
                <a:ea typeface="신세계 민부리 Bold(TTF)" panose="02000600000000020003" pitchFamily="2" charset="-127"/>
                <a:cs typeface="+mn-cs"/>
                <a:sym typeface="Wingdings" pitchFamily="2" charset="2"/>
              </a:rPr>
              <a:t>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Bold(TTF)" panose="02000600000000020003" pitchFamily="2" charset="-127"/>
                <a:ea typeface="신세계 민부리 Bold(TTF)" panose="02000600000000020003" pitchFamily="2" charset="-127"/>
                <a:cs typeface="+mn-cs"/>
              </a:rPr>
              <a:t>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Bold(TTF)" panose="02000600000000020003" pitchFamily="2" charset="-127"/>
                <a:ea typeface="신세계 민부리 Bold(TTF)" panose="02000600000000020003" pitchFamily="2" charset="-127"/>
                <a:cs typeface="+mn-cs"/>
              </a:rPr>
              <a:t>’27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Bold(TTF)" panose="02000600000000020003" pitchFamily="2" charset="-127"/>
                <a:ea typeface="신세계 민부리 Bold(TTF)" panose="02000600000000020003" pitchFamily="2" charset="-127"/>
                <a:cs typeface="+mn-cs"/>
              </a:rPr>
              <a:t>년 계획</a:t>
            </a:r>
          </a:p>
          <a:p>
            <a:pPr marL="300000" lvl="0" indent="-130000">
              <a:spcBef>
                <a:spcPts val="100"/>
              </a:spcBef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cs typeface="+mn-cs"/>
                <a:sym typeface="Wingdings" pitchFamily="2" charset="2"/>
              </a:rPr>
              <a:t>•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cs typeface="+mn-cs"/>
              </a:rPr>
              <a:t>GIC 미투자 시 : 직접투자 사업성·Risk 검토</a:t>
            </a:r>
          </a:p>
          <a:p>
            <a:pPr marL="300000" lvl="0" indent="-130000">
              <a:spcBef>
                <a:spcPts val="100"/>
              </a:spcBef>
              <a:defRPr/>
            </a:pPr>
            <a:r>
              <a:rPr lang="ko-KR" altLang="ko-KR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 </a:t>
            </a:r>
            <a:r>
              <a:rPr lang="en-US" altLang="ko-KR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  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cs typeface="+mn-cs"/>
              </a:rPr>
              <a:t>→ 필요사항 : 당사 2,450억 추가 출자</a:t>
            </a:r>
            <a:endParaRPr lang="ko-KR" altLang="en-US" sz="1000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OTF)" panose="02000600000000020003" pitchFamily="50" charset="-127"/>
              <a:ea typeface="신세계 민부리 Light(OTF)" panose="02000600000000020003" pitchFamily="50" charset="-127"/>
            </a:endParaRPr>
          </a:p>
          <a:p>
            <a:pPr marL="300000" lvl="0" indent="-130000">
              <a:spcBef>
                <a:spcPts val="100"/>
              </a:spcBef>
              <a:defRPr/>
            </a:pPr>
            <a:r>
              <a:rPr lang="ko-KR" altLang="ko-KR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 </a:t>
            </a:r>
            <a:r>
              <a:rPr lang="en-US" altLang="ko-KR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  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cs typeface="+mn-cs"/>
              </a:rPr>
              <a:t>→ 직접투자 곤란 시 대체 투자자 Tapping 추진</a:t>
            </a:r>
            <a:endParaRPr lang="ko-KR" altLang="en-US" sz="1000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OTF)" panose="02000600000000020003" pitchFamily="50" charset="-127"/>
              <a:ea typeface="신세계 민부리 Light(OTF)" panose="02000600000000020003" pitchFamily="50" charset="-127"/>
            </a:endParaRPr>
          </a:p>
        </p:txBody>
      </p:sp>
      <p:sp>
        <p:nvSpPr>
          <p:cNvPr id="118" name="Frame 4"/>
          <p:cNvSpPr/>
          <p:nvPr/>
        </p:nvSpPr>
        <p:spPr>
          <a:xfrm>
            <a:off x="4749950" y="3764000"/>
            <a:ext cx="4379950" cy="2864000"/>
          </a:xfrm>
          <a:prstGeom prst="rect">
            <a:avLst/>
          </a:prstGeom>
          <a:noFill/>
          <a:ln w="9525">
            <a:solidFill>
              <a:srgbClr val="A6A6A6"/>
            </a:solidFill>
          </a:ln>
        </p:spPr>
        <p:txBody>
          <a:bodyPr wrap="square" lIns="36000" tIns="18000" rIns="36000" bIns="18000" anchor="t">
            <a:noAutofit/>
          </a:bodyPr>
          <a:lstStyle/>
          <a:p>
            <a:endParaRPr lang="ko-KR" sz="900"/>
          </a:p>
        </p:txBody>
      </p:sp>
      <p:sp>
        <p:nvSpPr>
          <p:cNvPr id="119" name="Header 4"/>
          <p:cNvSpPr/>
          <p:nvPr/>
        </p:nvSpPr>
        <p:spPr>
          <a:xfrm>
            <a:off x="4749950" y="3764000"/>
            <a:ext cx="4379950" cy="300000"/>
          </a:xfrm>
          <a:prstGeom prst="rect">
            <a:avLst/>
          </a:prstGeom>
          <a:solidFill>
            <a:srgbClr val="1E236E"/>
          </a:solidFill>
          <a:ln>
            <a:noFill/>
          </a:ln>
        </p:spPr>
        <p:txBody>
          <a:bodyPr wrap="square" lIns="90000" tIns="0" rIns="90000" bIns="0" anchor="ctr">
            <a:noAutofit/>
          </a:bodyPr>
          <a:lstStyle/>
          <a:p>
            <a:pPr marL="0" indent="0" algn="l" latinLnBrk="1">
              <a:lnSpc>
                <a:spcPct val="100000"/>
              </a:lnSpc>
              <a:buNone/>
            </a:pPr>
            <a:r>
              <a:rPr lang="en-US" altLang="ko-KR" sz="1300" dirty="0">
                <a:solidFill>
                  <a:srgbClr val="FFFFFF"/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4</a:t>
            </a:r>
            <a:r>
              <a:rPr lang="ko-KR" altLang="en-US" sz="1300" dirty="0">
                <a:solidFill>
                  <a:srgbClr val="FFFFFF"/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. 반포</a:t>
            </a:r>
          </a:p>
        </p:txBody>
      </p:sp>
      <p:sp>
        <p:nvSpPr>
          <p:cNvPr id="121" name="개요 4"/>
          <p:cNvSpPr/>
          <p:nvPr/>
        </p:nvSpPr>
        <p:spPr>
          <a:xfrm>
            <a:off x="4809950" y="4124000"/>
            <a:ext cx="4259950" cy="28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70000" tIns="0" rIns="70000" bIns="0" anchor="ctr">
            <a:noAutofit/>
          </a:bodyPr>
          <a:lstStyle/>
          <a:p>
            <a:pPr>
              <a:lnSpc>
                <a:spcPct val="110000"/>
              </a:lnSpc>
            </a:pPr>
            <a:r>
              <a:rPr lang="ko-KR" altLang="en-US" sz="95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위치 : 서울</a:t>
            </a:r>
            <a:r>
              <a:rPr lang="en-US" altLang="ko-KR" sz="95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 </a:t>
            </a:r>
            <a:r>
              <a:rPr lang="ko-KR" altLang="en-US" sz="95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서초구 반포동 </a:t>
            </a:r>
            <a:r>
              <a:rPr lang="en-US" altLang="ko-KR" sz="95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19-3</a:t>
            </a:r>
            <a:r>
              <a:rPr lang="ko-KR" altLang="en-US" sz="95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  |  규모 : </a:t>
            </a:r>
            <a:r>
              <a:rPr lang="en-US" altLang="ko-KR" sz="95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537,654</a:t>
            </a:r>
            <a:r>
              <a:rPr lang="ko-KR" altLang="en-US" sz="95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평  |  사업비 : </a:t>
            </a:r>
            <a:r>
              <a:rPr lang="en-US" altLang="ko-KR" sz="95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19</a:t>
            </a:r>
            <a:r>
              <a:rPr lang="ko-KR" altLang="en-US" sz="95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조 </a:t>
            </a:r>
            <a:r>
              <a:rPr lang="en-US" altLang="ko-KR" sz="95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9,534</a:t>
            </a:r>
            <a:r>
              <a:rPr lang="ko-KR" altLang="en-US" sz="95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억</a:t>
            </a:r>
          </a:p>
        </p:txBody>
      </p:sp>
      <p:sp>
        <p:nvSpPr>
          <p:cNvPr id="122" name="Body 4"/>
          <p:cNvSpPr txBox="1"/>
          <p:nvPr/>
        </p:nvSpPr>
        <p:spPr>
          <a:xfrm>
            <a:off x="4789950" y="4424000"/>
            <a:ext cx="4299950" cy="2174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0" rIns="36000" bIns="0" anchor="t">
            <a:noAutofit/>
          </a:bodyPr>
          <a:lstStyle/>
          <a:p>
            <a:pPr marL="0" marR="0" lvl="0" indent="0" algn="l" defTabSz="914317" rtl="0" eaLnBrk="1" fontAlgn="auto" latinLnBrk="1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Bold(TTF)" panose="02000600000000020003" pitchFamily="2" charset="-127"/>
                <a:ea typeface="신세계 민부리 Bold(TTF)" panose="02000600000000020003" pitchFamily="2" charset="-127"/>
                <a:cs typeface="+mn-cs"/>
                <a:sym typeface="Wingdings" pitchFamily="2" charset="2"/>
              </a:rPr>
              <a:t>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Bold(TTF)" panose="02000600000000020003" pitchFamily="2" charset="-127"/>
                <a:ea typeface="신세계 민부리 Bold(TTF)" panose="02000600000000020003" pitchFamily="2" charset="-127"/>
                <a:cs typeface="+mn-cs"/>
              </a:rPr>
              <a:t> 추진 현황</a:t>
            </a:r>
          </a:p>
          <a:p>
            <a:pPr marL="300000" marR="0" lvl="0" indent="-130000" algn="l" defTabSz="914317" rtl="0" eaLnBrk="1" fontAlgn="auto" latinLnBrk="1" hangingPunct="1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cs typeface="+mn-cs"/>
                <a:sym typeface="Wingdings" pitchFamily="2" charset="2"/>
              </a:rPr>
              <a:t>•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cs typeface="+mn-cs"/>
              </a:rPr>
              <a:t> 사업구조 : 최적 사업성 비히클·개발구조 검토 중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신세계 민부리 Light(OTF)" panose="02000600000000020003" pitchFamily="50" charset="-127"/>
              <a:ea typeface="신세계 민부리 Light(OTF)" panose="02000600000000020003" pitchFamily="50" charset="-127"/>
              <a:cs typeface="+mn-cs"/>
            </a:endParaRPr>
          </a:p>
          <a:p>
            <a:pPr marL="300000" marR="0" lvl="0" indent="-130000" algn="l" defTabSz="914317" rtl="0" eaLnBrk="1" fontAlgn="auto" latinLnBrk="1" hangingPunct="1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cs typeface="+mn-cs"/>
                <a:sym typeface="Wingdings" pitchFamily="2" charset="2"/>
              </a:rPr>
              <a:t>•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cs typeface="+mn-cs"/>
              </a:rPr>
              <a:t> 재무 영향 : 개발 기간 中 당사 재무 영향 검토 중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신세계 민부리 Light(OTF)" panose="02000600000000020003" pitchFamily="50" charset="-127"/>
              <a:ea typeface="신세계 민부리 Light(OTF)" panose="02000600000000020003" pitchFamily="50" charset="-127"/>
              <a:cs typeface="+mn-cs"/>
            </a:endParaRPr>
          </a:p>
          <a:p>
            <a:pPr marL="0" marR="0" lvl="0" indent="0" algn="l" defTabSz="914317" rtl="0" eaLnBrk="1" fontAlgn="auto" latinLnBrk="1" hangingPunct="1">
              <a:lnSpc>
                <a:spcPct val="3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Bold(TTF)" panose="02000600000000020003" pitchFamily="2" charset="-127"/>
                <a:ea typeface="신세계 민부리 Bold(TTF)" panose="02000600000000020003" pitchFamily="2" charset="-127"/>
                <a:cs typeface="+mn-cs"/>
                <a:sym typeface="Wingdings" pitchFamily="2" charset="2"/>
              </a:rPr>
              <a:t>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Bold(TTF)" panose="02000600000000020003" pitchFamily="2" charset="-127"/>
                <a:ea typeface="신세계 민부리 Bold(TTF)" panose="02000600000000020003" pitchFamily="2" charset="-127"/>
                <a:cs typeface="+mn-cs"/>
              </a:rPr>
              <a:t>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Bold(TTF)" panose="02000600000000020003" pitchFamily="2" charset="-127"/>
                <a:ea typeface="신세계 민부리 Bold(TTF)" panose="02000600000000020003" pitchFamily="2" charset="-127"/>
                <a:cs typeface="+mn-cs"/>
              </a:rPr>
              <a:t>’27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Bold(TTF)" panose="02000600000000020003" pitchFamily="2" charset="-127"/>
                <a:ea typeface="신세계 민부리 Bold(TTF)" panose="02000600000000020003" pitchFamily="2" charset="-127"/>
                <a:cs typeface="+mn-cs"/>
              </a:rPr>
              <a:t>년 계획</a:t>
            </a:r>
          </a:p>
          <a:p>
            <a:pPr marL="300000" marR="0" lvl="0" indent="-130000" algn="l" defTabSz="914317" rtl="0" eaLnBrk="1" fontAlgn="auto" latinLnBrk="1" hangingPunct="1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cs typeface="+mn-cs"/>
                <a:sym typeface="Wingdings" pitchFamily="2" charset="2"/>
              </a:rPr>
              <a:t>•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cs typeface="+mn-cs"/>
              </a:rPr>
              <a:t>사업구조 : REITs·PFV 등 지속 검토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cs typeface="+mn-cs"/>
                <a:sym typeface="Wingdings" pitchFamily="2" charset="2"/>
              </a:rPr>
              <a:t>(법령·정책·시장 반영)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신세계 민부리 Light(OTF)" panose="02000600000000020003" pitchFamily="50" charset="-127"/>
              <a:ea typeface="신세계 민부리 Light(OTF)" panose="02000600000000020003" pitchFamily="50" charset="-127"/>
              <a:cs typeface="+mn-cs"/>
            </a:endParaRPr>
          </a:p>
          <a:p>
            <a:pPr marL="300000" marR="0" lvl="0" indent="-130000" algn="l" defTabSz="914317" rtl="0" eaLnBrk="1" fontAlgn="auto" latinLnBrk="1" hangingPunct="1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cs typeface="+mn-cs"/>
                <a:sym typeface="Wingdings" pitchFamily="2" charset="2"/>
              </a:rPr>
              <a:t>•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cs typeface="+mn-cs"/>
              </a:rPr>
              <a:t>투자자·대주단 Network 확보 : 국내 연기금, 해외투자자 등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신세계 민부리 Light(OTF)" panose="02000600000000020003" pitchFamily="50" charset="-127"/>
              <a:ea typeface="신세계 민부리 Light(OTF)" panose="02000600000000020003" pitchFamily="50" charset="-127"/>
              <a:cs typeface="+mn-cs"/>
            </a:endParaRPr>
          </a:p>
          <a:p>
            <a:pPr marL="300000" indent="-130000">
              <a:lnSpc>
                <a:spcPct val="125000"/>
              </a:lnSpc>
              <a:spcBef>
                <a:spcPts val="100"/>
              </a:spcBef>
            </a:pPr>
            <a:endParaRPr lang="ko-KR" altLang="en-US" sz="800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OTF)" panose="02000600000000020003" pitchFamily="50" charset="-127"/>
              <a:ea typeface="신세계 민부리 Light(OTF)" panose="02000600000000020003" pitchFamily="50" charset="-127"/>
            </a:endParaRPr>
          </a:p>
        </p:txBody>
      </p:sp>
      <p:sp>
        <p:nvSpPr>
          <p:cNvPr id="3" name="Body 1">
            <a:extLst>
              <a:ext uri="{FF2B5EF4-FFF2-40B4-BE49-F238E27FC236}">
                <a16:creationId xmlns:a16="http://schemas.microsoft.com/office/drawing/2014/main" id="{CF260A5B-53B2-40F5-C631-2887A5B40C0C}"/>
              </a:ext>
            </a:extLst>
          </p:cNvPr>
          <p:cNvSpPr txBox="1"/>
          <p:nvPr/>
        </p:nvSpPr>
        <p:spPr>
          <a:xfrm>
            <a:off x="9720510" y="1719153"/>
            <a:ext cx="4299950" cy="2174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0" rIns="36000" bIns="0" anchor="t">
            <a:noAutofit/>
          </a:bodyPr>
          <a:lstStyle/>
          <a:p>
            <a:pPr marL="0" indent="0" algn="l" latinLnBrk="1">
              <a:lnSpc>
                <a:spcPct val="125000"/>
              </a:lnSpc>
              <a:spcBef>
                <a:spcPts val="500"/>
              </a:spcBef>
              <a:buNone/>
            </a:pPr>
            <a:r>
              <a:rPr lang="ko-KR" altLang="en-US" sz="11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anose="05000000000000000000" pitchFamily="2" charset="2"/>
              </a:rPr>
              <a:t></a:t>
            </a:r>
            <a:r>
              <a:rPr lang="ko-KR" altLang="en-US" sz="11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 추진 현황</a:t>
            </a:r>
          </a:p>
          <a:p>
            <a:pPr marL="300000" indent="-130000">
              <a:lnSpc>
                <a:spcPct val="125000"/>
              </a:lnSpc>
              <a:spcBef>
                <a:spcPts val="100"/>
              </a:spcBef>
            </a:pPr>
            <a:r>
              <a:rPr lang="en-US" altLang="ko-KR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•</a:t>
            </a: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 </a:t>
            </a:r>
            <a:r>
              <a:rPr lang="ko-KR" altLang="en-US" sz="1000" dirty="0" err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이지스</a:t>
            </a:r>
            <a:r>
              <a:rPr lang="en-US" altLang="ko-KR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, AMC</a:t>
            </a: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 우선협상대상자 선정 완료 </a:t>
            </a:r>
            <a:r>
              <a:rPr lang="ko-KR" altLang="en-US" sz="8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(’</a:t>
            </a:r>
            <a:r>
              <a:rPr lang="en-US" altLang="ko-KR" sz="8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26</a:t>
            </a:r>
            <a:r>
              <a:rPr lang="ko-KR" altLang="en-US" sz="8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.</a:t>
            </a:r>
            <a:r>
              <a:rPr lang="en-US" altLang="ko-KR" sz="8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8</a:t>
            </a:r>
            <a:r>
              <a:rPr lang="ko-KR" altLang="en-US" sz="8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)</a:t>
            </a:r>
          </a:p>
          <a:p>
            <a:pPr marL="300000" indent="-130000" algn="l" latinLnBrk="1">
              <a:lnSpc>
                <a:spcPct val="125000"/>
              </a:lnSpc>
              <a:spcBef>
                <a:spcPts val="100"/>
              </a:spcBef>
              <a:buNone/>
            </a:pPr>
            <a:r>
              <a:rPr lang="en-US" altLang="ko-KR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•</a:t>
            </a: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 금융 구조화 </a:t>
            </a:r>
            <a:r>
              <a:rPr lang="en-US" altLang="ko-KR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/ </a:t>
            </a: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상품성 개선방안 협의 중</a:t>
            </a:r>
            <a:endParaRPr lang="ko-KR" altLang="en-US" sz="800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OTF)" panose="02000600000000020003" pitchFamily="50" charset="-127"/>
              <a:ea typeface="신세계 민부리 Light(OTF)" panose="02000600000000020003" pitchFamily="50" charset="-127"/>
            </a:endParaRPr>
          </a:p>
          <a:p>
            <a:pPr>
              <a:lnSpc>
                <a:spcPct val="300000"/>
              </a:lnSpc>
              <a:spcBef>
                <a:spcPts val="500"/>
              </a:spcBef>
            </a:pPr>
            <a:r>
              <a:rPr lang="ko-KR" altLang="en-US" sz="11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</a:t>
            </a:r>
            <a:r>
              <a:rPr lang="ko-KR" altLang="en-US" sz="11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 </a:t>
            </a:r>
            <a:r>
              <a:rPr lang="en-US" altLang="ko-KR" sz="11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’27</a:t>
            </a:r>
            <a:r>
              <a:rPr lang="ko-KR" altLang="en-US" sz="11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년 계획</a:t>
            </a:r>
          </a:p>
          <a:p>
            <a:pPr marL="300000" indent="-130000">
              <a:lnSpc>
                <a:spcPct val="125000"/>
              </a:lnSpc>
              <a:spcBef>
                <a:spcPts val="100"/>
              </a:spcBef>
            </a:pPr>
            <a:r>
              <a:rPr lang="en-US" altLang="ko-KR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•</a:t>
            </a: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 금융 구조 확정</a:t>
            </a:r>
            <a:r>
              <a:rPr lang="ko-KR" altLang="en-US" sz="8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 </a:t>
            </a:r>
            <a:r>
              <a:rPr lang="en-US" altLang="ko-KR" sz="8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(</a:t>
            </a:r>
            <a:r>
              <a:rPr lang="ko-KR" altLang="en-US" sz="800" dirty="0" err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비히클</a:t>
            </a:r>
            <a:r>
              <a:rPr lang="en-US" altLang="ko-KR" sz="8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, </a:t>
            </a:r>
            <a:r>
              <a:rPr lang="ko-KR" altLang="en-US" sz="8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지분구조 등</a:t>
            </a:r>
            <a:r>
              <a:rPr lang="en-US" altLang="ko-KR" sz="8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)</a:t>
            </a:r>
            <a:endParaRPr lang="ko-KR" altLang="en-US" sz="800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OTF)" panose="02000600000000020003" pitchFamily="50" charset="-127"/>
              <a:ea typeface="신세계 민부리 Light(OTF)" panose="02000600000000020003" pitchFamily="50" charset="-127"/>
            </a:endParaRPr>
          </a:p>
          <a:p>
            <a:pPr marL="300000" indent="-130000">
              <a:lnSpc>
                <a:spcPct val="125000"/>
              </a:lnSpc>
              <a:spcBef>
                <a:spcPts val="100"/>
              </a:spcBef>
            </a:pPr>
            <a:r>
              <a:rPr lang="en-US" altLang="ko-KR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•</a:t>
            </a: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 </a:t>
            </a:r>
            <a:r>
              <a:rPr lang="en-US" altLang="ko-KR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SPC</a:t>
            </a: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설립 </a:t>
            </a:r>
            <a:r>
              <a:rPr lang="en-US" altLang="ko-KR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· </a:t>
            </a: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토지매매계약 </a:t>
            </a:r>
            <a:r>
              <a:rPr lang="en-US" altLang="ko-KR" sz="8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(’27.</a:t>
            </a:r>
            <a:r>
              <a:rPr lang="ko-KR" altLang="en-US" sz="8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下</a:t>
            </a:r>
            <a:r>
              <a:rPr lang="en-US" altLang="ko-KR" sz="8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)</a:t>
            </a:r>
            <a:endParaRPr lang="ko-KR" altLang="en-US" sz="800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OTF)" panose="02000600000000020003" pitchFamily="50" charset="-127"/>
              <a:ea typeface="신세계 민부리 Light(OTF)" panose="02000600000000020003" pitchFamily="50" charset="-127"/>
            </a:endParaRPr>
          </a:p>
        </p:txBody>
      </p:sp>
      <p:sp>
        <p:nvSpPr>
          <p:cNvPr id="4" name="Frame 2">
            <a:extLst>
              <a:ext uri="{FF2B5EF4-FFF2-40B4-BE49-F238E27FC236}">
                <a16:creationId xmlns:a16="http://schemas.microsoft.com/office/drawing/2014/main" id="{C899DAE1-7249-6298-A525-EA068621254D}"/>
              </a:ext>
            </a:extLst>
          </p:cNvPr>
          <p:cNvSpPr/>
          <p:nvPr/>
        </p:nvSpPr>
        <p:spPr>
          <a:xfrm>
            <a:off x="240709" y="759998"/>
            <a:ext cx="4379950" cy="2864000"/>
          </a:xfrm>
          <a:prstGeom prst="rect">
            <a:avLst/>
          </a:prstGeom>
          <a:noFill/>
          <a:ln w="9525">
            <a:solidFill>
              <a:srgbClr val="A6A6A6"/>
            </a:solidFill>
          </a:ln>
        </p:spPr>
        <p:txBody>
          <a:bodyPr wrap="square" lIns="36000" tIns="18000" rIns="36000" bIns="18000" anchor="t">
            <a:noAutofit/>
          </a:bodyPr>
          <a:lstStyle/>
          <a:p>
            <a:endParaRPr lang="ko-KR" sz="900"/>
          </a:p>
        </p:txBody>
      </p:sp>
      <p:sp>
        <p:nvSpPr>
          <p:cNvPr id="6" name="Header 2">
            <a:extLst>
              <a:ext uri="{FF2B5EF4-FFF2-40B4-BE49-F238E27FC236}">
                <a16:creationId xmlns:a16="http://schemas.microsoft.com/office/drawing/2014/main" id="{E468D000-962F-FF11-9C4F-E0F78EFB229E}"/>
              </a:ext>
            </a:extLst>
          </p:cNvPr>
          <p:cNvSpPr/>
          <p:nvPr/>
        </p:nvSpPr>
        <p:spPr>
          <a:xfrm>
            <a:off x="240709" y="759998"/>
            <a:ext cx="4379950" cy="300000"/>
          </a:xfrm>
          <a:prstGeom prst="rect">
            <a:avLst/>
          </a:prstGeom>
          <a:solidFill>
            <a:srgbClr val="1E236E"/>
          </a:solidFill>
          <a:ln>
            <a:noFill/>
          </a:ln>
        </p:spPr>
        <p:txBody>
          <a:bodyPr wrap="square" lIns="90000" tIns="0" rIns="90000" bIns="0" anchor="ctr">
            <a:noAutofit/>
          </a:bodyPr>
          <a:lstStyle/>
          <a:p>
            <a:r>
              <a:rPr lang="en-US" altLang="ko-KR" sz="1300" dirty="0">
                <a:solidFill>
                  <a:srgbClr val="FFFFFF"/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1</a:t>
            </a:r>
            <a:r>
              <a:rPr lang="ko-KR" altLang="en-US" sz="1300" dirty="0">
                <a:solidFill>
                  <a:srgbClr val="FFFFFF"/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. 논현</a:t>
            </a:r>
          </a:p>
        </p:txBody>
      </p:sp>
      <p:sp>
        <p:nvSpPr>
          <p:cNvPr id="8" name="개요 2">
            <a:extLst>
              <a:ext uri="{FF2B5EF4-FFF2-40B4-BE49-F238E27FC236}">
                <a16:creationId xmlns:a16="http://schemas.microsoft.com/office/drawing/2014/main" id="{08EB9936-AB93-0C81-F803-89D1A94A6AB6}"/>
              </a:ext>
            </a:extLst>
          </p:cNvPr>
          <p:cNvSpPr/>
          <p:nvPr/>
        </p:nvSpPr>
        <p:spPr>
          <a:xfrm>
            <a:off x="300709" y="1119998"/>
            <a:ext cx="4259950" cy="28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70000" tIns="0" rIns="70000" bIns="0" anchor="ctr">
            <a:noAutofit/>
          </a:bodyPr>
          <a:lstStyle/>
          <a:p>
            <a:pPr>
              <a:lnSpc>
                <a:spcPct val="110000"/>
              </a:lnSpc>
            </a:pPr>
            <a:r>
              <a:rPr lang="ko-KR" altLang="en-US" sz="95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위치 : 서울 강남구 논현동 </a:t>
            </a:r>
            <a:r>
              <a:rPr lang="en-US" altLang="ko-KR" sz="95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55-12 </a:t>
            </a:r>
            <a:r>
              <a:rPr lang="ko-KR" altLang="en-US" sz="95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일원  |  규모 : </a:t>
            </a:r>
            <a:r>
              <a:rPr lang="en-US" altLang="ko-KR" sz="95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13,449</a:t>
            </a:r>
            <a:r>
              <a:rPr lang="ko-KR" altLang="en-US" sz="95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평  |  사업비 : </a:t>
            </a:r>
            <a:r>
              <a:rPr lang="en-US" altLang="ko-KR" sz="95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5,800</a:t>
            </a:r>
            <a:r>
              <a:rPr lang="ko-KR" altLang="en-US" sz="95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억</a:t>
            </a:r>
          </a:p>
        </p:txBody>
      </p:sp>
      <p:sp>
        <p:nvSpPr>
          <p:cNvPr id="10" name="Body 2">
            <a:extLst>
              <a:ext uri="{FF2B5EF4-FFF2-40B4-BE49-F238E27FC236}">
                <a16:creationId xmlns:a16="http://schemas.microsoft.com/office/drawing/2014/main" id="{C37E5294-253C-11D0-4F0A-217C88B8DC90}"/>
              </a:ext>
            </a:extLst>
          </p:cNvPr>
          <p:cNvSpPr txBox="1"/>
          <p:nvPr/>
        </p:nvSpPr>
        <p:spPr>
          <a:xfrm>
            <a:off x="280709" y="1419998"/>
            <a:ext cx="4299950" cy="2174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0" rIns="36000" bIns="0" anchor="t">
            <a:noAutofit/>
          </a:bodyPr>
          <a:lstStyle/>
          <a:p>
            <a:pPr>
              <a:lnSpc>
                <a:spcPct val="125000"/>
              </a:lnSpc>
              <a:spcBef>
                <a:spcPts val="500"/>
              </a:spcBef>
            </a:pPr>
            <a:r>
              <a:rPr lang="ko-KR" altLang="en-US" sz="11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</a:t>
            </a:r>
            <a:r>
              <a:rPr lang="ko-KR" altLang="en-US" sz="11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 추진 현황</a:t>
            </a:r>
          </a:p>
          <a:p>
            <a:pPr marL="300000" indent="-130000">
              <a:lnSpc>
                <a:spcPct val="125000"/>
              </a:lnSpc>
              <a:spcBef>
                <a:spcPts val="100"/>
              </a:spcBef>
            </a:pPr>
            <a:r>
              <a:rPr lang="en-US" altLang="ko-KR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•</a:t>
            </a:r>
            <a:r>
              <a:rPr lang="en-US" altLang="ko-KR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 Equity 출자 : 총 495억 中 잔여 265억 출자 추진</a:t>
            </a:r>
            <a:endParaRPr lang="ko-KR" altLang="en-US" sz="800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OTF)" panose="02000600000000020003" pitchFamily="50" charset="-127"/>
              <a:ea typeface="신세계 민부리 Light(OTF)" panose="02000600000000020003" pitchFamily="50" charset="-127"/>
            </a:endParaRPr>
          </a:p>
          <a:p>
            <a:pPr marL="300000" indent="-130000">
              <a:lnSpc>
                <a:spcPct val="125000"/>
              </a:lnSpc>
              <a:spcBef>
                <a:spcPts val="100"/>
              </a:spcBef>
            </a:pPr>
            <a:r>
              <a:rPr lang="en-US" altLang="ko-KR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•</a:t>
            </a:r>
            <a:r>
              <a:rPr lang="en-US" altLang="ko-KR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 PF 기표 : NH투자증권 총액인수 4,350억 </a:t>
            </a:r>
            <a:r>
              <a:rPr lang="ko-KR" altLang="en-US" sz="8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(</a:t>
            </a:r>
            <a:r>
              <a:rPr lang="ko-KR" altLang="en-US" sz="800" dirty="0">
                <a:solidFill>
                  <a:prstClr val="black">
                    <a:lumMod val="85000"/>
                    <a:lumOff val="15000"/>
                  </a:prstClr>
                </a:solidFill>
                <a:highlight>
                  <a:srgbClr val="FFFF66"/>
                </a:highlight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시기 등 차주 업데이트 예정</a:t>
            </a:r>
            <a:r>
              <a:rPr lang="ko-KR" altLang="en-US" sz="8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)</a:t>
            </a:r>
          </a:p>
          <a:p>
            <a:pPr>
              <a:lnSpc>
                <a:spcPct val="300000"/>
              </a:lnSpc>
              <a:spcBef>
                <a:spcPts val="500"/>
              </a:spcBef>
            </a:pPr>
            <a:r>
              <a:rPr lang="ko-KR" altLang="en-US" sz="11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</a:t>
            </a:r>
            <a:r>
              <a:rPr lang="ko-KR" altLang="en-US" sz="11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 </a:t>
            </a:r>
            <a:r>
              <a:rPr lang="en-US" altLang="ko-KR" sz="11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’27</a:t>
            </a:r>
            <a:r>
              <a:rPr lang="ko-KR" altLang="en-US" sz="11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년 계획</a:t>
            </a:r>
          </a:p>
          <a:p>
            <a:pPr marL="300000" indent="-130000">
              <a:lnSpc>
                <a:spcPct val="125000"/>
              </a:lnSpc>
              <a:spcBef>
                <a:spcPts val="100"/>
              </a:spcBef>
            </a:pPr>
            <a:r>
              <a:rPr lang="en-US" altLang="ko-KR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• </a:t>
            </a:r>
            <a:r>
              <a:rPr lang="en-US" altLang="ko-KR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토지 잔금 수취 : 947.5억 </a:t>
            </a:r>
            <a:r>
              <a:rPr lang="ko-KR" altLang="en-US" sz="8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(</a:t>
            </a:r>
            <a:r>
              <a:rPr lang="ko-KR" altLang="en-US" sz="800" dirty="0">
                <a:solidFill>
                  <a:prstClr val="black">
                    <a:lumMod val="85000"/>
                    <a:lumOff val="15000"/>
                  </a:prstClr>
                </a:solidFill>
                <a:highlight>
                  <a:srgbClr val="FFFF66"/>
                </a:highlight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시기 등 차주 업데이트 예정</a:t>
            </a:r>
            <a:r>
              <a:rPr lang="ko-KR" altLang="en-US" sz="8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)</a:t>
            </a:r>
          </a:p>
          <a:p>
            <a:pPr marL="300000" indent="-130000">
              <a:lnSpc>
                <a:spcPct val="125000"/>
              </a:lnSpc>
              <a:spcBef>
                <a:spcPts val="100"/>
              </a:spcBef>
            </a:pPr>
            <a:r>
              <a:rPr lang="en-US" altLang="ko-KR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•</a:t>
            </a:r>
            <a:r>
              <a:rPr lang="en-US" altLang="ko-KR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 수익 민감도 점검 : NOC 변경에 따른 당사 수익 영향 F/U</a:t>
            </a:r>
            <a:endParaRPr lang="ko-KR" altLang="en-US" sz="800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OTF)" panose="02000600000000020003" pitchFamily="50" charset="-127"/>
              <a:ea typeface="신세계 민부리 Light(OTF)" panose="02000600000000020003" pitchFamily="50" charset="-127"/>
            </a:endParaRPr>
          </a:p>
          <a:p>
            <a:pPr marL="300000" indent="-130000">
              <a:lnSpc>
                <a:spcPct val="125000"/>
              </a:lnSpc>
              <a:spcBef>
                <a:spcPts val="100"/>
              </a:spcBef>
            </a:pPr>
            <a:r>
              <a:rPr lang="en-US" altLang="ko-KR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•</a:t>
            </a:r>
            <a:r>
              <a:rPr lang="en-US" altLang="ko-KR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 착공 관리 : ’27.上 착공 목표 </a:t>
            </a:r>
            <a:r>
              <a:rPr lang="ko-KR" altLang="en-US" sz="8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(지연 시 대응방안 마련)</a:t>
            </a:r>
          </a:p>
          <a:p>
            <a:pPr marL="300000" indent="-130000">
              <a:lnSpc>
                <a:spcPct val="125000"/>
              </a:lnSpc>
              <a:spcBef>
                <a:spcPts val="100"/>
              </a:spcBef>
            </a:pPr>
            <a:endParaRPr lang="ko-KR" altLang="en-US" sz="800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OTF)" panose="02000600000000020003" pitchFamily="50" charset="-127"/>
              <a:ea typeface="신세계 민부리 Light(OTF)" panose="02000600000000020003" pitchFamily="50" charset="-127"/>
            </a:endParaRPr>
          </a:p>
        </p:txBody>
      </p:sp>
      <p:sp>
        <p:nvSpPr>
          <p:cNvPr id="12" name="개요 4">
            <a:extLst>
              <a:ext uri="{FF2B5EF4-FFF2-40B4-BE49-F238E27FC236}">
                <a16:creationId xmlns:a16="http://schemas.microsoft.com/office/drawing/2014/main" id="{F5CBB738-91E0-3DA4-C9F5-E86E19A11778}"/>
              </a:ext>
            </a:extLst>
          </p:cNvPr>
          <p:cNvSpPr/>
          <p:nvPr/>
        </p:nvSpPr>
        <p:spPr>
          <a:xfrm>
            <a:off x="9800510" y="4248400"/>
            <a:ext cx="4259950" cy="28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70000" tIns="0" rIns="70000" bIns="0" anchor="ctr">
            <a:noAutofit/>
          </a:bodyPr>
          <a:lstStyle/>
          <a:p>
            <a:pPr>
              <a:lnSpc>
                <a:spcPct val="110000"/>
              </a:lnSpc>
            </a:pPr>
            <a:r>
              <a:rPr lang="ko-KR" altLang="en-US" sz="95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위치 : 인천 연수구 송도동 </a:t>
            </a:r>
            <a:r>
              <a:rPr lang="en-US" altLang="ko-KR" sz="95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10-1 </a:t>
            </a:r>
            <a:r>
              <a:rPr lang="ko-KR" altLang="en-US" sz="95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 |  규모 : </a:t>
            </a:r>
            <a:r>
              <a:rPr lang="en-US" altLang="ko-KR" sz="95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161,200</a:t>
            </a:r>
            <a:r>
              <a:rPr lang="ko-KR" altLang="en-US" sz="95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평  |  사업비 : </a:t>
            </a:r>
            <a:r>
              <a:rPr lang="en-US" altLang="ko-KR" sz="95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2</a:t>
            </a:r>
            <a:r>
              <a:rPr lang="ko-KR" altLang="en-US" sz="95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조 </a:t>
            </a:r>
            <a:r>
              <a:rPr lang="en-US" altLang="ko-KR" sz="95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5,246</a:t>
            </a:r>
            <a:r>
              <a:rPr lang="ko-KR" altLang="en-US" sz="95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solidFill>
            <a:schemeClr val="bg1">
              <a:lumMod val="65000"/>
            </a:schemeClr>
          </a:solidFill>
        </a:ln>
      </a:spPr>
      <a:bodyPr wrap="square" rtlCol="0" anchor="ctr">
        <a:spAutoFit/>
      </a:bodyPr>
      <a:lstStyle>
        <a:defPPr algn="l">
          <a:spcBef>
            <a:spcPts val="1200"/>
          </a:spcBef>
          <a:tabLst>
            <a:tab pos="227013" algn="l"/>
            <a:tab pos="1165225" algn="l"/>
          </a:tabLst>
          <a:defRPr sz="1400" dirty="0">
            <a:solidFill>
              <a:prstClr val="black">
                <a:lumMod val="85000"/>
                <a:lumOff val="15000"/>
              </a:prstClr>
            </a:solidFill>
            <a:latin typeface="HY견고딕" panose="02030600000101010101" pitchFamily="18" charset="-127"/>
            <a:ea typeface="HY견고딕" panose="02030600000101010101" pitchFamily="18" charset="-127"/>
            <a:sym typeface="Wingdings" pitchFamily="2" charset="2"/>
          </a:defRPr>
        </a:defPPr>
      </a:lstStyle>
    </a:spDef>
    <a:lnDef>
      <a:spPr>
        <a:ln w="9525">
          <a:solidFill>
            <a:schemeClr val="bg1">
              <a:lumMod val="6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 w="9525">
          <a:noFill/>
          <a:miter lim="800000"/>
          <a:headEnd/>
          <a:tailEnd/>
        </a:ln>
        <a:effectLst/>
      </a:spPr>
      <a:bodyPr vert="horz" wrap="square" lIns="88202" tIns="44101" rIns="88202" bIns="44101" numCol="1" rtlCol="0" anchor="ctr" anchorCtr="0" compatLnSpc="1">
        <a:prstTxWarp prst="textNoShape">
          <a:avLst/>
        </a:prstTxWarp>
        <a:spAutoFit/>
      </a:bodyPr>
      <a:lstStyle>
        <a:defPPr algn="ctr" defTabSz="882019" fontAlgn="base">
          <a:lnSpc>
            <a:spcPct val="120000"/>
          </a:lnSpc>
          <a:defRPr kumimoji="1" sz="1000" dirty="0">
            <a:latin typeface="신세계 민부리 Medium(TTF)" panose="02000600000000020003" pitchFamily="2" charset="-127"/>
            <a:ea typeface="신세계 민부리 Medium(TTF)" panose="02000600000000020003" pitchFamily="2" charset="-127"/>
            <a:cs typeface="굴림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9e769a94-a688-4b1a-b696-1d635af05004}" enabled="1" method="Privileged" siteId="{d4ffc887-d88d-41cc-bf6a-6bb47ec0f3c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Words>410</Words>
  <TotalTime>0</TotalTime>
  <Application>Microsoft Office PowerPoint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SHINSEGAE</dc:creator>
  <dcterms:modified xsi:type="dcterms:W3CDTF">2026-10-30T04:55:52Z</dcterms:modified>
  <dc:title>PowerPoint 프레젠테이션</dc:title>
  <cp:lastPrinted>2026-10-30T04:03:53Z</cp:lastPrinted>
  <cp:lastModifiedBy>정유경(파트너) - 부동산금융팀</cp:lastModifiedBy>
  <dcterms:created xsi:type="dcterms:W3CDTF">2017-03-08T10:10:17Z</dcterms:created>
  <cp:revision>3238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a772263-e823-4541-b19a-907e15bf13d7_SiteId">
    <vt:lpwstr>d4ffc887-d88d-41cc-bf6a-6bb47ec0f3ca</vt:lpwstr>
  </property>
  <property fmtid="{D5CDD505-2E9C-101B-9397-08002B2CF9AE}" pid="3" name="MSIP_Label_aa772263-e823-4541-b19a-907e15bf13d7_SetDate">
    <vt:lpwstr>2026-10-27T06:00:04Z</vt:lpwstr>
  </property>
  <property fmtid="{D5CDD505-2E9C-101B-9397-08002B2CF9AE}" pid="4" name="MSIP_Label_aa772263-e823-4541-b19a-907e15bf13d7_Name">
    <vt:lpwstr>센트럴-서고터 보호</vt:lpwstr>
  </property>
  <property fmtid="{D5CDD505-2E9C-101B-9397-08002B2CF9AE}" pid="5" name="MSIP_Label_aa772263-e823-4541-b19a-907e15bf13d7_Method">
    <vt:lpwstr>Privileged</vt:lpwstr>
  </property>
  <property fmtid="{D5CDD505-2E9C-101B-9397-08002B2CF9AE}" pid="6" name="MSIP_Label_aa772263-e823-4541-b19a-907e15bf13d7_Enabled">
    <vt:lpwstr>true</vt:lpwstr>
  </property>
  <property fmtid="{D5CDD505-2E9C-101B-9397-08002B2CF9AE}" pid="7" name="MSIP_Label_aa772263-e823-4541-b19a-907e15bf13d7_ContentBits">
    <vt:lpwstr>8</vt:lpwstr>
  </property>
</Properties>
</file>