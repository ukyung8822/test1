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15" r:id="rId2"/>
    <p:sldId id="416" r:id="rId3"/>
    <p:sldId id="417" r:id="rId10"/>
  </p:sldIdLst>
  <p:sldSz cx="6858000" cy="9359900"/>
  <p:notesSz cx="6735763" cy="9866313"/>
  <p:defaultTextStyle>
    <a:defPPr>
      <a:defRPr lang="ko-KR"/>
    </a:defPPr>
    <a:lvl1pPr marL="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4" userDrawn="1">
          <p15:clr>
            <a:srgbClr val="A4A3A4"/>
          </p15:clr>
        </p15:guide>
        <p15:guide id="2" orient="horz" pos="5669" userDrawn="1">
          <p15:clr>
            <a:srgbClr val="A4A3A4"/>
          </p15:clr>
        </p15:guide>
        <p15:guide id="3" orient="horz" pos="453" userDrawn="1">
          <p15:clr>
            <a:srgbClr val="A4A3A4"/>
          </p15:clr>
        </p15:guide>
        <p15:guide id="4" orient="horz" pos="317" userDrawn="1">
          <p15:clr>
            <a:srgbClr val="A4A3A4"/>
          </p15:clr>
        </p15:guide>
        <p15:guide id="5" orient="horz" pos="3175" userDrawn="1">
          <p15:clr>
            <a:srgbClr val="A4A3A4"/>
          </p15:clr>
        </p15:guide>
        <p15:guide id="6" orient="horz" pos="2812" userDrawn="1">
          <p15:clr>
            <a:srgbClr val="A4A3A4"/>
          </p15:clr>
        </p15:guide>
        <p15:guide id="7" pos="119" userDrawn="1">
          <p15:clr>
            <a:srgbClr val="A4A3A4"/>
          </p15:clr>
        </p15:guide>
        <p15:guide id="10" pos="2160" userDrawn="1">
          <p15:clr>
            <a:srgbClr val="A4A3A4"/>
          </p15:clr>
        </p15:guide>
        <p15:guide id="15" pos="4201" userDrawn="1">
          <p15:clr>
            <a:srgbClr val="A4A3A4"/>
          </p15:clr>
        </p15:guide>
        <p15:guide id="16" pos="3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신혜(파트너) - 부동산금융팀" initials="황-부" lastIdx="1" clrIdx="0">
    <p:extLst>
      <p:ext uri="{19B8F6BF-5375-455C-9EA6-DF929625EA0E}">
        <p15:presenceInfo xmlns:p15="http://schemas.microsoft.com/office/powerpoint/2012/main" userId="황신혜(파트너) - 부동산금융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36E"/>
    <a:srgbClr val="0000FF"/>
    <a:srgbClr val="E6F2F6"/>
    <a:srgbClr val="D7EAF1"/>
    <a:srgbClr val="FFFFFF"/>
    <a:srgbClr val="FFFF66"/>
    <a:srgbClr val="003399"/>
    <a:srgbClr val="0D884F"/>
    <a:srgbClr val="333333"/>
    <a:srgbClr val="F3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7438" autoAdjust="0"/>
  </p:normalViewPr>
  <p:slideViewPr>
    <p:cSldViewPr snapToObjects="1" showGuides="1">
      <p:cViewPr varScale="1">
        <p:scale>
          <a:sx n="71" d="100"/>
          <a:sy n="71" d="100"/>
        </p:scale>
        <p:origin x="1548" y="78"/>
      </p:cViewPr>
      <p:guideLst>
        <p:guide orient="horz" pos="4354"/>
        <p:guide orient="horz" pos="5669"/>
        <p:guide orient="horz" pos="453"/>
        <p:guide orient="horz" pos="317"/>
        <p:guide orient="horz" pos="3175"/>
        <p:guide orient="horz" pos="2812"/>
        <p:guide pos="119"/>
        <p:guide pos="2160"/>
        <p:guide pos="4201"/>
        <p:guide pos="3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  <Relationship Id="rId10" Type="http://schemas.openxmlformats.org/officeDocument/2006/relationships/slide" Target="slides/slide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5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98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r">
              <a:defRPr sz="1200"/>
            </a:lvl1pPr>
          </a:lstStyle>
          <a:p>
            <a:fld id="{83D697D7-1998-415A-9AF2-776AF61F1F3B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12950" y="739775"/>
            <a:ext cx="27098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56" tIns="45175" rIns="90356" bIns="451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8" y="4686534"/>
            <a:ext cx="5388610" cy="4439841"/>
          </a:xfrm>
          <a:prstGeom prst="rect">
            <a:avLst/>
          </a:prstGeom>
        </p:spPr>
        <p:txBody>
          <a:bodyPr vert="horz" lIns="90356" tIns="45175" rIns="90356" bIns="4517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5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98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r">
              <a:defRPr sz="1200"/>
            </a:lvl1pPr>
          </a:lstStyle>
          <a:p>
            <a:fld id="{7BEC73BA-470C-465C-BD13-ED77CE7BBD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1" y="2907641"/>
            <a:ext cx="5829300" cy="200631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303944"/>
            <a:ext cx="4800600" cy="23919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2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3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4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05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46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28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8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014603"/>
            <a:ext cx="5829300" cy="1858980"/>
          </a:xfrm>
        </p:spPr>
        <p:txBody>
          <a:bodyPr anchor="t"/>
          <a:lstStyle>
            <a:lvl1pPr algn="l">
              <a:defRPr sz="3858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967129"/>
            <a:ext cx="5829300" cy="2047477"/>
          </a:xfrm>
        </p:spPr>
        <p:txBody>
          <a:bodyPr anchor="b"/>
          <a:lstStyle>
            <a:lvl1pPr marL="0" indent="0">
              <a:buNone/>
              <a:defRPr sz="1929">
                <a:solidFill>
                  <a:schemeClr val="tx1">
                    <a:tint val="75000"/>
                  </a:schemeClr>
                </a:solidFill>
              </a:defRPr>
            </a:lvl1pPr>
            <a:lvl2pPr marL="441009" indent="0">
              <a:buNone/>
              <a:defRPr sz="1736">
                <a:solidFill>
                  <a:schemeClr val="tx1">
                    <a:tint val="75000"/>
                  </a:schemeClr>
                </a:solidFill>
              </a:defRPr>
            </a:lvl2pPr>
            <a:lvl3pPr marL="88201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3pPr>
            <a:lvl4pPr marL="132302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76403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220504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6460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308706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52807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82" y="2911971"/>
            <a:ext cx="2257425" cy="8235413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6" y="2911971"/>
            <a:ext cx="2257425" cy="8235413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2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74833"/>
            <a:ext cx="6172200" cy="155998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095146"/>
            <a:ext cx="3030141" cy="873157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2968303"/>
            <a:ext cx="3030141" cy="539277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4" y="2095146"/>
            <a:ext cx="3031331" cy="873157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4" y="2968303"/>
            <a:ext cx="3031331" cy="539277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9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6" y="372664"/>
            <a:ext cx="2256235" cy="1585983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93" y="372664"/>
            <a:ext cx="3833813" cy="7988415"/>
          </a:xfrm>
        </p:spPr>
        <p:txBody>
          <a:bodyPr/>
          <a:lstStyle>
            <a:lvl1pPr>
              <a:defRPr sz="3087"/>
            </a:lvl1pPr>
            <a:lvl2pPr>
              <a:defRPr sz="2701"/>
            </a:lvl2pPr>
            <a:lvl3pPr>
              <a:defRPr sz="2315"/>
            </a:lvl3pPr>
            <a:lvl4pPr>
              <a:defRPr sz="1929"/>
            </a:lvl4pPr>
            <a:lvl5pPr>
              <a:defRPr sz="1929"/>
            </a:lvl5pPr>
            <a:lvl6pPr>
              <a:defRPr sz="1929"/>
            </a:lvl6pPr>
            <a:lvl7pPr>
              <a:defRPr sz="1929"/>
            </a:lvl7pPr>
            <a:lvl8pPr>
              <a:defRPr sz="1929"/>
            </a:lvl8pPr>
            <a:lvl9pPr>
              <a:defRPr sz="192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6" y="1958650"/>
            <a:ext cx="2256235" cy="6402434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551932"/>
            <a:ext cx="4114800" cy="773492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36324"/>
            <a:ext cx="4114800" cy="5615940"/>
          </a:xfrm>
        </p:spPr>
        <p:txBody>
          <a:bodyPr/>
          <a:lstStyle>
            <a:lvl1pPr marL="0" indent="0">
              <a:buNone/>
              <a:defRPr sz="3087"/>
            </a:lvl1pPr>
            <a:lvl2pPr marL="441009" indent="0">
              <a:buNone/>
              <a:defRPr sz="2701"/>
            </a:lvl2pPr>
            <a:lvl3pPr marL="882019" indent="0">
              <a:buNone/>
              <a:defRPr sz="2315"/>
            </a:lvl3pPr>
            <a:lvl4pPr marL="1323029" indent="0">
              <a:buNone/>
              <a:defRPr sz="1929"/>
            </a:lvl4pPr>
            <a:lvl5pPr marL="1764039" indent="0">
              <a:buNone/>
              <a:defRPr sz="1929"/>
            </a:lvl5pPr>
            <a:lvl6pPr marL="2205049" indent="0">
              <a:buNone/>
              <a:defRPr sz="1929"/>
            </a:lvl6pPr>
            <a:lvl7pPr marL="2646058" indent="0">
              <a:buNone/>
              <a:defRPr sz="1929"/>
            </a:lvl7pPr>
            <a:lvl8pPr marL="3087068" indent="0">
              <a:buNone/>
              <a:defRPr sz="1929"/>
            </a:lvl8pPr>
            <a:lvl9pPr marL="3528077" indent="0">
              <a:buNone/>
              <a:defRPr sz="1929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325424"/>
            <a:ext cx="4114800" cy="1098488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2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00498"/>
            <a:ext cx="1157288" cy="106468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00498"/>
            <a:ext cx="3357563" cy="106468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74833"/>
            <a:ext cx="6172200" cy="1559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83982"/>
            <a:ext cx="6172200" cy="6177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675244"/>
            <a:ext cx="1600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1" y="8675244"/>
            <a:ext cx="21717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675244"/>
            <a:ext cx="1600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0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019" rtl="0" eaLnBrk="1" latinLnBrk="1" hangingPunct="1">
        <a:spcBef>
          <a:spcPct val="0"/>
        </a:spcBef>
        <a:buNone/>
        <a:defRPr sz="4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757" indent="-330757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16641" indent="-275630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2701" kern="1200">
          <a:solidFill>
            <a:schemeClr val="tx1"/>
          </a:solidFill>
          <a:latin typeface="+mn-lt"/>
          <a:ea typeface="+mn-ea"/>
          <a:cs typeface="+mn-cs"/>
        </a:defRPr>
      </a:lvl2pPr>
      <a:lvl3pPr marL="110252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54353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1929" kern="1200">
          <a:solidFill>
            <a:schemeClr val="tx1"/>
          </a:solidFill>
          <a:latin typeface="+mn-lt"/>
          <a:ea typeface="+mn-ea"/>
          <a:cs typeface="+mn-cs"/>
        </a:defRPr>
      </a:lvl4pPr>
      <a:lvl5pPr marL="198454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»"/>
        <a:defRPr sz="1929" kern="1200">
          <a:solidFill>
            <a:schemeClr val="tx1"/>
          </a:solidFill>
          <a:latin typeface="+mn-lt"/>
          <a:ea typeface="+mn-ea"/>
          <a:cs typeface="+mn-cs"/>
        </a:defRPr>
      </a:lvl5pPr>
      <a:lvl6pPr marL="242555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6pPr>
      <a:lvl7pPr marL="286656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7pPr>
      <a:lvl8pPr marL="3307572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8pPr>
      <a:lvl9pPr marL="374858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0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1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2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3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4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5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06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077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2710" y="-33867"/>
            <a:ext cx="6857999" cy="477054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spAutoFit/>
          </a:bodyPr>
          <a:lstStyle/>
          <a:p>
            <a:pPr marL="0" indent="0" algn="ctr" latinLnBrk="1">
              <a:lnSpc>
                <a:spcPct val="120000"/>
              </a:lnSpc>
              <a:buNone/>
            </a:pPr>
            <a:r>
              <a:rPr lang="ko-KR" altLang="en-US" sz="24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PF 심의 일정 조정 검토</a:t>
            </a:r>
          </a:p>
        </p:txBody>
      </p:sp>
      <p:sp>
        <p:nvSpPr>
          <p:cNvPr id="102" name="직사각형 27"/>
          <p:cNvSpPr txBox="1"/>
          <p:nvPr/>
        </p:nvSpPr>
        <p:spPr>
          <a:xfrm>
            <a:off x="188911" y="640000"/>
            <a:ext cx="6486209" cy="85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추진 현황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대주 심의 '26.11.13 예정, 시공사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책임착공 / 책임준공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조건 부여 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(신용보강)</a:t>
            </a:r>
          </a:p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* 기한 내 미착공 / 미준공 시 시공사 채무인수 등 책임 부담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PF 대출기간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약 44개월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구성 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(기산점 : ○○일)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공사기간 39개월 + 인허가 버퍼 2개월 + 담보대출 전환 버퍼 2개월 + ○개월</a:t>
            </a:r>
          </a:p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* 합산 43개월, 잔여 1개월 구성 확인 필요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인허가 現 ○○ 단계,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11월 내 완료 난망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(완료 예상 : '○○.○월)</a:t>
            </a:r>
          </a:p>
          <a:p>
            <a:pPr marL="0" indent="0" algn="l" latinLnBrk="1">
              <a:lnSpc>
                <a:spcPct val="150000"/>
              </a:lnSpc>
              <a:spcBef>
                <a:spcPts val="2200"/>
              </a:spcBef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문제점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① 기산점 변동에 따른 책임착공 / 준공 조건 불일치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책임착공 / 준공 기한은 「기산일로부터 ○개월」 구조 → 기산일 변동 시 조건 자체가 변경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인허가 지연이 버퍼(2개월) 초과 시, 초과분만큼 공사기간 39개월 미확보</a:t>
            </a:r>
          </a:p>
          <a:p>
            <a:pPr marL="730000" indent="-210000" algn="l" latinLnBrk="1"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  <a:sym typeface="Wingdings" pitchFamily="2" charset="2"/>
              </a:rPr>
              <a:t>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 xml:space="preserve"> 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시공사 책임준공 리스크 증가 → 조건 수용 거부 / 기간 연장 요구 가능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16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② 심의 승인 유효기간 경과 리스크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심의 후 2~3개월 내 미기표 시 재심의 필요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(11/13 승인 시 '27.1~2월 내 기표 必)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인허가 완료가 기표 선행조건일 경우, 유효기간 內 기표 불확실</a:t>
            </a:r>
          </a:p>
          <a:p>
            <a:pPr marL="730000" indent="-210000" algn="l" latinLnBrk="1"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  <a:sym typeface="Wingdings" pitchFamily="2" charset="2"/>
              </a:rPr>
              <a:t>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 xml:space="preserve"> 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재심의 시 일정 이중 지연, 대주단 신뢰도 저하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16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③ 기타 영향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브릿지론 만기 도래 여부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('○○.○월 만기, 연장 필요 시 수수료 ○○억)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지연 기간 금융비용 증가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(월 ○○억 수준)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및 금리 등 조건 재산정 가능성</a:t>
            </a:r>
          </a:p>
          <a:p>
            <a:pPr marL="460000" indent="-230000" algn="l" latinLnBrk="1">
              <a:lnSpc>
                <a:spcPct val="150000"/>
              </a:lnSpc>
              <a:spcBef>
                <a:spcPts val="2200"/>
              </a:spcBef>
              <a:buNone/>
            </a:pPr>
            <a:r>
              <a:rPr lang="ko-KR" altLang="en-US" sz="11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 xml:space="preserve">※ </a:t>
            </a:r>
            <a:r>
              <a:rPr lang="ko-KR" altLang="en-US" sz="11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기표 先 진행 시 「준공기한 부족」, 인허가 後 기표 시 「심의 유효기간 경과」</a:t>
            </a:r>
          </a:p>
          <a:p>
            <a:pPr marL="460000" indent="0" algn="l" latinLnBrk="1">
              <a:lnSpc>
                <a:spcPct val="140000"/>
              </a:lnSpc>
              <a:buNone/>
            </a:pPr>
            <a:r>
              <a:rPr lang="ko-KR" altLang="en-US" sz="11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→ 어느 경우든 현 조건(11/13 심의) 유지 곤란, 심의 일정 조정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"/>
          <p:cNvSpPr txBox="1"/>
          <p:nvPr/>
        </p:nvSpPr>
        <p:spPr>
          <a:xfrm>
            <a:off x="2710" y="-33867"/>
            <a:ext cx="6857999" cy="477054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spAutoFit/>
          </a:bodyPr>
          <a:lstStyle/>
          <a:p>
            <a:pPr marL="0" indent="0" algn="ctr" latinLnBrk="1">
              <a:lnSpc>
                <a:spcPct val="120000"/>
              </a:lnSpc>
              <a:buNone/>
            </a:pPr>
            <a:r>
              <a:rPr lang="ko-KR" altLang="en-US" sz="24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인허가 지연 시 일정 정합성 검토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88911" y="600000"/>
            <a:ext cx="6486209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Case ①  기표 先 진행 시 : 책임준공 기한 부족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88911" y="930000"/>
            <a:ext cx="6486209" cy="2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230000" indent="0" algn="l" latinLnBrk="1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기표일(M) 기준, 인허가 2개월 지연 가정 (버퍼 2개월 + 초과 2개월)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20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624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M+2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328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M+4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032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M+6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156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M+39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860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M+41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564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M+43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916000" y="1360000"/>
            <a:ext cx="4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M+44</a:t>
            </a:r>
          </a:p>
        </p:txBody>
      </p:sp>
      <p:cxnSp>
        <p:nvCxnSpPr>
          <p:cNvPr id="114" name="Connector 114"/>
          <p:cNvCxnSpPr/>
          <p:nvPr/>
        </p:nvCxnSpPr>
        <p:spPr>
          <a:xfrm>
            <a:off x="1150000" y="1570000"/>
            <a:ext cx="2464000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cxnSp>
        <p:nvCxnSpPr>
          <p:cNvPr id="115" name="Connector 115"/>
          <p:cNvCxnSpPr/>
          <p:nvPr/>
        </p:nvCxnSpPr>
        <p:spPr>
          <a:xfrm>
            <a:off x="4034000" y="1570000"/>
            <a:ext cx="2464000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16" name="TextBox 116"/>
          <p:cNvSpPr txBox="1"/>
          <p:nvPr/>
        </p:nvSpPr>
        <p:spPr>
          <a:xfrm>
            <a:off x="3614000" y="1450000"/>
            <a:ext cx="42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7F7F7F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≈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28911" y="1690000"/>
            <a:ext cx="84108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당초 계획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28911" y="2290000"/>
            <a:ext cx="84108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인허가 지연</a:t>
            </a:r>
          </a:p>
        </p:txBody>
      </p:sp>
      <p:sp>
        <p:nvSpPr>
          <p:cNvPr id="120" name="Bar 119"/>
          <p:cNvSpPr/>
          <p:nvPr/>
        </p:nvSpPr>
        <p:spPr>
          <a:xfrm>
            <a:off x="1150000" y="1690000"/>
            <a:ext cx="704000" cy="30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인허가 2</a:t>
            </a:r>
          </a:p>
        </p:txBody>
      </p:sp>
      <p:sp>
        <p:nvSpPr>
          <p:cNvPr id="122" name="Bar 121"/>
          <p:cNvSpPr/>
          <p:nvPr/>
        </p:nvSpPr>
        <p:spPr>
          <a:xfrm>
            <a:off x="1854000" y="1690000"/>
            <a:ext cx="3236000" cy="300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</a:p>
        </p:txBody>
      </p:sp>
      <p:sp>
        <p:nvSpPr>
          <p:cNvPr id="123" name="TextBox 123"/>
          <p:cNvSpPr txBox="1"/>
          <p:nvPr/>
        </p:nvSpPr>
        <p:spPr>
          <a:xfrm>
            <a:off x="1854000" y="1690000"/>
            <a:ext cx="176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공사기간 39개월</a:t>
            </a:r>
          </a:p>
        </p:txBody>
      </p:sp>
      <p:sp>
        <p:nvSpPr>
          <p:cNvPr id="125" name="Bar 124"/>
          <p:cNvSpPr/>
          <p:nvPr/>
        </p:nvSpPr>
        <p:spPr>
          <a:xfrm>
            <a:off x="5090000" y="1690000"/>
            <a:ext cx="704000" cy="300000"/>
          </a:xfrm>
          <a:prstGeom prst="rect">
            <a:avLst/>
          </a:prstGeom>
          <a:solidFill>
            <a:srgbClr val="8EA9D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전환 2</a:t>
            </a:r>
          </a:p>
        </p:txBody>
      </p:sp>
      <p:sp>
        <p:nvSpPr>
          <p:cNvPr id="127" name="Bar 126"/>
          <p:cNvSpPr/>
          <p:nvPr/>
        </p:nvSpPr>
        <p:spPr>
          <a:xfrm>
            <a:off x="1150000" y="2290000"/>
            <a:ext cx="704000" cy="30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버퍼 2</a:t>
            </a:r>
          </a:p>
        </p:txBody>
      </p:sp>
      <p:sp>
        <p:nvSpPr>
          <p:cNvPr id="129" name="Bar 128"/>
          <p:cNvSpPr/>
          <p:nvPr/>
        </p:nvSpPr>
        <p:spPr>
          <a:xfrm>
            <a:off x="1854000" y="2290000"/>
            <a:ext cx="704000" cy="30000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C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지연 +2</a:t>
            </a:r>
          </a:p>
        </p:txBody>
      </p:sp>
      <p:sp>
        <p:nvSpPr>
          <p:cNvPr id="131" name="Bar 130"/>
          <p:cNvSpPr/>
          <p:nvPr/>
        </p:nvSpPr>
        <p:spPr>
          <a:xfrm>
            <a:off x="2558000" y="2290000"/>
            <a:ext cx="3236000" cy="3000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</a:p>
        </p:txBody>
      </p:sp>
      <p:sp>
        <p:nvSpPr>
          <p:cNvPr id="132" name="TextBox 132"/>
          <p:cNvSpPr txBox="1"/>
          <p:nvPr/>
        </p:nvSpPr>
        <p:spPr>
          <a:xfrm>
            <a:off x="2558000" y="2290000"/>
            <a:ext cx="1056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공사 39개월</a:t>
            </a:r>
          </a:p>
        </p:txBody>
      </p:sp>
      <p:sp>
        <p:nvSpPr>
          <p:cNvPr id="134" name="Bar 133"/>
          <p:cNvSpPr/>
          <p:nvPr/>
        </p:nvSpPr>
        <p:spPr>
          <a:xfrm>
            <a:off x="5794000" y="2290000"/>
            <a:ext cx="704000" cy="300000"/>
          </a:xfrm>
          <a:prstGeom prst="rect">
            <a:avLst/>
          </a:prstGeom>
          <a:solidFill>
            <a:srgbClr val="8EA9DB"/>
          </a:solidFill>
          <a:ln w="9525">
            <a:solidFill>
              <a:srgbClr val="C00000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전환 2</a:t>
            </a:r>
          </a:p>
        </p:txBody>
      </p:sp>
      <p:sp>
        <p:nvSpPr>
          <p:cNvPr id="135" name="Break"/>
          <p:cNvSpPr/>
          <p:nvPr/>
        </p:nvSpPr>
        <p:spPr>
          <a:xfrm>
            <a:off x="3734000" y="1670000"/>
            <a:ext cx="18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36" name="TextBox 136"/>
          <p:cNvSpPr txBox="1"/>
          <p:nvPr/>
        </p:nvSpPr>
        <p:spPr>
          <a:xfrm>
            <a:off x="3614000" y="1690000"/>
            <a:ext cx="4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7F7F7F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≈</a:t>
            </a:r>
          </a:p>
        </p:txBody>
      </p:sp>
      <p:sp>
        <p:nvSpPr>
          <p:cNvPr id="137" name="Break"/>
          <p:cNvSpPr/>
          <p:nvPr/>
        </p:nvSpPr>
        <p:spPr>
          <a:xfrm>
            <a:off x="3734000" y="2270000"/>
            <a:ext cx="180000" cy="3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38" name="TextBox 138"/>
          <p:cNvSpPr txBox="1"/>
          <p:nvPr/>
        </p:nvSpPr>
        <p:spPr>
          <a:xfrm>
            <a:off x="3614000" y="2290000"/>
            <a:ext cx="42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7F7F7F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≈</a:t>
            </a:r>
          </a:p>
        </p:txBody>
      </p:sp>
      <p:cxnSp>
        <p:nvCxnSpPr>
          <p:cNvPr id="139" name="Connector 139"/>
          <p:cNvCxnSpPr/>
          <p:nvPr/>
        </p:nvCxnSpPr>
        <p:spPr>
          <a:xfrm>
            <a:off x="5090000" y="1590000"/>
            <a:ext cx="0" cy="130000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</p:cxnSp>
      <p:cxnSp>
        <p:nvCxnSpPr>
          <p:cNvPr id="140" name="Connector 140"/>
          <p:cNvCxnSpPr/>
          <p:nvPr/>
        </p:nvCxnSpPr>
        <p:spPr>
          <a:xfrm>
            <a:off x="6146000" y="1590000"/>
            <a:ext cx="0" cy="1300000"/>
          </a:xfrm>
          <a:prstGeom prst="line">
            <a:avLst/>
          </a:prstGeom>
          <a:ln w="15875">
            <a:solidFill>
              <a:srgbClr val="1E236E"/>
            </a:solidFill>
            <a:prstDash val="dash"/>
          </a:ln>
        </p:spPr>
      </p:cxnSp>
      <p:sp>
        <p:nvSpPr>
          <p:cNvPr id="141" name="Overrun"/>
          <p:cNvSpPr/>
          <p:nvPr/>
        </p:nvSpPr>
        <p:spPr>
          <a:xfrm>
            <a:off x="5090000" y="2250000"/>
            <a:ext cx="704000" cy="380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42" name="TextBox 142"/>
          <p:cNvSpPr txBox="1"/>
          <p:nvPr/>
        </p:nvSpPr>
        <p:spPr>
          <a:xfrm>
            <a:off x="4140000" y="2910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5000"/>
              </a:lnSpc>
              <a:buNone/>
            </a:pPr>
            <a:r>
              <a:rPr lang="ko-KR" altLang="en-US" sz="850" dirty="0">
                <a:solidFill>
                  <a:srgbClr val="C00000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책임준공 기한</a:t>
            </a:r>
          </a:p>
          <a:p>
            <a:pPr marL="0" indent="0" algn="r" latinLnBrk="1">
              <a:lnSpc>
                <a:spcPct val="105000"/>
              </a:lnSpc>
              <a:buNone/>
            </a:pPr>
            <a:r>
              <a:rPr lang="ko-KR" altLang="en-US" sz="850" dirty="0">
                <a:solidFill>
                  <a:srgbClr val="C00000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(M+41 가정)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6186000" y="2910000"/>
            <a:ext cx="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5000"/>
              </a:lnSpc>
              <a:buNone/>
            </a:pPr>
            <a:r>
              <a:rPr lang="ko-KR" altLang="en-US" sz="85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대출 만기</a:t>
            </a:r>
          </a:p>
          <a:p>
            <a:pPr marL="0" indent="0" algn="l" latinLnBrk="1">
              <a:lnSpc>
                <a:spcPct val="105000"/>
              </a:lnSpc>
              <a:buNone/>
            </a:pPr>
            <a:r>
              <a:rPr lang="ko-KR" altLang="en-US" sz="85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(M+44)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970000" y="2650000"/>
            <a:ext cx="944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C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2개월 초과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188911" y="3430000"/>
            <a:ext cx="6486209" cy="9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420000" indent="-190000" algn="l" latinLnBrk="1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버퍼 초과 지연분만큼 준공 시점이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책임준공 기한 · 대출 만기 밖으로 이탈</a:t>
            </a:r>
          </a:p>
          <a:p>
            <a:pPr marL="730000" indent="-21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  <a:sym typeface="Wingdings" pitchFamily="2" charset="2"/>
              </a:rPr>
              <a:t>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 xml:space="preserve"> 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시공사 책임준공 조건 미충족 → 기간 연장 또는 조건 재협의 필요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188911" y="4480000"/>
            <a:ext cx="6486209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Case ②  인허가 後 기표 시 : 심의 유효기간 경과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88911" y="4810000"/>
            <a:ext cx="6486209" cy="26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230000" indent="0" algn="l" latinLnBrk="1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11/13 심의 승인, 유효기간 2~3개월 기준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300000" y="5200000"/>
            <a:ext cx="8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'26.10</a:t>
            </a:r>
          </a:p>
        </p:txBody>
      </p:sp>
      <p:cxnSp>
        <p:nvCxnSpPr>
          <p:cNvPr id="149" name="Connector 149"/>
          <p:cNvCxnSpPr/>
          <p:nvPr/>
        </p:nvCxnSpPr>
        <p:spPr>
          <a:xfrm>
            <a:off x="130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50" name="TextBox 150"/>
          <p:cNvSpPr txBox="1"/>
          <p:nvPr/>
        </p:nvSpPr>
        <p:spPr>
          <a:xfrm>
            <a:off x="2160000" y="5200000"/>
            <a:ext cx="8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'26.11</a:t>
            </a:r>
          </a:p>
        </p:txBody>
      </p:sp>
      <p:cxnSp>
        <p:nvCxnSpPr>
          <p:cNvPr id="151" name="Connector 151"/>
          <p:cNvCxnSpPr/>
          <p:nvPr/>
        </p:nvCxnSpPr>
        <p:spPr>
          <a:xfrm>
            <a:off x="216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52" name="TextBox 152"/>
          <p:cNvSpPr txBox="1"/>
          <p:nvPr/>
        </p:nvSpPr>
        <p:spPr>
          <a:xfrm>
            <a:off x="3020000" y="5200000"/>
            <a:ext cx="8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'26.12</a:t>
            </a:r>
          </a:p>
        </p:txBody>
      </p:sp>
      <p:cxnSp>
        <p:nvCxnSpPr>
          <p:cNvPr id="153" name="Connector 153"/>
          <p:cNvCxnSpPr/>
          <p:nvPr/>
        </p:nvCxnSpPr>
        <p:spPr>
          <a:xfrm>
            <a:off x="302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54" name="TextBox 154"/>
          <p:cNvSpPr txBox="1"/>
          <p:nvPr/>
        </p:nvSpPr>
        <p:spPr>
          <a:xfrm>
            <a:off x="3880000" y="5200000"/>
            <a:ext cx="8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'27.1</a:t>
            </a:r>
          </a:p>
        </p:txBody>
      </p:sp>
      <p:cxnSp>
        <p:nvCxnSpPr>
          <p:cNvPr id="155" name="Connector 155"/>
          <p:cNvCxnSpPr/>
          <p:nvPr/>
        </p:nvCxnSpPr>
        <p:spPr>
          <a:xfrm>
            <a:off x="388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56" name="TextBox 156"/>
          <p:cNvSpPr txBox="1"/>
          <p:nvPr/>
        </p:nvSpPr>
        <p:spPr>
          <a:xfrm>
            <a:off x="4740000" y="5200000"/>
            <a:ext cx="8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'27.2</a:t>
            </a:r>
          </a:p>
        </p:txBody>
      </p:sp>
      <p:cxnSp>
        <p:nvCxnSpPr>
          <p:cNvPr id="157" name="Connector 157"/>
          <p:cNvCxnSpPr/>
          <p:nvPr/>
        </p:nvCxnSpPr>
        <p:spPr>
          <a:xfrm>
            <a:off x="474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58" name="TextBox 158"/>
          <p:cNvSpPr txBox="1"/>
          <p:nvPr/>
        </p:nvSpPr>
        <p:spPr>
          <a:xfrm>
            <a:off x="5600000" y="5200000"/>
            <a:ext cx="86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'27.3</a:t>
            </a:r>
          </a:p>
        </p:txBody>
      </p:sp>
      <p:cxnSp>
        <p:nvCxnSpPr>
          <p:cNvPr id="159" name="Connector 159"/>
          <p:cNvCxnSpPr/>
          <p:nvPr/>
        </p:nvCxnSpPr>
        <p:spPr>
          <a:xfrm>
            <a:off x="560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60" name="Connector 160"/>
          <p:cNvCxnSpPr/>
          <p:nvPr/>
        </p:nvCxnSpPr>
        <p:spPr>
          <a:xfrm>
            <a:off x="6460000" y="5400000"/>
            <a:ext cx="0" cy="16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61" name="Connector 161"/>
          <p:cNvCxnSpPr/>
          <p:nvPr/>
        </p:nvCxnSpPr>
        <p:spPr>
          <a:xfrm>
            <a:off x="1300000" y="5400000"/>
            <a:ext cx="5160000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62" name="TextBox 162"/>
          <p:cNvSpPr txBox="1"/>
          <p:nvPr/>
        </p:nvSpPr>
        <p:spPr>
          <a:xfrm>
            <a:off x="228911" y="5500000"/>
            <a:ext cx="101108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대주 심의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228911" y="5980000"/>
            <a:ext cx="101108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인허가(당초)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228911" y="6460000"/>
            <a:ext cx="1011089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0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인허가(지연)</a:t>
            </a:r>
          </a:p>
        </p:txBody>
      </p:sp>
      <p:sp>
        <p:nvSpPr>
          <p:cNvPr id="166" name="Bar 165"/>
          <p:cNvSpPr/>
          <p:nvPr/>
        </p:nvSpPr>
        <p:spPr>
          <a:xfrm>
            <a:off x="2504000" y="5500000"/>
            <a:ext cx="1720000" cy="30000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유효기간 2개월</a:t>
            </a:r>
          </a:p>
        </p:txBody>
      </p:sp>
      <p:sp>
        <p:nvSpPr>
          <p:cNvPr id="168" name="Bar 167"/>
          <p:cNvSpPr/>
          <p:nvPr/>
        </p:nvSpPr>
        <p:spPr>
          <a:xfrm>
            <a:off x="4224000" y="5500000"/>
            <a:ext cx="860000" cy="300000"/>
          </a:xfrm>
          <a:prstGeom prst="rect">
            <a:avLst/>
          </a:prstGeom>
          <a:solidFill>
            <a:srgbClr val="EDF0F4"/>
          </a:solidFill>
          <a:ln w="9525">
            <a:solidFill>
              <a:srgbClr val="ADB9CA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~3개월</a:t>
            </a:r>
          </a:p>
        </p:txBody>
      </p:sp>
      <p:sp>
        <p:nvSpPr>
          <p:cNvPr id="169" name="심의"/>
          <p:cNvSpPr/>
          <p:nvPr/>
        </p:nvSpPr>
        <p:spPr>
          <a:xfrm>
            <a:off x="2414000" y="5560000"/>
            <a:ext cx="180000" cy="180000"/>
          </a:xfrm>
          <a:prstGeom prst="diamond">
            <a:avLst/>
          </a:prstGeom>
          <a:solidFill>
            <a:srgbClr val="1E236E"/>
          </a:solidFill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70" name="TextBox 170"/>
          <p:cNvSpPr txBox="1"/>
          <p:nvPr/>
        </p:nvSpPr>
        <p:spPr>
          <a:xfrm>
            <a:off x="1674000" y="550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1E236E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11/13 심의</a:t>
            </a:r>
          </a:p>
        </p:txBody>
      </p:sp>
      <p:sp>
        <p:nvSpPr>
          <p:cNvPr id="172" name="Bar 171"/>
          <p:cNvSpPr/>
          <p:nvPr/>
        </p:nvSpPr>
        <p:spPr>
          <a:xfrm>
            <a:off x="1300000" y="5980000"/>
            <a:ext cx="1691333" cy="30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인허가 진행</a:t>
            </a:r>
          </a:p>
        </p:txBody>
      </p:sp>
      <p:sp>
        <p:nvSpPr>
          <p:cNvPr id="173" name="완료"/>
          <p:cNvSpPr/>
          <p:nvPr/>
        </p:nvSpPr>
        <p:spPr>
          <a:xfrm>
            <a:off x="2911333" y="6050000"/>
            <a:ext cx="160000" cy="16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74" name="TextBox 174"/>
          <p:cNvSpPr txBox="1"/>
          <p:nvPr/>
        </p:nvSpPr>
        <p:spPr>
          <a:xfrm>
            <a:off x="3111333" y="598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404040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11월말 완료 → 기표 가능</a:t>
            </a:r>
          </a:p>
        </p:txBody>
      </p:sp>
      <p:sp>
        <p:nvSpPr>
          <p:cNvPr id="176" name="Bar 175"/>
          <p:cNvSpPr/>
          <p:nvPr/>
        </p:nvSpPr>
        <p:spPr>
          <a:xfrm>
            <a:off x="1300000" y="6460000"/>
            <a:ext cx="1691333" cy="30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262626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인허가 진행</a:t>
            </a:r>
          </a:p>
        </p:txBody>
      </p:sp>
      <p:sp>
        <p:nvSpPr>
          <p:cNvPr id="178" name="Bar 177"/>
          <p:cNvSpPr/>
          <p:nvPr/>
        </p:nvSpPr>
        <p:spPr>
          <a:xfrm>
            <a:off x="2991333" y="6460000"/>
            <a:ext cx="2293333" cy="300000"/>
          </a:xfrm>
          <a:prstGeom prst="rect">
            <a:avLst/>
          </a:prstGeom>
          <a:solidFill>
            <a:srgbClr val="F4B1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C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지연 ('27.○월 완료 예상)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5344666" y="646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C00000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✕ 기표 불가</a:t>
            </a:r>
          </a:p>
        </p:txBody>
      </p:sp>
      <p:cxnSp>
        <p:nvCxnSpPr>
          <p:cNvPr id="180" name="Connector 180"/>
          <p:cNvCxnSpPr/>
          <p:nvPr/>
        </p:nvCxnSpPr>
        <p:spPr>
          <a:xfrm>
            <a:off x="5084000" y="5440000"/>
            <a:ext cx="0" cy="144000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</p:cxnSp>
      <p:sp>
        <p:nvSpPr>
          <p:cNvPr id="181" name="TextBox 181"/>
          <p:cNvSpPr txBox="1"/>
          <p:nvPr/>
        </p:nvSpPr>
        <p:spPr>
          <a:xfrm>
            <a:off x="4384000" y="690000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C00000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유효기간 만료(최대)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188911" y="7280000"/>
            <a:ext cx="6486209" cy="9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420000" indent="-190000" algn="l" latinLnBrk="1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인허가 완료를 기다려 기표 시,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'27.1~2월 내 기표 불가 → 재심의 필요</a:t>
            </a:r>
          </a:p>
          <a:p>
            <a:pPr marL="730000" indent="-21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  <a:sym typeface="Wingdings" pitchFamily="2" charset="2"/>
              </a:rPr>
              <a:t>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 xml:space="preserve"> </a:t>
            </a:r>
            <a:r>
              <a:rPr lang="ko-KR" altLang="en-US" sz="12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심의를 인허가 완료 확실 시점에 맞춰 연기하는 것이 합리적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"/>
          <p:cNvSpPr txBox="1"/>
          <p:nvPr/>
        </p:nvSpPr>
        <p:spPr>
          <a:xfrm>
            <a:off x="2710" y="-33867"/>
            <a:ext cx="6857999" cy="477054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spAutoFit/>
          </a:bodyPr>
          <a:lstStyle/>
          <a:p>
            <a:pPr marL="0" indent="0" algn="ctr" latinLnBrk="1">
              <a:lnSpc>
                <a:spcPct val="120000"/>
              </a:lnSpc>
              <a:buNone/>
            </a:pPr>
            <a:r>
              <a:rPr lang="ko-KR" altLang="en-US" sz="24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대응 방안 및 향후 계획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188911" y="600000"/>
            <a:ext cx="6486209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대안 검토</a:t>
            </a:r>
          </a:p>
        </p:txBody>
      </p:sp>
      <p:graphicFrame>
        <p:nvGraphicFramePr>
          <p:cNvPr id="185" name="표 185"/>
          <p:cNvGraphicFramePr>
            <a:graphicFrameLocks noGrp="1"/>
          </p:cNvGraphicFramePr>
          <p:nvPr/>
        </p:nvGraphicFramePr>
        <p:xfrm>
          <a:off x="188911" y="980000"/>
          <a:ext cx="6486209" cy="254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1840000"/>
                <a:gridCol w="1840000"/>
                <a:gridCol w="1906209"/>
              </a:tblGrid>
              <a:tr h="33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구분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A. 예정대로 심의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B. 심의 연기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C. 심의 + 조건 조정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내용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11/13 심의,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인허가 완료를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선행조건으로 승인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인허가 완료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확실 시점에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맞춰 심의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11/13 심의, 기산점을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「인허가 완료일」로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변경하여 승인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장점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일정 유지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조건 확정 후 심의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재심의 리스크 없음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일정 유지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기간 문제 해소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단점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유효기간 경과 시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재심의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일정 지연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금융비용 증가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대주 / 시공사 협의 필요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수용 여부 불확실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리스크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높음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중간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협의 결과에 따라 상이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6" name="TextBox 186"/>
          <p:cNvSpPr txBox="1"/>
          <p:nvPr/>
        </p:nvSpPr>
        <p:spPr>
          <a:xfrm>
            <a:off x="188911" y="3750000"/>
            <a:ext cx="6486209" cy="27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검토 의견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B안(심의 연기) 또는 C안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추진 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(대주단 / 시공사 사전 협의 결과에 따라 결정)</a:t>
            </a:r>
          </a:p>
          <a:p>
            <a:pPr marL="670000" indent="-150000" algn="l" latinLnBrk="1">
              <a:lnSpc>
                <a:spcPct val="15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2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인허가 완료 예상일 기준 역산 시, 유효기간 內 기표 및 공사기간 39개월 확보 가능한 일정으로 재설정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188911" y="5250000"/>
            <a:ext cx="6486209" cy="33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변경 일정(안)</a:t>
            </a:r>
          </a:p>
        </p:txBody>
      </p:sp>
      <p:graphicFrame>
        <p:nvGraphicFramePr>
          <p:cNvPr id="188" name="표 188"/>
          <p:cNvGraphicFramePr>
            <a:graphicFrameLocks noGrp="1"/>
          </p:cNvGraphicFramePr>
          <p:nvPr/>
        </p:nvGraphicFramePr>
        <p:xfrm>
          <a:off x="188911" y="5620000"/>
          <a:ext cx="6486209" cy="890000"/>
        </p:xfrm>
        <a:graphic>
          <a:graphicData uri="http://schemas.openxmlformats.org/drawingml/2006/table">
            <a:tbl>
              <a:tblPr firstRow="1" bandRow="1"/>
              <a:tblGrid>
                <a:gridCol w="1081035"/>
                <a:gridCol w="1081035"/>
                <a:gridCol w="1081035"/>
                <a:gridCol w="1081035"/>
                <a:gridCol w="1081035"/>
                <a:gridCol w="1081034"/>
              </a:tblGrid>
              <a:tr h="33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인허가 완료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PF 심의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기표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착공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준공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Bold(TTF)" panose="02000600000000020003" pitchFamily="2" charset="-127"/>
                          <a:ea typeface="신세계 민부리 Bold(TTF)" panose="02000600000000020003" pitchFamily="2" charset="-127"/>
                        </a:rPr>
                        <a:t>담보대출 전환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'○○.○월</a:t>
                      </a:r>
                    </a:p>
                  </a:txBody>
                  <a:tcPr marL="54000" marR="54000" marT="36000" marB="36000" anchor="ctr">
                    <a:lnL w="6350">
                      <a:noFill/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'○○.○월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심의 후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2~3개월 內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'○○.○월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착공 후</a:t>
                      </a:r>
                    </a:p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39개월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solidFill>
                        <a:srgbClr val="7F7F7F"/>
                      </a:solidFill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5000"/>
                        </a:lnSpc>
                        <a:buNone/>
                      </a:pPr>
                      <a:r>
                        <a:rPr lang="ko-KR" altLang="en-US" sz="1100" dirty="0"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신세계 민부리 Light(OTF)" panose="02000600000000020003" pitchFamily="50" charset="-127"/>
                          <a:ea typeface="신세계 민부리 Light(OTF)" panose="02000600000000020003" pitchFamily="50" charset="-127"/>
                        </a:rPr>
                        <a:t>'○○.○월</a:t>
                      </a:r>
                    </a:p>
                  </a:txBody>
                  <a:tcPr marL="54000" marR="54000" marT="36000" marB="36000" anchor="ctr">
                    <a:lnL w="6350">
                      <a:solidFill>
                        <a:srgbClr val="7F7F7F"/>
                      </a:solidFill>
                    </a:lnL>
                    <a:lnR w="6350">
                      <a:noFill/>
                    </a:lnR>
                    <a:lnT w="6350">
                      <a:solidFill>
                        <a:srgbClr val="7F7F7F"/>
                      </a:solidFill>
                    </a:lnT>
                    <a:lnB w="6350">
                      <a:solidFill>
                        <a:srgbClr val="7F7F7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9" name="TextBox 189"/>
          <p:cNvSpPr txBox="1"/>
          <p:nvPr/>
        </p:nvSpPr>
        <p:spPr>
          <a:xfrm>
            <a:off x="188911" y="6750000"/>
            <a:ext cx="6486209" cy="250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>
            <a:noAutofit/>
          </a:bodyPr>
          <a:lstStyle/>
          <a:p>
            <a:pPr marL="0" indent="0" algn="l" latinLnBrk="1">
              <a:lnSpc>
                <a:spcPct val="150000"/>
              </a:lnSpc>
              <a:buNone/>
            </a:pP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</a:t>
            </a:r>
            <a:r>
              <a:rPr lang="ko-KR" altLang="en-US" sz="154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향후 조치 사항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대주단 : 심의 일정 변경 협의 및 승인 유효기간 / 기산점 확인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시공사 : 책임착공 / 준공 기산점 및 기간 조건 협의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인허가 : 관청 협의를 통한 완료 시점 확정 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(잔여 절차 : ○○)</a:t>
            </a:r>
          </a:p>
          <a:p>
            <a:pPr marL="420000" indent="-190000" algn="l" latinLnBrk="1">
              <a:lnSpc>
                <a:spcPct val="150000"/>
              </a:lnSpc>
              <a:spcBef>
                <a:spcPts val="800"/>
              </a:spcBef>
              <a:buNone/>
            </a:pP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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(해당 시) 브릿지론 만기 연장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algn="l">
          <a:spcBef>
            <a:spcPts val="1200"/>
          </a:spcBef>
          <a:tabLst>
            <a:tab pos="227013" algn="l"/>
            <a:tab pos="1165225" algn="l"/>
          </a:tabLst>
          <a:defRPr sz="1400" dirty="0">
            <a:solidFill>
              <a:prstClr val="black">
                <a:lumMod val="85000"/>
                <a:lumOff val="15000"/>
              </a:prstClr>
            </a:solidFill>
            <a:latin typeface="HY견고딕" panose="02030600000101010101" pitchFamily="18" charset="-127"/>
            <a:ea typeface="HY견고딕" panose="02030600000101010101" pitchFamily="18" charset="-127"/>
            <a:sym typeface="Wingdings" pitchFamily="2" charset="2"/>
          </a:defRPr>
        </a:defPPr>
      </a:lst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88202" tIns="44101" rIns="88202" bIns="44101" numCol="1" rtlCol="0" anchor="ctr" anchorCtr="0" compatLnSpc="1">
        <a:prstTxWarp prst="textNoShape">
          <a:avLst/>
        </a:prstTxWarp>
        <a:spAutoFit/>
      </a:bodyPr>
      <a:lstStyle>
        <a:defPPr algn="ctr" defTabSz="882019" fontAlgn="base">
          <a:lnSpc>
            <a:spcPct val="120000"/>
          </a:lnSpc>
          <a:defRPr kumimoji="1" sz="1000" dirty="0">
            <a:latin typeface="신세계 민부리 Medium(TTF)" panose="02000600000000020003" pitchFamily="2" charset="-127"/>
            <a:ea typeface="신세계 민부리 Medium(TTF)" panose="02000600000000020003" pitchFamily="2" charset="-127"/>
            <a:cs typeface="굴림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e769a94-a688-4b1a-b696-1d635af05004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601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SHINSEGAE</dc:creator>
  <dcterms:modified xsi:type="dcterms:W3CDTF">2026-10-27T01:54:42Z</dcterms:modified>
  <dc:title>PowerPoint 프레젠테이션</dc:title>
  <cp:lastPrinted>2026-10-21T01:56:39Z</cp:lastPrinted>
  <cp:lastModifiedBy>정유경(파트너) - 부동산금융팀</cp:lastModifiedBy>
  <dcterms:created xsi:type="dcterms:W3CDTF">2017-03-08T10:10:17Z</dcterms:created>
  <cp:revision>3230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772263-e823-4541-b19a-907e15bf13d7_SiteId">
    <vt:lpwstr>d4ffc887-d88d-41cc-bf6a-6bb47ec0f3ca</vt:lpwstr>
  </property>
  <property fmtid="{D5CDD505-2E9C-101B-9397-08002B2CF9AE}" pid="3" name="MSIP_Label_aa772263-e823-4541-b19a-907e15bf13d7_SetDate">
    <vt:lpwstr>2024-05-28T08:19:59Z</vt:lpwstr>
  </property>
  <property fmtid="{D5CDD505-2E9C-101B-9397-08002B2CF9AE}" pid="4" name="MSIP_Label_aa772263-e823-4541-b19a-907e15bf13d7_Name">
    <vt:lpwstr/>
  </property>
  <property fmtid="{D5CDD505-2E9C-101B-9397-08002B2CF9AE}" pid="5" name="MSIP_Label_aa772263-e823-4541-b19a-907e15bf13d7_Method">
    <vt:lpwstr>Privileged</vt:lpwstr>
  </property>
  <property fmtid="{D5CDD505-2E9C-101B-9397-08002B2CF9AE}" pid="6" name="MSIP_Label_aa772263-e823-4541-b19a-907e15bf13d7_Enabled">
    <vt:lpwstr>true</vt:lpwstr>
  </property>
  <property fmtid="{D5CDD505-2E9C-101B-9397-08002B2CF9AE}" pid="7" name="MSIP_Label_aa772263-e823-4541-b19a-907e15bf13d7_ContentBits">
    <vt:lpwstr>8</vt:lpwstr>
  </property>
</Properties>
</file>