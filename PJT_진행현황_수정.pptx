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48" r:id="rId2"/>
  </p:sldMasterIdLst>
  <p:notesMasterIdLst>
    <p:notesMasterId r:id="rId35"/>
  </p:notesMasterIdLst>
  <p:sldIdLst>
    <p:sldId id="502" r:id="rId3"/>
    <p:sldId id="113561" r:id="rId4"/>
    <p:sldId id="113565" r:id="rId5"/>
    <p:sldId id="684" r:id="rId6"/>
    <p:sldId id="113543" r:id="rId7"/>
    <p:sldId id="113532" r:id="rId8"/>
    <p:sldId id="113533" r:id="rId9"/>
    <p:sldId id="113534" r:id="rId10"/>
    <p:sldId id="113535" r:id="rId11"/>
    <p:sldId id="113536" r:id="rId12"/>
    <p:sldId id="612" r:id="rId13"/>
    <p:sldId id="532" r:id="rId14"/>
    <p:sldId id="648" r:id="rId15"/>
    <p:sldId id="699" r:id="rId16"/>
    <p:sldId id="644" r:id="rId17"/>
    <p:sldId id="641" r:id="rId18"/>
    <p:sldId id="700" r:id="rId19"/>
    <p:sldId id="643" r:id="rId20"/>
    <p:sldId id="651" r:id="rId21"/>
    <p:sldId id="717" r:id="rId22"/>
    <p:sldId id="652" r:id="rId23"/>
    <p:sldId id="694" r:id="rId24"/>
    <p:sldId id="623" r:id="rId25"/>
    <p:sldId id="656" r:id="rId26"/>
    <p:sldId id="695" r:id="rId27"/>
    <p:sldId id="655" r:id="rId28"/>
    <p:sldId id="701" r:id="rId29"/>
    <p:sldId id="628" r:id="rId30"/>
    <p:sldId id="690" r:id="rId31"/>
    <p:sldId id="697" r:id="rId32"/>
    <p:sldId id="631" r:id="rId33"/>
    <p:sldId id="681" r:id="rId34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orient="horz" pos="5592" userDrawn="1">
          <p15:clr>
            <a:srgbClr val="A4A3A4"/>
          </p15:clr>
        </p15:guide>
        <p15:guide id="3" orient="horz" pos="1963" userDrawn="1">
          <p15:clr>
            <a:srgbClr val="A4A3A4"/>
          </p15:clr>
        </p15:guide>
        <p15:guide id="4" orient="horz" pos="580" userDrawn="1">
          <p15:clr>
            <a:srgbClr val="A4A3A4"/>
          </p15:clr>
        </p15:guide>
        <p15:guide id="6" orient="horz" pos="3301" userDrawn="1">
          <p15:clr>
            <a:srgbClr val="A4A3A4"/>
          </p15:clr>
        </p15:guide>
        <p15:guide id="15" pos="4224" userDrawn="1">
          <p15:clr>
            <a:srgbClr val="A4A3A4"/>
          </p15:clr>
        </p15:guide>
        <p15:guide id="16" pos="300" userDrawn="1">
          <p15:clr>
            <a:srgbClr val="A4A3A4"/>
          </p15:clr>
        </p15:guide>
        <p15:guide id="17" pos="164" userDrawn="1">
          <p15:clr>
            <a:srgbClr val="A4A3A4"/>
          </p15:clr>
        </p15:guide>
        <p15:guide id="18" pos="391" userDrawn="1">
          <p15:clr>
            <a:srgbClr val="A4A3A4"/>
          </p15:clr>
        </p15:guide>
        <p15:guide id="19" pos="2999" userDrawn="1">
          <p15:clr>
            <a:srgbClr val="A4A3A4"/>
          </p15:clr>
        </p15:guide>
        <p15:guide id="21" pos="2160" userDrawn="1">
          <p15:clr>
            <a:srgbClr val="A4A3A4"/>
          </p15:clr>
        </p15:guide>
        <p15:guide id="22" pos="2092" userDrawn="1">
          <p15:clr>
            <a:srgbClr val="A4A3A4"/>
          </p15:clr>
        </p15:guide>
        <p15:guide id="23" orient="horz" pos="3687" userDrawn="1">
          <p15:clr>
            <a:srgbClr val="A4A3A4"/>
          </p15:clr>
        </p15:guide>
        <p15:guide id="24" pos="4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5B7096"/>
    <a:srgbClr val="E4E7EC"/>
    <a:srgbClr val="C9D3E6"/>
    <a:srgbClr val="F2F2F2"/>
    <a:srgbClr val="FFFFFF"/>
    <a:srgbClr val="0000FF"/>
    <a:srgbClr val="1E236E"/>
    <a:srgbClr val="0070C0"/>
    <a:srgbClr val="F7F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2" autoAdjust="0"/>
  </p:normalViewPr>
  <p:slideViewPr>
    <p:cSldViewPr snapToGrid="0" showGuides="1">
      <p:cViewPr>
        <p:scale>
          <a:sx n="93" d="100"/>
          <a:sy n="93" d="100"/>
        </p:scale>
        <p:origin x="3048" y="-798"/>
      </p:cViewPr>
      <p:guideLst>
        <p:guide orient="horz" pos="6023"/>
        <p:guide orient="horz" pos="5592"/>
        <p:guide orient="horz" pos="1963"/>
        <p:guide orient="horz" pos="580"/>
        <p:guide orient="horz" pos="3301"/>
        <p:guide pos="4224"/>
        <p:guide pos="300"/>
        <p:guide pos="164"/>
        <p:guide pos="391"/>
        <p:guide pos="2999"/>
        <p:guide pos="2160"/>
        <p:guide pos="2092"/>
        <p:guide orient="horz" pos="3687"/>
        <p:guide pos="4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7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400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43" tIns="45168" rIns="90343" bIns="4516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5"/>
            <a:ext cx="5388610" cy="4439841"/>
          </a:xfrm>
          <a:prstGeom prst="rect">
            <a:avLst/>
          </a:prstGeom>
        </p:spPr>
        <p:txBody>
          <a:bodyPr vert="horz" lIns="90343" tIns="45168" rIns="90343" bIns="4516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7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400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67AA-A9B6-7281-91D6-819F413F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9A04EC-0F1F-23FE-A78F-5A0C817D5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3AE6F8-B11C-086C-4301-75FECA61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904AC-E4AA-1C6A-9A23-BE678E8A4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6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7C677-483F-401F-8BFD-FEF949A138E6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04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3F3E9-48FA-81C4-7750-6B04503C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5F3581-04C2-6934-1002-46FAA70ED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949BD1-C052-DC77-FE41-AE6F0B084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1F3831-C13A-3D97-5764-CB75BB19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4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96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9CB8-5BBA-C86B-403A-2B64DB08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850243-28F8-A7A2-A602-F3943413F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C5165-654A-91B4-0B54-A1D3AD82F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2F1C89-C7DE-8F4C-EFF6-6583634ECF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199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3EEC-1FAF-FB31-727B-C7E2F7D7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09275A-F7D8-03EA-3BE6-130C10D15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06F8EF-6888-BBC7-C03F-476F764A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D12B7-D66D-0F95-8848-8BF118F74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088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A46-6015-F38D-A355-512C8DCB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49A7ED-E39E-F130-782A-842AB53F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3FC607-138E-C598-6037-51DE1E80F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A5A3EE-BA32-0C9E-CDEF-BB9B1453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53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980B-A40A-5DAB-1F57-8588B6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A8747B-06FE-1FF0-5683-DBB30EFAA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440F06-B048-DB90-5F2C-2C7D0BE0F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D9520-D82A-4D82-9285-68DB1A379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754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F2AC-8F54-25A9-8241-6521A54D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A59129-E9C5-9D3F-6B17-EED3CEA1F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352BF-98E7-98A5-D3E5-F5661D848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134B92-A5EC-52D5-C740-BE4D9C56F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03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7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148138" y="841375"/>
            <a:ext cx="1573212" cy="22733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778FD0-353D-43AE-9E8B-5191FE4BDC4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4643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7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66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33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00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668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336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00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6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33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408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90"/>
            <a:ext cx="5829300" cy="2166936"/>
          </a:xfrm>
        </p:spPr>
        <p:txBody>
          <a:bodyPr anchor="b"/>
          <a:lstStyle>
            <a:lvl1pPr marL="0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1pPr>
            <a:lvl2pPr marL="466720" indent="0">
              <a:buNone/>
              <a:defRPr sz="1837">
                <a:solidFill>
                  <a:schemeClr val="tx1">
                    <a:tint val="75000"/>
                  </a:schemeClr>
                </a:solidFill>
              </a:defRPr>
            </a:lvl2pPr>
            <a:lvl3pPr marL="933441" indent="0">
              <a:buNone/>
              <a:defRPr sz="1633">
                <a:solidFill>
                  <a:schemeClr val="tx1">
                    <a:tint val="75000"/>
                  </a:schemeClr>
                </a:solidFill>
              </a:defRPr>
            </a:lvl3pPr>
            <a:lvl4pPr marL="140016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4pPr>
            <a:lvl5pPr marL="186688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5pPr>
            <a:lvl6pPr marL="233360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6pPr>
            <a:lvl7pPr marL="280032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7pPr>
            <a:lvl8pPr marL="326704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8pPr>
            <a:lvl9pPr marL="373376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3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7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2" y="2217387"/>
            <a:ext cx="303014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2" y="3141487"/>
            <a:ext cx="303014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5" y="2217387"/>
            <a:ext cx="303133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5" y="3141487"/>
            <a:ext cx="303133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7" y="394407"/>
            <a:ext cx="2256235" cy="1678517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4" y="394408"/>
            <a:ext cx="3833813" cy="8454496"/>
          </a:xfrm>
        </p:spPr>
        <p:txBody>
          <a:bodyPr/>
          <a:lstStyle>
            <a:lvl1pPr>
              <a:defRPr sz="3267"/>
            </a:lvl1pPr>
            <a:lvl2pPr>
              <a:defRPr sz="2858"/>
            </a:lvl2pPr>
            <a:lvl3pPr>
              <a:defRPr sz="2450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7" y="2072927"/>
            <a:ext cx="2256235" cy="6775982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2"/>
            <a:ext cx="4114800" cy="818621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67"/>
            </a:lvl1pPr>
            <a:lvl2pPr marL="466720" indent="0">
              <a:buNone/>
              <a:defRPr sz="2858"/>
            </a:lvl2pPr>
            <a:lvl3pPr marL="933441" indent="0">
              <a:buNone/>
              <a:defRPr sz="2450"/>
            </a:lvl3pPr>
            <a:lvl4pPr marL="1400162" indent="0">
              <a:buNone/>
              <a:defRPr sz="2041"/>
            </a:lvl4pPr>
            <a:lvl5pPr marL="1866882" indent="0">
              <a:buNone/>
              <a:defRPr sz="2041"/>
            </a:lvl5pPr>
            <a:lvl6pPr marL="2333603" indent="0">
              <a:buNone/>
              <a:defRPr sz="2041"/>
            </a:lvl6pPr>
            <a:lvl7pPr marL="2800323" indent="0">
              <a:buNone/>
              <a:defRPr sz="2041"/>
            </a:lvl7pPr>
            <a:lvl8pPr marL="3267044" indent="0">
              <a:buNone/>
              <a:defRPr sz="2041"/>
            </a:lvl8pPr>
            <a:lvl9pPr marL="3733764" indent="0">
              <a:buNone/>
              <a:defRPr sz="2041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9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9"/>
            <a:ext cx="1157288" cy="112680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9"/>
            <a:ext cx="3357563" cy="112680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6"/>
            <a:ext cx="5829300" cy="21233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6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3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495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66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82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99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156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32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31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60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276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316520" indent="0">
              <a:buNone/>
              <a:defRPr sz="1246">
                <a:solidFill>
                  <a:schemeClr val="tx1">
                    <a:tint val="75000"/>
                  </a:schemeClr>
                </a:solidFill>
              </a:defRPr>
            </a:lvl2pPr>
            <a:lvl3pPr marL="63303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3pPr>
            <a:lvl4pPr marL="949559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4pPr>
            <a:lvl5pPr marL="126607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5pPr>
            <a:lvl6pPr marL="158259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6pPr>
            <a:lvl7pPr marL="189911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7pPr>
            <a:lvl8pPr marL="221563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8pPr>
            <a:lvl9pPr marL="2532156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518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3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2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2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5888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8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491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9" y="394409"/>
            <a:ext cx="3833812" cy="8454497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2926"/>
            <a:ext cx="2256235" cy="6775980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9577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0"/>
            <a:ext cx="4114800" cy="818622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8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54945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8397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396701"/>
            <a:ext cx="1543050" cy="845220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396701"/>
            <a:ext cx="4514850" cy="845220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0972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514350" y="880533"/>
            <a:ext cx="5829300" cy="7924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563B64-B063-4EDA-9A53-92878BB4928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5494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3"/>
          <p:cNvSpPr>
            <a:spLocks noChangeShapeType="1"/>
          </p:cNvSpPr>
          <p:nvPr userDrawn="1"/>
        </p:nvSpPr>
        <p:spPr bwMode="auto">
          <a:xfrm>
            <a:off x="126390" y="1105253"/>
            <a:ext cx="6605221" cy="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sz="1246"/>
          </a:p>
        </p:txBody>
      </p:sp>
      <p:sp>
        <p:nvSpPr>
          <p:cNvPr id="3" name="슬라이드 번호 개체 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554">
                <a:latin typeface="나눔고딕" pitchFamily="50" charset="-127"/>
                <a:ea typeface="나눔고딕" pitchFamily="50" charset="-127"/>
              </a:defRPr>
            </a:lvl1pPr>
          </a:lstStyle>
          <a:p>
            <a:pPr>
              <a:defRPr/>
            </a:pPr>
            <a:fld id="{FCD67538-AF92-402B-B65F-224F7B6D854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65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6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933441" rtl="0" eaLnBrk="1" latinLnBrk="1" hangingPunct="1">
        <a:spcBef>
          <a:spcPct val="0"/>
        </a:spcBef>
        <a:buNone/>
        <a:defRPr sz="44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040" indent="-350040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1pPr>
      <a:lvl2pPr marL="758421" indent="-291699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858" kern="1200">
          <a:solidFill>
            <a:schemeClr val="tx1"/>
          </a:solidFill>
          <a:latin typeface="+mn-lt"/>
          <a:ea typeface="+mn-ea"/>
          <a:cs typeface="+mn-cs"/>
        </a:defRPr>
      </a:lvl2pPr>
      <a:lvl3pPr marL="1166801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63352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041" kern="1200">
          <a:solidFill>
            <a:schemeClr val="tx1"/>
          </a:solidFill>
          <a:latin typeface="+mn-lt"/>
          <a:ea typeface="+mn-ea"/>
          <a:cs typeface="+mn-cs"/>
        </a:defRPr>
      </a:lvl4pPr>
      <a:lvl5pPr marL="210024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»"/>
        <a:defRPr sz="2041" kern="1200">
          <a:solidFill>
            <a:schemeClr val="tx1"/>
          </a:solidFill>
          <a:latin typeface="+mn-lt"/>
          <a:ea typeface="+mn-ea"/>
          <a:cs typeface="+mn-cs"/>
        </a:defRPr>
      </a:lvl5pPr>
      <a:lvl6pPr marL="256696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6pPr>
      <a:lvl7pPr marL="3033684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7pPr>
      <a:lvl8pPr marL="350040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8pPr>
      <a:lvl9pPr marL="3967125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1pPr>
      <a:lvl2pPr marL="46672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2pPr>
      <a:lvl3pPr marL="933441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3pPr>
      <a:lvl4pPr marL="140016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4pPr>
      <a:lvl5pPr marL="186688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5pPr>
      <a:lvl6pPr marL="233360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6pPr>
      <a:lvl7pPr marL="280032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7pPr>
      <a:lvl8pPr marL="326704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8pPr>
      <a:lvl9pPr marL="373376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3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4" r:id="rId1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079-291D-2C8D-AAA6-1A28C34C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7B2674E-A9A5-E46C-39C0-E07A6F59B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-8741649"/>
            <a:ext cx="21352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>
                <a:solidFill>
                  <a:srgbClr val="1F497D"/>
                </a:solidFill>
                <a:latin typeface="Calibri" panose="020F0502020204030204" pitchFamily="34" charset="0"/>
                <a:ea typeface="굴림" panose="020B0600000101010101" pitchFamily="50" charset="-127"/>
                <a:cs typeface="Calibri" panose="020F0502020204030204" pitchFamily="34" charset="0"/>
              </a:rPr>
              <a:t> </a:t>
            </a:r>
            <a:endParaRPr lang="en-US" altLang="ko-KR" sz="1800"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F36477-22A3-9800-7D87-5D32AD43D6CD}"/>
              </a:ext>
            </a:extLst>
          </p:cNvPr>
          <p:cNvSpPr/>
          <p:nvPr/>
        </p:nvSpPr>
        <p:spPr>
          <a:xfrm>
            <a:off x="0" y="2123402"/>
            <a:ext cx="6858000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46248" fontAlgn="base">
              <a:lnSpc>
                <a:spcPct val="120000"/>
              </a:lnSpc>
              <a:defRPr/>
            </a:pPr>
            <a:r>
              <a:rPr lang="ko-KR" altLang="en-US" sz="3200" u="sng">
                <a:solidFill>
                  <a:prstClr val="black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cs typeface="굴림" pitchFamily="50" charset="-127"/>
              </a:rPr>
              <a:t>부동산 개발 프로젝트 진행 현황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2687AE-B72E-5D97-D8FF-1BC0063772B9}"/>
              </a:ext>
            </a:extLst>
          </p:cNvPr>
          <p:cNvSpPr/>
          <p:nvPr/>
        </p:nvSpPr>
        <p:spPr>
          <a:xfrm>
            <a:off x="1" y="7841565"/>
            <a:ext cx="6858000" cy="7284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en-US" altLang="ko-KR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2026. 10.</a:t>
            </a:r>
          </a:p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ko-KR" altLang="en-US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지원본부 재무담당 부동산금융팀</a:t>
            </a:r>
            <a:endParaRPr lang="en-US" altLang="ko-KR" sz="14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4012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108E-7D24-25ED-962B-5A4787EE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 txBox="1"/>
          <p:nvPr/>
        </p:nvSpPr>
        <p:spPr>
          <a:xfrm>
            <a:off x="242824" y="1577848"/>
            <a:ext cx="6471854" cy="55971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T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사업비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04024" indent="-171450">
              <a:spcBef>
                <a:spcPts val="400"/>
              </a:spcBef>
              <a:buFont typeface="Arial"/>
              <a:buChar char="•"/>
            </a:pPr>
            <a:r>
              <a:rPr lang="en-US" altLang="ko-KR" sz="1200">
                <a:latin typeface="신세계 민부리 Light(TTF)"/>
                <a:ea typeface="신세계 민부리 Light(TTF)"/>
              </a:rPr>
              <a:t>’39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년 반포 준공 시 총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개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PJT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누적 사업비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32.8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누적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9.5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당사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7.5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百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)</a:t>
            </a:r>
          </a:p>
          <a:p>
            <a:pPr marL="132574">
              <a:spcBef>
                <a:spcPts val="400"/>
              </a:spcBef>
            </a:pPr>
            <a:r>
              <a:rPr lang="ko-KR" altLang="en-US" sz="1200">
                <a:latin typeface="신세계 민부리 Light(TTF)"/>
                <a:ea typeface="신세계 민부리 Light(TTF)"/>
              </a:rPr>
              <a:t>     → 국내 최고 수준 복합개발 포트폴리오 확보</a:t>
            </a:r>
          </a:p>
        </p:txBody>
      </p:sp>
      <p:sp>
        <p:nvSpPr>
          <p:cNvPr id="366" name="Shape 366"/>
          <p:cNvSpPr txBox="1"/>
          <p:nvPr/>
        </p:nvSpPr>
        <p:spPr>
          <a:xfrm>
            <a:off x="248920" y="7308087"/>
            <a:ext cx="6465758" cy="24545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조달 구조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97928" indent="-171450">
              <a:spcBef>
                <a:spcPts val="12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Equity 10.3조 중 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 9.5조 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(9</a:t>
            </a:r>
            <a:r>
              <a:rPr lang="en-US" altLang="ko-KR" sz="1000" b="1">
                <a:latin typeface="신세계 민부리 Light(TTF)"/>
                <a:ea typeface="신세계 민부리 Light(TTF)"/>
              </a:rPr>
              <a:t>3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%)      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총 사업비 대비 29%</a:t>
            </a: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90" name="Header"/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규모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6" name="KPI 표">
            <a:extLst>
              <a:ext uri="{FF2B5EF4-FFF2-40B4-BE49-F238E27FC236}">
                <a16:creationId xmlns:a16="http://schemas.microsoft.com/office/drawing/2014/main" id="{2F7A5A3E-F0AB-4981-ABBF-A7FAF23E1E2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05600"/>
          <a:ext cx="6451600" cy="5872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1733831959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2544927386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428245064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366896295"/>
                    </a:ext>
                  </a:extLst>
                </a:gridCol>
              </a:tblGrid>
              <a:tr h="2336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프로젝트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Equity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기간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20568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32.8조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8개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PJT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9.5조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2026 ~ 2039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418701"/>
                  </a:ext>
                </a:extLst>
              </a:tr>
            </a:tbl>
          </a:graphicData>
        </a:graphic>
      </p:graphicFrame>
      <p:graphicFrame>
        <p:nvGraphicFramePr>
          <p:cNvPr id="8" name="PJT 사업비 표">
            <a:extLst>
              <a:ext uri="{FF2B5EF4-FFF2-40B4-BE49-F238E27FC236}">
                <a16:creationId xmlns:a16="http://schemas.microsoft.com/office/drawing/2014/main" id="{55A6AAF8-51C3-4ECB-83F9-D25F80AA7DB4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1938020"/>
          <a:ext cx="6451600" cy="4597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87745">
                  <a:extLst>
                    <a:ext uri="{9D8B030D-6E8A-4147-A177-3AD203B41FA5}">
                      <a16:colId xmlns:a16="http://schemas.microsoft.com/office/drawing/2014/main" val="3542008981"/>
                    </a:ext>
                  </a:extLst>
                </a:gridCol>
                <a:gridCol w="5163855">
                  <a:extLst>
                    <a:ext uri="{9D8B030D-6E8A-4147-A177-3AD203B41FA5}">
                      <a16:colId xmlns:a16="http://schemas.microsoft.com/office/drawing/2014/main" val="3504421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누적 사업비</a:t>
                      </a:r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171654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’30년 논현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(0.58조)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60582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프라임 오피스 · 리테일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495억 투자 / 760억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13760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’32년 영랑호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(1.46조)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8489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리조트 ·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876억 투자 / 3,002억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12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4388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</a:t>
                      </a:r>
                      <a:r>
                        <a:rPr lang="en-US" altLang="ko-KR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수서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(0.33조)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48945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고속철도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3,286억 투자 / 6,624억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005976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송도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(2.52조)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26088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 · 백화점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百 3,685억 투자 / 2.9조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4114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센텀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(1.68조)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7958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시니어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· 호텔 · 오피스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1,076억 투자 / 599억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3년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3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26453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울산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(2.70조)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05375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주거분양 · 상업시설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1,200억 투자 / 1,397억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803900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광주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(3.62조)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2094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주거 · 오피스 · 터미널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1.3조 투자 / 5.2조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90025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’39년 반포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(19.87조)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23854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 · 오피스 · 리테일 · 주거 · 터미널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7.1조 투자 / 27.7조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492263"/>
                  </a:ext>
                </a:extLst>
              </a:tr>
            </a:tbl>
          </a:graphicData>
        </a:graphic>
      </p:graphicFrame>
      <p:sp>
        <p:nvSpPr>
          <p:cNvPr id="1627" name="Bar 1627"/>
          <p:cNvSpPr/>
          <p:nvPr/>
        </p:nvSpPr>
        <p:spPr>
          <a:xfrm>
            <a:off x="1625600" y="2242820"/>
            <a:ext cx="10971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8" name="Bar 1628"/>
          <p:cNvSpPr/>
          <p:nvPr/>
        </p:nvSpPr>
        <p:spPr>
          <a:xfrm>
            <a:off x="1625600" y="2788920"/>
            <a:ext cx="109717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9" name="Bar 1629"/>
          <p:cNvSpPr/>
          <p:nvPr/>
        </p:nvSpPr>
        <p:spPr>
          <a:xfrm>
            <a:off x="1735318" y="2788920"/>
            <a:ext cx="27618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0" name="Bar 1630"/>
          <p:cNvSpPr/>
          <p:nvPr/>
        </p:nvSpPr>
        <p:spPr>
          <a:xfrm>
            <a:off x="1625600" y="3335020"/>
            <a:ext cx="385905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2" name="Bar 1632"/>
          <p:cNvSpPr/>
          <p:nvPr/>
        </p:nvSpPr>
        <p:spPr>
          <a:xfrm>
            <a:off x="2011506" y="3335020"/>
            <a:ext cx="62426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3" name="Bar 1633"/>
          <p:cNvSpPr/>
          <p:nvPr/>
        </p:nvSpPr>
        <p:spPr>
          <a:xfrm>
            <a:off x="1625600" y="3881120"/>
            <a:ext cx="448332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6" name="Bar 1636"/>
          <p:cNvSpPr/>
          <p:nvPr/>
        </p:nvSpPr>
        <p:spPr>
          <a:xfrm>
            <a:off x="2073932" y="3881120"/>
            <a:ext cx="47670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7" name="Bar 1637"/>
          <p:cNvSpPr/>
          <p:nvPr/>
        </p:nvSpPr>
        <p:spPr>
          <a:xfrm>
            <a:off x="1625600" y="4427220"/>
            <a:ext cx="92504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1" name="Bar 1641"/>
          <p:cNvSpPr/>
          <p:nvPr/>
        </p:nvSpPr>
        <p:spPr>
          <a:xfrm>
            <a:off x="2550640" y="4427220"/>
            <a:ext cx="31780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2" name="Bar 1642"/>
          <p:cNvSpPr/>
          <p:nvPr/>
        </p:nvSpPr>
        <p:spPr>
          <a:xfrm>
            <a:off x="1625600" y="4973320"/>
            <a:ext cx="1242846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7" name="Bar 1647"/>
          <p:cNvSpPr/>
          <p:nvPr/>
        </p:nvSpPr>
        <p:spPr>
          <a:xfrm>
            <a:off x="2868446" y="4973320"/>
            <a:ext cx="51075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8" name="Bar 1648"/>
          <p:cNvSpPr/>
          <p:nvPr/>
        </p:nvSpPr>
        <p:spPr>
          <a:xfrm>
            <a:off x="1625600" y="5519420"/>
            <a:ext cx="1753603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4" name="Bar 1654"/>
          <p:cNvSpPr/>
          <p:nvPr/>
        </p:nvSpPr>
        <p:spPr>
          <a:xfrm>
            <a:off x="3379204" y="5519420"/>
            <a:ext cx="68479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5" name="Bar 1655"/>
          <p:cNvSpPr/>
          <p:nvPr/>
        </p:nvSpPr>
        <p:spPr>
          <a:xfrm>
            <a:off x="1625600" y="6065520"/>
            <a:ext cx="243840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62" name="Bar 1662"/>
          <p:cNvSpPr/>
          <p:nvPr/>
        </p:nvSpPr>
        <p:spPr>
          <a:xfrm>
            <a:off x="4064000" y="6065520"/>
            <a:ext cx="2438400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graphicFrame>
        <p:nvGraphicFramePr>
          <p:cNvPr id="9" name="총 사업비 조달 표">
            <a:extLst>
              <a:ext uri="{FF2B5EF4-FFF2-40B4-BE49-F238E27FC236}">
                <a16:creationId xmlns:a16="http://schemas.microsoft.com/office/drawing/2014/main" id="{1042BD35-5995-B0B7-E826-6B943461B7F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689984"/>
          <a:ext cx="6474102" cy="1187616"/>
        </p:xfrm>
        <a:graphic>
          <a:graphicData uri="http://schemas.openxmlformats.org/drawingml/2006/table">
            <a:tbl>
              <a:tblPr/>
              <a:tblGrid>
                <a:gridCol w="119764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97539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8935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(32조 7,708억)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비중 (10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73%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(PF,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8,208억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42%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161억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외부 조달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7,745억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7%</a:t>
                      </a:r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3" y="122069"/>
            <a:ext cx="6857999" cy="74217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❑ 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종합 요약</a:t>
            </a:r>
          </a:p>
          <a:p>
            <a:pPr algn="l"/>
            <a:endParaRPr lang="en-US" altLang="ko-KR" sz="1500" b="1" dirty="0">
              <a:solidFill>
                <a:srgbClr val="000000"/>
              </a:solidFill>
              <a:latin typeface="신세계 민부리 Bold(TTF)"/>
              <a:ea typeface="신세계 민부리 Bold(TTF)"/>
              <a:cs typeface="신세계 민부리 Bold(TTF)"/>
            </a:endParaRPr>
          </a:p>
          <a:p>
            <a:pPr>
              <a:spcBef>
                <a:spcPts val="15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❍ ’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39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년까지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PJT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완공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논현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영랑호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수서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송도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센텀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울산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광주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</a:t>
            </a: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32.8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中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신세계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당사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Equity 9.5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 → 예상이익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37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</a:p>
          <a:p>
            <a:pPr marL="526195" lvl="0" indent="-171450">
              <a:spcBef>
                <a:spcPts val="1400"/>
              </a:spcBef>
              <a:buFont typeface="Arial"/>
              <a:buChar char="•"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Bold(TTF)"/>
              </a:rPr>
              <a:t>국내 최고 수준의 복합개발 포트폴리오 구축</a:t>
            </a: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 ’30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논현을 시작으로 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34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년까지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7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(12.9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순차 준공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-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’39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반포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(19.9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준공으로 포트폴리오 완성</a:t>
            </a: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투입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Equity 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대비 약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 수준의 이익 기대</a:t>
            </a:r>
          </a:p>
          <a:p>
            <a:pPr marL="432000" lvl="0">
              <a:spcBef>
                <a:spcPts val="1200"/>
              </a:spcBef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당사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7.5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28.3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(3.8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/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2.0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8.8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(4.3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23.3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총사업비의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71%)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조달 필요</a:t>
            </a:r>
            <a:endParaRPr lang="en-US" altLang="ko-KR" sz="1200" b="1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PF·회사채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등 차입 13.8조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8.7조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Equity 0.8조 조달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필요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/>
              <a:t>PJT 일정별 단계적 조달 계획 </a:t>
            </a:r>
            <a:r>
              <a:rPr lang="en-US" altLang="ko-KR" sz="1100" dirty="0"/>
              <a:t>/</a:t>
            </a:r>
            <a:r>
              <a:rPr lang="ko-KR" altLang="ko-KR" sz="1100" dirty="0"/>
              <a:t> 금리 리스크 관리 필요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❍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PJT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별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예상이익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sz="1500" b="1" dirty="0">
              <a:solidFill>
                <a:srgbClr val="000000"/>
              </a:solidFill>
              <a:latin typeface="신세계 민부리 Bold(TTF)"/>
              <a:ea typeface="신세계 민부리 Bold(TTF)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-1623500" y="508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-5041482" y="10127937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예상 이익은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별 준공 후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1~20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누적 기준으로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산정 기간이 상이함</a:t>
            </a:r>
          </a:p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당사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신세계센트럴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신세계백화점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사업비 단위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조원</a:t>
            </a:r>
          </a:p>
        </p:txBody>
      </p:sp>
      <p:sp>
        <p:nvSpPr>
          <p:cNvPr id="121" name="N * 지분 투자 배당">
            <a:extLst>
              <a:ext uri="{FF2B5EF4-FFF2-40B4-BE49-F238E27FC236}">
                <a16:creationId xmlns:a16="http://schemas.microsoft.com/office/drawing/2014/main" id="{0D69C4AD-5DF5-8468-C0CC-A421DDF530AA}"/>
              </a:ext>
            </a:extLst>
          </p:cNvPr>
          <p:cNvSpPr txBox="1"/>
          <p:nvPr/>
        </p:nvSpPr>
        <p:spPr>
          <a:xfrm>
            <a:off x="5053438" y="1409185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Equity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3.9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 </a:t>
            </a:r>
          </a:p>
        </p:txBody>
      </p:sp>
      <p:graphicFrame>
        <p:nvGraphicFramePr>
          <p:cNvPr id="128" name="Table 20">
            <a:extLst>
              <a:ext uri="{FF2B5EF4-FFF2-40B4-BE49-F238E27FC236}">
                <a16:creationId xmlns:a16="http://schemas.microsoft.com/office/drawing/2014/main" id="{C677A0BC-130A-BCE8-5471-50A81DC92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43239"/>
              </p:ext>
            </p:extLst>
          </p:nvPr>
        </p:nvGraphicFramePr>
        <p:xfrm>
          <a:off x="476248" y="4656035"/>
          <a:ext cx="6229352" cy="26541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9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75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4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5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신세계 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조달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예상이익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프라임 오피스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리테일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495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760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럭셔리 리조트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레지던스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1.46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876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3,002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고속철도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3,286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altLang="ko-KR" sz="1100" b="0" dirty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Light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6,624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오피스텔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3,685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2.16조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시니어 레지던스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1.68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1,076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1.57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599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주거분양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상업시설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2.70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1,200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1,397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터미널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3.62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9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     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2.30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5.2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’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호텔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오피스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리테일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주거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터미널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19.87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12.77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27.7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32.8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9.5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23.3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37.0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6" name="Group 23">
            <a:extLst>
              <a:ext uri="{FF2B5EF4-FFF2-40B4-BE49-F238E27FC236}">
                <a16:creationId xmlns:a16="http://schemas.microsoft.com/office/drawing/2014/main" id="{626541D6-220B-0293-3BCA-334CE6CBCE61}"/>
              </a:ext>
            </a:extLst>
          </p:cNvPr>
          <p:cNvGrpSpPr/>
          <p:nvPr/>
        </p:nvGrpSpPr>
        <p:grpSpPr>
          <a:xfrm>
            <a:off x="-431892" y="11104311"/>
            <a:ext cx="6350000" cy="1525163"/>
            <a:chOff x="254000" y="7860000"/>
            <a:chExt cx="6350000" cy="15251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D5B4EF-5AD9-2E7A-B633-10EA22E2C7F6}"/>
                </a:ext>
              </a:extLst>
            </p:cNvPr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총 </a:t>
              </a:r>
              <a:r>
                <a:rPr sz="1200" b="1" err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사업비</a:t>
              </a: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 32.8조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8BCC1-5869-5351-3659-A9CEC63430F4}"/>
                </a:ext>
              </a:extLst>
            </p:cNvPr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 10.3조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DAB41652-F00E-33E0-6A6C-2203D2C4733E}"/>
                </a:ext>
              </a:extLst>
            </p:cNvPr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31%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1BBA40-8DE9-1F47-07D8-EC67159E3B91}"/>
                </a:ext>
              </a:extLst>
            </p:cNvPr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10.3조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C0161005-F6F8-DF96-4773-F627A878A78B}"/>
                </a:ext>
              </a:extLst>
            </p:cNvPr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42%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86DC55-1113-3CDD-AD6D-C82E08A96653}"/>
                </a:ext>
              </a:extLst>
            </p:cNvPr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13.8조</a:t>
              </a: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C12A8F46-9563-DB4F-3F89-5583C7F5EE24}"/>
                </a:ext>
              </a:extLst>
            </p:cNvPr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27%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BC5DE-D687-7A44-28EF-40A406FDDA7C}"/>
                </a:ext>
              </a:extLst>
            </p:cNvPr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8.7조</a:t>
              </a:r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9B652FF6-FFAE-3FBA-1516-A6121A47D5F8}"/>
                </a:ext>
              </a:extLst>
            </p:cNvPr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6" name="Rectangle 33">
              <a:extLst>
                <a:ext uri="{FF2B5EF4-FFF2-40B4-BE49-F238E27FC236}">
                  <a16:creationId xmlns:a16="http://schemas.microsoft.com/office/drawing/2014/main" id="{D23D10A8-E248-BB3F-4DE9-FF530AF38DBA}"/>
                </a:ext>
              </a:extLst>
            </p:cNvPr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73%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DAE90D-EB5B-BDDC-EBC6-9C6708938F0A}"/>
                </a:ext>
              </a:extLst>
            </p:cNvPr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당사 7.5조</a:t>
              </a:r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CE3530-D878-F1AC-52C2-417C05A0A646}"/>
                </a:ext>
              </a:extLst>
            </p:cNvPr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20%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2CDBCFC-3FB1-F657-3F3C-41F99C972338}"/>
                </a:ext>
              </a:extLst>
            </p:cNvPr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百 2.0조</a:t>
              </a:r>
            </a:p>
          </p:txBody>
        </p:sp>
        <p:sp>
          <p:nvSpPr>
            <p:cNvPr id="126" name="Rectangle 37">
              <a:extLst>
                <a:ext uri="{FF2B5EF4-FFF2-40B4-BE49-F238E27FC236}">
                  <a16:creationId xmlns:a16="http://schemas.microsoft.com/office/drawing/2014/main" id="{62CED96B-2FC3-702C-DE5C-369DED7706B8}"/>
                </a:ext>
              </a:extLst>
            </p:cNvPr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BA224EA-B528-DD37-6E0D-27C9B450E7ED}"/>
                </a:ext>
              </a:extLst>
            </p:cNvPr>
            <p:cNvSpPr txBox="1"/>
            <p:nvPr/>
          </p:nvSpPr>
          <p:spPr>
            <a:xfrm>
              <a:off x="4223999" y="9211250"/>
              <a:ext cx="1071481" cy="173913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05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외부</a:t>
              </a:r>
              <a:r>
                <a:rPr sz="105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0.8조 (7%)</a:t>
              </a:r>
            </a:p>
          </p:txBody>
        </p:sp>
        <p:sp>
          <p:nvSpPr>
            <p:cNvPr id="129" name="Right Brace 39">
              <a:extLst>
                <a:ext uri="{FF2B5EF4-FFF2-40B4-BE49-F238E27FC236}">
                  <a16:creationId xmlns:a16="http://schemas.microsoft.com/office/drawing/2014/main" id="{2668CF2C-928A-F696-BEF6-A04A55D66B60}"/>
                </a:ext>
              </a:extLst>
            </p:cNvPr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339C8F7-B8EE-C605-A1FE-F0BA868C2DEB}"/>
                </a:ext>
              </a:extLst>
            </p:cNvPr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신세계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Equity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Equity의 93%</a:t>
              </a:r>
            </a:p>
            <a:p>
              <a:pPr algn="l"/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총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사업비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대비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29%</a:t>
              </a:r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8D39EC5C-8EE6-8F03-889B-6234C548DD4C}"/>
              </a:ext>
            </a:extLst>
          </p:cNvPr>
          <p:cNvSpPr txBox="1"/>
          <p:nvPr/>
        </p:nvSpPr>
        <p:spPr>
          <a:xfrm>
            <a:off x="-411240" y="12958046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이익은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준공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후 1~20년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누적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기준으로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산정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기간이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상이함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신세계센트럴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百: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신세계백화점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단위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조원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A114E-9272-E87C-561E-0F62EBA0232E}"/>
              </a:ext>
            </a:extLst>
          </p:cNvPr>
          <p:cNvSpPr txBox="1"/>
          <p:nvPr/>
        </p:nvSpPr>
        <p:spPr>
          <a:xfrm>
            <a:off x="310655" y="8041194"/>
            <a:ext cx="635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 · 조달금리</a:t>
            </a: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64718FB0-5A09-F87F-9DFD-08BC8FE35224}"/>
              </a:ext>
            </a:extLst>
          </p:cNvPr>
          <p:cNvCxnSpPr/>
          <p:nvPr/>
        </p:nvCxnSpPr>
        <p:spPr>
          <a:xfrm>
            <a:off x="310655" y="837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599C96-947E-A046-F35C-46EC2978C6BA}"/>
              </a:ext>
            </a:extLst>
          </p:cNvPr>
          <p:cNvSpPr txBox="1"/>
          <p:nvPr/>
        </p:nvSpPr>
        <p:spPr>
          <a:xfrm>
            <a:off x="310655" y="839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 dirty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차입</a:t>
            </a:r>
            <a:endParaRPr sz="8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13.8</a:t>
            </a:r>
            <a:r>
              <a:rPr sz="9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dirty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PF 12.0조 · 회사채 1.8조</a:t>
            </a:r>
            <a:endParaRPr sz="7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cxnSp>
        <p:nvCxnSpPr>
          <p:cNvPr id="23" name="Connector 25">
            <a:extLst>
              <a:ext uri="{FF2B5EF4-FFF2-40B4-BE49-F238E27FC236}">
                <a16:creationId xmlns:a16="http://schemas.microsoft.com/office/drawing/2014/main" id="{BAD45AAC-D2C9-7AD1-4C86-2CFEDCD7DE67}"/>
              </a:ext>
            </a:extLst>
          </p:cNvPr>
          <p:cNvCxnSpPr/>
          <p:nvPr/>
        </p:nvCxnSpPr>
        <p:spPr>
          <a:xfrm>
            <a:off x="310655" y="889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5F4755-57BC-B1D0-C375-E33F5FB5797D}"/>
              </a:ext>
            </a:extLst>
          </p:cNvPr>
          <p:cNvSpPr txBox="1"/>
          <p:nvPr/>
        </p:nvSpPr>
        <p:spPr>
          <a:xfrm>
            <a:off x="310655" y="891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금리 1%p 상승 시</a:t>
            </a:r>
            <a:endParaRPr sz="8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+1,200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억</a:t>
            </a:r>
          </a:p>
          <a:p>
            <a:pPr algn="ctr"/>
            <a:r>
              <a:rPr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PF 연 이자 증가 (반포 803억)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graphicFrame>
        <p:nvGraphicFramePr>
          <p:cNvPr id="25" name="Table 27">
            <a:extLst>
              <a:ext uri="{FF2B5EF4-FFF2-40B4-BE49-F238E27FC236}">
                <a16:creationId xmlns:a16="http://schemas.microsoft.com/office/drawing/2014/main" id="{C6BA6724-0AC2-0E36-C97E-963DB7C3F5E9}"/>
              </a:ext>
            </a:extLst>
          </p:cNvPr>
          <p:cNvGraphicFramePr>
            <a:graphicFrameLocks noGrp="1"/>
          </p:cNvGraphicFramePr>
          <p:nvPr/>
        </p:nvGraphicFramePr>
        <p:xfrm>
          <a:off x="1910655" y="8371194"/>
          <a:ext cx="4750000" cy="127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차입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회사채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회사채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PF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금리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금리차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+3.2%p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+6.6%p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+6.5%p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+2.6%p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-0.7%p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+3.2%p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+3.8%p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+0.1%p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365C3BC-553C-D2A5-93A5-5936F93BA97A}"/>
              </a:ext>
            </a:extLst>
          </p:cNvPr>
          <p:cNvSpPr txBox="1"/>
          <p:nvPr/>
        </p:nvSpPr>
        <p:spPr>
          <a:xfrm>
            <a:off x="-906892" y="10063385"/>
            <a:ext cx="635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회사채(4%) 조달 PJT(송도·광주)는 IRR이 금리보다 2.6~3.8%p 높으나, PF(7%대) 조달 반포·센텀은 0% 수준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금리 1%p 상승 시 PF 연 이자 1,200억 증가(반포 803억) → 반포 PF 금리 고정·헤지 및 분양대금 선유입 필요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2" name="N * 지분 투자 배당">
            <a:extLst>
              <a:ext uri="{FF2B5EF4-FFF2-40B4-BE49-F238E27FC236}">
                <a16:creationId xmlns:a16="http://schemas.microsoft.com/office/drawing/2014/main" id="{B54F91E4-CEF6-FAD5-4D26-92EABE00CE4D}"/>
              </a:ext>
            </a:extLst>
          </p:cNvPr>
          <p:cNvSpPr txBox="1"/>
          <p:nvPr/>
        </p:nvSpPr>
        <p:spPr>
          <a:xfrm>
            <a:off x="7307802" y="5497902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4" name="N * 지분 투자 배당">
            <a:extLst>
              <a:ext uri="{FF2B5EF4-FFF2-40B4-BE49-F238E27FC236}">
                <a16:creationId xmlns:a16="http://schemas.microsoft.com/office/drawing/2014/main" id="{C0F2CAD6-917C-8BC4-EB81-56094973441D}"/>
              </a:ext>
            </a:extLst>
          </p:cNvPr>
          <p:cNvSpPr txBox="1"/>
          <p:nvPr/>
        </p:nvSpPr>
        <p:spPr>
          <a:xfrm>
            <a:off x="7307802" y="5787798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6" name="N * 지분 투자 배당">
            <a:extLst>
              <a:ext uri="{FF2B5EF4-FFF2-40B4-BE49-F238E27FC236}">
                <a16:creationId xmlns:a16="http://schemas.microsoft.com/office/drawing/2014/main" id="{B4083C06-3084-DB13-685D-CE823B94097F}"/>
              </a:ext>
            </a:extLst>
          </p:cNvPr>
          <p:cNvSpPr txBox="1"/>
          <p:nvPr/>
        </p:nvSpPr>
        <p:spPr>
          <a:xfrm>
            <a:off x="7337057" y="6613603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</p:spTree>
    <p:extLst>
      <p:ext uri="{BB962C8B-B14F-4D97-AF65-F5344CB8AC3E}">
        <p14:creationId xmlns:p14="http://schemas.microsoft.com/office/powerpoint/2010/main" val="105136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40BA-2A69-B6A3-9EBA-58FD42F5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80EB668-1CC6-621F-0672-BD9A5C523408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주요 진행 현황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EC06035-D6EA-F627-7FC6-D8B67278F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1379"/>
              </p:ext>
            </p:extLst>
          </p:nvPr>
        </p:nvGraphicFramePr>
        <p:xfrm>
          <a:off x="107688" y="704531"/>
          <a:ext cx="6597911" cy="87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59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</a:tblGrid>
              <a:tr h="2800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진행 현황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향후 진행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시공사 수주심의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NH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투자증권 총액인수 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약정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(11.13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예정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(’27.3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이지스 자산운용 우선협상대상자 선정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금융구조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상품구성 재검토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부산시 유관부서 협의 </a:t>
                      </a:r>
                      <a:endParaRPr kumimoji="0" lang="en-US" altLang="ko-KR" sz="11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부산시장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初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토지매매 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인허가 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네트워크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   - 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국내 연기금 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군인공제회 등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사전협상 대상지 선정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사업 구조 검토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개발구조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금융구조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본 협상 完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(’26.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/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건축허가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(PF)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네트워크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~)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Project REITs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리조트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빌라 규모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분양형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운영 전제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사업 컨설팅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딜로이트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최종 보고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(12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月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설계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MP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후 리조트 운영사 컨택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 구조 제안 발송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자체사업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간접개발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미 투자 시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타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군 시공사 시공 참여 의향 확인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百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↔ 동원개발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MOU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체결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공동주택 세대수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지구단위 변경 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당사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동원 외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착공 준비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민원협의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도급계약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준비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中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(Equity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증자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百 임대료 협의 중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百 임대료 협의 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SPC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주주협의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증자 관련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完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착공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사전협상 완료 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지구단위계획 고시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09)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조달 방식 확정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금융기관 </a:t>
                      </a:r>
                      <a:r>
                        <a:rPr lang="ko-KR" altLang="en-US" sz="1100" b="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탭핑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E8C5362-8DCA-22AA-4FAB-B38D4A63528E}"/>
              </a:ext>
            </a:extLst>
          </p:cNvPr>
          <p:cNvSpPr txBox="1"/>
          <p:nvPr/>
        </p:nvSpPr>
        <p:spPr bwMode="auto">
          <a:xfrm>
            <a:off x="5602449" y="3735085"/>
            <a:ext cx="79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ko-KR" altLang="en-US" sz="7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br>
              <a:rPr lang="en-US" altLang="ko-KR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</a:br>
            <a:r>
              <a:rPr lang="ko-KR" altLang="en-US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간접개발 時</a:t>
            </a:r>
            <a:endParaRPr lang="ko-KR" altLang="en-US" sz="7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7B158D73-B977-EDC2-4011-837052531072}"/>
              </a:ext>
            </a:extLst>
          </p:cNvPr>
          <p:cNvSpPr/>
          <p:nvPr/>
        </p:nvSpPr>
        <p:spPr>
          <a:xfrm>
            <a:off x="5642136" y="3762374"/>
            <a:ext cx="105097" cy="284083"/>
          </a:xfrm>
          <a:prstGeom prst="rightBrac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N * 지분 투자 배당">
            <a:extLst>
              <a:ext uri="{FF2B5EF4-FFF2-40B4-BE49-F238E27FC236}">
                <a16:creationId xmlns:a16="http://schemas.microsoft.com/office/drawing/2014/main" id="{BBE2B549-C72B-E4AC-BB01-2E64CF7556B5}"/>
              </a:ext>
            </a:extLst>
          </p:cNvPr>
          <p:cNvSpPr txBox="1"/>
          <p:nvPr/>
        </p:nvSpPr>
        <p:spPr>
          <a:xfrm>
            <a:off x="4071461" y="49672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컨설팅 후 변경 可</a:t>
            </a: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E62A6F50-3DD4-182C-0CC8-6B6196C20519}"/>
              </a:ext>
            </a:extLst>
          </p:cNvPr>
          <p:cNvSpPr txBox="1"/>
          <p:nvPr/>
        </p:nvSpPr>
        <p:spPr>
          <a:xfrm>
            <a:off x="4071460" y="6038931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사업구조 변경 可</a:t>
            </a:r>
          </a:p>
        </p:txBody>
      </p:sp>
    </p:spTree>
    <p:extLst>
      <p:ext uri="{BB962C8B-B14F-4D97-AF65-F5344CB8AC3E}">
        <p14:creationId xmlns:p14="http://schemas.microsoft.com/office/powerpoint/2010/main" val="221731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511-19E8-B128-63F2-789BD4A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88A89E-9418-B31B-55A1-261AAEA708FB}"/>
              </a:ext>
            </a:extLst>
          </p:cNvPr>
          <p:cNvSpPr txBox="1"/>
          <p:nvPr/>
        </p:nvSpPr>
        <p:spPr bwMode="auto">
          <a:xfrm>
            <a:off x="142704" y="450412"/>
            <a:ext cx="4383576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4101" rIns="0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총 사업비 3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2.8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: Equity 10.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9.5, 모집 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차입 13.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altLang="en-US" sz="8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8F8619-6158-1EA0-CEEA-448EB311C8CA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사업 개요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/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사업성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0E0BED4-4B70-5516-3060-2762F6B67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47580"/>
              </p:ext>
            </p:extLst>
          </p:nvPr>
        </p:nvGraphicFramePr>
        <p:xfrm>
          <a:off x="50801" y="704531"/>
          <a:ext cx="6728459" cy="911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272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1071588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128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549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  <a:gridCol w="663104">
                  <a:extLst>
                    <a:ext uri="{9D8B030D-6E8A-4147-A177-3AD203B41FA5}">
                      <a16:colId xmlns:a16="http://schemas.microsoft.com/office/drawing/2014/main" val="1938509008"/>
                    </a:ext>
                  </a:extLst>
                </a:gridCol>
                <a:gridCol w="588382">
                  <a:extLst>
                    <a:ext uri="{9D8B030D-6E8A-4147-A177-3AD203B41FA5}">
                      <a16:colId xmlns:a16="http://schemas.microsoft.com/office/drawing/2014/main" val="317600501"/>
                    </a:ext>
                  </a:extLst>
                </a:gridCol>
                <a:gridCol w="819136">
                  <a:extLst>
                    <a:ext uri="{9D8B030D-6E8A-4147-A177-3AD203B41FA5}">
                      <a16:colId xmlns:a16="http://schemas.microsoft.com/office/drawing/2014/main" val="303011886"/>
                    </a:ext>
                  </a:extLst>
                </a:gridCol>
              </a:tblGrid>
              <a:tr h="249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</a:t>
                      </a:r>
                      <a:r>
                        <a:rPr lang="en-US" altLang="ko-KR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개요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시설구성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 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1,035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1.35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[0.58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1,470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495억 (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lang="en-US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4.0%</a:t>
                      </a:r>
                      <a:endParaRPr lang="ko-KR" altLang="ko-KR" sz="8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3708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760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건물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495468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933441" rtl="0" eaLnBrk="1" latinLnBrk="1" hangingPunct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레지던스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spcBef>
                          <a:spcPts val="2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8.2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[1.68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3,590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(21%)</a:t>
                      </a:r>
                      <a:endParaRPr lang="en-US" altLang="ko-KR" sz="6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1,076억 (30%)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6.0%</a:t>
                      </a: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spc="-9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-5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613770"/>
                  </a:ext>
                </a:extLst>
              </a:tr>
              <a:tr h="38808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599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611191268"/>
                  </a:ext>
                </a:extLst>
              </a:tr>
              <a:tr h="42583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4.4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 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2.6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500" b="1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15.1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1,414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53.7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반포천 제외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[19.87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71,000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71,000억 (100%, 토지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기준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4.2%</a:t>
                      </a: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임시터미널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28~29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 ~36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33~39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925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4.0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714730"/>
                  </a:ext>
                </a:extLst>
              </a:tr>
              <a:tr h="4586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27.7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5+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 가치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22.7)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1205736"/>
                  </a:ext>
                </a:extLst>
              </a:tr>
              <a:tr h="384110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사업면적 </a:t>
                      </a:r>
                      <a:r>
                        <a:rPr lang="en-US" altLang="ko-KR" sz="11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39.8</a:t>
                      </a:r>
                      <a:r>
                        <a:rPr lang="ko-KR" altLang="en-US" sz="9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당사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소유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개인・국공유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빌라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타워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1,680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[1.46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876억 (100%, 토지 현물출자)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(8%)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1,602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한도대출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 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10.0%</a:t>
                      </a:r>
                      <a:endParaRPr kumimoji="0" lang="en-US" altLang="ko-KR" sz="800" b="0" i="0" u="none" strike="noStrike" kern="1200" cap="none" spc="-5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35834"/>
                  </a:ext>
                </a:extLst>
              </a:tr>
              <a:tr h="5459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3,002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69861498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1.7</a:t>
                      </a:r>
                      <a:r>
                        <a:rPr lang="ko-KR" altLang="en-US" sz="900" b="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OFT  741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7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240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16.1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[2.52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3,685억 (60%)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24%)</a:t>
                      </a: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(52%)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6.6%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 잔존가치 추정</a:t>
                      </a:r>
                      <a:endParaRPr lang="ko-KR" altLang="ko-KR" sz="8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33년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준공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4655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2,350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29,465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23,042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6,423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827706505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7,360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주거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2,500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(85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상업시설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4.8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트레이더스 포함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5,143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총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19.7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지구단위 변경 예정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[2.70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1,200억 (40%)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(59%)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10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10.2%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901402051"/>
                  </a:ext>
                </a:extLst>
              </a:tr>
              <a:tr h="5350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54443313"/>
                  </a:ext>
                </a:extLst>
              </a:tr>
              <a:tr h="42151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</a:t>
                      </a:r>
                      <a:r>
                        <a:rPr lang="ko-KR" altLang="en-US" sz="1100" spc="-50" baseline="0">
                          <a:solidFill>
                            <a:srgbClr val="FF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연면적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16.5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할당 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b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[0.33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 등 건축비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+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대여금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 보증금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착공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오픈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착공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4541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6,624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운영수익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25758363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2.84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1.5 + 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</a:t>
                      </a:r>
                      <a:r>
                        <a:rPr lang="en-US" altLang="ko-KR" sz="6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25.6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[3.62</a:t>
                      </a:r>
                      <a:r>
                        <a:rPr lang="ko-KR" altLang="en-US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13,190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광주신세계</a:t>
                      </a: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(100%)</a:t>
                      </a:r>
                      <a:endParaRPr lang="ko-KR" altLang="ko-KR" sz="700" kern="1200" spc="-50" baseline="0" dirty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(34%)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7.8%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29년 준공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준공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복합시설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9,970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기존토지 </a:t>
                      </a: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81321774"/>
                  </a:ext>
                </a:extLst>
              </a:tr>
              <a:tr h="5731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5.2</a:t>
                      </a: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조원</a:t>
                      </a:r>
                      <a:endParaRPr lang="en-US" altLang="ko-KR" sz="1050" kern="1200" spc="-50" baseline="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3.0+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2.2)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rgbClr val="C00000"/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60441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56BE754-401E-1257-122F-B83AF9455013}"/>
              </a:ext>
            </a:extLst>
          </p:cNvPr>
          <p:cNvSpPr txBox="1"/>
          <p:nvPr/>
        </p:nvSpPr>
        <p:spPr bwMode="auto">
          <a:xfrm>
            <a:off x="-986154" y="7104683"/>
            <a:ext cx="7524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700" kern="1200" spc="-50" noProof="0">
                <a:solidFill>
                  <a:schemeClr val="tx2">
                    <a:lumMod val="75000"/>
                  </a:scheme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百 투자비 기준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B503-884E-A3CE-4A25-1A9F55EB1E54}"/>
              </a:ext>
            </a:extLst>
          </p:cNvPr>
          <p:cNvSpPr txBox="1"/>
          <p:nvPr/>
        </p:nvSpPr>
        <p:spPr bwMode="auto">
          <a:xfrm>
            <a:off x="78742" y="3646185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센트럴 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오른쪽 중괄호 7">
            <a:extLst>
              <a:ext uri="{FF2B5EF4-FFF2-40B4-BE49-F238E27FC236}">
                <a16:creationId xmlns:a16="http://schemas.microsoft.com/office/drawing/2014/main" id="{5804B0A9-8830-078B-6A3B-E48B78C04CE5}"/>
              </a:ext>
            </a:extLst>
          </p:cNvPr>
          <p:cNvSpPr/>
          <p:nvPr/>
        </p:nvSpPr>
        <p:spPr>
          <a:xfrm>
            <a:off x="2688685" y="2218877"/>
            <a:ext cx="58366" cy="40661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C9E4E-D2E5-88FC-3B4F-248CBF3126BC}"/>
              </a:ext>
            </a:extLst>
          </p:cNvPr>
          <p:cNvSpPr txBox="1"/>
          <p:nvPr/>
        </p:nvSpPr>
        <p:spPr bwMode="auto">
          <a:xfrm>
            <a:off x="2705278" y="2337267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E7AD32E9-F84F-2C8B-66F3-DB742A29452F}"/>
              </a:ext>
            </a:extLst>
          </p:cNvPr>
          <p:cNvSpPr/>
          <p:nvPr/>
        </p:nvSpPr>
        <p:spPr>
          <a:xfrm>
            <a:off x="2688685" y="2014370"/>
            <a:ext cx="58366" cy="158335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1AFAD-97A5-990C-39B7-7FE0978CD9F6}"/>
              </a:ext>
            </a:extLst>
          </p:cNvPr>
          <p:cNvSpPr txBox="1"/>
          <p:nvPr/>
        </p:nvSpPr>
        <p:spPr bwMode="auto">
          <a:xfrm>
            <a:off x="2706133" y="2007595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(49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A8B3F-8A55-C3D5-86A4-7FA8BAEDC1BE}"/>
              </a:ext>
            </a:extLst>
          </p:cNvPr>
          <p:cNvSpPr txBox="1"/>
          <p:nvPr/>
        </p:nvSpPr>
        <p:spPr bwMode="auto">
          <a:xfrm>
            <a:off x="2803071" y="3238381"/>
            <a:ext cx="614689" cy="4078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센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endParaRPr lang="en-US" altLang="ko-KR" sz="900" spc="-50"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서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80</a:t>
            </a:r>
            <a:r>
              <a:rPr lang="ko-KR" altLang="en-US" sz="900" spc="-50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rPr>
              <a:t>층</a:t>
            </a:r>
            <a:endParaRPr lang="en-US" altLang="ko-KR" sz="900" kern="1200" spc="-50" baseline="0">
              <a:latin typeface="신세계 민부리 Light(OTF)" panose="02000600000000020003" pitchFamily="50" charset="-127"/>
              <a:ea typeface="신세계 민부리 Light(OTF)" panose="02000600000000020003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60F473-9D45-EF20-64D4-67AAC72C9877}"/>
              </a:ext>
            </a:extLst>
          </p:cNvPr>
          <p:cNvSpPr txBox="1"/>
          <p:nvPr/>
        </p:nvSpPr>
        <p:spPr bwMode="auto">
          <a:xfrm>
            <a:off x="161754" y="495300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1899-0294-B342-2293-5715E0A8A66A}"/>
              </a:ext>
            </a:extLst>
          </p:cNvPr>
          <p:cNvSpPr txBox="1"/>
          <p:nvPr/>
        </p:nvSpPr>
        <p:spPr bwMode="auto">
          <a:xfrm>
            <a:off x="161754" y="603103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982331-3AAB-F5E5-52CB-072F9E379F22}"/>
              </a:ext>
            </a:extLst>
          </p:cNvPr>
          <p:cNvSpPr txBox="1"/>
          <p:nvPr/>
        </p:nvSpPr>
        <p:spPr bwMode="auto">
          <a:xfrm>
            <a:off x="164839" y="819130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임차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6F0212-E745-9DF8-6B8A-B745B607FED3}"/>
              </a:ext>
            </a:extLst>
          </p:cNvPr>
          <p:cNvSpPr txBox="1"/>
          <p:nvPr/>
        </p:nvSpPr>
        <p:spPr bwMode="auto">
          <a:xfrm>
            <a:off x="161754" y="945033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FBE362-F9B7-554B-564F-3A29A35C3FC5}"/>
              </a:ext>
            </a:extLst>
          </p:cNvPr>
          <p:cNvSpPr txBox="1"/>
          <p:nvPr/>
        </p:nvSpPr>
        <p:spPr bwMode="auto">
          <a:xfrm>
            <a:off x="142704" y="252325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3AAF07D0-A038-6860-5581-5E62A7B043D2}"/>
              </a:ext>
            </a:extLst>
          </p:cNvPr>
          <p:cNvSpPr/>
          <p:nvPr/>
        </p:nvSpPr>
        <p:spPr>
          <a:xfrm>
            <a:off x="2827887" y="2977679"/>
            <a:ext cx="45719" cy="92439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4DFDC-8495-930E-CEEE-48F257DEA69C}"/>
              </a:ext>
            </a:extLst>
          </p:cNvPr>
          <p:cNvSpPr txBox="1"/>
          <p:nvPr/>
        </p:nvSpPr>
        <p:spPr bwMode="auto">
          <a:xfrm>
            <a:off x="78741" y="379435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02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F102-C2F6-6BB1-CE99-762FF0C4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178462F-5B74-83FD-2493-2B603508C1DC}"/>
              </a:ext>
            </a:extLst>
          </p:cNvPr>
          <p:cNvSpPr/>
          <p:nvPr/>
        </p:nvSpPr>
        <p:spPr>
          <a:xfrm>
            <a:off x="163026" y="533561"/>
            <a:ext cx="7644046" cy="924099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 연도별 순차입금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신용등급 하향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Trigger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점검 </a:t>
            </a:r>
            <a:r>
              <a:rPr lang="ko-KR" altLang="en-US" sz="15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必</a:t>
            </a:r>
            <a:endParaRPr lang="en-US" altLang="ko-KR" sz="1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재무 구조 견실화를 위한 부채 비율 상시적 관리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 투자 지향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srgbClr val="1E236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33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</a:t>
            </a:r>
            <a:r>
              <a:rPr lang="ko-KR" altLang="en-US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PJT)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中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향후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內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10.8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필요 → 신용등급 하향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Risk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有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활용한 외부투자자 모집 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연결 부채 최소화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現 신용등급 수준 유지 노력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※ 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연도별 순차입금 잔액</a:t>
            </a: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2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05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 * 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신용등급 하향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Trigger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150%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순차입금의존도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25%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EBITDA 7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 ↑</a:t>
            </a:r>
            <a:endParaRPr lang="en-US" altLang="ko-KR" sz="800" b="1" dirty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BF51-D90B-B4A6-BBB8-E6CAA5666E69}"/>
              </a:ext>
            </a:extLst>
          </p:cNvPr>
          <p:cNvSpPr txBox="1"/>
          <p:nvPr/>
        </p:nvSpPr>
        <p:spPr bwMode="auto">
          <a:xfrm>
            <a:off x="5308600" y="1994585"/>
            <a:ext cx="13970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E285951-4B4F-D7FC-3A76-97440CFF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90932"/>
              </p:ext>
            </p:extLst>
          </p:nvPr>
        </p:nvGraphicFramePr>
        <p:xfrm>
          <a:off x="260350" y="2205244"/>
          <a:ext cx="6450464" cy="7265601"/>
        </p:xfrm>
        <a:graphic>
          <a:graphicData uri="http://schemas.openxmlformats.org/drawingml/2006/table">
            <a:tbl>
              <a:tblPr/>
              <a:tblGrid>
                <a:gridCol w="424800">
                  <a:extLst>
                    <a:ext uri="{9D8B030D-6E8A-4147-A177-3AD203B41FA5}">
                      <a16:colId xmlns:a16="http://schemas.microsoft.com/office/drawing/2014/main" val="3918803932"/>
                    </a:ext>
                  </a:extLst>
                </a:gridCol>
                <a:gridCol w="647592">
                  <a:extLst>
                    <a:ext uri="{9D8B030D-6E8A-4147-A177-3AD203B41FA5}">
                      <a16:colId xmlns:a16="http://schemas.microsoft.com/office/drawing/2014/main" val="54282088"/>
                    </a:ext>
                  </a:extLst>
                </a:gridCol>
                <a:gridCol w="325148">
                  <a:extLst>
                    <a:ext uri="{9D8B030D-6E8A-4147-A177-3AD203B41FA5}">
                      <a16:colId xmlns:a16="http://schemas.microsoft.com/office/drawing/2014/main" val="837238046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1157396961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341220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959418418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414868379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708518633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06098592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167815544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463804420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981163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875549094"/>
                    </a:ext>
                  </a:extLst>
                </a:gridCol>
                <a:gridCol w="345600">
                  <a:extLst>
                    <a:ext uri="{9D8B030D-6E8A-4147-A177-3AD203B41FA5}">
                      <a16:colId xmlns:a16="http://schemas.microsoft.com/office/drawing/2014/main" val="2679187322"/>
                    </a:ext>
                  </a:extLst>
                </a:gridCol>
                <a:gridCol w="352800">
                  <a:extLst>
                    <a:ext uri="{9D8B030D-6E8A-4147-A177-3AD203B41FA5}">
                      <a16:colId xmlns:a16="http://schemas.microsoft.com/office/drawing/2014/main" val="3744571992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7681617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042237047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517245529"/>
                    </a:ext>
                  </a:extLst>
                </a:gridCol>
              </a:tblGrid>
              <a:tr h="3776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항목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반기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’26년 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38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’40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749556"/>
                  </a:ext>
                </a:extLst>
              </a:tr>
              <a:tr h="235058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Out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10,331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11,496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12,390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9,623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7,892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1,795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714907"/>
                  </a:ext>
                </a:extLst>
              </a:tr>
              <a:tr h="235058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34853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20481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세빛섬</a:t>
                      </a: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11551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영랑호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56326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403620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9705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18870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3441" rtl="0" eaLnBrk="1" fontAlgn="ctr" latinLnBrk="1" hangingPunct="1">
                        <a:buNone/>
                      </a:pPr>
                      <a:r>
                        <a:rPr lang="en-US" altLang="ko-KR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(+) 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6,166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12,737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14,736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16,797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15,588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10,024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7442"/>
                  </a:ext>
                </a:extLst>
              </a:tr>
              <a:tr h="235058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In</a:t>
                      </a:r>
                      <a:endParaRPr lang="ko-KR"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7,025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9,038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20,000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0824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36840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89768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007367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077015"/>
                  </a:ext>
                </a:extLst>
              </a:tr>
              <a:tr h="27558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영업현금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33441" rtl="0" eaLnBrk="1" fontAlgn="ctr" latinLnBrk="1" hangingPunct="1">
                        <a:buNone/>
                      </a:pP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1,237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1,243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1,269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1,295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1,322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1,350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1,378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1,407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1,436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1,466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1,497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1,528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64924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 소계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13,932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23,549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2,997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09638"/>
                  </a:ext>
                </a:extLst>
              </a:tr>
              <a:tr h="3789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순증감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9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− (-)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8,427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△14,769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5,751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△5,232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91950"/>
                  </a:ext>
                </a:extLst>
              </a:tr>
              <a:tr h="4153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잔액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5,392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3,532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4,863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9,836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19,384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27,811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33,949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39,591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44,463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47,328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50,439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57,380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42,611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48,361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50,003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44,770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48210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algn="ctr"/>
                      <a:r>
                        <a:rPr 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</a:t>
                      </a:r>
                      <a:endParaRPr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 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사업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b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年 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성장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1,800</a:t>
                      </a:r>
                      <a:endParaRPr lang="en-US" altLang="ko-KR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54964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EBITDA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신규 수입</a:t>
                      </a: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3,840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3,746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958667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합계</a:t>
                      </a: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682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1,364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1,391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1,419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2,746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4,097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5,514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4,747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6,625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4,302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7,823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5648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신용등급 </a:t>
                      </a: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Trigger</a:t>
                      </a:r>
                    </a:p>
                  </a:txBody>
                  <a:tcPr marL="5380" marR="10800" marT="0" marB="0" anchor="ctr">
                    <a:lnL w="6350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/EBITDA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8.3x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8.8x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6.9x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842411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74.0%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93.9%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128.6%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156.5%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174.4%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204.9%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209.6%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224.2%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192.5%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193.2%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27784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의존도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30.7%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864918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CB2621-2DF0-8D68-7F95-1444F7D0F704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개발 시 센트럴 재무지표 영향 검토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sp>
        <p:nvSpPr>
          <p:cNvPr id="13" name="N * 지분 투자 배당">
            <a:extLst>
              <a:ext uri="{FF2B5EF4-FFF2-40B4-BE49-F238E27FC236}">
                <a16:creationId xmlns:a16="http://schemas.microsoft.com/office/drawing/2014/main" id="{B52D606B-3FB0-497D-5252-09DB02196D80}"/>
              </a:ext>
            </a:extLst>
          </p:cNvPr>
          <p:cNvSpPr txBox="1"/>
          <p:nvPr/>
        </p:nvSpPr>
        <p:spPr>
          <a:xfrm>
            <a:off x="536893" y="5990191"/>
            <a:ext cx="1289050" cy="15533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933441" font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전년도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EBITDA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90%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-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잔여현금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60</a:t>
            </a:r>
            <a:endParaRPr lang="ko-KR" altLang="en-US" sz="6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6AF4B-760E-B5F2-E404-B9331302C2E2}"/>
              </a:ext>
            </a:extLst>
          </p:cNvPr>
          <p:cNvSpPr txBox="1"/>
          <p:nvPr/>
        </p:nvSpPr>
        <p:spPr bwMode="auto">
          <a:xfrm>
            <a:off x="2336334" y="3214339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CAPEX </a:t>
            </a:r>
            <a:endParaRPr lang="ko-KR" altLang="en-US" sz="7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E8503-9F51-98D7-AF4A-6D3BDDEAC7A1}"/>
              </a:ext>
            </a:extLst>
          </p:cNvPr>
          <p:cNvSpPr txBox="1"/>
          <p:nvPr/>
        </p:nvSpPr>
        <p:spPr bwMode="auto">
          <a:xfrm>
            <a:off x="1892300" y="2600961"/>
            <a:ext cx="60706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AE9E7B-83EB-3F82-A536-69884F9129CA}"/>
              </a:ext>
            </a:extLst>
          </p:cNvPr>
          <p:cNvSpPr txBox="1"/>
          <p:nvPr/>
        </p:nvSpPr>
        <p:spPr bwMode="auto">
          <a:xfrm>
            <a:off x="3710940" y="2846248"/>
            <a:ext cx="45557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BA0BD9-6EE4-052F-9353-30D965ED8CB2}"/>
              </a:ext>
            </a:extLst>
          </p:cNvPr>
          <p:cNvSpPr txBox="1"/>
          <p:nvPr/>
        </p:nvSpPr>
        <p:spPr bwMode="auto">
          <a:xfrm>
            <a:off x="-2197502" y="2944209"/>
            <a:ext cx="392684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11BA6-1881-B529-31BF-29DBC0843357}"/>
              </a:ext>
            </a:extLst>
          </p:cNvPr>
          <p:cNvSpPr txBox="1"/>
          <p:nvPr/>
        </p:nvSpPr>
        <p:spPr bwMode="auto">
          <a:xfrm>
            <a:off x="1769110" y="329652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FBD30-C7AA-CC81-B638-1CC308C36B0C}"/>
              </a:ext>
            </a:extLst>
          </p:cNvPr>
          <p:cNvSpPr txBox="1"/>
          <p:nvPr/>
        </p:nvSpPr>
        <p:spPr bwMode="auto">
          <a:xfrm>
            <a:off x="1720850" y="3521136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1AD867-2E04-D166-7EA5-BAEB63AD2120}"/>
              </a:ext>
            </a:extLst>
          </p:cNvPr>
          <p:cNvSpPr txBox="1"/>
          <p:nvPr/>
        </p:nvSpPr>
        <p:spPr bwMode="auto">
          <a:xfrm>
            <a:off x="1463040" y="3750700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D5335-5214-3550-8262-2654D8D28A44}"/>
              </a:ext>
            </a:extLst>
          </p:cNvPr>
          <p:cNvSpPr txBox="1"/>
          <p:nvPr/>
        </p:nvSpPr>
        <p:spPr bwMode="auto">
          <a:xfrm>
            <a:off x="1764898" y="3980395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1BE410-3D62-0038-42D5-5D7F62CECAE9}"/>
              </a:ext>
            </a:extLst>
          </p:cNvPr>
          <p:cNvSpPr txBox="1"/>
          <p:nvPr/>
        </p:nvSpPr>
        <p:spPr bwMode="auto">
          <a:xfrm>
            <a:off x="2010008" y="419631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46F14-AE64-8C16-0F21-D4EDA9C97D6F}"/>
              </a:ext>
            </a:extLst>
          </p:cNvPr>
          <p:cNvSpPr txBox="1"/>
          <p:nvPr/>
        </p:nvSpPr>
        <p:spPr bwMode="auto">
          <a:xfrm>
            <a:off x="2505308" y="4675173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284070-5574-E076-C468-8C39DFD47E5B}"/>
              </a:ext>
            </a:extLst>
          </p:cNvPr>
          <p:cNvSpPr txBox="1"/>
          <p:nvPr/>
        </p:nvSpPr>
        <p:spPr bwMode="auto">
          <a:xfrm>
            <a:off x="3573020" y="4947651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55099-2860-5794-3C88-716EA5973C9B}"/>
              </a:ext>
            </a:extLst>
          </p:cNvPr>
          <p:cNvSpPr txBox="1"/>
          <p:nvPr/>
        </p:nvSpPr>
        <p:spPr bwMode="auto">
          <a:xfrm>
            <a:off x="1256898" y="5205519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토지매각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6D87D-0DDD-9187-97C4-33B028242EC7}"/>
              </a:ext>
            </a:extLst>
          </p:cNvPr>
          <p:cNvSpPr txBox="1"/>
          <p:nvPr/>
        </p:nvSpPr>
        <p:spPr bwMode="auto">
          <a:xfrm>
            <a:off x="3502092" y="5209358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F3A8B0-A54E-0231-CCAE-C987157487B1}"/>
              </a:ext>
            </a:extLst>
          </p:cNvPr>
          <p:cNvSpPr txBox="1"/>
          <p:nvPr/>
        </p:nvSpPr>
        <p:spPr bwMode="auto">
          <a:xfrm>
            <a:off x="4179046" y="5452862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021478-7A05-756B-1A76-8BBDC0A3CCDF}"/>
              </a:ext>
            </a:extLst>
          </p:cNvPr>
          <p:cNvSpPr txBox="1"/>
          <p:nvPr/>
        </p:nvSpPr>
        <p:spPr bwMode="auto">
          <a:xfrm>
            <a:off x="3573020" y="5677477"/>
            <a:ext cx="8821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분양이익 배당</a:t>
            </a:r>
          </a:p>
        </p:txBody>
      </p:sp>
    </p:spTree>
    <p:extLst>
      <p:ext uri="{BB962C8B-B14F-4D97-AF65-F5344CB8AC3E}">
        <p14:creationId xmlns:p14="http://schemas.microsoft.com/office/powerpoint/2010/main" val="3666128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1FFF-1019-1D7A-9B25-58EB3B6C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E00942-F789-DDFA-8BF0-E50D88DB86B8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1,035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449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(오피스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B7~20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201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en-US" altLang="ko-KR" sz="11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9.4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799.5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일반상업지역</a:t>
            </a:r>
            <a:endParaRPr lang="en-US" altLang="ko-KR" sz="12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dirty="0" err="1">
                <a:latin typeface="신세계 민부리 Light(TTF)"/>
                <a:ea typeface="신세계 민부리 Light(TTF)"/>
              </a:rPr>
              <a:t>코람코제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165</a:t>
            </a:r>
            <a:r>
              <a:rPr lang="ko-KR" altLang="en-US" sz="1200" dirty="0" err="1">
                <a:latin typeface="신세계 민부리 Light(TTF)"/>
                <a:ea typeface="신세계 민부리 Light(TTF)"/>
              </a:rPr>
              <a:t>호일반사모부동산투자회사</a:t>
            </a:r>
            <a:r>
              <a:rPr lang="ko-KR" altLang="en-US" sz="1100" dirty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 dirty="0">
                <a:latin typeface="신세계 민부리 Light(TTF)"/>
                <a:ea typeface="신세계 민부리 Light(TTF)"/>
              </a:rPr>
              <a:t>(REF)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983DEC72-EA1A-E90A-F07E-7D28FA0AD256}"/>
              </a:ext>
            </a:extLst>
          </p:cNvPr>
          <p:cNvSpPr/>
          <p:nvPr/>
        </p:nvSpPr>
        <p:spPr>
          <a:xfrm>
            <a:off x="165848" y="22669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76A86281-B974-DF30-033E-9B0570B741B5}"/>
              </a:ext>
            </a:extLst>
          </p:cNvPr>
          <p:cNvSpPr/>
          <p:nvPr/>
        </p:nvSpPr>
        <p:spPr>
          <a:xfrm>
            <a:off x="151448" y="38608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1D366-5C47-112A-C3B6-E23A0F13A834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①</a:t>
            </a:r>
            <a:r>
              <a:rPr kumimoji="1" lang="en-US" altLang="ko-KR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논현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495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760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E943625-45CE-AE2C-30BC-216B5A038990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673350"/>
          <a:ext cx="6229349" cy="1033440"/>
        </p:xfrm>
        <a:graphic>
          <a:graphicData uri="http://schemas.openxmlformats.org/drawingml/2006/table">
            <a:tbl>
              <a:tblPr/>
              <a:tblGrid>
                <a:gridCol w="73364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43489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781170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567110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07061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9687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495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코람코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살리다제일차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정산계약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2,149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3,380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후순위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CE89AF01-D07B-39F2-107A-1B7303428ACE}"/>
              </a:ext>
            </a:extLst>
          </p:cNvPr>
          <p:cNvSpPr/>
          <p:nvPr/>
        </p:nvSpPr>
        <p:spPr>
          <a:xfrm>
            <a:off x="158228" y="5502910"/>
            <a:ext cx="6527800" cy="820738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,995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82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레지던스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시니어 포함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최고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64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1800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대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용적률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1,080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중심상업지역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간접투자기구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(vehicle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미정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활용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E20D7153-1D6A-5A27-F901-886DE872D30A}"/>
              </a:ext>
            </a:extLst>
          </p:cNvPr>
          <p:cNvSpPr/>
          <p:nvPr/>
        </p:nvSpPr>
        <p:spPr>
          <a:xfrm>
            <a:off x="158228" y="7103586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1D173E2D-9F54-3A9A-3096-4DE54B4D24CD}"/>
              </a:ext>
            </a:extLst>
          </p:cNvPr>
          <p:cNvSpPr/>
          <p:nvPr/>
        </p:nvSpPr>
        <p:spPr>
          <a:xfrm>
            <a:off x="148587" y="879470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2FF87-2AF2-FA58-688F-D128AFC917E6}"/>
              </a:ext>
            </a:extLst>
          </p:cNvPr>
          <p:cNvSpPr txBox="1"/>
          <p:nvPr/>
        </p:nvSpPr>
        <p:spPr bwMode="auto">
          <a:xfrm>
            <a:off x="0" y="5009834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②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센텀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1,076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599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7610E0C-E56D-6AC2-14EF-3FF703C98914}"/>
              </a:ext>
            </a:extLst>
          </p:cNvPr>
          <p:cNvGraphicFramePr>
            <a:graphicFrameLocks noGrp="1"/>
          </p:cNvGraphicFramePr>
          <p:nvPr/>
        </p:nvGraphicFramePr>
        <p:xfrm>
          <a:off x="470088" y="7493979"/>
          <a:ext cx="6223559" cy="1352160"/>
        </p:xfrm>
        <a:graphic>
          <a:graphicData uri="http://schemas.openxmlformats.org/drawingml/2006/table">
            <a:tbl>
              <a:tblPr/>
              <a:tblGrid>
                <a:gridCol w="67875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72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50876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4483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955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12482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11122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10,670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1" i="0" kern="1200">
                        <a:solidFill>
                          <a:srgbClr val="00206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3,590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1,076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 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897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(25%)</a:t>
                      </a:r>
                      <a:endParaRPr lang="en-US" altLang="ko-KR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1,614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(45%)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472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2,640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포함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119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마케팅비 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레지던스 보증금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en-US" altLang="ko-KR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콘도 회원권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실당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33.8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ko-KR" altLang="en-US" sz="9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9" name="자유형 39">
            <a:extLst>
              <a:ext uri="{FF2B5EF4-FFF2-40B4-BE49-F238E27FC236}">
                <a16:creationId xmlns:a16="http://schemas.microsoft.com/office/drawing/2014/main" id="{9BB72642-B474-38F7-6D8D-DC59B95EB9F7}"/>
              </a:ext>
            </a:extLst>
          </p:cNvPr>
          <p:cNvSpPr/>
          <p:nvPr/>
        </p:nvSpPr>
        <p:spPr>
          <a:xfrm>
            <a:off x="568426" y="6638949"/>
            <a:ext cx="6130824" cy="129600"/>
          </a:xfrm>
          <a:custGeom>
            <a:avLst/>
            <a:gdLst>
              <a:gd name="connsiteX0" fmla="*/ 0 w 6968067"/>
              <a:gd name="connsiteY0" fmla="*/ 0 h 0"/>
              <a:gd name="connsiteX1" fmla="*/ 6968067 w 696806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68067">
                <a:moveTo>
                  <a:pt x="0" y="0"/>
                </a:moveTo>
                <a:lnTo>
                  <a:pt x="6968067" y="0"/>
                </a:ln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  <a:prstDash val="solid"/>
            <a:tailEnd type="stealth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96A222-07A5-7226-B345-2FD2056EFD59}"/>
              </a:ext>
            </a:extLst>
          </p:cNvPr>
          <p:cNvSpPr txBox="1"/>
          <p:nvPr/>
        </p:nvSpPr>
        <p:spPr bwMode="auto">
          <a:xfrm>
            <a:off x="4040908" y="6668723"/>
            <a:ext cx="1675569" cy="458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건축허가 完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/</a:t>
            </a:r>
          </a:p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착공</a:t>
            </a:r>
            <a:endParaRPr kumimoji="1" lang="en-US" altLang="ko-KR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FA47-223D-C2F1-49B8-6EA08CFA9F6E}"/>
              </a:ext>
            </a:extLst>
          </p:cNvPr>
          <p:cNvSpPr txBox="1"/>
          <p:nvPr/>
        </p:nvSpPr>
        <p:spPr bwMode="auto">
          <a:xfrm>
            <a:off x="1599380" y="6709778"/>
            <a:ext cx="1157377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인허가 착수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10900-7E0B-9730-0E6F-7BC048915A65}"/>
              </a:ext>
            </a:extLst>
          </p:cNvPr>
          <p:cNvSpPr txBox="1"/>
          <p:nvPr/>
        </p:nvSpPr>
        <p:spPr bwMode="auto">
          <a:xfrm>
            <a:off x="5039095" y="6718265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준공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21BA16-EE3C-6616-D0D2-E73B5FD51F0B}"/>
              </a:ext>
            </a:extLst>
          </p:cNvPr>
          <p:cNvSpPr txBox="1"/>
          <p:nvPr/>
        </p:nvSpPr>
        <p:spPr bwMode="auto">
          <a:xfrm>
            <a:off x="1729195" y="6294813"/>
            <a:ext cx="915690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 10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79C05-BCAB-D4B1-0C8D-6C3DB8D6696A}"/>
              </a:ext>
            </a:extLst>
          </p:cNvPr>
          <p:cNvSpPr txBox="1"/>
          <p:nvPr/>
        </p:nvSpPr>
        <p:spPr bwMode="auto">
          <a:xfrm>
            <a:off x="4276893" y="6296008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’28.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19C545-C793-704B-EB2A-F3BC11B39B8E}"/>
              </a:ext>
            </a:extLst>
          </p:cNvPr>
          <p:cNvSpPr txBox="1"/>
          <p:nvPr/>
        </p:nvSpPr>
        <p:spPr bwMode="auto">
          <a:xfrm>
            <a:off x="710462" y="6294812"/>
            <a:ext cx="1107985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8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677D6-8129-C01F-5850-15F0DCC3C409}"/>
              </a:ext>
            </a:extLst>
          </p:cNvPr>
          <p:cNvSpPr txBox="1"/>
          <p:nvPr/>
        </p:nvSpPr>
        <p:spPr bwMode="auto">
          <a:xfrm>
            <a:off x="648484" y="6709778"/>
            <a:ext cx="123194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운용사 선정</a:t>
            </a:r>
          </a:p>
        </p:txBody>
      </p:sp>
      <p:sp>
        <p:nvSpPr>
          <p:cNvPr id="39" name="순서도: 연결자 38">
            <a:extLst>
              <a:ext uri="{FF2B5EF4-FFF2-40B4-BE49-F238E27FC236}">
                <a16:creationId xmlns:a16="http://schemas.microsoft.com/office/drawing/2014/main" id="{443E879B-7FFA-6C84-F6CB-74D4BA0C9F44}"/>
              </a:ext>
            </a:extLst>
          </p:cNvPr>
          <p:cNvSpPr>
            <a:spLocks noChangeAspect="1"/>
          </p:cNvSpPr>
          <p:nvPr/>
        </p:nvSpPr>
        <p:spPr>
          <a:xfrm>
            <a:off x="118117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0" name="순서도: 연결자 39">
            <a:extLst>
              <a:ext uri="{FF2B5EF4-FFF2-40B4-BE49-F238E27FC236}">
                <a16:creationId xmlns:a16="http://schemas.microsoft.com/office/drawing/2014/main" id="{EBE2F9DE-8A9C-4996-4189-809B11A8697A}"/>
              </a:ext>
            </a:extLst>
          </p:cNvPr>
          <p:cNvSpPr>
            <a:spLocks noChangeAspect="1"/>
          </p:cNvSpPr>
          <p:nvPr/>
        </p:nvSpPr>
        <p:spPr>
          <a:xfrm>
            <a:off x="207598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C4612192-D57C-64CC-9DF2-22CCCCA8F5F3}"/>
              </a:ext>
            </a:extLst>
          </p:cNvPr>
          <p:cNvSpPr>
            <a:spLocks noChangeAspect="1"/>
          </p:cNvSpPr>
          <p:nvPr/>
        </p:nvSpPr>
        <p:spPr>
          <a:xfrm>
            <a:off x="476042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F1E3C9-DBBB-293F-6E5F-03194908B922}"/>
              </a:ext>
            </a:extLst>
          </p:cNvPr>
          <p:cNvSpPr txBox="1"/>
          <p:nvPr/>
        </p:nvSpPr>
        <p:spPr bwMode="auto">
          <a:xfrm>
            <a:off x="5184527" y="6290457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’33.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 </a:t>
            </a:r>
          </a:p>
        </p:txBody>
      </p:sp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D4F4A6AA-F72B-901C-652C-03846513B111}"/>
              </a:ext>
            </a:extLst>
          </p:cNvPr>
          <p:cNvSpPr>
            <a:spLocks noChangeAspect="1"/>
          </p:cNvSpPr>
          <p:nvPr/>
        </p:nvSpPr>
        <p:spPr>
          <a:xfrm>
            <a:off x="5655239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graphicFrame>
        <p:nvGraphicFramePr>
          <p:cNvPr id="194" name="표 193">
            <a:extLst>
              <a:ext uri="{FF2B5EF4-FFF2-40B4-BE49-F238E27FC236}">
                <a16:creationId xmlns:a16="http://schemas.microsoft.com/office/drawing/2014/main" id="{F43ABD40-EFF8-34A1-D7A9-242B23961D4A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4253070"/>
          <a:ext cx="6202997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7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228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122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949935B6-006D-1322-004B-2791867B99CB}"/>
              </a:ext>
            </a:extLst>
          </p:cNvPr>
          <p:cNvGrpSpPr/>
          <p:nvPr/>
        </p:nvGrpSpPr>
        <p:grpSpPr>
          <a:xfrm>
            <a:off x="442445" y="1549425"/>
            <a:ext cx="6044642" cy="661383"/>
            <a:chOff x="552710" y="7711405"/>
            <a:chExt cx="6044642" cy="871888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FAC63D98-B66E-C600-0094-6B40E6350F5C}"/>
                </a:ext>
              </a:extLst>
            </p:cNvPr>
            <p:cNvSpPr/>
            <p:nvPr/>
          </p:nvSpPr>
          <p:spPr>
            <a:xfrm>
              <a:off x="620713" y="8052927"/>
              <a:ext cx="5976639" cy="44534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B13EBBB5-990F-7BF7-E62D-DFE2DB39B7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5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3A057366-CE4D-7B73-2DB1-762C93E5C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8B2436-78CD-8B17-EB5C-6E32F88DE782}"/>
                </a:ext>
              </a:extLst>
            </p:cNvPr>
            <p:cNvSpPr txBox="1"/>
            <p:nvPr/>
          </p:nvSpPr>
          <p:spPr bwMode="auto">
            <a:xfrm>
              <a:off x="552710" y="8168756"/>
              <a:ext cx="1376329" cy="414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 수주심의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NH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총액인수 심의 完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EC089F-2B54-B565-FFF3-4008C13885EC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잔여 </a:t>
              </a: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에쿼티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출자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대출약정 체결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2F535F-DF4C-9BF2-5505-A3964794B3B1}"/>
                </a:ext>
              </a:extLst>
            </p:cNvPr>
            <p:cNvSpPr txBox="1"/>
            <p:nvPr/>
          </p:nvSpPr>
          <p:spPr bwMode="auto">
            <a:xfrm>
              <a:off x="3630872" y="8161061"/>
              <a:ext cx="1257217" cy="3968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대출 기표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토지매각 完</a:t>
              </a: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  <a:endParaRPr kumimoji="1" lang="ko-KR" altLang="en-US" sz="8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12C2B75-559D-E294-9569-29612714B7B4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83DD3B3-10DD-F802-0EC6-A95B06888DB7}"/>
                </a:ext>
              </a:extLst>
            </p:cNvPr>
            <p:cNvSpPr txBox="1"/>
            <p:nvPr/>
          </p:nvSpPr>
          <p:spPr bwMode="auto">
            <a:xfrm>
              <a:off x="5259975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03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904A15-6AF7-73D9-7248-EE0E8E0A459D}"/>
                </a:ext>
              </a:extLst>
            </p:cNvPr>
            <p:cNvSpPr txBox="1"/>
            <p:nvPr/>
          </p:nvSpPr>
          <p:spPr bwMode="auto">
            <a:xfrm>
              <a:off x="2199411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C5569B5-CFB6-B012-950F-9EFEE2A3907D}"/>
                </a:ext>
              </a:extLst>
            </p:cNvPr>
            <p:cNvSpPr txBox="1"/>
            <p:nvPr/>
          </p:nvSpPr>
          <p:spPr bwMode="auto">
            <a:xfrm>
              <a:off x="3719430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B14300F-30BA-28EA-7807-670A1D692861}"/>
                </a:ext>
              </a:extLst>
            </p:cNvPr>
            <p:cNvSpPr txBox="1"/>
            <p:nvPr/>
          </p:nvSpPr>
          <p:spPr bwMode="auto">
            <a:xfrm>
              <a:off x="679393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10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中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E58DA6F1-5E74-68A9-33AF-AEF78F0D4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ED1DE5C5-A994-0F99-B8D9-50FB41B595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2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82F6D93-586D-C02A-5D49-2667E32D5EFF}"/>
              </a:ext>
            </a:extLst>
          </p:cNvPr>
          <p:cNvGraphicFramePr>
            <a:graphicFrameLocks noGrp="1"/>
          </p:cNvGraphicFramePr>
          <p:nvPr/>
        </p:nvGraphicFramePr>
        <p:xfrm>
          <a:off x="464059" y="9175629"/>
          <a:ext cx="6229588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2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2,117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959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133E00-F7F9-517A-2761-CF885C26A24C}"/>
              </a:ext>
            </a:extLst>
          </p:cNvPr>
          <p:cNvSpPr txBox="1"/>
          <p:nvPr/>
        </p:nvSpPr>
        <p:spPr bwMode="auto">
          <a:xfrm>
            <a:off x="2331888" y="6699807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SPC 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설립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FE1F-F5B3-CC3B-6A81-5EA86DE08BCC}"/>
              </a:ext>
            </a:extLst>
          </p:cNvPr>
          <p:cNvSpPr txBox="1"/>
          <p:nvPr/>
        </p:nvSpPr>
        <p:spPr bwMode="auto">
          <a:xfrm>
            <a:off x="2470172" y="6294574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10" name="순서도: 연결자 9">
            <a:extLst>
              <a:ext uri="{FF2B5EF4-FFF2-40B4-BE49-F238E27FC236}">
                <a16:creationId xmlns:a16="http://schemas.microsoft.com/office/drawing/2014/main" id="{8FF2720C-0F49-F5C0-6096-CAADBCFE4B0F}"/>
              </a:ext>
            </a:extLst>
          </p:cNvPr>
          <p:cNvSpPr>
            <a:spLocks noChangeAspect="1"/>
          </p:cNvSpPr>
          <p:nvPr/>
        </p:nvSpPr>
        <p:spPr>
          <a:xfrm>
            <a:off x="2970800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6710-DB13-7998-0AC9-394A1C923F02}"/>
              </a:ext>
            </a:extLst>
          </p:cNvPr>
          <p:cNvSpPr txBox="1"/>
          <p:nvPr/>
        </p:nvSpPr>
        <p:spPr bwMode="auto">
          <a:xfrm>
            <a:off x="3227774" y="6715474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토지 계약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0ED081-837B-F54A-D9E5-FBE0C960FDB3}"/>
              </a:ext>
            </a:extLst>
          </p:cNvPr>
          <p:cNvSpPr txBox="1"/>
          <p:nvPr/>
        </p:nvSpPr>
        <p:spPr bwMode="auto">
          <a:xfrm>
            <a:off x="3403442" y="6310241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下</a:t>
            </a:r>
          </a:p>
        </p:txBody>
      </p:sp>
      <p:sp>
        <p:nvSpPr>
          <p:cNvPr id="16" name="순서도: 연결자 15">
            <a:extLst>
              <a:ext uri="{FF2B5EF4-FFF2-40B4-BE49-F238E27FC236}">
                <a16:creationId xmlns:a16="http://schemas.microsoft.com/office/drawing/2014/main" id="{B0D05347-6FB8-FDBC-99E5-2EDCBBE754AD}"/>
              </a:ext>
            </a:extLst>
          </p:cNvPr>
          <p:cNvSpPr>
            <a:spLocks noChangeAspect="1"/>
          </p:cNvSpPr>
          <p:nvPr/>
        </p:nvSpPr>
        <p:spPr>
          <a:xfrm>
            <a:off x="386561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EFFA3CC9-BD2D-2EFA-764E-EFCFDE1B54F0}"/>
              </a:ext>
            </a:extLst>
          </p:cNvPr>
          <p:cNvSpPr txBox="1"/>
          <p:nvPr/>
        </p:nvSpPr>
        <p:spPr>
          <a:xfrm>
            <a:off x="568425" y="4859574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760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토지 매각이익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248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512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DAEC5B26-0661-AD65-BC18-6BE2BDB4CE6D}"/>
              </a:ext>
            </a:extLst>
          </p:cNvPr>
          <p:cNvSpPr txBox="1"/>
          <p:nvPr/>
        </p:nvSpPr>
        <p:spPr>
          <a:xfrm>
            <a:off x="554168" y="9729408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1,076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6.0%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504017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EDAE-53A2-EC75-7164-14C0FCA3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199CE4-D59E-BFD4-5085-29BF2586A4F7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rgbClr val="0000FF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44,244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537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654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오피스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공동주택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터미널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리테일 등)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60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73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센트럴 직접개발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· 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간접개발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. REITs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직접개발 </a:t>
            </a:r>
            <a:r>
              <a:rPr lang="ko-KR" altLang="en-US" sz="9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검토중</a:t>
            </a:r>
            <a:r>
              <a:rPr lang="en-US" altLang="ko-KR" sz="1100" b="1">
                <a:ln>
                  <a:solidFill>
                    <a:srgbClr val="4F81BD">
                      <a:alpha val="0"/>
                    </a:srgbClr>
                  </a:solidFill>
                </a:ln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ko-KR" altLang="en-US" sz="1100" b="1">
              <a:ln>
                <a:solidFill>
                  <a:srgbClr val="4F81BD">
                    <a:alpha val="0"/>
                  </a:srgbClr>
                </a:solidFill>
              </a:ln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endParaRPr lang="ko-KR" altLang="en-US" sz="1200" b="0">
              <a:latin typeface="신세계 민부리 Light(TTF)"/>
              <a:ea typeface="신세계 민부리 Light(TTF)"/>
            </a:endParaRP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E1B0716D-D1E7-ECD8-89B5-20434843E33B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283E87F0-AE76-0B3B-CBFE-B379B40CFEFD}"/>
              </a:ext>
            </a:extLst>
          </p:cNvPr>
          <p:cNvSpPr/>
          <p:nvPr/>
        </p:nvSpPr>
        <p:spPr>
          <a:xfrm>
            <a:off x="159068" y="36512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B88D-4F81-771B-775F-F145A13CE123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③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반포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(22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7.1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27.7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CCE8DDE-ED28-25BC-320E-6569B6EAD894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2463800"/>
          <a:ext cx="6229350" cy="1161660"/>
        </p:xfrm>
        <a:graphic>
          <a:graphicData uri="http://schemas.openxmlformats.org/drawingml/2006/table">
            <a:tbl>
              <a:tblPr/>
              <a:tblGrid>
                <a:gridCol w="67247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7838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44002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64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130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0671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85,554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1,040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800" b="1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전액 확보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Pj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REITs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현물출자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800">
                        <a:solidFill>
                          <a:schemeClr val="tx1"/>
                        </a:solidFill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19,611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수수료 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0.35%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전액 선순위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단일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Tr.)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22,559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(854 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OFT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(560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BB5653-E530-D212-6C28-BE5C75CC43A1}"/>
              </a:ext>
            </a:extLst>
          </p:cNvPr>
          <p:cNvSpPr/>
          <p:nvPr/>
        </p:nvSpPr>
        <p:spPr>
          <a:xfrm>
            <a:off x="165848" y="550291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399,129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50,197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(콘도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리조트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골프장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부대시설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1,680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16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자연녹지지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역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관광단지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유원지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자체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8F9D6A20-8BD9-BC43-87FE-0DC55F9B13CC}"/>
              </a:ext>
            </a:extLst>
          </p:cNvPr>
          <p:cNvSpPr/>
          <p:nvPr/>
        </p:nvSpPr>
        <p:spPr>
          <a:xfrm>
            <a:off x="165848" y="705231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E14D188D-29FE-90B5-6101-385C463F5A0A}"/>
              </a:ext>
            </a:extLst>
          </p:cNvPr>
          <p:cNvSpPr/>
          <p:nvPr/>
        </p:nvSpPr>
        <p:spPr>
          <a:xfrm>
            <a:off x="166688" y="87528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C46D6E-D5E7-8879-0715-1101F3939BC4}"/>
              </a:ext>
            </a:extLst>
          </p:cNvPr>
          <p:cNvSpPr txBox="1"/>
          <p:nvPr/>
        </p:nvSpPr>
        <p:spPr bwMode="auto">
          <a:xfrm>
            <a:off x="0" y="509651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④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영랑호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(15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876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/ 3,002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1FA17EC-2E82-046F-3008-0D8B8138FD62}"/>
              </a:ext>
            </a:extLst>
          </p:cNvPr>
          <p:cNvGraphicFramePr>
            <a:graphicFrameLocks noGrp="1"/>
          </p:cNvGraphicFramePr>
          <p:nvPr/>
        </p:nvGraphicFramePr>
        <p:xfrm>
          <a:off x="470557" y="7392774"/>
          <a:ext cx="6242663" cy="1264363"/>
        </p:xfrm>
        <a:graphic>
          <a:graphicData uri="http://schemas.openxmlformats.org/drawingml/2006/table">
            <a:tbl>
              <a:tblPr/>
              <a:tblGrid>
                <a:gridCol w="85538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5786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1793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461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4773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09133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50232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458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7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’23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인수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36851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 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50%, </a:t>
                      </a:r>
                    </a:p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1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939712-B5CE-26A4-4088-246178A0633F}"/>
              </a:ext>
            </a:extLst>
          </p:cNvPr>
          <p:cNvGrpSpPr/>
          <p:nvPr/>
        </p:nvGrpSpPr>
        <p:grpSpPr>
          <a:xfrm>
            <a:off x="124303" y="6261931"/>
            <a:ext cx="6911082" cy="783114"/>
            <a:chOff x="-59764" y="4158335"/>
            <a:chExt cx="6690628" cy="783114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5360CCBB-73B3-604C-7D0D-85373926AF7F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167682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CD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C0C74D6-453A-7AD2-473A-899C018EDB3A}"/>
                </a:ext>
              </a:extLst>
            </p:cNvPr>
            <p:cNvSpPr txBox="1"/>
            <p:nvPr/>
          </p:nvSpPr>
          <p:spPr bwMode="auto">
            <a:xfrm>
              <a:off x="96825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 승인신청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236E0B-CDC4-A77A-ABAA-2144FB144404}"/>
                </a:ext>
              </a:extLst>
            </p:cNvPr>
            <p:cNvSpPr txBox="1"/>
            <p:nvPr/>
          </p:nvSpPr>
          <p:spPr bwMode="auto">
            <a:xfrm>
              <a:off x="2623040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조성계획승인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건축허가접수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FD12B14-2E46-0ADC-A634-DD1641179C0B}"/>
                </a:ext>
              </a:extLst>
            </p:cNvPr>
            <p:cNvSpPr txBox="1"/>
            <p:nvPr/>
          </p:nvSpPr>
          <p:spPr bwMode="auto">
            <a:xfrm>
              <a:off x="2787620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1F65A26-ADD5-6269-18E0-9E2D93F9411B}"/>
                </a:ext>
              </a:extLst>
            </p:cNvPr>
            <p:cNvSpPr txBox="1"/>
            <p:nvPr/>
          </p:nvSpPr>
          <p:spPr bwMode="auto">
            <a:xfrm>
              <a:off x="1208596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AFA40F4-39F6-A822-28C5-E87F480A0644}"/>
                </a:ext>
              </a:extLst>
            </p:cNvPr>
            <p:cNvSpPr txBox="1"/>
            <p:nvPr/>
          </p:nvSpPr>
          <p:spPr bwMode="auto">
            <a:xfrm>
              <a:off x="195156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63B934-887C-147E-B63F-A21F273FFBDD}"/>
                </a:ext>
              </a:extLst>
            </p:cNvPr>
            <p:cNvSpPr txBox="1"/>
            <p:nvPr/>
          </p:nvSpPr>
          <p:spPr bwMode="auto">
            <a:xfrm>
              <a:off x="291758" y="4166537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01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FB17A73-CA20-E7B6-9255-A72906BBA37C}"/>
                </a:ext>
              </a:extLst>
            </p:cNvPr>
            <p:cNvSpPr txBox="1"/>
            <p:nvPr/>
          </p:nvSpPr>
          <p:spPr bwMode="auto">
            <a:xfrm>
              <a:off x="-59764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MP 100%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0C808D03-9374-474D-3D2A-BCF0C404EA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25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954014C7-94F1-7CC9-7DF7-17114E01D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89009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A405EEAF-2421-E732-B084-BF774AB141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2506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493D953A-FD6D-19A1-9515-2DF5785D48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6111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8F8FE3-E681-2FCD-7D99-06C2E38E4CA5}"/>
                </a:ext>
              </a:extLst>
            </p:cNvPr>
            <p:cNvSpPr txBox="1"/>
            <p:nvPr/>
          </p:nvSpPr>
          <p:spPr bwMode="auto">
            <a:xfrm>
              <a:off x="3459092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시공사선정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DD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362367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716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3" name="Added 203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2092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4" name="Added 204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697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5" name="Added 205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4447430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206" name="Added 206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528348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 下</a:t>
              </a:r>
            </a:p>
          </p:txBody>
        </p:sp>
        <p:sp>
          <p:nvSpPr>
            <p:cNvPr id="207" name="Added 207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4172691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208" name="Added 208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500874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</p:grp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90C40C94-06B4-1F65-6AED-DC3AF5EC3441}"/>
              </a:ext>
            </a:extLst>
          </p:cNvPr>
          <p:cNvGraphicFramePr>
            <a:graphicFrameLocks noGrp="1"/>
          </p:cNvGraphicFramePr>
          <p:nvPr/>
        </p:nvGraphicFramePr>
        <p:xfrm>
          <a:off x="470558" y="9093305"/>
          <a:ext cx="6235042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3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607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190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9C6C256-0E6B-68DD-05C2-D8F36B62F3B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15167"/>
          <a:ext cx="6242663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9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07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21년,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준공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0771A78C-BFE6-DC08-C503-3B5EEFAB133E}"/>
              </a:ext>
            </a:extLst>
          </p:cNvPr>
          <p:cNvGrpSpPr/>
          <p:nvPr/>
        </p:nvGrpSpPr>
        <p:grpSpPr>
          <a:xfrm>
            <a:off x="153036" y="1365741"/>
            <a:ext cx="6593524" cy="653228"/>
            <a:chOff x="15876" y="1266681"/>
            <a:chExt cx="6593524" cy="653228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6D458D39-3EFF-5B44-CB04-EE82C02E3E5E}"/>
                </a:ext>
              </a:extLst>
            </p:cNvPr>
            <p:cNvSpPr/>
            <p:nvPr/>
          </p:nvSpPr>
          <p:spPr>
            <a:xfrm>
              <a:off x="416025" y="1550045"/>
              <a:ext cx="6130825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FFA8B3-9C8A-3362-05BA-D15D33BF41E3}"/>
                </a:ext>
              </a:extLst>
            </p:cNvPr>
            <p:cNvSpPr txBox="1"/>
            <p:nvPr/>
          </p:nvSpPr>
          <p:spPr bwMode="auto">
            <a:xfrm>
              <a:off x="1312435" y="1266681"/>
              <a:ext cx="14122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7A696-76A8-BE41-5AB5-FC838D961A5F}"/>
                </a:ext>
              </a:extLst>
            </p:cNvPr>
            <p:cNvSpPr txBox="1"/>
            <p:nvPr/>
          </p:nvSpPr>
          <p:spPr bwMode="auto">
            <a:xfrm>
              <a:off x="346396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’25.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12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C8B011-EA21-FA43-A50E-C3CBC150B8D2}"/>
                </a:ext>
              </a:extLst>
            </p:cNvPr>
            <p:cNvSpPr txBox="1"/>
            <p:nvPr/>
          </p:nvSpPr>
          <p:spPr bwMode="auto">
            <a:xfrm>
              <a:off x="15876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개시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7EA6175B-373E-2472-BA6A-FF25731D5C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491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5FD2D-381E-EAB5-9F20-EAEE4630803B}"/>
                </a:ext>
              </a:extLst>
            </p:cNvPr>
            <p:cNvSpPr txBox="1"/>
            <p:nvPr/>
          </p:nvSpPr>
          <p:spPr bwMode="auto">
            <a:xfrm>
              <a:off x="1784606" y="1664646"/>
              <a:ext cx="167557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C5C1449-203B-B8FB-A55E-8EE99D561086}"/>
                </a:ext>
              </a:extLst>
            </p:cNvPr>
            <p:cNvSpPr txBox="1"/>
            <p:nvPr/>
          </p:nvSpPr>
          <p:spPr bwMode="auto">
            <a:xfrm>
              <a:off x="2062673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B15BC400-A275-2FBF-6D1C-C2C8FD736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55864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7277D-3F50-D273-558B-7FAE0C85C05C}"/>
                </a:ext>
              </a:extLst>
            </p:cNvPr>
            <p:cNvSpPr txBox="1"/>
            <p:nvPr/>
          </p:nvSpPr>
          <p:spPr bwMode="auto">
            <a:xfrm>
              <a:off x="4811631" y="1664646"/>
              <a:ext cx="78886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6B5A23-E303-443E-7027-46CD0A3738E2}"/>
                </a:ext>
              </a:extLst>
            </p:cNvPr>
            <p:cNvSpPr txBox="1"/>
            <p:nvPr/>
          </p:nvSpPr>
          <p:spPr bwMode="auto">
            <a:xfrm>
              <a:off x="4608297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E67D6149-437D-8CE0-CFD3-D31967CFB0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36422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07E57C-EAB9-B145-43B6-6D06C17209FF}"/>
                </a:ext>
              </a:extLst>
            </p:cNvPr>
            <p:cNvSpPr txBox="1"/>
            <p:nvPr/>
          </p:nvSpPr>
          <p:spPr bwMode="auto">
            <a:xfrm>
              <a:off x="2766774" y="1664646"/>
              <a:ext cx="144799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착공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388950-C6C4-96E3-D23B-E2A68D0FA3B2}"/>
                </a:ext>
              </a:extLst>
            </p:cNvPr>
            <p:cNvSpPr txBox="1"/>
            <p:nvPr/>
          </p:nvSpPr>
          <p:spPr bwMode="auto">
            <a:xfrm>
              <a:off x="2912374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46" name="순서도: 연결자 45">
              <a:extLst>
                <a:ext uri="{FF2B5EF4-FFF2-40B4-BE49-F238E27FC236}">
                  <a16:creationId xmlns:a16="http://schemas.microsoft.com/office/drawing/2014/main" id="{A188A96B-7E0F-A054-9614-526947085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16050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D74223-865E-C142-4178-B6489E320A3F}"/>
                </a:ext>
              </a:extLst>
            </p:cNvPr>
            <p:cNvSpPr txBox="1"/>
            <p:nvPr/>
          </p:nvSpPr>
          <p:spPr bwMode="auto">
            <a:xfrm>
              <a:off x="1289796" y="1266681"/>
              <a:ext cx="91569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末</a:t>
              </a: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E5EADECE-E3A2-37F7-4D51-B93C268C8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9567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DD8758-331F-03B4-58A1-0FF32568D39C}"/>
                </a:ext>
              </a:extLst>
            </p:cNvPr>
            <p:cNvSpPr txBox="1"/>
            <p:nvPr/>
          </p:nvSpPr>
          <p:spPr bwMode="auto">
            <a:xfrm>
              <a:off x="851031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完</a:t>
              </a: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466021CD-463D-1FF4-6F4F-2A8D2FDA9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76236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5A69468-D3A3-7685-0CBF-FA5E8D47F727}"/>
                </a:ext>
              </a:extLst>
            </p:cNvPr>
            <p:cNvSpPr txBox="1"/>
            <p:nvPr/>
          </p:nvSpPr>
          <p:spPr bwMode="auto">
            <a:xfrm>
              <a:off x="3979897" y="1664646"/>
              <a:ext cx="81624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센트럴 착공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6DCE0A-F862-13A3-EA2B-099A29E1F52E}"/>
                </a:ext>
              </a:extLst>
            </p:cNvPr>
            <p:cNvSpPr txBox="1"/>
            <p:nvPr/>
          </p:nvSpPr>
          <p:spPr bwMode="auto">
            <a:xfrm>
              <a:off x="377269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’33.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1779AE9-7E82-CC78-1881-CF63C7C3593E}"/>
                </a:ext>
              </a:extLst>
            </p:cNvPr>
            <p:cNvSpPr txBox="1"/>
            <p:nvPr/>
          </p:nvSpPr>
          <p:spPr bwMode="auto">
            <a:xfrm>
              <a:off x="5615981" y="1664646"/>
              <a:ext cx="881348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전체 준공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EB890A-7C53-63B0-46BF-8090FC92E876}"/>
                </a:ext>
              </a:extLst>
            </p:cNvPr>
            <p:cNvSpPr txBox="1"/>
            <p:nvPr/>
          </p:nvSpPr>
          <p:spPr bwMode="auto">
            <a:xfrm>
              <a:off x="550141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53" name="순서도: 연결자 52">
              <a:extLst>
                <a:ext uri="{FF2B5EF4-FFF2-40B4-BE49-F238E27FC236}">
                  <a16:creationId xmlns:a16="http://schemas.microsoft.com/office/drawing/2014/main" id="{4259323D-305D-EF40-6CDC-FCACF75DB5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60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60CDF877-8CC1-497E-7567-395AAE2ECCE6}"/>
              </a:ext>
            </a:extLst>
          </p:cNvPr>
          <p:cNvSpPr txBox="1"/>
          <p:nvPr/>
        </p:nvSpPr>
        <p:spPr>
          <a:xfrm>
            <a:off x="568425" y="455578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27.7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현금유입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준공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차 자산가치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22.7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4.2%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4" name="N * 지분 투자 배당">
            <a:extLst>
              <a:ext uri="{FF2B5EF4-FFF2-40B4-BE49-F238E27FC236}">
                <a16:creationId xmlns:a16="http://schemas.microsoft.com/office/drawing/2014/main" id="{916A2B4D-DB75-77AE-57A1-069AB46E3E6E}"/>
              </a:ext>
            </a:extLst>
          </p:cNvPr>
          <p:cNvSpPr txBox="1"/>
          <p:nvPr/>
        </p:nvSpPr>
        <p:spPr>
          <a:xfrm>
            <a:off x="568425" y="956212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3,002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운영배당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803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2,199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10%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7" name="N * 지분 투자 배당">
            <a:extLst>
              <a:ext uri="{FF2B5EF4-FFF2-40B4-BE49-F238E27FC236}">
                <a16:creationId xmlns:a16="http://schemas.microsoft.com/office/drawing/2014/main" id="{30A4D9E8-D822-0CDC-3F8C-3D764CB45A41}"/>
              </a:ext>
            </a:extLst>
          </p:cNvPr>
          <p:cNvSpPr txBox="1"/>
          <p:nvPr/>
        </p:nvSpPr>
        <p:spPr>
          <a:xfrm>
            <a:off x="3909855" y="47469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센트럴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B8~64F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4,397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B9~80F 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</p:spTree>
    <p:extLst>
      <p:ext uri="{BB962C8B-B14F-4D97-AF65-F5344CB8AC3E}">
        <p14:creationId xmlns:p14="http://schemas.microsoft.com/office/powerpoint/2010/main" val="140310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2511-66D1-9527-2C63-9EF4AA251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38D6-70A1-63BC-E576-52819F0CA904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17,351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4,130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일반상업지역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인천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신세계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BFB1ACE2-F9E1-429D-EB36-AAD90968F870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F7921137-7F94-93E4-4822-963511893AB5}"/>
              </a:ext>
            </a:extLst>
          </p:cNvPr>
          <p:cNvSpPr/>
          <p:nvPr/>
        </p:nvSpPr>
        <p:spPr>
          <a:xfrm>
            <a:off x="165848" y="3712210"/>
            <a:ext cx="64905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98A385-B1E5-650D-01CA-B9C34AB8FE82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⑤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송도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(38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百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3,685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29,465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A1BC17A4-30F6-669C-4CA7-88D90E90E3D2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463800"/>
          <a:ext cx="6253861" cy="1216200"/>
        </p:xfrm>
        <a:graphic>
          <a:graphicData uri="http://schemas.openxmlformats.org/drawingml/2006/table">
            <a:tbl>
              <a:tblPr/>
              <a:tblGrid>
                <a:gridCol w="68869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16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7110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3968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7138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1879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17,002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60% 3,685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 40% 2,456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2,348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취득원가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잔금 유동화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4EFCC29-5C7A-B23E-AB94-9F56CBDCDAEC}"/>
              </a:ext>
            </a:extLst>
          </p:cNvPr>
          <p:cNvGrpSpPr/>
          <p:nvPr/>
        </p:nvGrpSpPr>
        <p:grpSpPr>
          <a:xfrm>
            <a:off x="316877" y="1442754"/>
            <a:ext cx="6351893" cy="615056"/>
            <a:chOff x="156175" y="4094266"/>
            <a:chExt cx="6149276" cy="738683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422F1ACA-93B3-57F0-CA5A-6682354FEBE4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65EBAA-BFD7-F45C-6873-3CB95EBAF316}"/>
                </a:ext>
              </a:extLst>
            </p:cNvPr>
            <p:cNvSpPr txBox="1"/>
            <p:nvPr/>
          </p:nvSpPr>
          <p:spPr bwMode="auto">
            <a:xfrm>
              <a:off x="239863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완료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653EE7-396E-076D-808C-D0ECC2517790}"/>
                </a:ext>
              </a:extLst>
            </p:cNvPr>
            <p:cNvSpPr txBox="1"/>
            <p:nvPr/>
          </p:nvSpPr>
          <p:spPr bwMode="auto">
            <a:xfrm>
              <a:off x="144327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호텔 철거 착공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62EE8-2BFA-7C69-E2B4-BD7A9FCBE453}"/>
                </a:ext>
              </a:extLst>
            </p:cNvPr>
            <p:cNvSpPr txBox="1"/>
            <p:nvPr/>
          </p:nvSpPr>
          <p:spPr bwMode="auto">
            <a:xfrm>
              <a:off x="359162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4A5A90-B1DC-6320-87DA-37799F4A8F8E}"/>
                </a:ext>
              </a:extLst>
            </p:cNvPr>
            <p:cNvSpPr txBox="1"/>
            <p:nvPr/>
          </p:nvSpPr>
          <p:spPr bwMode="auto">
            <a:xfrm>
              <a:off x="3756209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12FB34-02B2-3B0F-CB6B-9799F44F114F}"/>
                </a:ext>
              </a:extLst>
            </p:cNvPr>
            <p:cNvSpPr txBox="1"/>
            <p:nvPr/>
          </p:nvSpPr>
          <p:spPr bwMode="auto">
            <a:xfrm>
              <a:off x="1683616" y="4102468"/>
              <a:ext cx="886481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106764-C14D-AA5C-716B-A3FCBE13A187}"/>
                </a:ext>
              </a:extLst>
            </p:cNvPr>
            <p:cNvSpPr txBox="1"/>
            <p:nvPr/>
          </p:nvSpPr>
          <p:spPr bwMode="auto">
            <a:xfrm>
              <a:off x="2673372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5A9DA-6D37-0C09-30A0-DBB156EBFC88}"/>
                </a:ext>
              </a:extLst>
            </p:cNvPr>
            <p:cNvSpPr txBox="1"/>
            <p:nvPr/>
          </p:nvSpPr>
          <p:spPr bwMode="auto">
            <a:xfrm>
              <a:off x="507697" y="4105929"/>
              <a:ext cx="1072642" cy="2483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0FEAB-B744-1D2A-79B9-0A184D4C9EDF}"/>
                </a:ext>
              </a:extLst>
            </p:cNvPr>
            <p:cNvSpPr txBox="1"/>
            <p:nvPr/>
          </p:nvSpPr>
          <p:spPr bwMode="auto">
            <a:xfrm>
              <a:off x="156175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인허가 접수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355A661F-1F7C-79CA-3376-10E85A2732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5300ED76-F1C8-6373-2CEB-3652694102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A9B0DC84-8138-ED15-9081-68D6EA4AFF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6" name="순서도: 연결자 15">
              <a:extLst>
                <a:ext uri="{FF2B5EF4-FFF2-40B4-BE49-F238E27FC236}">
                  <a16:creationId xmlns:a16="http://schemas.microsoft.com/office/drawing/2014/main" id="{52338B26-6E30-B1A6-7E37-C2F891258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31F11B-1F04-0878-1136-32C191A4D614}"/>
                </a:ext>
              </a:extLst>
            </p:cNvPr>
            <p:cNvSpPr txBox="1"/>
            <p:nvPr/>
          </p:nvSpPr>
          <p:spPr bwMode="auto">
            <a:xfrm>
              <a:off x="4674466" y="4556300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E6AEA0-EF1D-B733-7645-C8D1D9A822AF}"/>
                </a:ext>
              </a:extLst>
            </p:cNvPr>
            <p:cNvSpPr txBox="1"/>
            <p:nvPr/>
          </p:nvSpPr>
          <p:spPr bwMode="auto">
            <a:xfrm>
              <a:off x="4839046" y="4094266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425D420F-B3F3-587E-D133-7D65E9EA2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B352CFC-A7FA-F6C5-1A48-B42673B8E4D8}"/>
              </a:ext>
            </a:extLst>
          </p:cNvPr>
          <p:cNvSpPr/>
          <p:nvPr/>
        </p:nvSpPr>
        <p:spPr>
          <a:xfrm>
            <a:off x="165848" y="5360035"/>
            <a:ext cx="66802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13,900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197,602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(공동주택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85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개층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5,143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79.5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중심상업지역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간접개발법인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PFV)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설립 후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B093B75B-7A49-4D5C-F992-C3F0C7B467D0}"/>
              </a:ext>
            </a:extLst>
          </p:cNvPr>
          <p:cNvSpPr/>
          <p:nvPr/>
        </p:nvSpPr>
        <p:spPr>
          <a:xfrm>
            <a:off x="172034" y="702492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A8BD497A-3A08-BC0B-6047-67F6F9F86D1B}"/>
              </a:ext>
            </a:extLst>
          </p:cNvPr>
          <p:cNvSpPr/>
          <p:nvPr/>
        </p:nvSpPr>
        <p:spPr>
          <a:xfrm>
            <a:off x="165848" y="8617585"/>
            <a:ext cx="66429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578F77-BD35-C988-84AC-D11FDD9E32F8}"/>
              </a:ext>
            </a:extLst>
          </p:cNvPr>
          <p:cNvSpPr txBox="1"/>
          <p:nvPr/>
        </p:nvSpPr>
        <p:spPr bwMode="auto">
          <a:xfrm>
            <a:off x="0" y="4901029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⑥ 울산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1,200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1,397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44F5FD0C-7881-AABF-FD11-95BF345476DE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7468235"/>
          <a:ext cx="6214606" cy="1087120"/>
        </p:xfrm>
        <a:graphic>
          <a:graphicData uri="http://schemas.openxmlformats.org/drawingml/2006/table">
            <a:tbl>
              <a:tblPr/>
              <a:tblGrid>
                <a:gridCol w="72626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0397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256254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8964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046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2258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60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감정가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단일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조달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1D8A5A-EB9D-2AFC-4D4C-772D725E3DF1}"/>
              </a:ext>
            </a:extLst>
          </p:cNvPr>
          <p:cNvGrpSpPr/>
          <p:nvPr/>
        </p:nvGrpSpPr>
        <p:grpSpPr>
          <a:xfrm>
            <a:off x="354977" y="6314424"/>
            <a:ext cx="6344273" cy="676976"/>
            <a:chOff x="163552" y="4119071"/>
            <a:chExt cx="6141899" cy="872040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EC7DE9F8-1282-990A-ABC0-FEDFB6125DAC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BB818E-D14E-56D0-02FB-56BA65F27FA2}"/>
                </a:ext>
              </a:extLst>
            </p:cNvPr>
            <p:cNvSpPr txBox="1"/>
            <p:nvPr/>
          </p:nvSpPr>
          <p:spPr bwMode="auto">
            <a:xfrm>
              <a:off x="2398633" y="4616953"/>
              <a:ext cx="1622121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간접개발 법인 설립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E4876F2-9A41-6BC4-5BDD-BF0547D2E8C8}"/>
                </a:ext>
              </a:extLst>
            </p:cNvPr>
            <p:cNvSpPr txBox="1"/>
            <p:nvPr/>
          </p:nvSpPr>
          <p:spPr bwMode="auto">
            <a:xfrm>
              <a:off x="1443270" y="4616953"/>
              <a:ext cx="136717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변경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B177F7B-FCDD-0722-A024-ED948DF1FB0A}"/>
                </a:ext>
              </a:extLst>
            </p:cNvPr>
            <p:cNvSpPr txBox="1"/>
            <p:nvPr/>
          </p:nvSpPr>
          <p:spPr bwMode="auto">
            <a:xfrm>
              <a:off x="3591629" y="4616953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F3756F-63B7-7D42-F61D-7625105B2BF2}"/>
                </a:ext>
              </a:extLst>
            </p:cNvPr>
            <p:cNvSpPr txBox="1"/>
            <p:nvPr/>
          </p:nvSpPr>
          <p:spPr bwMode="auto">
            <a:xfrm>
              <a:off x="3756209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346AC7-9F27-08B7-0168-CFD899CD726B}"/>
                </a:ext>
              </a:extLst>
            </p:cNvPr>
            <p:cNvSpPr txBox="1"/>
            <p:nvPr/>
          </p:nvSpPr>
          <p:spPr bwMode="auto">
            <a:xfrm>
              <a:off x="1683616" y="4127274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E91E0D6-D366-4158-9759-ABD97432344B}"/>
                </a:ext>
              </a:extLst>
            </p:cNvPr>
            <p:cNvSpPr txBox="1"/>
            <p:nvPr/>
          </p:nvSpPr>
          <p:spPr bwMode="auto">
            <a:xfrm>
              <a:off x="2673372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2563106-A60D-400D-4228-76E59A060E65}"/>
                </a:ext>
              </a:extLst>
            </p:cNvPr>
            <p:cNvSpPr txBox="1"/>
            <p:nvPr/>
          </p:nvSpPr>
          <p:spPr bwMode="auto">
            <a:xfrm>
              <a:off x="507697" y="4127273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C3707-5ED1-4FFB-741A-5C63E326090E}"/>
                </a:ext>
              </a:extLst>
            </p:cNvPr>
            <p:cNvSpPr txBox="1"/>
            <p:nvPr/>
          </p:nvSpPr>
          <p:spPr bwMode="auto">
            <a:xfrm>
              <a:off x="163552" y="4576573"/>
              <a:ext cx="1775686" cy="4145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MOU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체결 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百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↔ 동원개발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)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65D1F858-A5CB-8E08-79EF-65554DB4F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72BD7DFB-BBEC-2E8E-5B18-6DFCF2600D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F2747CDD-8470-0525-DAA7-F85B4D4C0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B3F63A2E-C5EC-1101-CC7E-47FBC31E7B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F3DB778-FD7C-E001-CE79-8FAA1AA5C9F3}"/>
                </a:ext>
              </a:extLst>
            </p:cNvPr>
            <p:cNvSpPr txBox="1"/>
            <p:nvPr/>
          </p:nvSpPr>
          <p:spPr bwMode="auto">
            <a:xfrm>
              <a:off x="4674466" y="4595568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B7C29A-70FC-3585-53FD-3388BF6F9FE8}"/>
                </a:ext>
              </a:extLst>
            </p:cNvPr>
            <p:cNvSpPr txBox="1"/>
            <p:nvPr/>
          </p:nvSpPr>
          <p:spPr bwMode="auto">
            <a:xfrm>
              <a:off x="4839046" y="4119071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163CFACF-97ED-2257-AE76-74362A04D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aphicFrame>
        <p:nvGraphicFramePr>
          <p:cNvPr id="196" name="표 195">
            <a:extLst>
              <a:ext uri="{FF2B5EF4-FFF2-40B4-BE49-F238E27FC236}">
                <a16:creationId xmlns:a16="http://schemas.microsoft.com/office/drawing/2014/main" id="{9A521F2C-9A50-5A69-60AD-52DD11C96C9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58855"/>
          <a:ext cx="6185831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7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63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9,638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336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97" name="표 196">
            <a:extLst>
              <a:ext uri="{FF2B5EF4-FFF2-40B4-BE49-F238E27FC236}">
                <a16:creationId xmlns:a16="http://schemas.microsoft.com/office/drawing/2014/main" id="{0340845C-E79F-9C79-89C8-D98A3622122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9002980"/>
          <a:ext cx="622869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6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N * 지분 투자 배당">
            <a:extLst>
              <a:ext uri="{FF2B5EF4-FFF2-40B4-BE49-F238E27FC236}">
                <a16:creationId xmlns:a16="http://schemas.microsoft.com/office/drawing/2014/main" id="{776BBD7F-1910-499C-12A6-ABC3C939BB6D}"/>
              </a:ext>
            </a:extLst>
          </p:cNvPr>
          <p:cNvSpPr txBox="1"/>
          <p:nvPr/>
        </p:nvSpPr>
        <p:spPr>
          <a:xfrm>
            <a:off x="470556" y="4658504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29,465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23,042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매각수익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6,423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전략실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기준 잔존가치 추정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D52F1FBA-7858-D8F5-42F7-689349FE13E5}"/>
              </a:ext>
            </a:extLst>
          </p:cNvPr>
          <p:cNvSpPr txBox="1"/>
          <p:nvPr/>
        </p:nvSpPr>
        <p:spPr>
          <a:xfrm>
            <a:off x="498787" y="9574588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분양상품으로 준공 후 청산 전제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91164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D99B5-A759-39A4-A7FE-F4937CEF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F05FFF-F5BC-BDF1-F7C6-2C0261EA7F3B}"/>
              </a:ext>
            </a:extLst>
          </p:cNvPr>
          <p:cNvSpPr/>
          <p:nvPr/>
        </p:nvSpPr>
        <p:spPr>
          <a:xfrm>
            <a:off x="165848" y="5368290"/>
            <a:ext cx="6623572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28,405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256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439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백화점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터미널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공동주택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err="1">
                <a:latin typeface="신세계 민부리 Light(TTF)"/>
                <a:ea typeface="신세계 민부리 Light(TTF)"/>
              </a:rPr>
              <a:t>시니어레지던스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오피스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호텔 등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9.0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436.2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· 일반상업지역 · ㈜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광주신세계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82E6BCCE-AB44-02CD-C0C8-603D95E9A15D}"/>
              </a:ext>
            </a:extLst>
          </p:cNvPr>
          <p:cNvSpPr/>
          <p:nvPr/>
        </p:nvSpPr>
        <p:spPr>
          <a:xfrm>
            <a:off x="165848" y="71272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E050A5EF-7CA5-9BEA-DCCA-0A16B61749E7}"/>
              </a:ext>
            </a:extLst>
          </p:cNvPr>
          <p:cNvSpPr/>
          <p:nvPr/>
        </p:nvSpPr>
        <p:spPr>
          <a:xfrm>
            <a:off x="151448" y="877442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89A1E-8174-0E32-7456-0CDE041E1A87}"/>
              </a:ext>
            </a:extLst>
          </p:cNvPr>
          <p:cNvSpPr txBox="1"/>
          <p:nvPr/>
        </p:nvSpPr>
        <p:spPr bwMode="auto">
          <a:xfrm>
            <a:off x="0" y="494830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⑧ 광주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2.3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5.2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E07FC153-D2B3-97DB-8D4B-0F629818F028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7533640"/>
          <a:ext cx="6229349" cy="1216200"/>
        </p:xfrm>
        <a:graphic>
          <a:graphicData uri="http://schemas.openxmlformats.org/drawingml/2006/table">
            <a:tbl>
              <a:tblPr/>
              <a:tblGrid>
                <a:gridCol w="64242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7344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2428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0591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9714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8614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(3.62조)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(3.62조)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810만원/평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2,500억</a:t>
                      </a:r>
                      <a:r>
                        <a:rPr lang="en-US" altLang="ko-KR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존치수입 5,421억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 보증금 5,270억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>
                        <a:solidFill>
                          <a:schemeClr val="tx1"/>
                        </a:solidFill>
                      </a:endParaRP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4,700억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잔여 5,270억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회사채 4%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 / 신규 4%</a:t>
                      </a: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억, 용역비 등</a:t>
                      </a:r>
                    </a:p>
                  </a:txBody>
                  <a:tcPr marL="72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18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800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ko-KR" altLang="en-US" sz="1100" b="1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5DA470B6-D21A-A233-0A15-3D042173A0B3}"/>
              </a:ext>
            </a:extLst>
          </p:cNvPr>
          <p:cNvSpPr/>
          <p:nvPr/>
        </p:nvSpPr>
        <p:spPr>
          <a:xfrm>
            <a:off x="165848" y="49403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0,918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4,532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12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21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26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4,500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 등)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39.29% / 용적률 299.64% · 일반상업지역 · 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수서역환승센터복합개발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7BDD81DE-153E-3D72-9AFA-25796F1D74F8}"/>
              </a:ext>
            </a:extLst>
          </p:cNvPr>
          <p:cNvSpPr/>
          <p:nvPr/>
        </p:nvSpPr>
        <p:spPr>
          <a:xfrm>
            <a:off x="2138157" y="2072237"/>
            <a:ext cx="5000135" cy="27699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※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SPC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0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DA7FA953-6032-8D27-75A3-BBF6D1626FEF}"/>
              </a:ext>
            </a:extLst>
          </p:cNvPr>
          <p:cNvSpPr/>
          <p:nvPr/>
        </p:nvSpPr>
        <p:spPr>
          <a:xfrm>
            <a:off x="151448" y="380237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투자 기준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C1C49-2572-8534-74A5-6097F16673F6}"/>
              </a:ext>
            </a:extLst>
          </p:cNvPr>
          <p:cNvSpPr txBox="1"/>
          <p:nvPr/>
        </p:nvSpPr>
        <p:spPr bwMode="auto">
          <a:xfrm>
            <a:off x="0" y="8763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⑦ 수서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(20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3,286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6,624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904" name="百 투자비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30021"/>
              </p:ext>
            </p:extLst>
          </p:nvPr>
        </p:nvGraphicFramePr>
        <p:xfrm>
          <a:off x="472940" y="2457447"/>
          <a:ext cx="1621006" cy="1197012"/>
        </p:xfrm>
        <a:graphic>
          <a:graphicData uri="http://schemas.openxmlformats.org/drawingml/2006/table">
            <a:tbl>
              <a:tblPr/>
              <a:tblGrid>
                <a:gridCol w="1084817">
                  <a:extLst>
                    <a:ext uri="{9D8B030D-6E8A-4147-A177-3AD203B41FA5}">
                      <a16:colId xmlns:a16="http://schemas.microsoft.com/office/drawing/2014/main" val="1341944966"/>
                    </a:ext>
                  </a:extLst>
                </a:gridCol>
                <a:gridCol w="536189">
                  <a:extLst>
                    <a:ext uri="{9D8B030D-6E8A-4147-A177-3AD203B41FA5}">
                      <a16:colId xmlns:a16="http://schemas.microsoft.com/office/drawing/2014/main" val="323143664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투자비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(0.3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0753"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  <a:endParaRPr lang="en-US" altLang="ko-KR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인테리어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0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Equity,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임대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aphicFrame>
        <p:nvGraphicFramePr>
          <p:cNvPr id="26" name="총 사업비 조달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3466"/>
              </p:ext>
            </p:extLst>
          </p:nvPr>
        </p:nvGraphicFramePr>
        <p:xfrm>
          <a:off x="2157207" y="2457450"/>
          <a:ext cx="4540930" cy="1202556"/>
        </p:xfrm>
        <a:graphic>
          <a:graphicData uri="http://schemas.openxmlformats.org/drawingml/2006/table">
            <a:tbl>
              <a:tblPr/>
              <a:tblGrid>
                <a:gridCol w="70384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49546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48229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835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63433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90752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15,149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910만원/평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157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4,817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4,118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설계·감리비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재투자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운영이익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1,694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과밀부담금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PF대출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24,158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4104D460-B02C-E0B8-EBAE-4B1572631FA2}"/>
              </a:ext>
            </a:extLst>
          </p:cNvPr>
          <p:cNvGrpSpPr/>
          <p:nvPr/>
        </p:nvGrpSpPr>
        <p:grpSpPr>
          <a:xfrm>
            <a:off x="392625" y="1261253"/>
            <a:ext cx="6306625" cy="666411"/>
            <a:chOff x="199999" y="4166538"/>
            <a:chExt cx="6105452" cy="666411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DC380CDA-AC48-A73F-8BB1-B99D2AF0A5EE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199893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9F11BD1-1259-8A02-A1F9-DE13850D1495}"/>
                </a:ext>
              </a:extLst>
            </p:cNvPr>
            <p:cNvSpPr txBox="1"/>
            <p:nvPr/>
          </p:nvSpPr>
          <p:spPr bwMode="auto">
            <a:xfrm>
              <a:off x="1146413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모집</a:t>
              </a:r>
            </a:p>
          </p:txBody>
        </p:sp>
        <p:sp>
          <p:nvSpPr>
            <p:cNvPr id="903" name="일정 백화점착공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2978940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0FCDC6-1C72-291B-9CEF-E5A7A5DD0CE7}"/>
                </a:ext>
              </a:extLst>
            </p:cNvPr>
            <p:cNvSpPr txBox="1"/>
            <p:nvPr/>
          </p:nvSpPr>
          <p:spPr bwMode="auto">
            <a:xfrm>
              <a:off x="406909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902" name="일정 날짜 백화점착공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325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A26F4D-3208-878E-EA71-9874DF17C33C}"/>
                </a:ext>
              </a:extLst>
            </p:cNvPr>
            <p:cNvSpPr txBox="1"/>
            <p:nvPr/>
          </p:nvSpPr>
          <p:spPr bwMode="auto">
            <a:xfrm>
              <a:off x="423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12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400CA8-B911-8C50-3AF7-08FB695C062E}"/>
                </a:ext>
              </a:extLst>
            </p:cNvPr>
            <p:cNvSpPr txBox="1"/>
            <p:nvPr/>
          </p:nvSpPr>
          <p:spPr bwMode="auto">
            <a:xfrm>
              <a:off x="1386759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現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227367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BBA338-1ADD-6692-B5B4-D6B08466B1E7}"/>
                </a:ext>
              </a:extLst>
            </p:cNvPr>
            <p:cNvSpPr txBox="1"/>
            <p:nvPr/>
          </p:nvSpPr>
          <p:spPr bwMode="auto">
            <a:xfrm>
              <a:off x="313678" y="4169999"/>
              <a:ext cx="1072642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’21. 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7E7BAE-BAAE-3CC9-73E7-D416B7062286}"/>
                </a:ext>
              </a:extLst>
            </p:cNvPr>
            <p:cNvSpPr txBox="1"/>
            <p:nvPr/>
          </p:nvSpPr>
          <p:spPr bwMode="auto">
            <a:xfrm>
              <a:off x="199999" y="4577685"/>
              <a:ext cx="130000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우선협상자 선정</a:t>
              </a: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EEB11C1B-FD25-DF9D-75EB-7AD0CCB564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637E1E4D-6B4F-F5B8-A6E7-EA7502FFE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6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37DC4DC8-69A8-D895-6981-9779039BC9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4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01" name="일정점 백화점착공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008556C-8F3D-99E2-2CD0-708430EE0FF0}"/>
                </a:ext>
              </a:extLst>
            </p:cNvPr>
            <p:cNvSpPr txBox="1"/>
            <p:nvPr/>
          </p:nvSpPr>
          <p:spPr bwMode="auto">
            <a:xfrm>
              <a:off x="5213679" y="4577686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운영종료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C5AC96D-8EA5-CE51-5EAA-B5F7B55C04D8}"/>
                </a:ext>
              </a:extLst>
            </p:cNvPr>
            <p:cNvSpPr txBox="1"/>
            <p:nvPr/>
          </p:nvSpPr>
          <p:spPr bwMode="auto">
            <a:xfrm>
              <a:off x="521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’81. 12 (50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</a:t>
              </a: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B08D5C07-DF5B-F03E-2479-3FF4AEACEB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D50AA31-4477-5F70-56AB-B2807302DFE8}"/>
              </a:ext>
            </a:extLst>
          </p:cNvPr>
          <p:cNvGrpSpPr/>
          <p:nvPr/>
        </p:nvGrpSpPr>
        <p:grpSpPr>
          <a:xfrm>
            <a:off x="454439" y="6153133"/>
            <a:ext cx="6081659" cy="891140"/>
            <a:chOff x="515693" y="7714867"/>
            <a:chExt cx="6081659" cy="868041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93F8764D-FC95-B562-C502-0E9FE431FF9B}"/>
                </a:ext>
              </a:extLst>
            </p:cNvPr>
            <p:cNvSpPr/>
            <p:nvPr/>
          </p:nvSpPr>
          <p:spPr>
            <a:xfrm>
              <a:off x="620713" y="8052926"/>
              <a:ext cx="5976639" cy="125593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1305045A-9E59-369B-F873-3F85F8FF79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29D33340-8DF0-029C-7B52-B1A41DCDF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E46705-F75D-E25F-8125-EAB7EDCAD654}"/>
                </a:ext>
              </a:extLst>
            </p:cNvPr>
            <p:cNvSpPr txBox="1"/>
            <p:nvPr/>
          </p:nvSpPr>
          <p:spPr bwMode="auto">
            <a:xfrm>
              <a:off x="515693" y="8170757"/>
              <a:ext cx="1490301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고시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단계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신관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684A62-7876-AFFA-90F8-FA9F883E0D9E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1단계 준공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착공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1A0167E-8D5A-8E72-7140-0A10C5A35025}"/>
                </a:ext>
              </a:extLst>
            </p:cNvPr>
            <p:cNvSpPr txBox="1"/>
            <p:nvPr/>
          </p:nvSpPr>
          <p:spPr bwMode="auto">
            <a:xfrm>
              <a:off x="3630872" y="8154213"/>
              <a:ext cx="1257217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준공</a:t>
              </a: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착공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142B7E-2C28-5180-227E-6F34946D4928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준공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6D713BD-7EC5-84D6-ED71-DDFEDEAE9492}"/>
                </a:ext>
              </a:extLst>
            </p:cNvPr>
            <p:cNvSpPr txBox="1"/>
            <p:nvPr/>
          </p:nvSpPr>
          <p:spPr bwMode="auto">
            <a:xfrm>
              <a:off x="5259976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 下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719137-9EB6-531A-18E7-2B3C04E16845}"/>
                </a:ext>
              </a:extLst>
            </p:cNvPr>
            <p:cNvSpPr txBox="1"/>
            <p:nvPr/>
          </p:nvSpPr>
          <p:spPr bwMode="auto">
            <a:xfrm>
              <a:off x="2199411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B5C60E-29F9-73AA-E12F-E0D4D7706BDA}"/>
                </a:ext>
              </a:extLst>
            </p:cNvPr>
            <p:cNvSpPr txBox="1"/>
            <p:nvPr/>
          </p:nvSpPr>
          <p:spPr bwMode="auto">
            <a:xfrm>
              <a:off x="3719430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下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9CF282-3F4A-5DD5-05B1-D955D16C16F3}"/>
                </a:ext>
              </a:extLst>
            </p:cNvPr>
            <p:cNvSpPr txBox="1"/>
            <p:nvPr/>
          </p:nvSpPr>
          <p:spPr bwMode="auto">
            <a:xfrm>
              <a:off x="679392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’26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 末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5F86924A-368A-8DE9-75AF-24DDFB6C56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405EC187-F1D3-6C34-C048-51699604FF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EDDA2BF-4785-38EF-94C6-C7D6E472971C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9118071"/>
          <a:ext cx="6202998" cy="4646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9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  <a:r>
                        <a:rPr lang="ko-KR" altLang="en-US" sz="10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2</a:t>
                      </a:r>
                      <a:r>
                        <a:rPr lang="ko-KR" altLang="en-US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단계 준공 기준</a:t>
                      </a:r>
                    </a:p>
                  </a:txBody>
                  <a:tcPr marL="324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(21년)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0.4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DAC00B-B051-2D8E-507C-96C880A45F4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154097"/>
          <a:ext cx="623504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7,400억, 세전이익 △186억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사업비 제목">
            <a:extLst>
              <a:ext uri="{FF2B5EF4-FFF2-40B4-BE49-F238E27FC236}">
                <a16:creationId xmlns:a16="http://schemas.microsoft.com/office/drawing/2014/main" id="{9DDFFA32-A1CB-078F-DAE1-C918859ADEEA}"/>
              </a:ext>
            </a:extLst>
          </p:cNvPr>
          <p:cNvSpPr/>
          <p:nvPr/>
        </p:nvSpPr>
        <p:spPr>
          <a:xfrm>
            <a:off x="151448" y="2032814"/>
            <a:ext cx="1535252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총 투자비 </a:t>
            </a:r>
            <a:endParaRPr lang="en-US" altLang="ko-KR" sz="11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C41D4325-CFFF-257D-10CD-5AB69B2BDF28}"/>
              </a:ext>
            </a:extLst>
          </p:cNvPr>
          <p:cNvSpPr txBox="1"/>
          <p:nvPr/>
        </p:nvSpPr>
        <p:spPr>
          <a:xfrm>
            <a:off x="1153487" y="2154742"/>
            <a:ext cx="1315432" cy="40391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百 영업면적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만평</a:t>
            </a:r>
          </a:p>
        </p:txBody>
      </p:sp>
      <p:sp>
        <p:nvSpPr>
          <p:cNvPr id="6" name="N * 지분 투자 배당">
            <a:extLst>
              <a:ext uri="{FF2B5EF4-FFF2-40B4-BE49-F238E27FC236}">
                <a16:creationId xmlns:a16="http://schemas.microsoft.com/office/drawing/2014/main" id="{7CB963CA-03F2-4059-A78A-28A863F9C8C4}"/>
              </a:ext>
            </a:extLst>
          </p:cNvPr>
          <p:cNvSpPr txBox="1"/>
          <p:nvPr/>
        </p:nvSpPr>
        <p:spPr>
          <a:xfrm>
            <a:off x="470556" y="4709303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운영이익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1" name="N * 지분 투자 배당">
            <a:extLst>
              <a:ext uri="{FF2B5EF4-FFF2-40B4-BE49-F238E27FC236}">
                <a16:creationId xmlns:a16="http://schemas.microsoft.com/office/drawing/2014/main" id="{CB3B6FC4-06CD-1D7A-11AA-1F6A13826187}"/>
              </a:ext>
            </a:extLst>
          </p:cNvPr>
          <p:cNvSpPr txBox="1"/>
          <p:nvPr/>
        </p:nvSpPr>
        <p:spPr>
          <a:xfrm>
            <a:off x="4427672" y="5457211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최고높이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  <p:sp>
        <p:nvSpPr>
          <p:cNvPr id="10" name="N * 지분 투자 배당">
            <a:extLst>
              <a:ext uri="{FF2B5EF4-FFF2-40B4-BE49-F238E27FC236}">
                <a16:creationId xmlns:a16="http://schemas.microsoft.com/office/drawing/2014/main" id="{F3BFD22C-E908-0426-9B69-353EB61FF7C3}"/>
              </a:ext>
            </a:extLst>
          </p:cNvPr>
          <p:cNvSpPr txBox="1"/>
          <p:nvPr/>
        </p:nvSpPr>
        <p:spPr>
          <a:xfrm>
            <a:off x="454439" y="9713409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영업현금흐름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잔존가치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A4A8729-C981-E51D-8546-7D53C3D0169F}"/>
              </a:ext>
            </a:extLst>
          </p:cNvPr>
          <p:cNvGraphicFramePr>
            <a:graphicFrameLocks noGrp="1"/>
          </p:cNvGraphicFramePr>
          <p:nvPr/>
        </p:nvGraphicFramePr>
        <p:xfrm>
          <a:off x="7127695" y="4728794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EB692D6-066F-17FB-DC83-6217A091FF1E}"/>
              </a:ext>
            </a:extLst>
          </p:cNvPr>
          <p:cNvSpPr txBox="1"/>
          <p:nvPr/>
        </p:nvSpPr>
        <p:spPr bwMode="auto">
          <a:xfrm>
            <a:off x="13603090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AB189-A47C-0711-A780-63F52964CF63}"/>
              </a:ext>
            </a:extLst>
          </p:cNvPr>
          <p:cNvSpPr txBox="1"/>
          <p:nvPr/>
        </p:nvSpPr>
        <p:spPr bwMode="auto">
          <a:xfrm>
            <a:off x="12400654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11F05-7919-D938-14ED-315AEF6E5F46}"/>
              </a:ext>
            </a:extLst>
          </p:cNvPr>
          <p:cNvSpPr txBox="1"/>
          <p:nvPr/>
        </p:nvSpPr>
        <p:spPr bwMode="auto">
          <a:xfrm>
            <a:off x="1528895" y="7167155"/>
            <a:ext cx="375164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기납부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보증금 </a:t>
            </a: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포함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69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A359-FB38-32AC-E431-07B5ED5D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35860D-B9E3-9D44-2D47-E1AC4F2FB5CC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논현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C6F8B10-0ED5-CC32-59DC-6AB4E47FB3DB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4488737-3D97-1C68-70F0-157F6151FFC8}"/>
              </a:ext>
            </a:extLst>
          </p:cNvPr>
          <p:cNvSpPr/>
          <p:nvPr/>
        </p:nvSpPr>
        <p:spPr>
          <a:xfrm>
            <a:off x="177800" y="2907204"/>
            <a:ext cx="6502400" cy="191334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(’25.4)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펀드설립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토지매매계약 체결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(’26.12)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건축허가 완료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③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(’30.6)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⑤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후 임대 可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F28D9D9-5C06-C64A-2262-336FF91820D6}"/>
              </a:ext>
            </a:extLst>
          </p:cNvPr>
          <p:cNvSpPr/>
          <p:nvPr/>
        </p:nvSpPr>
        <p:spPr>
          <a:xfrm>
            <a:off x="177800" y="4900783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2CCF6CE-8F2C-5D24-E666-2ECB866D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96835"/>
              </p:ext>
            </p:extLst>
          </p:nvPr>
        </p:nvGraphicFramePr>
        <p:xfrm>
          <a:off x="260350" y="1408205"/>
          <a:ext cx="3917200" cy="1543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논현동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55-12, 13, 14, 16, 19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번지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논현역 교차역세권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(3,420.5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13,449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( 44,559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지하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~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지상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59.4% / 799.5%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법정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60% / 800%)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종일반주거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(250%)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 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(800%)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</a:p>
                    <a:p>
                      <a:pPr latinLnBrk="1">
                        <a:spcBef>
                          <a:spcPts val="100"/>
                        </a:spcBef>
                      </a:pP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 역세권 활성화 사업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코람코제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호일반사모부동산투자회사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2EAA554-C4A6-86A8-4640-901C5470EC2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1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BCD623-214B-9057-CAB5-D4EED569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0" y="1408205"/>
            <a:ext cx="2349500" cy="1530597"/>
          </a:xfrm>
          <a:prstGeom prst="rect">
            <a:avLst/>
          </a:prstGeom>
        </p:spPr>
      </p:pic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4DBA4A2-9A1E-2C10-F6E5-CAC9F210F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24948"/>
              </p:ext>
            </p:extLst>
          </p:nvPr>
        </p:nvGraphicFramePr>
        <p:xfrm>
          <a:off x="260351" y="5330481"/>
          <a:ext cx="6438136" cy="2033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56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63374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33873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00783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100"/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3808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13,465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직접공사비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(1,098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9241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(4F~20F)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37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9241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(B2F ~ 2F)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평균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28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매각가 추정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(Cap.Rate 4%,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처분시점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NOI 262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6574"/>
                  </a:ext>
                </a:extLst>
              </a:tr>
            </a:tbl>
          </a:graphicData>
        </a:graphic>
      </p:graphicFrame>
      <p:sp>
        <p:nvSpPr>
          <p:cNvPr id="24" name="HB">
            <a:extLst>
              <a:ext uri="{FF2B5EF4-FFF2-40B4-BE49-F238E27FC236}">
                <a16:creationId xmlns:a16="http://schemas.microsoft.com/office/drawing/2014/main" id="{939D5E6D-8ED6-1530-454E-CDC81CF5B305}"/>
              </a:ext>
            </a:extLst>
          </p:cNvPr>
          <p:cNvSpPr/>
          <p:nvPr/>
        </p:nvSpPr>
        <p:spPr>
          <a:xfrm>
            <a:off x="177800" y="7540244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5,800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투자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495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(Equity)</a:t>
            </a:r>
            <a:endParaRPr lang="en-US" altLang="ko-KR" sz="8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528DD38-AF32-EA2E-1257-0F791E4A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3688"/>
              </p:ext>
            </p:extLst>
          </p:nvPr>
        </p:nvGraphicFramePr>
        <p:xfrm>
          <a:off x="267780" y="8261648"/>
          <a:ext cx="6430708" cy="1462606"/>
        </p:xfrm>
        <a:graphic>
          <a:graphicData uri="http://schemas.openxmlformats.org/drawingml/2006/table">
            <a:tbl>
              <a:tblPr/>
              <a:tblGrid>
                <a:gridCol w="145073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45073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0396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890714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1634560">
                  <a:extLst>
                    <a:ext uri="{9D8B030D-6E8A-4147-A177-3AD203B41FA5}">
                      <a16:colId xmlns:a16="http://schemas.microsoft.com/office/drawing/2014/main" val="1327241267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8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2,149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(37%)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  <a:endParaRPr lang="en-US" altLang="ko-KR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(27%, 1,470)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살리다제일차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970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(17%)</a:t>
                      </a: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(1,090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(25%)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ko-KR" altLang="en-US" sz="90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(9%)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46565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720000" marT="900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코람코 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 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(0.1%)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286773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(13%)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(73.9%)</a:t>
                      </a: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1,421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(25%)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pPr marL="0" marR="0" lvl="0" indent="0" algn="ct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258250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9A6C03B-9C85-FA71-B1CC-13B4D0233A8C}"/>
              </a:ext>
            </a:extLst>
          </p:cNvPr>
          <p:cNvSpPr txBox="1"/>
          <p:nvPr/>
        </p:nvSpPr>
        <p:spPr>
          <a:xfrm>
            <a:off x="5308600" y="8040078"/>
            <a:ext cx="1397000" cy="21544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57178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A1BDD-2ADD-2CBC-BF86-DB06C303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B">
            <a:extLst>
              <a:ext uri="{FF2B5EF4-FFF2-40B4-BE49-F238E27FC236}">
                <a16:creationId xmlns:a16="http://schemas.microsoft.com/office/drawing/2014/main" id="{5048121A-31DB-2BD7-DF7F-C6767A267CB2}"/>
              </a:ext>
            </a:extLst>
          </p:cNvPr>
          <p:cNvSpPr/>
          <p:nvPr/>
        </p:nvSpPr>
        <p:spPr>
          <a:xfrm>
            <a:off x="177800" y="177800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회사형 펀드 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간접투자기구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54CE77C-DF5F-DE27-6E0F-D6EFE4EF0EC8}"/>
              </a:ext>
            </a:extLst>
          </p:cNvPr>
          <p:cNvSpPr/>
          <p:nvPr/>
        </p:nvSpPr>
        <p:spPr>
          <a:xfrm>
            <a:off x="177800" y="4767348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종 주주 조달 구조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정산계약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60DCD1-BBEB-FEDB-E015-6B3B1251BC87}"/>
              </a:ext>
            </a:extLst>
          </p:cNvPr>
          <p:cNvSpPr txBox="1"/>
          <p:nvPr/>
        </p:nvSpPr>
        <p:spPr>
          <a:xfrm>
            <a:off x="2933003" y="4323906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F7676959-2D18-A63B-52C0-E30D48200CE1}"/>
              </a:ext>
            </a:extLst>
          </p:cNvPr>
          <p:cNvGrpSpPr/>
          <p:nvPr/>
        </p:nvGrpSpPr>
        <p:grpSpPr>
          <a:xfrm>
            <a:off x="222535" y="1103548"/>
            <a:ext cx="6260181" cy="3278959"/>
            <a:chOff x="-299481" y="1306518"/>
            <a:chExt cx="5820032" cy="28210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044FD0-15BD-EC94-2127-B30F1FFE1C74}"/>
                </a:ext>
              </a:extLst>
            </p:cNvPr>
            <p:cNvSpPr txBox="1"/>
            <p:nvPr/>
          </p:nvSpPr>
          <p:spPr bwMode="auto">
            <a:xfrm>
              <a:off x="3075727" y="1306518"/>
              <a:ext cx="1344968" cy="4932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6167" tIns="43084" rIns="86167" bIns="430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ko-KR" altLang="en-US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논현 </a:t>
              </a:r>
              <a:r>
                <a:rPr kumimoji="1" lang="en-US" altLang="ko-KR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PJT</a:t>
              </a:r>
            </a:p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회사형 펀드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F59547-8797-2FC0-F387-B4DC7F5912A5}"/>
                </a:ext>
              </a:extLst>
            </p:cNvPr>
            <p:cNvSpPr txBox="1"/>
            <p:nvPr/>
          </p:nvSpPr>
          <p:spPr>
            <a:xfrm>
              <a:off x="-299481" y="2790493"/>
              <a:ext cx="25209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토지 매도인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출자자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PM)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1116F47-5D4E-BD2E-AA6F-C4ED1A0B9A00}"/>
                </a:ext>
              </a:extLst>
            </p:cNvPr>
            <p:cNvGrpSpPr/>
            <p:nvPr/>
          </p:nvGrpSpPr>
          <p:grpSpPr>
            <a:xfrm>
              <a:off x="469691" y="1823442"/>
              <a:ext cx="5050860" cy="2304115"/>
              <a:chOff x="469691" y="1823442"/>
              <a:chExt cx="5050860" cy="2304115"/>
            </a:xfrm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797FA3E1-F7B2-EC0E-06F0-4AFBBED22A8B}"/>
                  </a:ext>
                </a:extLst>
              </p:cNvPr>
              <p:cNvSpPr/>
              <p:nvPr/>
            </p:nvSpPr>
            <p:spPr>
              <a:xfrm>
                <a:off x="3472515" y="1823442"/>
                <a:ext cx="1064412" cy="1009999"/>
              </a:xfrm>
              <a:prstGeom prst="rect">
                <a:avLst/>
              </a:prstGeom>
              <a:noFill/>
              <a:ln w="9525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63"/>
                  </a:spcBef>
                </a:pPr>
                <a:endParaRPr lang="en-US" altLang="ko-KR" sz="11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5AFF292A-66F6-CF98-B27A-228B3F258583}"/>
                  </a:ext>
                </a:extLst>
              </p:cNvPr>
              <p:cNvSpPr/>
              <p:nvPr/>
            </p:nvSpPr>
            <p:spPr>
              <a:xfrm>
                <a:off x="3730815" y="1858401"/>
                <a:ext cx="1017117" cy="51558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NH SPC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970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18211838-174B-4F12-9563-4E76021F9783}"/>
                  </a:ext>
                </a:extLst>
              </p:cNvPr>
              <p:cNvSpPr/>
              <p:nvPr/>
            </p:nvSpPr>
            <p:spPr>
              <a:xfrm>
                <a:off x="3728308" y="2411500"/>
                <a:ext cx="1022131" cy="257651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센트럴</a:t>
                </a: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495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464E6810-3A9A-C803-08E5-8F37F52B9C15}"/>
                  </a:ext>
                </a:extLst>
              </p:cNvPr>
              <p:cNvSpPr/>
              <p:nvPr/>
            </p:nvSpPr>
            <p:spPr>
              <a:xfrm>
                <a:off x="3724189" y="2861788"/>
                <a:ext cx="1017118" cy="986607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PF</a:t>
                </a:r>
                <a:r>
                  <a:rPr lang="ko-KR" altLang="en-US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대출</a:t>
                </a:r>
                <a:endParaRPr lang="en-US" altLang="ko-KR" sz="11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4,330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 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4F0239-7CEB-BAD7-74C7-99D9547E1294}"/>
                  </a:ext>
                </a:extLst>
              </p:cNvPr>
              <p:cNvSpPr txBox="1"/>
              <p:nvPr/>
            </p:nvSpPr>
            <p:spPr bwMode="auto">
              <a:xfrm>
                <a:off x="1767074" y="2512368"/>
                <a:ext cx="673306" cy="419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6167" tIns="43084" rIns="86167" bIns="43084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토지매각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en-US" altLang="ko-KR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2,050</a:t>
                </a: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억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B291DE3A-3FD1-CFF2-EDBD-E5DDD71BC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998" y="2721817"/>
                <a:ext cx="594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C9E4003E-5AD8-0F3C-E5AB-56DF4B1D14A5}"/>
                  </a:ext>
                </a:extLst>
              </p:cNvPr>
              <p:cNvSpPr/>
              <p:nvPr/>
            </p:nvSpPr>
            <p:spPr>
              <a:xfrm>
                <a:off x="3728308" y="2702245"/>
                <a:ext cx="1022131" cy="124772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코람코</a:t>
                </a:r>
                <a:r>
                  <a:rPr lang="ko-KR" altLang="en-US" sz="1050"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42" name="왼쪽 대괄호 41">
                <a:extLst>
                  <a:ext uri="{FF2B5EF4-FFF2-40B4-BE49-F238E27FC236}">
                    <a16:creationId xmlns:a16="http://schemas.microsoft.com/office/drawing/2014/main" id="{1C8B355B-877D-EB00-5B72-73145CD18137}"/>
                  </a:ext>
                </a:extLst>
              </p:cNvPr>
              <p:cNvSpPr/>
              <p:nvPr/>
            </p:nvSpPr>
            <p:spPr>
              <a:xfrm flipH="1">
                <a:off x="4785027" y="1858401"/>
                <a:ext cx="97956" cy="934266"/>
              </a:xfrm>
              <a:prstGeom prst="leftBracket">
                <a:avLst/>
              </a:prstGeom>
              <a:ln w="63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sz="20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04892CA-C85F-7616-862C-8F9167F63838}"/>
                  </a:ext>
                </a:extLst>
              </p:cNvPr>
              <p:cNvSpPr txBox="1"/>
              <p:nvPr/>
            </p:nvSpPr>
            <p:spPr bwMode="auto">
              <a:xfrm>
                <a:off x="4873023" y="2186815"/>
                <a:ext cx="647528" cy="366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8202" tIns="44101" rIns="88202" bIns="44101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altLang="ko-KR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Equity 1,470</a:t>
                </a:r>
                <a:r>
                  <a:rPr lang="ko-KR" altLang="en-US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억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9C9A436-AAB2-D6B7-CFED-594FC2304DB9}"/>
                  </a:ext>
                </a:extLst>
              </p:cNvPr>
              <p:cNvSpPr txBox="1"/>
              <p:nvPr/>
            </p:nvSpPr>
            <p:spPr>
              <a:xfrm>
                <a:off x="3208952" y="3857771"/>
                <a:ext cx="198783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 재원 조달 </a:t>
                </a:r>
                <a:endParaRPr kumimoji="1" lang="en-US" altLang="ko-KR" sz="1050">
                  <a:solidFill>
                    <a:srgbClr val="002060"/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2A7E066D-1ACF-64A8-49B8-89A11C61E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9691" y="2495459"/>
                <a:ext cx="1008589" cy="290142"/>
              </a:xfrm>
              <a:prstGeom prst="rect">
                <a:avLst/>
              </a:prstGeom>
            </p:spPr>
          </p:pic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C397C43F-5325-D957-9E8E-5D15017D4E8A}"/>
                  </a:ext>
                </a:extLst>
              </p:cNvPr>
              <p:cNvSpPr/>
              <p:nvPr/>
            </p:nvSpPr>
            <p:spPr>
              <a:xfrm>
                <a:off x="2630083" y="3078020"/>
                <a:ext cx="1018800" cy="29719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금융비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750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  <a:endParaRPr lang="ko-KR" altLang="en-US" sz="9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</p:txBody>
          </p: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BE17C17-2046-E440-5FAC-004A0B2D4E96}"/>
                  </a:ext>
                </a:extLst>
              </p:cNvPr>
              <p:cNvSpPr/>
              <p:nvPr/>
            </p:nvSpPr>
            <p:spPr>
              <a:xfrm>
                <a:off x="2630083" y="1858400"/>
                <a:ext cx="1018800" cy="68760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토지비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2,149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033A9DB5-D4E0-CAD8-EB37-1EBB87445416}"/>
                  </a:ext>
                </a:extLst>
              </p:cNvPr>
              <p:cNvSpPr/>
              <p:nvPr/>
            </p:nvSpPr>
            <p:spPr>
              <a:xfrm>
                <a:off x="2630083" y="2574455"/>
                <a:ext cx="1018800" cy="4783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공사비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1,480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789D36AF-AC4C-80A5-41A4-CF6B3F480441}"/>
                  </a:ext>
                </a:extLst>
              </p:cNvPr>
              <p:cNvSpPr/>
              <p:nvPr/>
            </p:nvSpPr>
            <p:spPr>
              <a:xfrm>
                <a:off x="2630083" y="3401917"/>
                <a:ext cx="1018800" cy="4464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용역비 등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1,421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169E3D0-F440-13E9-FA3D-45DC071603A5}"/>
                  </a:ext>
                </a:extLst>
              </p:cNvPr>
              <p:cNvSpPr txBox="1"/>
              <p:nvPr/>
            </p:nvSpPr>
            <p:spPr>
              <a:xfrm>
                <a:off x="2710988" y="3873641"/>
                <a:ext cx="88836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사업비 사용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195F1-D311-3F3D-1A20-B797F87850BB}"/>
                  </a:ext>
                </a:extLst>
              </p:cNvPr>
              <p:cNvSpPr txBox="1"/>
              <p:nvPr/>
            </p:nvSpPr>
            <p:spPr bwMode="auto">
              <a:xfrm>
                <a:off x="2210184" y="2336920"/>
                <a:ext cx="1649098" cy="2154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7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defRPr>
                </a:lvl1pPr>
              </a:lstStyle>
              <a:p>
                <a:r>
                  <a:rPr lang="en-US" altLang="ko-KR" sz="800">
                    <a:sym typeface="Wingdings" pitchFamily="2" charset="2"/>
                  </a:rPr>
                  <a:t>* </a:t>
                </a:r>
                <a:r>
                  <a:rPr lang="ko-KR" altLang="en-US" sz="800">
                    <a:sym typeface="Wingdings" pitchFamily="2" charset="2"/>
                  </a:rPr>
                  <a:t>세 포함</a:t>
                </a:r>
                <a:endParaRPr lang="ko-KR" altLang="en-US" sz="800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68C00CE-5FE6-70D2-E4C0-9B9147B02372}"/>
              </a:ext>
            </a:extLst>
          </p:cNvPr>
          <p:cNvSpPr txBox="1"/>
          <p:nvPr/>
        </p:nvSpPr>
        <p:spPr>
          <a:xfrm>
            <a:off x="4074741" y="4311858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02A6B1E8-E5D2-210D-F962-96B6B8165EDF}"/>
              </a:ext>
            </a:extLst>
          </p:cNvPr>
          <p:cNvGrpSpPr/>
          <p:nvPr/>
        </p:nvGrpSpPr>
        <p:grpSpPr>
          <a:xfrm>
            <a:off x="591206" y="5370598"/>
            <a:ext cx="6016573" cy="3138393"/>
            <a:chOff x="591207" y="5599199"/>
            <a:chExt cx="5355512" cy="2790843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754BF0CF-7402-0CF8-23B2-FF850C090407}"/>
                </a:ext>
              </a:extLst>
            </p:cNvPr>
            <p:cNvSpPr/>
            <p:nvPr/>
          </p:nvSpPr>
          <p:spPr>
            <a:xfrm>
              <a:off x="626900" y="5599199"/>
              <a:ext cx="5263726" cy="2790843"/>
            </a:xfrm>
            <a:prstGeom prst="rect">
              <a:avLst/>
            </a:prstGeom>
            <a:solidFill>
              <a:srgbClr val="F2F2F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6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A8CCE0EA-A25B-156D-2E2B-64F752FF97F5}"/>
                </a:ext>
              </a:extLst>
            </p:cNvPr>
            <p:cNvSpPr/>
            <p:nvPr/>
          </p:nvSpPr>
          <p:spPr>
            <a:xfrm>
              <a:off x="986742" y="5832294"/>
              <a:ext cx="1434680" cy="506304"/>
            </a:xfrm>
            <a:prstGeom prst="roundRect">
              <a:avLst/>
            </a:prstGeom>
            <a:solidFill>
              <a:srgbClr val="C6D9F1"/>
            </a:solidFill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en-US" altLang="ko-KR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NH SPC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82C299-85F1-4F36-7C9C-8216746B3893}"/>
                </a:ext>
              </a:extLst>
            </p:cNvPr>
            <p:cNvSpPr txBox="1"/>
            <p:nvPr/>
          </p:nvSpPr>
          <p:spPr bwMode="auto">
            <a:xfrm>
              <a:off x="4632961" y="6685860"/>
              <a:ext cx="1313758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2</a:t>
              </a: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종 주주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잔여배당</a:t>
              </a: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70%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4F863D2-46FF-F565-15B1-44AD1103761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824073" y="6822223"/>
              <a:ext cx="1286169" cy="2318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27%</a:t>
              </a:r>
            </a:p>
          </p:txBody>
        </p:sp>
        <p:sp>
          <p:nvSpPr>
            <p:cNvPr id="60" name="사각형: 둥근 모서리 53">
              <a:extLst>
                <a:ext uri="{FF2B5EF4-FFF2-40B4-BE49-F238E27FC236}">
                  <a16:creationId xmlns:a16="http://schemas.microsoft.com/office/drawing/2014/main" id="{26301CA3-58D3-E3F6-A5E6-B7659FA04042}"/>
                </a:ext>
              </a:extLst>
            </p:cNvPr>
            <p:cNvSpPr>
              <a:spLocks/>
            </p:cNvSpPr>
            <p:nvPr/>
          </p:nvSpPr>
          <p:spPr>
            <a:xfrm>
              <a:off x="4020105" y="7709487"/>
              <a:ext cx="1375688" cy="494344"/>
            </a:xfrm>
            <a:prstGeom prst="roundRect">
              <a:avLst>
                <a:gd name="adj" fmla="val 7703"/>
              </a:avLst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</a:pPr>
              <a:endParaRPr lang="en-US" altLang="ko-KR" sz="1039" spc="-28">
                <a:ln w="3175">
                  <a:solidFill>
                    <a:schemeClr val="bg1">
                      <a:lumMod val="95000"/>
                      <a:alpha val="20000"/>
                    </a:schemeClr>
                  </a:solidFill>
                </a:ln>
                <a:solidFill>
                  <a:srgbClr val="0070C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98BECEA3-C3A8-E727-98D8-A7B2792537C9}"/>
                </a:ext>
              </a:extLst>
            </p:cNvPr>
            <p:cNvSpPr>
              <a:spLocks/>
            </p:cNvSpPr>
            <p:nvPr/>
          </p:nvSpPr>
          <p:spPr>
            <a:xfrm>
              <a:off x="4013617" y="5831140"/>
              <a:ext cx="1434680" cy="501804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논현 </a:t>
              </a:r>
              <a:r>
                <a:rPr kumimoji="1" lang="en-US" altLang="ko-KR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Fund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760" spc="-28" err="1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코람코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 제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165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호부동산투자회사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  <a:endParaRPr kumimoji="1" lang="en-US" altLang="ko-KR" sz="760">
                <a:solidFill>
                  <a:srgbClr val="00206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2" name="사각형: 둥근 모서리 47">
              <a:extLst>
                <a:ext uri="{FF2B5EF4-FFF2-40B4-BE49-F238E27FC236}">
                  <a16:creationId xmlns:a16="http://schemas.microsoft.com/office/drawing/2014/main" id="{FB83B480-DA18-DBAB-82EB-D4CC16E4DCB6}"/>
                </a:ext>
              </a:extLst>
            </p:cNvPr>
            <p:cNvSpPr>
              <a:spLocks/>
            </p:cNvSpPr>
            <p:nvPr/>
          </p:nvSpPr>
          <p:spPr>
            <a:xfrm>
              <a:off x="1001022" y="7711991"/>
              <a:ext cx="1434680" cy="49686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63938">
                <a:spcBef>
                  <a:spcPts val="567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ko-KR" altLang="en-US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투자자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0980C9E-8FEC-2B34-B37C-68B274A457E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91207" y="6685860"/>
              <a:ext cx="1127155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ABCP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이자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3%)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0B0145-7E8E-9096-37FD-9DD9D8C01C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596845" y="6793005"/>
              <a:ext cx="864096" cy="4679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1,000</a:t>
              </a: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억 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투자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E92B47E7-C61E-C50D-5CC9-32B99CBD4CAE}"/>
                </a:ext>
              </a:extLst>
            </p:cNvPr>
            <p:cNvSpPr>
              <a:spLocks/>
            </p:cNvSpPr>
            <p:nvPr/>
          </p:nvSpPr>
          <p:spPr>
            <a:xfrm>
              <a:off x="2478516" y="6176359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</a:t>
              </a:r>
              <a:r>
                <a:rPr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종 주주 </a:t>
              </a:r>
              <a:endParaRPr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  <a:p>
              <a:pPr algn="ctr" defTabSz="863938">
                <a:spcBef>
                  <a:spcPts val="300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(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배당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 5%/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년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30%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)</a:t>
              </a:r>
              <a:endParaRPr lang="ko-KR" altLang="en-US" sz="80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6D78D79-D26E-88A7-C651-F54DFD5EFA9B}"/>
                </a:ext>
              </a:extLst>
            </p:cNvPr>
            <p:cNvSpPr>
              <a:spLocks/>
            </p:cNvSpPr>
            <p:nvPr/>
          </p:nvSpPr>
          <p:spPr>
            <a:xfrm>
              <a:off x="2424141" y="5794663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1,000</a:t>
              </a:r>
              <a:r>
                <a:rPr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</a:p>
          </p:txBody>
        </p: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18ED1075-1CF5-3258-A2C2-D84EBDC1F9FC}"/>
                </a:ext>
              </a:extLst>
            </p:cNvPr>
            <p:cNvCxnSpPr>
              <a:cxnSpLocks/>
            </p:cNvCxnSpPr>
            <p:nvPr/>
          </p:nvCxnSpPr>
          <p:spPr>
            <a:xfrm>
              <a:off x="4695522" y="6346846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A9C7BB18-0F30-85F3-7F4E-B93951B583C8}"/>
                </a:ext>
              </a:extLst>
            </p:cNvPr>
            <p:cNvCxnSpPr>
              <a:cxnSpLocks/>
            </p:cNvCxnSpPr>
            <p:nvPr/>
          </p:nvCxnSpPr>
          <p:spPr>
            <a:xfrm>
              <a:off x="1652702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1B2854F3-0147-AC87-185D-8F01E8166C87}"/>
                </a:ext>
              </a:extLst>
            </p:cNvPr>
            <p:cNvCxnSpPr>
              <a:cxnSpLocks/>
            </p:cNvCxnSpPr>
            <p:nvPr/>
          </p:nvCxnSpPr>
          <p:spPr>
            <a:xfrm>
              <a:off x="2453349" y="606421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6677C6B-3430-B6EC-8B01-2E067760A610}"/>
                </a:ext>
              </a:extLst>
            </p:cNvPr>
            <p:cNvCxnSpPr>
              <a:cxnSpLocks/>
            </p:cNvCxnSpPr>
            <p:nvPr/>
          </p:nvCxnSpPr>
          <p:spPr>
            <a:xfrm>
              <a:off x="2459444" y="6349997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66EBEE6-DA6B-E5F4-4223-D3A1FC7B3E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708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AAD4BA44-A3DF-CB3D-7182-1D4719A23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3348" y="614325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9E01A786-E5C4-145A-CA76-3E608B33D5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2004" y="6423548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F231768-B337-AA00-4380-868082EB4C66}"/>
                </a:ext>
              </a:extLst>
            </p:cNvPr>
            <p:cNvSpPr txBox="1"/>
            <p:nvPr/>
          </p:nvSpPr>
          <p:spPr bwMode="auto">
            <a:xfrm>
              <a:off x="2172985" y="7095583"/>
              <a:ext cx="1313758" cy="27606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정산 계약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4ED68B-FF46-26A4-9DFD-BEA0AEB2F165}"/>
                </a:ext>
              </a:extLst>
            </p:cNvPr>
            <p:cNvSpPr txBox="1"/>
            <p:nvPr/>
          </p:nvSpPr>
          <p:spPr bwMode="auto">
            <a:xfrm>
              <a:off x="2404969" y="5736988"/>
              <a:ext cx="1649098" cy="2000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*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이자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·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수수료 제외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970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  <a:endParaRPr lang="ko-KR" altLang="en-US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8D60F2B6-6D20-013D-86F9-5A4FE108E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1177" y="7806234"/>
              <a:ext cx="1008589" cy="290142"/>
            </a:xfrm>
            <a:prstGeom prst="rect">
              <a:avLst/>
            </a:prstGeom>
          </p:spPr>
        </p:pic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397C9EC8-1D6D-C5A0-A8CF-951E55B86237}"/>
              </a:ext>
            </a:extLst>
          </p:cNvPr>
          <p:cNvSpPr txBox="1"/>
          <p:nvPr/>
        </p:nvSpPr>
        <p:spPr>
          <a:xfrm>
            <a:off x="79979" y="8555411"/>
            <a:ext cx="652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        *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정산계약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투자자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→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총액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30% 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中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10%)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/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당사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 →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처분수익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97%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</a:t>
            </a:r>
            <a:endParaRPr lang="en-US" altLang="ko-KR" sz="10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5328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A83A-E20F-1E3D-AECD-1378C464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B8DFE5-05CB-876D-DD42-AA7DAC9F1333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FE79B4C-948D-4AFD-061D-3EA7003EDE83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7492F-8D30-D4B0-B128-0B9FA9210ED6}"/>
              </a:ext>
            </a:extLst>
          </p:cNvPr>
          <p:cNvSpPr txBox="1"/>
          <p:nvPr/>
        </p:nvSpPr>
        <p:spPr bwMode="auto">
          <a:xfrm>
            <a:off x="5308600" y="658488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7BBD1CF-1606-4EAA-D195-1BD0FEDAB2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32995"/>
              </p:ext>
            </p:extLst>
          </p:nvPr>
        </p:nvGraphicFramePr>
        <p:xfrm>
          <a:off x="260351" y="908630"/>
          <a:ext cx="6445247" cy="3805552"/>
        </p:xfrm>
        <a:graphic>
          <a:graphicData uri="http://schemas.openxmlformats.org/drawingml/2006/table">
            <a:tbl>
              <a:tblPr/>
              <a:tblGrid>
                <a:gridCol w="599248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812313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1681536855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444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’25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99844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99844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76611"/>
                  </a:ext>
                </a:extLst>
              </a:tr>
              <a:tr h="26283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177934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예비비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513219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103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99844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DFE2B52-871F-8483-830F-763CD12D3AB1}"/>
              </a:ext>
            </a:extLst>
          </p:cNvPr>
          <p:cNvSpPr/>
          <p:nvPr/>
        </p:nvSpPr>
        <p:spPr>
          <a:xfrm>
            <a:off x="0" y="9072425"/>
            <a:ext cx="7377150" cy="276999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1200" b="1">
                <a:solidFill>
                  <a:srgbClr val="FF000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* 1,998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원금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1,470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차감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매각배당 재원임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. 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512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</a:t>
            </a:r>
            <a:r>
              <a:rPr lang="en-US" altLang="ko-KR" sz="10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(97%)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당사 건물 매각이익</a:t>
            </a:r>
            <a:endParaRPr lang="en-US" altLang="ko-KR" sz="1200" b="1"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DF9A68-F524-E0EA-EA11-3D0E47E1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03507"/>
              </p:ext>
            </p:extLst>
          </p:nvPr>
        </p:nvGraphicFramePr>
        <p:xfrm>
          <a:off x="260351" y="5591073"/>
          <a:ext cx="6445251" cy="3385222"/>
        </p:xfrm>
        <a:graphic>
          <a:graphicData uri="http://schemas.openxmlformats.org/drawingml/2006/table">
            <a:tbl>
              <a:tblPr/>
              <a:tblGrid>
                <a:gridCol w="821460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115555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74517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39285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90376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3687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6,717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39285">
                <a:tc rowSpan="6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Out</a:t>
                      </a:r>
                      <a:r>
                        <a:rPr lang="ko-KR" altLang="en-US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900" b="1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운영비용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8,642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76404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1558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잔액누계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7008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B36B08A-D83F-10F8-357D-A1725C2F7FFE}"/>
              </a:ext>
            </a:extLst>
          </p:cNvPr>
          <p:cNvSpPr txBox="1"/>
          <p:nvPr/>
        </p:nvSpPr>
        <p:spPr bwMode="auto">
          <a:xfrm>
            <a:off x="4556421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0D472-8206-613C-55F8-78C4338B15C9}"/>
              </a:ext>
            </a:extLst>
          </p:cNvPr>
          <p:cNvSpPr txBox="1"/>
          <p:nvPr/>
        </p:nvSpPr>
        <p:spPr bwMode="auto">
          <a:xfrm>
            <a:off x="1818525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상환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0789D-6285-F961-9EBC-C7ECB8142CD9}"/>
              </a:ext>
            </a:extLst>
          </p:cNvPr>
          <p:cNvSpPr txBox="1"/>
          <p:nvPr/>
        </p:nvSpPr>
        <p:spPr bwMode="auto">
          <a:xfrm>
            <a:off x="5308600" y="535075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1575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센텀 PJT 개발 계획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8635C5C-1521-57E5-68FF-AFF37513D35D}"/>
              </a:ext>
            </a:extLst>
          </p:cNvPr>
          <p:cNvGraphicFramePr>
            <a:graphicFrameLocks noGrp="1"/>
          </p:cNvGraphicFramePr>
          <p:nvPr/>
        </p:nvGraphicFramePr>
        <p:xfrm>
          <a:off x="260349" y="1504950"/>
          <a:ext cx="4176215" cy="1647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43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3185548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부산광역시 해운대구 우동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1492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4,995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(16,515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(269,970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1,800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면적 변동 可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49% / 1,080%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6207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1652" marR="31652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47098" marR="59815" marT="35324" marB="3532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도심엔터테이먼트지구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(UEC)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주택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불허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3292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 百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UEC,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문화시설 외 불허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퀀텀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랜드마크 타워</a:t>
                      </a:r>
                      <a:r>
                        <a:rPr lang="ko-KR" altLang="en-US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국제업무지구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IBC,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可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5EF074-F4E7-1820-21CD-1E6E9F54C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532640"/>
              </p:ext>
            </p:extLst>
          </p:nvPr>
        </p:nvGraphicFramePr>
        <p:xfrm>
          <a:off x="260350" y="6337391"/>
          <a:ext cx="6444800" cy="2598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7927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589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18750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69917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회원권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실당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ⅹ 12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ADR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OCC 75%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ADR 60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OCC 75%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23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공실률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(49F)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보증금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월이용료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770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25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620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</a:p>
                    <a:p>
                      <a:pPr algn="l" latinLnBrk="1">
                        <a:spcBef>
                          <a:spcPts val="200"/>
                        </a:spcBef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                                     * 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240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25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60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포디움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천평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위탁운영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리테일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메디컬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등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C4F84DC-E01B-7C54-72C5-F7C6C3A3AF25}"/>
              </a:ext>
            </a:extLst>
          </p:cNvPr>
          <p:cNvGrpSpPr/>
          <p:nvPr/>
        </p:nvGrpSpPr>
        <p:grpSpPr>
          <a:xfrm>
            <a:off x="3416583" y="3504760"/>
            <a:ext cx="2914201" cy="2270174"/>
            <a:chOff x="3513322" y="3648759"/>
            <a:chExt cx="3484186" cy="24814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28A2C3-3F41-7394-DDE2-97224D40D494}"/>
                </a:ext>
              </a:extLst>
            </p:cNvPr>
            <p:cNvGrpSpPr/>
            <p:nvPr/>
          </p:nvGrpSpPr>
          <p:grpSpPr>
            <a:xfrm>
              <a:off x="3513322" y="3648759"/>
              <a:ext cx="3484186" cy="2481433"/>
              <a:chOff x="187781" y="2380962"/>
              <a:chExt cx="5231005" cy="379419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E3257D-BBBF-DAF9-47F6-9226DEDCC730}"/>
                  </a:ext>
                </a:extLst>
              </p:cNvPr>
              <p:cNvSpPr txBox="1"/>
              <p:nvPr/>
            </p:nvSpPr>
            <p:spPr>
              <a:xfrm>
                <a:off x="1448249" y="2380962"/>
                <a:ext cx="1804069" cy="48618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 spc="-19">
                    <a:ln w="3175">
                      <a:solidFill>
                        <a:schemeClr val="bg1">
                          <a:alpha val="20000"/>
                        </a:schemeClr>
                      </a:solidFill>
                    </a:ln>
                    <a:solidFill>
                      <a:srgbClr val="C00000"/>
                    </a:solidFill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</a:defRPr>
                </a:lvl1pPr>
              </a:lstStyle>
              <a:p>
                <a:r>
                  <a:rPr lang="ko-KR" altLang="en-US" sz="663"/>
                  <a:t>타워</a:t>
                </a:r>
                <a:r>
                  <a:rPr lang="en-US" altLang="ko-KR" sz="663"/>
                  <a:t>1 </a:t>
                </a:r>
                <a:r>
                  <a:rPr lang="en-US" altLang="ko-KR" sz="562"/>
                  <a:t>(64F)</a:t>
                </a:r>
                <a:endParaRPr lang="en-US" altLang="ko-KR" sz="663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ED1852-3640-37E8-4D7D-B1DD7A563DBC}"/>
                  </a:ext>
                </a:extLst>
              </p:cNvPr>
              <p:cNvSpPr txBox="1"/>
              <p:nvPr/>
            </p:nvSpPr>
            <p:spPr>
              <a:xfrm>
                <a:off x="3662492" y="3942711"/>
                <a:ext cx="1756294" cy="1017947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latin typeface="신세계 반부리 Light(TTF)" panose="02000600000000020003" pitchFamily="2" charset="-127"/>
                    <a:ea typeface="신세계 반부리 Light(TTF)" panose="02000600000000020003" pitchFamily="2" charset="-127"/>
                  </a:defRPr>
                </a:lvl1pPr>
              </a:lstStyle>
              <a:p>
                <a:pPr algn="l"/>
                <a:r>
                  <a:rPr lang="en-US" altLang="ko-KR" sz="531" b="0">
                    <a:sym typeface="Wingdings"/>
                  </a:rPr>
                  <a:t>[</a:t>
                </a:r>
                <a:r>
                  <a:rPr lang="ko-KR" altLang="en-US" sz="531" b="0">
                    <a:sym typeface="Wingdings"/>
                  </a:rPr>
                  <a:t>시니어</a:t>
                </a:r>
                <a:r>
                  <a:rPr lang="en-US" altLang="ko-KR" sz="531" b="0">
                    <a:sym typeface="Wingdings"/>
                  </a:rPr>
                  <a:t> </a:t>
                </a:r>
                <a:r>
                  <a:rPr lang="ko-KR" altLang="en-US" sz="531" b="0" err="1">
                    <a:sym typeface="Wingdings"/>
                  </a:rPr>
                  <a:t>레지던스</a:t>
                </a:r>
                <a:r>
                  <a:rPr lang="en-US" altLang="ko-KR" sz="531" b="0">
                    <a:sym typeface="Wingdings"/>
                  </a:rPr>
                  <a:t>]</a:t>
                </a:r>
              </a:p>
              <a:p>
                <a:pPr algn="l"/>
                <a:r>
                  <a: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300</a:t>
                </a:r>
                <a:r>
                  <a:rPr lang="ko-KR" altLang="en-US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실</a:t>
                </a:r>
                <a:endParaRPr lang="en-US" altLang="ko-KR" sz="596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  <a:p>
                <a:pPr algn="l"/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(2.3</a:t>
                </a:r>
                <a:r>
                  <a:rPr lang="ko-KR" altLang="en-US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만평</a:t>
                </a:r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)</a:t>
                </a:r>
                <a:endParaRPr lang="en-US" altLang="ko-KR" sz="596" b="0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8BEDCCE-F887-3334-C142-B8600815ED96}"/>
                  </a:ext>
                </a:extLst>
              </p:cNvPr>
              <p:cNvGrpSpPr/>
              <p:nvPr/>
            </p:nvGrpSpPr>
            <p:grpSpPr>
              <a:xfrm>
                <a:off x="187781" y="2452911"/>
                <a:ext cx="4477127" cy="3722244"/>
                <a:chOff x="187781" y="2452911"/>
                <a:chExt cx="4477127" cy="3722244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E0ED770-CE47-7E89-A371-55E7CE851070}"/>
                    </a:ext>
                  </a:extLst>
                </p:cNvPr>
                <p:cNvSpPr txBox="1"/>
                <p:nvPr/>
              </p:nvSpPr>
              <p:spPr>
                <a:xfrm>
                  <a:off x="216439" y="2452911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 </a:t>
                  </a:r>
                  <a:r>
                    <a:rPr lang="ko-KR" altLang="en-US" sz="531" b="0" err="1">
                      <a:sym typeface="Wingdings"/>
                    </a:rPr>
                    <a:t>레지던스</a:t>
                  </a:r>
                  <a:r>
                    <a:rPr lang="ko-KR" altLang="en-US" sz="531" b="0">
                      <a:sym typeface="Wingdings"/>
                    </a:rPr>
                    <a:t> 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92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(1.3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61C283D9-83D7-D948-A395-E0BBBD1C8C3D}"/>
                    </a:ext>
                  </a:extLst>
                </p:cNvPr>
                <p:cNvSpPr/>
                <p:nvPr/>
              </p:nvSpPr>
              <p:spPr>
                <a:xfrm>
                  <a:off x="2938202" y="3815332"/>
                  <a:ext cx="637547" cy="1576134"/>
                </a:xfrm>
                <a:prstGeom prst="rect">
                  <a:avLst/>
                </a:prstGeom>
                <a:solidFill>
                  <a:srgbClr val="FFFF99">
                    <a:alpha val="60000"/>
                  </a:srgbClr>
                </a:solidFill>
                <a:ln w="63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64D50B5D-367E-D6C0-31DA-4C4D185DE09F}"/>
                    </a:ext>
                  </a:extLst>
                </p:cNvPr>
                <p:cNvGrpSpPr/>
                <p:nvPr/>
              </p:nvGrpSpPr>
              <p:grpSpPr>
                <a:xfrm>
                  <a:off x="1771681" y="2843857"/>
                  <a:ext cx="771251" cy="2547615"/>
                  <a:chOff x="1739482" y="3640675"/>
                  <a:chExt cx="743231" cy="1420954"/>
                </a:xfrm>
              </p:grpSpPr>
              <p:sp>
                <p:nvSpPr>
                  <p:cNvPr id="45" name="직사각형 44">
                    <a:extLst>
                      <a:ext uri="{FF2B5EF4-FFF2-40B4-BE49-F238E27FC236}">
                        <a16:creationId xmlns:a16="http://schemas.microsoft.com/office/drawing/2014/main" id="{D35B39CD-8C28-8D5C-7024-693EEBAF4E53}"/>
                      </a:ext>
                    </a:extLst>
                  </p:cNvPr>
                  <p:cNvSpPr/>
                  <p:nvPr/>
                </p:nvSpPr>
                <p:spPr>
                  <a:xfrm>
                    <a:off x="1739482" y="4654974"/>
                    <a:ext cx="743231" cy="406655"/>
                  </a:xfrm>
                  <a:prstGeom prst="rect">
                    <a:avLst/>
                  </a:prstGeom>
                  <a:solidFill>
                    <a:srgbClr val="00B0F0">
                      <a:alpha val="10000"/>
                    </a:srgbClr>
                  </a:solidFill>
                  <a:ln w="635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  <p:sp>
                <p:nvSpPr>
                  <p:cNvPr id="46" name="직사각형 45">
                    <a:extLst>
                      <a:ext uri="{FF2B5EF4-FFF2-40B4-BE49-F238E27FC236}">
                        <a16:creationId xmlns:a16="http://schemas.microsoft.com/office/drawing/2014/main" id="{99AA3D02-3EAB-C5E3-0371-C3E5B382E541}"/>
                      </a:ext>
                    </a:extLst>
                  </p:cNvPr>
                  <p:cNvSpPr/>
                  <p:nvPr/>
                </p:nvSpPr>
                <p:spPr>
                  <a:xfrm>
                    <a:off x="1977482" y="3640675"/>
                    <a:ext cx="504671" cy="471838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6350"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C1E78D1A-8CF9-F60D-7C5F-F0D2141E9447}"/>
                      </a:ext>
                    </a:extLst>
                  </p:cNvPr>
                  <p:cNvSpPr/>
                  <p:nvPr/>
                </p:nvSpPr>
                <p:spPr>
                  <a:xfrm>
                    <a:off x="1977482" y="4113254"/>
                    <a:ext cx="504671" cy="541721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  <a:alpha val="50000"/>
                    </a:schemeClr>
                  </a:solidFill>
                  <a:ln w="63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</p:grp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24B52565-D888-5126-E92C-5855E5E55BC1}"/>
                    </a:ext>
                  </a:extLst>
                </p:cNvPr>
                <p:cNvGrpSpPr/>
                <p:nvPr/>
              </p:nvGrpSpPr>
              <p:grpSpPr>
                <a:xfrm>
                  <a:off x="695326" y="4917140"/>
                  <a:ext cx="3969582" cy="621781"/>
                  <a:chOff x="10185400" y="5110396"/>
                  <a:chExt cx="2381757" cy="621781"/>
                </a:xfrm>
              </p:grpSpPr>
              <p:cxnSp>
                <p:nvCxnSpPr>
                  <p:cNvPr id="43" name="직선 연결선 42">
                    <a:extLst>
                      <a:ext uri="{FF2B5EF4-FFF2-40B4-BE49-F238E27FC236}">
                        <a16:creationId xmlns:a16="http://schemas.microsoft.com/office/drawing/2014/main" id="{70C48F13-E6D5-9767-EA15-DDC8389C7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185400" y="5110396"/>
                    <a:ext cx="2381757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직사각형 43">
                    <a:extLst>
                      <a:ext uri="{FF2B5EF4-FFF2-40B4-BE49-F238E27FC236}">
                        <a16:creationId xmlns:a16="http://schemas.microsoft.com/office/drawing/2014/main" id="{1CE3C9D8-BE45-F817-622F-D45305B55574}"/>
                      </a:ext>
                    </a:extLst>
                  </p:cNvPr>
                  <p:cNvSpPr/>
                  <p:nvPr/>
                </p:nvSpPr>
                <p:spPr>
                  <a:xfrm>
                    <a:off x="10185400" y="5151601"/>
                    <a:ext cx="2381757" cy="580576"/>
                  </a:xfrm>
                  <a:prstGeom prst="rect">
                    <a:avLst/>
                  </a:prstGeom>
                  <a:pattFill prst="ltDnDiag">
                    <a:fgClr>
                      <a:srgbClr val="A6A6A6"/>
                    </a:fgClr>
                    <a:bgClr>
                      <a:schemeClr val="bg1"/>
                    </a:bgClr>
                  </a:patt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EB0A99CA-FFBA-E032-23A8-C50E06117E71}"/>
                    </a:ext>
                  </a:extLst>
                </p:cNvPr>
                <p:cNvSpPr/>
                <p:nvPr/>
              </p:nvSpPr>
              <p:spPr>
                <a:xfrm>
                  <a:off x="1727582" y="5809303"/>
                  <a:ext cx="1820638" cy="32275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0FBE497-50C8-028F-A706-921ACABB5C6F}"/>
                    </a:ext>
                  </a:extLst>
                </p:cNvPr>
                <p:cNvSpPr txBox="1"/>
                <p:nvPr/>
              </p:nvSpPr>
              <p:spPr>
                <a:xfrm>
                  <a:off x="1888320" y="5778395"/>
                  <a:ext cx="1524304" cy="396760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/>
                <a:p>
                  <a:pPr algn="ctr"/>
                  <a:r>
                    <a:rPr lang="en-US" altLang="ko-KR" sz="464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ea typeface="신세계 반부리 Light(TTF)" panose="02000600000000020003" pitchFamily="2" charset="-127"/>
                    </a:rPr>
                    <a:t>PARKING(B2~B7F)</a:t>
                  </a:r>
                  <a:endParaRPr lang="ko-KR" altLang="en-US" sz="464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ea typeface="신세계 반부리 Light(TTF)" panose="02000600000000020003" pitchFamily="2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B318E9A-1150-C3A9-7E09-84564A912B9D}"/>
                    </a:ext>
                  </a:extLst>
                </p:cNvPr>
                <p:cNvSpPr txBox="1"/>
                <p:nvPr/>
              </p:nvSpPr>
              <p:spPr>
                <a:xfrm>
                  <a:off x="2679781" y="3348368"/>
                  <a:ext cx="1439907" cy="486182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 spc="-19">
                      <a:ln w="3175">
                        <a:solidFill>
                          <a:schemeClr val="bg1">
                            <a:alpha val="20000"/>
                          </a:schemeClr>
                        </a:solidFill>
                      </a:ln>
                      <a:solidFill>
                        <a:srgbClr val="C00000"/>
                      </a:solidFill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</a:defRPr>
                  </a:lvl1pPr>
                </a:lstStyle>
                <a:p>
                  <a:r>
                    <a:rPr lang="ko-KR" altLang="en-US" sz="663"/>
                    <a:t>타워</a:t>
                  </a:r>
                  <a:r>
                    <a:rPr lang="en-US" altLang="ko-KR" sz="663"/>
                    <a:t>2 </a:t>
                  </a:r>
                  <a:r>
                    <a:rPr lang="en-US" altLang="ko-KR" sz="562"/>
                    <a:t>(49F)</a:t>
                  </a:r>
                  <a:endParaRPr lang="en-US" altLang="ko-KR" sz="663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947969C-EE5F-EB3F-6C4D-B8D917020CDF}"/>
                    </a:ext>
                  </a:extLst>
                </p:cNvPr>
                <p:cNvSpPr txBox="1"/>
                <p:nvPr/>
              </p:nvSpPr>
              <p:spPr>
                <a:xfrm>
                  <a:off x="187781" y="3463416"/>
                  <a:ext cx="1545850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호텔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300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(2.1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28141A2-C0C2-44FF-19D9-119C5116A38B}"/>
                    </a:ext>
                  </a:extLst>
                </p:cNvPr>
                <p:cNvSpPr txBox="1"/>
                <p:nvPr/>
              </p:nvSpPr>
              <p:spPr>
                <a:xfrm>
                  <a:off x="217664" y="4575822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오피스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1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(1.4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AF00CC0-CD42-1F9C-D138-E95FE73FEB00}"/>
                    </a:ext>
                  </a:extLst>
                </p:cNvPr>
                <p:cNvGrpSpPr/>
                <p:nvPr/>
              </p:nvGrpSpPr>
              <p:grpSpPr>
                <a:xfrm>
                  <a:off x="1646254" y="3091798"/>
                  <a:ext cx="427150" cy="1906442"/>
                  <a:chOff x="1598629" y="3091798"/>
                  <a:chExt cx="373046" cy="1906442"/>
                </a:xfrm>
              </p:grpSpPr>
              <p:sp>
                <p:nvSpPr>
                  <p:cNvPr id="40" name="자유형 65">
                    <a:extLst>
                      <a:ext uri="{FF2B5EF4-FFF2-40B4-BE49-F238E27FC236}">
                        <a16:creationId xmlns:a16="http://schemas.microsoft.com/office/drawing/2014/main" id="{FC62F086-2DCC-28FF-4235-344A287360D9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3091798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1" name="자유형 106">
                    <a:extLst>
                      <a:ext uri="{FF2B5EF4-FFF2-40B4-BE49-F238E27FC236}">
                        <a16:creationId xmlns:a16="http://schemas.microsoft.com/office/drawing/2014/main" id="{CC950563-A407-9E6C-E3C0-FA29567419D3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019566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2" name="자유형 111">
                    <a:extLst>
                      <a:ext uri="{FF2B5EF4-FFF2-40B4-BE49-F238E27FC236}">
                        <a16:creationId xmlns:a16="http://schemas.microsoft.com/office/drawing/2014/main" id="{62290B61-F406-C48C-63F8-619AB4C3071A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952521"/>
                    <a:ext cx="373046" cy="45719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</p:grp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74FE294-BDEC-E13D-FECC-AF081C0EBF8A}"/>
                    </a:ext>
                  </a:extLst>
                </p:cNvPr>
                <p:cNvSpPr txBox="1"/>
                <p:nvPr/>
              </p:nvSpPr>
              <p:spPr>
                <a:xfrm>
                  <a:off x="1771681" y="5390656"/>
                  <a:ext cx="1803060" cy="396059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0614" rIns="0" bIns="0" rtlCol="0" anchor="ctr"/>
                <a:lstStyle>
                  <a:defPPr>
                    <a:defRPr lang="en-US"/>
                  </a:defPPr>
                  <a:lvl1pPr algn="ctr">
                    <a:lnSpc>
                      <a:spcPct val="110000"/>
                    </a:lnSpc>
                    <a:defRPr sz="913" b="1" spc="-30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ko-KR" altLang="en-US" sz="596">
                      <a:sym typeface="Wingdings"/>
                    </a:rPr>
                    <a:t>부대시설</a:t>
                  </a:r>
                  <a:endParaRPr lang="en-US" altLang="ko-KR" sz="596">
                    <a:sym typeface="Wingdings"/>
                  </a:endParaRPr>
                </a:p>
              </p:txBody>
            </p:sp>
            <p:sp>
              <p:nvSpPr>
                <p:cNvPr id="26" name="자유형 114">
                  <a:extLst>
                    <a:ext uri="{FF2B5EF4-FFF2-40B4-BE49-F238E27FC236}">
                      <a16:creationId xmlns:a16="http://schemas.microsoft.com/office/drawing/2014/main" id="{D7A43CCA-DF8D-3FFF-0940-A1783BB5A6FE}"/>
                    </a:ext>
                  </a:extLst>
                </p:cNvPr>
                <p:cNvSpPr/>
                <p:nvPr/>
              </p:nvSpPr>
              <p:spPr>
                <a:xfrm rot="10800000" flipV="1">
                  <a:off x="3302033" y="4339792"/>
                  <a:ext cx="429179" cy="84403"/>
                </a:xfrm>
                <a:custGeom>
                  <a:avLst/>
                  <a:gdLst>
                    <a:gd name="connsiteX0" fmla="*/ 571500 w 571500"/>
                    <a:gd name="connsiteY0" fmla="*/ 0 h 0"/>
                    <a:gd name="connsiteX1" fmla="*/ 0 w 571500"/>
                    <a:gd name="connsiteY1" fmla="*/ 0 h 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71500">
                      <a:moveTo>
                        <a:pt x="5715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chemeClr val="bg1">
                      <a:lumMod val="65000"/>
                    </a:schemeClr>
                  </a:solidFill>
                  <a:headEnd type="oval" w="sm" len="sm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DB7297DF-6B23-1550-59AB-A2E1A8CC1229}"/>
                    </a:ext>
                  </a:extLst>
                </p:cNvPr>
                <p:cNvGrpSpPr/>
                <p:nvPr/>
              </p:nvGrpSpPr>
              <p:grpSpPr>
                <a:xfrm>
                  <a:off x="2599517" y="5199715"/>
                  <a:ext cx="208107" cy="196846"/>
                  <a:chOff x="3785363" y="5173757"/>
                  <a:chExt cx="451478" cy="426943"/>
                </a:xfrm>
              </p:grpSpPr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0DF2C377-5344-26B4-AFD0-D841230996A1}"/>
                      </a:ext>
                    </a:extLst>
                  </p:cNvPr>
                  <p:cNvGrpSpPr/>
                  <p:nvPr/>
                </p:nvGrpSpPr>
                <p:grpSpPr>
                  <a:xfrm>
                    <a:off x="3785363" y="5210286"/>
                    <a:ext cx="198395" cy="390414"/>
                    <a:chOff x="3785363" y="5210286"/>
                    <a:chExt cx="198395" cy="390414"/>
                  </a:xfrm>
                </p:grpSpPr>
                <p:sp>
                  <p:nvSpPr>
                    <p:cNvPr id="37" name="타원 36">
                      <a:extLst>
                        <a:ext uri="{FF2B5EF4-FFF2-40B4-BE49-F238E27FC236}">
                          <a16:creationId xmlns:a16="http://schemas.microsoft.com/office/drawing/2014/main" id="{EE2B0ED9-2A33-F939-2CB6-00C884427F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8" name="타원 37">
                      <a:extLst>
                        <a:ext uri="{FF2B5EF4-FFF2-40B4-BE49-F238E27FC236}">
                          <a16:creationId xmlns:a16="http://schemas.microsoft.com/office/drawing/2014/main" id="{3F99A2CF-DDD4-C8C3-E377-2E4B137F13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9" name="자유형 179">
                      <a:extLst>
                        <a:ext uri="{FF2B5EF4-FFF2-40B4-BE49-F238E27FC236}">
                          <a16:creationId xmlns:a16="http://schemas.microsoft.com/office/drawing/2014/main" id="{4D1DAB03-2A72-4E03-974E-CAF8B0BA81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29" name="그룹 28">
                    <a:extLst>
                      <a:ext uri="{FF2B5EF4-FFF2-40B4-BE49-F238E27FC236}">
                        <a16:creationId xmlns:a16="http://schemas.microsoft.com/office/drawing/2014/main" id="{A7F7620A-4159-B94D-A17C-4153F96D156F}"/>
                      </a:ext>
                    </a:extLst>
                  </p:cNvPr>
                  <p:cNvGrpSpPr/>
                  <p:nvPr/>
                </p:nvGrpSpPr>
                <p:grpSpPr>
                  <a:xfrm>
                    <a:off x="3931147" y="5303201"/>
                    <a:ext cx="147782" cy="290813"/>
                    <a:chOff x="3785363" y="5210286"/>
                    <a:chExt cx="198395" cy="390414"/>
                  </a:xfrm>
                </p:grpSpPr>
                <p:sp>
                  <p:nvSpPr>
                    <p:cNvPr id="34" name="타원 33">
                      <a:extLst>
                        <a:ext uri="{FF2B5EF4-FFF2-40B4-BE49-F238E27FC236}">
                          <a16:creationId xmlns:a16="http://schemas.microsoft.com/office/drawing/2014/main" id="{5123FA7C-8FC1-4766-C180-51EDC71DE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5" name="타원 34">
                      <a:extLst>
                        <a:ext uri="{FF2B5EF4-FFF2-40B4-BE49-F238E27FC236}">
                          <a16:creationId xmlns:a16="http://schemas.microsoft.com/office/drawing/2014/main" id="{4E78FAF9-B24A-C936-B539-8153088632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6" name="자유형 176">
                      <a:extLst>
                        <a:ext uri="{FF2B5EF4-FFF2-40B4-BE49-F238E27FC236}">
                          <a16:creationId xmlns:a16="http://schemas.microsoft.com/office/drawing/2014/main" id="{4D24F800-E8A8-5B81-ABAB-E963F1B6C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30" name="그룹 29">
                    <a:extLst>
                      <a:ext uri="{FF2B5EF4-FFF2-40B4-BE49-F238E27FC236}">
                        <a16:creationId xmlns:a16="http://schemas.microsoft.com/office/drawing/2014/main" id="{C9F64C85-A06A-BD49-8B3F-ACCC53BE2DBE}"/>
                      </a:ext>
                    </a:extLst>
                  </p:cNvPr>
                  <p:cNvGrpSpPr/>
                  <p:nvPr/>
                </p:nvGrpSpPr>
                <p:grpSpPr>
                  <a:xfrm>
                    <a:off x="4020046" y="5173757"/>
                    <a:ext cx="216795" cy="426622"/>
                    <a:chOff x="3785363" y="5210286"/>
                    <a:chExt cx="198395" cy="390414"/>
                  </a:xfrm>
                </p:grpSpPr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620215-A91D-9DB3-4E78-0593F4735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chemeClr val="accent6">
                        <a:lumMod val="40000"/>
                        <a:lumOff val="60000"/>
                        <a:alpha val="59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2" name="타원 31">
                      <a:extLst>
                        <a:ext uri="{FF2B5EF4-FFF2-40B4-BE49-F238E27FC236}">
                          <a16:creationId xmlns:a16="http://schemas.microsoft.com/office/drawing/2014/main" id="{2FB26529-890F-A19D-C260-07A5AC38B7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3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3" name="자유형 173">
                      <a:extLst>
                        <a:ext uri="{FF2B5EF4-FFF2-40B4-BE49-F238E27FC236}">
                          <a16:creationId xmlns:a16="http://schemas.microsoft.com/office/drawing/2014/main" id="{B4EBCE56-F84B-E82A-4FB7-E28077493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</p:grpSp>
          </p:grp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4640A1-47FD-D357-8954-1997ED46CF7B}"/>
                </a:ext>
              </a:extLst>
            </p:cNvPr>
            <p:cNvSpPr txBox="1"/>
            <p:nvPr/>
          </p:nvSpPr>
          <p:spPr>
            <a:xfrm>
              <a:off x="4551776" y="5613452"/>
              <a:ext cx="1201626" cy="2638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63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0614" rIns="0" bIns="0" rtlCol="0" anchor="ctr"/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913" b="1" spc="-30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latin typeface="신세계 반부리 Light(TTF)" panose="02000600000000020003" pitchFamily="2" charset="-127"/>
                  <a:ea typeface="신세계 반부리 Light(TTF)" panose="02000600000000020003" pitchFamily="2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ko-KR" altLang="en-US" sz="663" spc="-12" err="1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포디움</a:t>
              </a:r>
              <a:r>
                <a:rPr lang="ko-KR" altLang="en-US" sz="663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 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(</a:t>
              </a:r>
              <a:r>
                <a:rPr lang="ko-KR" altLang="en-US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부대시설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)</a:t>
              </a:r>
              <a:endParaRPr lang="en-US" altLang="ko-KR" sz="562" b="0">
                <a:solidFill>
                  <a:schemeClr val="tx1"/>
                </a:solidFill>
                <a:sym typeface="Wingdings"/>
              </a:endParaRPr>
            </a:p>
          </p:txBody>
        </p:sp>
      </p:grpSp>
      <p:sp>
        <p:nvSpPr>
          <p:cNvPr id="101" name="H101"/>
          <p:cNvSpPr/>
          <p:nvPr/>
        </p:nvSpPr>
        <p:spPr>
          <a:xfrm>
            <a:off x="177800" y="105283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 개요</a:t>
            </a:r>
          </a:p>
        </p:txBody>
      </p:sp>
      <p:sp>
        <p:nvSpPr>
          <p:cNvPr id="106" name="H106"/>
          <p:cNvSpPr/>
          <p:nvPr/>
        </p:nvSpPr>
        <p:spPr>
          <a:xfrm>
            <a:off x="177800" y="3312160"/>
            <a:ext cx="6502400" cy="218521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(’26.8)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운용사 선정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(’26.10)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인허가 착수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SPC 설립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토지 계약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건축허가 완료, 착공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준공</a:t>
            </a:r>
          </a:p>
        </p:txBody>
      </p:sp>
      <p:sp>
        <p:nvSpPr>
          <p:cNvPr id="102" name="H102"/>
          <p:cNvSpPr/>
          <p:nvPr/>
        </p:nvSpPr>
        <p:spPr>
          <a:xfrm>
            <a:off x="177800" y="5969093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사업성 전제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38832-D966-5CBD-8E4B-243A3A1532A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2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433D50-791D-441D-4FDF-FC750DF0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6"/>
          <a:stretch>
            <a:fillRect/>
          </a:stretch>
        </p:blipFill>
        <p:spPr>
          <a:xfrm>
            <a:off x="4467066" y="1422809"/>
            <a:ext cx="2238534" cy="17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7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"/>
          <p:cNvSpPr/>
          <p:nvPr/>
        </p:nvSpPr>
        <p:spPr>
          <a:xfrm>
            <a:off x="177800" y="2680952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사업구조도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0ACAE28-A5E2-9427-6593-FFEEDB5ED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931351"/>
              </p:ext>
            </p:extLst>
          </p:nvPr>
        </p:nvGraphicFramePr>
        <p:xfrm>
          <a:off x="3683000" y="3239752"/>
          <a:ext cx="2997200" cy="1946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이익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토지매각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1250" marR="0" marT="25718" marB="25718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22916"/>
                  </a:ext>
                </a:extLst>
              </a:tr>
              <a:tr h="67512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이익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(IRR)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3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년차 매각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100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12%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14%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2,426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6.5%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1,076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위탁수수료 별도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장점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즉시 현금화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67368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낮은 수익률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047784"/>
                  </a:ext>
                </a:extLst>
              </a:tr>
              <a:tr h="2945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세무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매각 시 양도세 즉납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598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억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= (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공정가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2,500 –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장부가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300) ⅹ 27.2%</a:t>
                      </a:r>
                    </a:p>
                  </a:txBody>
                  <a:tcPr marL="101250" marR="20250" marT="20250" marB="40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FC7FAD2C-4DBC-BC27-652E-981E072DF4C4}"/>
              </a:ext>
            </a:extLst>
          </p:cNvPr>
          <p:cNvGrpSpPr/>
          <p:nvPr/>
        </p:nvGrpSpPr>
        <p:grpSpPr>
          <a:xfrm>
            <a:off x="177800" y="3239754"/>
            <a:ext cx="3403600" cy="1974266"/>
            <a:chOff x="492436" y="1121778"/>
            <a:chExt cx="4507077" cy="1810358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E09F064-DE78-7AA7-CAF3-1B92D466B676}"/>
                </a:ext>
              </a:extLst>
            </p:cNvPr>
            <p:cNvGrpSpPr/>
            <p:nvPr/>
          </p:nvGrpSpPr>
          <p:grpSpPr>
            <a:xfrm>
              <a:off x="492436" y="1121778"/>
              <a:ext cx="4507077" cy="1810358"/>
              <a:chOff x="585140" y="3163004"/>
              <a:chExt cx="4507077" cy="1774212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E28B2FE-297B-B532-6F5B-DF72411A1D20}"/>
                  </a:ext>
                </a:extLst>
              </p:cNvPr>
              <p:cNvSpPr/>
              <p:nvPr/>
            </p:nvSpPr>
            <p:spPr>
              <a:xfrm>
                <a:off x="641690" y="4415699"/>
                <a:ext cx="1126267" cy="4320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Equity</a:t>
                </a:r>
              </a:p>
              <a:p>
                <a:pPr algn="ctr">
                  <a:spcBef>
                    <a:spcPts val="281"/>
                  </a:spcBef>
                </a:pP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총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3,588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2E7BA4B2-4A66-1147-1A5D-239D608AC900}"/>
                  </a:ext>
                </a:extLst>
              </p:cNvPr>
              <p:cNvSpPr/>
              <p:nvPr/>
            </p:nvSpPr>
            <p:spPr>
              <a:xfrm>
                <a:off x="585140" y="3163004"/>
                <a:ext cx="4499999" cy="432000"/>
              </a:xfrm>
              <a:prstGeom prst="rect">
                <a:avLst/>
              </a:prstGeom>
              <a:noFill/>
              <a:ln w="317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百 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13E68195-201E-9F02-E11E-29D141DE0AE6}"/>
                  </a:ext>
                </a:extLst>
              </p:cNvPr>
              <p:cNvSpPr/>
              <p:nvPr/>
            </p:nvSpPr>
            <p:spPr>
              <a:xfrm>
                <a:off x="585141" y="4306497"/>
                <a:ext cx="4507076" cy="630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ko-KR" altLang="en-US" sz="900">
                  <a:ln>
                    <a:solidFill>
                      <a:srgbClr val="002060"/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649E07-420D-67BA-A702-AC21E404D8DB}"/>
                  </a:ext>
                </a:extLst>
              </p:cNvPr>
              <p:cNvSpPr txBox="1"/>
              <p:nvPr/>
            </p:nvSpPr>
            <p:spPr bwMode="auto">
              <a:xfrm>
                <a:off x="823879" y="3829234"/>
                <a:ext cx="1975467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AD5AFB-B9FB-30C2-92B6-9C9CB22EC38E}"/>
                  </a:ext>
                </a:extLst>
              </p:cNvPr>
              <p:cNvSpPr txBox="1"/>
              <p:nvPr/>
            </p:nvSpPr>
            <p:spPr bwMode="auto">
              <a:xfrm>
                <a:off x="2718119" y="3819515"/>
                <a:ext cx="2140594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현금 </a:t>
                </a: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2,500</a:t>
                </a: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억 </a:t>
                </a:r>
                <a:endPara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6187AB97-9FFE-453F-A12F-9359A4EDA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746" y="3686810"/>
                <a:ext cx="0" cy="41654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5DD68E45-D8CB-761A-D8F8-25D3E4F372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985" y="3686810"/>
                <a:ext cx="0" cy="41778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4ED90DA6-F1C5-FD87-1E7B-45EA6BC884B3}"/>
                  </a:ext>
                </a:extLst>
              </p:cNvPr>
              <p:cNvSpPr/>
              <p:nvPr/>
            </p:nvSpPr>
            <p:spPr>
              <a:xfrm>
                <a:off x="4026386" y="4456159"/>
                <a:ext cx="943415" cy="360000"/>
              </a:xfrm>
              <a:prstGeom prst="rect">
                <a:avLst/>
              </a:prstGeom>
              <a:noFill/>
              <a:ln w="6350"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신세계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(30%)</a:t>
                </a:r>
              </a:p>
            </p:txBody>
          </p:sp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073B214-2F0D-0DCC-FDEC-0029673D6791}"/>
                  </a:ext>
                </a:extLst>
              </p:cNvPr>
              <p:cNvSpPr/>
              <p:nvPr/>
            </p:nvSpPr>
            <p:spPr>
              <a:xfrm>
                <a:off x="1842689" y="4427524"/>
                <a:ext cx="3153889" cy="432000"/>
              </a:xfrm>
              <a:prstGeom prst="rect">
                <a:avLst/>
              </a:prstGeom>
              <a:noFill/>
              <a:ln w="9525">
                <a:solidFill>
                  <a:schemeClr val="tx2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en-US" altLang="ko-KR" sz="9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07542-211B-FAF0-840A-39F7257F89EB}"/>
                  </a:ext>
                </a:extLst>
              </p:cNvPr>
              <p:cNvSpPr txBox="1"/>
              <p:nvPr/>
            </p:nvSpPr>
            <p:spPr>
              <a:xfrm>
                <a:off x="692703" y="3309775"/>
                <a:ext cx="1594363" cy="193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92"/>
                  </a:spcBef>
                  <a:tabLst>
                    <a:tab pos="127693" algn="l"/>
                    <a:tab pos="655432" algn="l"/>
                  </a:tabLst>
                  <a:defRPr/>
                </a:pP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* 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사업비 </a:t>
                </a: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: 1.68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조</a:t>
                </a:r>
                <a:endParaRPr lang="en-US" altLang="ko-KR" sz="8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</p:grp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155033A-DEA6-58B1-C535-5273B37BC97D}"/>
                </a:ext>
              </a:extLst>
            </p:cNvPr>
            <p:cNvSpPr/>
            <p:nvPr/>
          </p:nvSpPr>
          <p:spPr>
            <a:xfrm>
              <a:off x="1771286" y="2462328"/>
              <a:ext cx="843444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우선주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(25%)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F867454E-DEDA-8206-2348-B213BBDC2BDB}"/>
                </a:ext>
              </a:extLst>
            </p:cNvPr>
            <p:cNvSpPr/>
            <p:nvPr/>
          </p:nvSpPr>
          <p:spPr>
            <a:xfrm>
              <a:off x="2655137" y="2462328"/>
              <a:ext cx="1228703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보통주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(45%)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FD84D5-0B5B-BB4C-0FB6-438B7C48DCAD}"/>
                </a:ext>
              </a:extLst>
            </p:cNvPr>
            <p:cNvSpPr txBox="1"/>
            <p:nvPr/>
          </p:nvSpPr>
          <p:spPr bwMode="auto">
            <a:xfrm>
              <a:off x="4301948" y="2668605"/>
              <a:ext cx="643605" cy="1834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1,076</a:t>
              </a:r>
              <a:r>
                <a:rPr lang="ko-KR" altLang="en-US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억</a:t>
              </a:r>
              <a:endParaRPr lang="ko-KR" altLang="en-US" sz="7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CE312A5-576F-705F-40C1-A8FD09DAE39F}"/>
              </a:ext>
            </a:extLst>
          </p:cNvPr>
          <p:cNvSpPr/>
          <p:nvPr/>
        </p:nvSpPr>
        <p:spPr>
          <a:xfrm>
            <a:off x="1365933" y="4392152"/>
            <a:ext cx="1143466" cy="21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13"/>
              </a:spcBef>
            </a:pPr>
            <a:r>
              <a:rPr lang="en-US" altLang="ko-KR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SPC </a:t>
            </a:r>
            <a:r>
              <a:rPr lang="en-US" altLang="ko-KR" sz="6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(Project Reits)</a:t>
            </a:r>
            <a:endParaRPr lang="ko-KR" altLang="en-US" sz="60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7" name="H27"/>
          <p:cNvSpPr/>
          <p:nvPr/>
        </p:nvSpPr>
        <p:spPr>
          <a:xfrm>
            <a:off x="177800" y="5747418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투자기준지표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1973F3-8A25-381E-9757-4AB4256BD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46382"/>
              </p:ext>
            </p:extLst>
          </p:nvPr>
        </p:nvGraphicFramePr>
        <p:xfrm>
          <a:off x="260350" y="6179218"/>
          <a:ext cx="6445250" cy="20122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8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인테리어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FF&amp;E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감가상각 종료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677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내용연수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 흑자 전환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</a:t>
                      </a:r>
                      <a:r>
                        <a:rPr kumimoji="0" lang="en-US" altLang="ko-KR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ko-KR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투자금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1,076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kumimoji="0" lang="ko-KR" altLang="en-US" sz="900" b="0" i="0" u="none" strike="noStrike" kern="1200" cap="none" normalizeH="0" baseline="0" noProof="0">
                        <a:ln w="3175"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 자산 매각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可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위탁운영수수료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(70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수준 예상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고려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IRR 7.7%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D25C9C9-24FA-9E19-4A74-C1CA4AE7E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595358"/>
              </p:ext>
            </p:extLst>
          </p:nvPr>
        </p:nvGraphicFramePr>
        <p:xfrm>
          <a:off x="260350" y="919320"/>
          <a:ext cx="6445248" cy="1312684"/>
        </p:xfrm>
        <a:graphic>
          <a:graphicData uri="http://schemas.openxmlformats.org/drawingml/2006/table">
            <a:tbl>
              <a:tblPr/>
              <a:tblGrid>
                <a:gridCol w="1074208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886078">
                  <a:extLst>
                    <a:ext uri="{9D8B030D-6E8A-4147-A177-3AD203B41FA5}">
                      <a16:colId xmlns:a16="http://schemas.microsoft.com/office/drawing/2014/main" val="4047390458"/>
                    </a:ext>
                  </a:extLst>
                </a:gridCol>
                <a:gridCol w="107420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227922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920494">
                  <a:extLst>
                    <a:ext uri="{9D8B030D-6E8A-4147-A177-3AD203B41FA5}">
                      <a16:colId xmlns:a16="http://schemas.microsoft.com/office/drawing/2014/main" val="4238364436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1,250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3,590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(20%)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99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endParaRPr lang="ko-KR" altLang="en-US" sz="700"/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 포함</a:t>
                      </a:r>
                      <a:endParaRPr lang="ko-KR" altLang="en-US" sz="700"/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PF​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(50%)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2051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36000" marT="31652" marB="31652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All-in 7.2%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478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(29%)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시니어</a:t>
                      </a:r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86899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(11%)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마케팅비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2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104" name="Sub104">
            <a:extLst>
              <a:ext uri="{FF2B5EF4-FFF2-40B4-BE49-F238E27FC236}">
                <a16:creationId xmlns:a16="http://schemas.microsoft.com/office/drawing/2014/main" id="{907A1437-B221-61B1-A907-E38367BD396D}"/>
              </a:ext>
            </a:extLst>
          </p:cNvPr>
          <p:cNvSpPr/>
          <p:nvPr/>
        </p:nvSpPr>
        <p:spPr>
          <a:xfrm>
            <a:off x="177800" y="482600"/>
            <a:ext cx="6477000" cy="246221"/>
          </a:xfrm>
          <a:prstGeom prst="rect">
            <a:avLst/>
          </a:prstGeom>
        </p:spPr>
        <p:txBody>
          <a:bodyPr wrap="square" lIns="24923" rIns="0">
            <a:spAutoFit/>
          </a:bodyPr>
          <a:lstStyle/>
          <a:p>
            <a:pPr>
              <a:spcBef>
                <a:spcPts val="692"/>
              </a:spcBef>
              <a:tabLst>
                <a:tab pos="157159" algn="l"/>
                <a:tab pos="806676" algn="l"/>
              </a:tabLst>
              <a:defRPr/>
            </a:pP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1.68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Equity 0.3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中 당사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자금 조달 구성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 /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임대 보증금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PF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비율 검토 中 </a:t>
            </a:r>
            <a:endParaRPr lang="ko-KR" altLang="en-US" sz="10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3" name="H103"/>
          <p:cNvSpPr/>
          <p:nvPr/>
        </p:nvSpPr>
        <p:spPr>
          <a:xfrm>
            <a:off x="177800" y="17780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금융구조화</a:t>
            </a:r>
          </a:p>
        </p:txBody>
      </p:sp>
      <p:sp>
        <p:nvSpPr>
          <p:cNvPr id="105" name="Unit105"/>
          <p:cNvSpPr txBox="1"/>
          <p:nvPr/>
        </p:nvSpPr>
        <p:spPr>
          <a:xfrm>
            <a:off x="5308600" y="762515"/>
            <a:ext cx="1397000" cy="123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51008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45018E-CDDC-06EC-EFE8-F3CB702C1961}"/>
              </a:ext>
            </a:extLst>
          </p:cNvPr>
          <p:cNvSpPr txBox="1"/>
          <p:nvPr/>
        </p:nvSpPr>
        <p:spPr bwMode="auto">
          <a:xfrm>
            <a:off x="5308600" y="406880"/>
            <a:ext cx="1397000" cy="35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7408153-F755-1A50-964E-7E0E1435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99034"/>
              </p:ext>
            </p:extLst>
          </p:nvPr>
        </p:nvGraphicFramePr>
        <p:xfrm>
          <a:off x="260350" y="689079"/>
          <a:ext cx="6451344" cy="3081724"/>
        </p:xfrm>
        <a:graphic>
          <a:graphicData uri="http://schemas.openxmlformats.org/drawingml/2006/table">
            <a:tbl>
              <a:tblPr/>
              <a:tblGrid>
                <a:gridCol w="34925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1076959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11933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7691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76918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先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8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76918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 +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3125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PF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7.2%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마케팅비 등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145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371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16,824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현금 잔액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부족액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PF대출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985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F3BAE55-75AA-22A2-1510-AF6BB3DE561C}"/>
              </a:ext>
            </a:extLst>
          </p:cNvPr>
          <p:cNvSpPr txBox="1"/>
          <p:nvPr/>
        </p:nvSpPr>
        <p:spPr bwMode="auto">
          <a:xfrm>
            <a:off x="5308600" y="4462490"/>
            <a:ext cx="1397000" cy="209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6" name="H16"/>
          <p:cNvSpPr/>
          <p:nvPr/>
        </p:nvSpPr>
        <p:spPr>
          <a:xfrm>
            <a:off x="177800" y="17780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개발단계 Cash Flow</a:t>
            </a:r>
          </a:p>
        </p:txBody>
      </p:sp>
      <p:sp>
        <p:nvSpPr>
          <p:cNvPr id="17" name="H17"/>
          <p:cNvSpPr/>
          <p:nvPr/>
        </p:nvSpPr>
        <p:spPr>
          <a:xfrm>
            <a:off x="177800" y="407416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운영단계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Cash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Flow</a:t>
            </a:r>
            <a:endParaRPr lang="ko-KR" altLang="en-US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C9E4848-7D41-D164-219B-36227E0EC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877960"/>
              </p:ext>
            </p:extLst>
          </p:nvPr>
        </p:nvGraphicFramePr>
        <p:xfrm>
          <a:off x="269603" y="4672250"/>
          <a:ext cx="6442095" cy="3756720"/>
        </p:xfrm>
        <a:graphic>
          <a:graphicData uri="http://schemas.openxmlformats.org/drawingml/2006/table">
            <a:tbl>
              <a:tblPr/>
              <a:tblGrid>
                <a:gridCol w="429822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931863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4522207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 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초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93560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13,082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NOI 661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Cap.R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6%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8961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93560">
                <a:tc rowSpan="7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900" b="1" i="0" u="none" strike="noStrike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  <a:endParaRPr lang="ko-KR" altLang="ko-KR"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 상환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15,287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매각비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SPC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운영비 연간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포함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5.8%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897 + 매각 63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운영 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보통주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 + 매각 2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076 + 매각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83840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22,933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9356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 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5917F18-65D7-F227-CE72-E0841A24DAFF}"/>
              </a:ext>
            </a:extLst>
          </p:cNvPr>
          <p:cNvSpPr txBox="1"/>
          <p:nvPr/>
        </p:nvSpPr>
        <p:spPr bwMode="auto">
          <a:xfrm>
            <a:off x="2960021" y="6320939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EEB7-7C4F-6260-9728-586CF7F8D6F3}"/>
              </a:ext>
            </a:extLst>
          </p:cNvPr>
          <p:cNvSpPr txBox="1"/>
          <p:nvPr/>
        </p:nvSpPr>
        <p:spPr bwMode="auto">
          <a:xfrm>
            <a:off x="2990501" y="5141016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담보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3A028FE-A213-DF30-A531-9863C53EB889}"/>
              </a:ext>
            </a:extLst>
          </p:cNvPr>
          <p:cNvSpPr/>
          <p:nvPr/>
        </p:nvSpPr>
        <p:spPr>
          <a:xfrm rot="10800000">
            <a:off x="3352616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F0434-165A-ECCC-CB15-9236252AECFB}"/>
              </a:ext>
            </a:extLst>
          </p:cNvPr>
          <p:cNvSpPr txBox="1"/>
          <p:nvPr/>
        </p:nvSpPr>
        <p:spPr bwMode="auto">
          <a:xfrm>
            <a:off x="5110098" y="6249234"/>
            <a:ext cx="1120014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5,811 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9,476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CD281-0A5A-FAF3-FE40-04DC7DAC3A6D}"/>
              </a:ext>
            </a:extLst>
          </p:cNvPr>
          <p:cNvSpPr txBox="1"/>
          <p:nvPr/>
        </p:nvSpPr>
        <p:spPr bwMode="auto">
          <a:xfrm>
            <a:off x="367694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EB86D-050B-7EF0-ABD0-3DA1EED7B2E0}"/>
              </a:ext>
            </a:extLst>
          </p:cNvPr>
          <p:cNvSpPr txBox="1"/>
          <p:nvPr/>
        </p:nvSpPr>
        <p:spPr bwMode="auto">
          <a:xfrm>
            <a:off x="2038751" y="7128151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中 배당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225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미포함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B0ECE-395A-B444-005F-78122AD3804A}"/>
              </a:ext>
            </a:extLst>
          </p:cNvPr>
          <p:cNvSpPr txBox="1"/>
          <p:nvPr/>
        </p:nvSpPr>
        <p:spPr bwMode="auto">
          <a:xfrm>
            <a:off x="4153033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(25%)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6BFE9-4C97-78D8-58AF-0B17F48CA37A}"/>
              </a:ext>
            </a:extLst>
          </p:cNvPr>
          <p:cNvSpPr txBox="1"/>
          <p:nvPr/>
        </p:nvSpPr>
        <p:spPr bwMode="auto">
          <a:xfrm>
            <a:off x="465350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(45%)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8087DF-D7BB-5C17-178E-B3D30356DB32}"/>
              </a:ext>
            </a:extLst>
          </p:cNvPr>
          <p:cNvSpPr txBox="1"/>
          <p:nvPr/>
        </p:nvSpPr>
        <p:spPr bwMode="auto">
          <a:xfrm>
            <a:off x="514178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974A9B-9B2B-9C09-3D1B-160F871347D7}"/>
              </a:ext>
            </a:extLst>
          </p:cNvPr>
          <p:cNvSpPr txBox="1"/>
          <p:nvPr/>
        </p:nvSpPr>
        <p:spPr bwMode="auto">
          <a:xfrm>
            <a:off x="5630064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(100%)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8DC6D3-4281-3953-4574-FAC50E1F9943}"/>
              </a:ext>
            </a:extLst>
          </p:cNvPr>
          <p:cNvSpPr txBox="1"/>
          <p:nvPr/>
        </p:nvSpPr>
        <p:spPr bwMode="auto">
          <a:xfrm>
            <a:off x="5015164" y="6550166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매각부대비용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822CE3D4-BD75-E3A5-EA7B-11715F473C3D}"/>
              </a:ext>
            </a:extLst>
          </p:cNvPr>
          <p:cNvSpPr/>
          <p:nvPr/>
        </p:nvSpPr>
        <p:spPr>
          <a:xfrm rot="10800000">
            <a:off x="5856903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CD0F979B-68B8-77BB-32DC-387EB18F0BFE}"/>
              </a:ext>
            </a:extLst>
          </p:cNvPr>
          <p:cNvSpPr txBox="1">
            <a:spLocks/>
          </p:cNvSpPr>
          <p:nvPr/>
        </p:nvSpPr>
        <p:spPr>
          <a:xfrm>
            <a:off x="3130550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6" name="제목 1">
            <a:extLst>
              <a:ext uri="{FF2B5EF4-FFF2-40B4-BE49-F238E27FC236}">
                <a16:creationId xmlns:a16="http://schemas.microsoft.com/office/drawing/2014/main" id="{91A2C5A3-0FC2-540E-4AE8-B0A49D06123F}"/>
              </a:ext>
            </a:extLst>
          </p:cNvPr>
          <p:cNvSpPr txBox="1">
            <a:spLocks/>
          </p:cNvSpPr>
          <p:nvPr/>
        </p:nvSpPr>
        <p:spPr>
          <a:xfrm>
            <a:off x="5621453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1DFB321C-E43B-9209-D692-51FDC72603A3}"/>
              </a:ext>
            </a:extLst>
          </p:cNvPr>
          <p:cNvSpPr/>
          <p:nvPr/>
        </p:nvSpPr>
        <p:spPr>
          <a:xfrm rot="10800000">
            <a:off x="5495453" y="4552939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6669E1E8-72A8-D17B-7E13-044CD740AA69}"/>
              </a:ext>
            </a:extLst>
          </p:cNvPr>
          <p:cNvSpPr txBox="1">
            <a:spLocks/>
          </p:cNvSpPr>
          <p:nvPr/>
        </p:nvSpPr>
        <p:spPr>
          <a:xfrm>
            <a:off x="5260003" y="4361710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68EC-0349-60C1-19CA-BA58F1B4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5238EAE-1856-9CD7-3694-56517AC657C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반포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A2D0D-A2C9-6B13-D91B-D45111CF89D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3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20" name="H 개발 개요">
            <a:extLst>
              <a:ext uri="{FF2B5EF4-FFF2-40B4-BE49-F238E27FC236}">
                <a16:creationId xmlns:a16="http://schemas.microsoft.com/office/drawing/2014/main" id="{4555A349-8F99-4415-61B9-E9ED815DB83D}"/>
              </a:ext>
            </a:extLst>
          </p:cNvPr>
          <p:cNvSpPr txBox="1"/>
          <p:nvPr/>
        </p:nvSpPr>
        <p:spPr>
          <a:xfrm>
            <a:off x="177800" y="10541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22" name="개요표">
            <a:extLst>
              <a:ext uri="{FF2B5EF4-FFF2-40B4-BE49-F238E27FC236}">
                <a16:creationId xmlns:a16="http://schemas.microsoft.com/office/drawing/2014/main" id="{E3B9E9A2-1253-5606-4367-2857DB55F4A9}"/>
              </a:ext>
            </a:extLst>
          </p:cNvPr>
          <p:cNvGraphicFramePr>
            <a:graphicFrameLocks noGrp="1"/>
          </p:cNvGraphicFramePr>
          <p:nvPr/>
        </p:nvGraphicFramePr>
        <p:xfrm>
          <a:off x="266700" y="1409700"/>
          <a:ext cx="3456000" cy="1447800"/>
        </p:xfrm>
        <a:graphic>
          <a:graphicData uri="http://schemas.openxmlformats.org/drawingml/2006/table">
            <a:tbl>
              <a:tblPr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서초구 반포동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19-3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외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4.4만평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(센트럴 1.8 + 서고터 2.6)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53.7만평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(개발 前 14.4만평)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800% / 서고터 680%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200"/>
                        </a:spcBef>
                        <a:tabLst>
                          <a:tab pos="227013" algn="l"/>
                          <a:tab pos="1165225" algn="l"/>
                        </a:tabLst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도시계획시설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여객자동차터미널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  <a:sym typeface="Wingdings" pitchFamily="2" charset="2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사업주체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신세계센트럴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서고터 REITs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(간접)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H 개발 일정">
            <a:extLst>
              <a:ext uri="{FF2B5EF4-FFF2-40B4-BE49-F238E27FC236}">
                <a16:creationId xmlns:a16="http://schemas.microsoft.com/office/drawing/2014/main" id="{1DDB3A02-DA7A-B280-1570-F1BB73E3EA46}"/>
              </a:ext>
            </a:extLst>
          </p:cNvPr>
          <p:cNvSpPr txBox="1"/>
          <p:nvPr/>
        </p:nvSpPr>
        <p:spPr>
          <a:xfrm>
            <a:off x="177800" y="3251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24" name="개발일정">
            <a:extLst>
              <a:ext uri="{FF2B5EF4-FFF2-40B4-BE49-F238E27FC236}">
                <a16:creationId xmlns:a16="http://schemas.microsoft.com/office/drawing/2014/main" id="{6073F85F-6164-503D-FAA2-7160DCB276B8}"/>
              </a:ext>
            </a:extLst>
          </p:cNvPr>
          <p:cNvSpPr txBox="1"/>
          <p:nvPr/>
        </p:nvSpPr>
        <p:spPr>
          <a:xfrm>
            <a:off x="254000" y="3632200"/>
            <a:ext cx="6426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 </a:t>
            </a:r>
            <a:r>
              <a:rPr lang="ko-KR" altLang="en-US" sz="1000" b="0">
                <a:latin typeface="신세계 민부리 Light(TTF)"/>
                <a:ea typeface="신세계 민부리 Light(TTF)"/>
              </a:rPr>
              <a:t>(’28~’29)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호남선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임시터미널 리모델링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(’29~’3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설립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공사</a:t>
            </a:r>
          </a:p>
          <a:p>
            <a:pPr marL="50800">
              <a:lnSpc>
                <a:spcPct val="150000"/>
              </a:lnSpc>
              <a:spcBef>
                <a:spcPts val="350"/>
              </a:spcBef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③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(’32~’3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반포천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복원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④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(’33)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통합터미널 임시사용승인 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(’33~’3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센트럴 공사</a:t>
            </a:r>
            <a:endParaRPr lang="ko-KR" altLang="en-US" sz="1100" b="1">
              <a:latin typeface="신세계 민부리 Light(TTF)"/>
              <a:ea typeface="신세계 민부리 Light(TTF)"/>
            </a:endParaRPr>
          </a:p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(’3</a:t>
            </a:r>
            <a:r>
              <a:rPr lang="en-US" altLang="ko-KR" sz="1000" b="1" u="sng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 전체 완공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  ⑦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(’4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1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지분 50% 매각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</a:p>
        </p:txBody>
      </p:sp>
      <p:sp>
        <p:nvSpPr>
          <p:cNvPr id="25" name="H 사업성 전제">
            <a:extLst>
              <a:ext uri="{FF2B5EF4-FFF2-40B4-BE49-F238E27FC236}">
                <a16:creationId xmlns:a16="http://schemas.microsoft.com/office/drawing/2014/main" id="{F7AC7AFC-F55C-203D-8212-FC96FB960AE9}"/>
              </a:ext>
            </a:extLst>
          </p:cNvPr>
          <p:cNvSpPr txBox="1"/>
          <p:nvPr/>
        </p:nvSpPr>
        <p:spPr>
          <a:xfrm>
            <a:off x="177800" y="5816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26" name="사업성전제표">
            <a:extLst>
              <a:ext uri="{FF2B5EF4-FFF2-40B4-BE49-F238E27FC236}">
                <a16:creationId xmlns:a16="http://schemas.microsoft.com/office/drawing/2014/main" id="{10AA3F9A-169C-DD68-F930-30C3455BC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387246"/>
              </p:ext>
            </p:extLst>
          </p:nvPr>
        </p:nvGraphicFramePr>
        <p:xfrm>
          <a:off x="266701" y="6223000"/>
          <a:ext cx="6438900" cy="3116900"/>
        </p:xfrm>
        <a:graphic>
          <a:graphicData uri="http://schemas.openxmlformats.org/drawingml/2006/table">
            <a:tbl>
              <a:tblPr/>
              <a:tblGrid>
                <a:gridCol w="52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근기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 rowSpan="4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A · B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9.7만평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4,000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(JW)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379실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(ADR 58만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80% / 부대시설 = 객실매출 × 1.4배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(강남점)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2.6만평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3.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빌리지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1.2만평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1.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(REITs)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C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3.9만평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1,9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Mall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GLA 2.1만평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아케이드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7,000평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평당 月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(7성급)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  23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ADR 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75%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마스터리스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터미널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   25억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35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아트&amp;뮤지엄 · 공연장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7,000평 · 9,570평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600억 · 2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4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운영매출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endParaRPr lang="ko-KR" altLang="en-US" sz="75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7366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10,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endParaRPr lang="ko-KR" altLang="en-US" sz="900" b="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7" name="반포 지도" descr="반포 개발 지도">
            <a:extLst>
              <a:ext uri="{FF2B5EF4-FFF2-40B4-BE49-F238E27FC236}">
                <a16:creationId xmlns:a16="http://schemas.microsoft.com/office/drawing/2014/main" id="{5A23EB23-6A55-BDBB-EACB-7D991518D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80" y="1024300"/>
            <a:ext cx="2661920" cy="1909400"/>
          </a:xfrm>
          <a:prstGeom prst="rect">
            <a:avLst/>
          </a:prstGeom>
        </p:spPr>
      </p:pic>
      <p:sp>
        <p:nvSpPr>
          <p:cNvPr id="28" name="부지 외곽">
            <a:extLst>
              <a:ext uri="{FF2B5EF4-FFF2-40B4-BE49-F238E27FC236}">
                <a16:creationId xmlns:a16="http://schemas.microsoft.com/office/drawing/2014/main" id="{6D199E4C-5058-FC3A-0DBE-FF2382B89300}"/>
              </a:ext>
            </a:extLst>
          </p:cNvPr>
          <p:cNvSpPr/>
          <p:nvPr/>
        </p:nvSpPr>
        <p:spPr>
          <a:xfrm>
            <a:off x="368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9" name="도로">
            <a:extLst>
              <a:ext uri="{FF2B5EF4-FFF2-40B4-BE49-F238E27FC236}">
                <a16:creationId xmlns:a16="http://schemas.microsoft.com/office/drawing/2014/main" id="{C9B8701E-7724-DC91-A687-8B98A29C1B34}"/>
              </a:ext>
            </a:extLst>
          </p:cNvPr>
          <p:cNvSpPr/>
          <p:nvPr/>
        </p:nvSpPr>
        <p:spPr>
          <a:xfrm>
            <a:off x="825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센트럴">
            <a:extLst>
              <a:ext uri="{FF2B5EF4-FFF2-40B4-BE49-F238E27FC236}">
                <a16:creationId xmlns:a16="http://schemas.microsoft.com/office/drawing/2014/main" id="{29DA56ED-0D2D-B161-3AA2-4C8CC238FE87}"/>
              </a:ext>
            </a:extLst>
          </p:cNvPr>
          <p:cNvSpPr/>
          <p:nvPr/>
        </p:nvSpPr>
        <p:spPr>
          <a:xfrm>
            <a:off x="393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호남선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1" name="기존 터미널">
            <a:extLst>
              <a:ext uri="{FF2B5EF4-FFF2-40B4-BE49-F238E27FC236}">
                <a16:creationId xmlns:a16="http://schemas.microsoft.com/office/drawing/2014/main" id="{302194F6-1FE8-6B80-4B42-882A5DE2A7E4}"/>
              </a:ext>
            </a:extLst>
          </p:cNvPr>
          <p:cNvSpPr/>
          <p:nvPr/>
        </p:nvSpPr>
        <p:spPr>
          <a:xfrm>
            <a:off x="914400" y="4724400"/>
            <a:ext cx="4572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현 경부·영동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2" name="임시터미널 라벨">
            <a:extLst>
              <a:ext uri="{FF2B5EF4-FFF2-40B4-BE49-F238E27FC236}">
                <a16:creationId xmlns:a16="http://schemas.microsoft.com/office/drawing/2014/main" id="{0620BE26-C618-4693-35E5-754BF650FA2F}"/>
              </a:ext>
            </a:extLst>
          </p:cNvPr>
          <p:cNvSpPr/>
          <p:nvPr/>
        </p:nvSpPr>
        <p:spPr>
          <a:xfrm>
            <a:off x="393700" y="5143500"/>
            <a:ext cx="406400" cy="114300"/>
          </a:xfrm>
          <a:prstGeom prst="rect">
            <a:avLst/>
          </a:prstGeom>
          <a:solidFill>
            <a:srgbClr val="FFF2A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cxnSp>
        <p:nvCxnSpPr>
          <p:cNvPr id="33" name="Line 512">
            <a:extLst>
              <a:ext uri="{FF2B5EF4-FFF2-40B4-BE49-F238E27FC236}">
                <a16:creationId xmlns:a16="http://schemas.microsoft.com/office/drawing/2014/main" id="{E7DF75C3-CCC5-24E1-450C-A371789EE497}"/>
              </a:ext>
            </a:extLst>
          </p:cNvPr>
          <p:cNvCxnSpPr/>
          <p:nvPr/>
        </p:nvCxnSpPr>
        <p:spPr>
          <a:xfrm flipH="1">
            <a:off x="749300" y="4991100"/>
            <a:ext cx="279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34" name="부지 외곽">
            <a:extLst>
              <a:ext uri="{FF2B5EF4-FFF2-40B4-BE49-F238E27FC236}">
                <a16:creationId xmlns:a16="http://schemas.microsoft.com/office/drawing/2014/main" id="{5BA0030A-E2B2-0705-01ED-CF76965D5325}"/>
              </a:ext>
            </a:extLst>
          </p:cNvPr>
          <p:cNvSpPr/>
          <p:nvPr/>
        </p:nvSpPr>
        <p:spPr>
          <a:xfrm>
            <a:off x="2019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5" name="도로">
            <a:extLst>
              <a:ext uri="{FF2B5EF4-FFF2-40B4-BE49-F238E27FC236}">
                <a16:creationId xmlns:a16="http://schemas.microsoft.com/office/drawing/2014/main" id="{A81787D2-FE97-D806-E4D5-0CEB261F6431}"/>
              </a:ext>
            </a:extLst>
          </p:cNvPr>
          <p:cNvSpPr/>
          <p:nvPr/>
        </p:nvSpPr>
        <p:spPr>
          <a:xfrm>
            <a:off x="2476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6" name="센트럴">
            <a:extLst>
              <a:ext uri="{FF2B5EF4-FFF2-40B4-BE49-F238E27FC236}">
                <a16:creationId xmlns:a16="http://schemas.microsoft.com/office/drawing/2014/main" id="{34B1A684-5800-F824-93A7-78EC57E7BC81}"/>
              </a:ext>
            </a:extLst>
          </p:cNvPr>
          <p:cNvSpPr/>
          <p:nvPr/>
        </p:nvSpPr>
        <p:spPr>
          <a:xfrm>
            <a:off x="2044700" y="4724400"/>
            <a:ext cx="406400" cy="533400"/>
          </a:xfrm>
          <a:prstGeom prst="rect">
            <a:avLst/>
          </a:prstGeom>
          <a:solidFill>
            <a:srgbClr val="D2D2D2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37" name="경부선 1">
            <a:extLst>
              <a:ext uri="{FF2B5EF4-FFF2-40B4-BE49-F238E27FC236}">
                <a16:creationId xmlns:a16="http://schemas.microsoft.com/office/drawing/2014/main" id="{CE5B97C3-FE13-55CC-9D53-288BF43D80FA}"/>
              </a:ext>
            </a:extLst>
          </p:cNvPr>
          <p:cNvSpPr/>
          <p:nvPr/>
        </p:nvSpPr>
        <p:spPr>
          <a:xfrm>
            <a:off x="2565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38" name="경부선 2">
            <a:extLst>
              <a:ext uri="{FF2B5EF4-FFF2-40B4-BE49-F238E27FC236}">
                <a16:creationId xmlns:a16="http://schemas.microsoft.com/office/drawing/2014/main" id="{C8BD37A7-EF5C-8A52-C9EB-F203CB432B4C}"/>
              </a:ext>
            </a:extLst>
          </p:cNvPr>
          <p:cNvSpPr/>
          <p:nvPr/>
        </p:nvSpPr>
        <p:spPr>
          <a:xfrm>
            <a:off x="3048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39" name="반포천">
            <a:extLst>
              <a:ext uri="{FF2B5EF4-FFF2-40B4-BE49-F238E27FC236}">
                <a16:creationId xmlns:a16="http://schemas.microsoft.com/office/drawing/2014/main" id="{773833AE-9EB8-3F04-59BE-7AAB09372842}"/>
              </a:ext>
            </a:extLst>
          </p:cNvPr>
          <p:cNvSpPr/>
          <p:nvPr/>
        </p:nvSpPr>
        <p:spPr>
          <a:xfrm>
            <a:off x="2019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교량공사</a:t>
            </a:r>
          </a:p>
        </p:txBody>
      </p:sp>
      <p:sp>
        <p:nvSpPr>
          <p:cNvPr id="40" name="부지 외곽">
            <a:extLst>
              <a:ext uri="{FF2B5EF4-FFF2-40B4-BE49-F238E27FC236}">
                <a16:creationId xmlns:a16="http://schemas.microsoft.com/office/drawing/2014/main" id="{75E1C8D8-14E5-E405-F5D8-3E3C92F7944A}"/>
              </a:ext>
            </a:extLst>
          </p:cNvPr>
          <p:cNvSpPr/>
          <p:nvPr/>
        </p:nvSpPr>
        <p:spPr>
          <a:xfrm>
            <a:off x="3670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1" name="도로">
            <a:extLst>
              <a:ext uri="{FF2B5EF4-FFF2-40B4-BE49-F238E27FC236}">
                <a16:creationId xmlns:a16="http://schemas.microsoft.com/office/drawing/2014/main" id="{28290C54-AF34-82A2-FB24-8358B431A889}"/>
              </a:ext>
            </a:extLst>
          </p:cNvPr>
          <p:cNvSpPr/>
          <p:nvPr/>
        </p:nvSpPr>
        <p:spPr>
          <a:xfrm>
            <a:off x="4127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2" name="센트럴">
            <a:extLst>
              <a:ext uri="{FF2B5EF4-FFF2-40B4-BE49-F238E27FC236}">
                <a16:creationId xmlns:a16="http://schemas.microsoft.com/office/drawing/2014/main" id="{FF6E2940-174C-EFBF-6C1D-189940E3591F}"/>
              </a:ext>
            </a:extLst>
          </p:cNvPr>
          <p:cNvSpPr/>
          <p:nvPr/>
        </p:nvSpPr>
        <p:spPr>
          <a:xfrm>
            <a:off x="3695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43" name="경부선 1">
            <a:extLst>
              <a:ext uri="{FF2B5EF4-FFF2-40B4-BE49-F238E27FC236}">
                <a16:creationId xmlns:a16="http://schemas.microsoft.com/office/drawing/2014/main" id="{B412C631-92E8-A06B-509B-6155237205A7}"/>
              </a:ext>
            </a:extLst>
          </p:cNvPr>
          <p:cNvSpPr/>
          <p:nvPr/>
        </p:nvSpPr>
        <p:spPr>
          <a:xfrm>
            <a:off x="4216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44" name="경부선 2">
            <a:extLst>
              <a:ext uri="{FF2B5EF4-FFF2-40B4-BE49-F238E27FC236}">
                <a16:creationId xmlns:a16="http://schemas.microsoft.com/office/drawing/2014/main" id="{362686C0-DFAC-529F-AB24-ED9BBF1C938D}"/>
              </a:ext>
            </a:extLst>
          </p:cNvPr>
          <p:cNvSpPr/>
          <p:nvPr/>
        </p:nvSpPr>
        <p:spPr>
          <a:xfrm>
            <a:off x="4699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cxnSp>
        <p:nvCxnSpPr>
          <p:cNvPr id="45" name="Line 525">
            <a:extLst>
              <a:ext uri="{FF2B5EF4-FFF2-40B4-BE49-F238E27FC236}">
                <a16:creationId xmlns:a16="http://schemas.microsoft.com/office/drawing/2014/main" id="{7FE31775-761E-C941-AE8E-6AA733713871}"/>
              </a:ext>
            </a:extLst>
          </p:cNvPr>
          <p:cNvCxnSpPr/>
          <p:nvPr/>
        </p:nvCxnSpPr>
        <p:spPr>
          <a:xfrm>
            <a:off x="3975100" y="4991100"/>
            <a:ext cx="406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46" name="반포천">
            <a:extLst>
              <a:ext uri="{FF2B5EF4-FFF2-40B4-BE49-F238E27FC236}">
                <a16:creationId xmlns:a16="http://schemas.microsoft.com/office/drawing/2014/main" id="{8589B6DF-BB45-AF12-A497-4CFB42463551}"/>
              </a:ext>
            </a:extLst>
          </p:cNvPr>
          <p:cNvSpPr/>
          <p:nvPr/>
        </p:nvSpPr>
        <p:spPr>
          <a:xfrm>
            <a:off x="3670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47" name="부지 외곽">
            <a:extLst>
              <a:ext uri="{FF2B5EF4-FFF2-40B4-BE49-F238E27FC236}">
                <a16:creationId xmlns:a16="http://schemas.microsoft.com/office/drawing/2014/main" id="{B812947A-1C02-FCA9-CAE4-2CCDC242DC16}"/>
              </a:ext>
            </a:extLst>
          </p:cNvPr>
          <p:cNvSpPr/>
          <p:nvPr/>
        </p:nvSpPr>
        <p:spPr>
          <a:xfrm>
            <a:off x="5321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8" name="도로">
            <a:extLst>
              <a:ext uri="{FF2B5EF4-FFF2-40B4-BE49-F238E27FC236}">
                <a16:creationId xmlns:a16="http://schemas.microsoft.com/office/drawing/2014/main" id="{8784BD59-4AD5-625C-49A5-B4FEB11BBE78}"/>
              </a:ext>
            </a:extLst>
          </p:cNvPr>
          <p:cNvSpPr/>
          <p:nvPr/>
        </p:nvSpPr>
        <p:spPr>
          <a:xfrm>
            <a:off x="5778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9" name="센트럴">
            <a:extLst>
              <a:ext uri="{FF2B5EF4-FFF2-40B4-BE49-F238E27FC236}">
                <a16:creationId xmlns:a16="http://schemas.microsoft.com/office/drawing/2014/main" id="{5A7CF103-5786-F35F-D0FF-98BE3DAAA551}"/>
              </a:ext>
            </a:extLst>
          </p:cNvPr>
          <p:cNvSpPr/>
          <p:nvPr/>
        </p:nvSpPr>
        <p:spPr>
          <a:xfrm>
            <a:off x="5346700" y="4724400"/>
            <a:ext cx="406400" cy="533400"/>
          </a:xfrm>
          <a:prstGeom prst="rect">
            <a:avLst/>
          </a:prstGeom>
          <a:solidFill>
            <a:srgbClr val="F4B3B3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</p:txBody>
      </p:sp>
      <p:sp>
        <p:nvSpPr>
          <p:cNvPr id="50" name="경부선 1">
            <a:extLst>
              <a:ext uri="{FF2B5EF4-FFF2-40B4-BE49-F238E27FC236}">
                <a16:creationId xmlns:a16="http://schemas.microsoft.com/office/drawing/2014/main" id="{30864E3F-04F7-570C-35CE-48D79C31AA6B}"/>
              </a:ext>
            </a:extLst>
          </p:cNvPr>
          <p:cNvSpPr/>
          <p:nvPr/>
        </p:nvSpPr>
        <p:spPr>
          <a:xfrm>
            <a:off x="5867400" y="4724400"/>
            <a:ext cx="4572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51" name="경부선 2">
            <a:extLst>
              <a:ext uri="{FF2B5EF4-FFF2-40B4-BE49-F238E27FC236}">
                <a16:creationId xmlns:a16="http://schemas.microsoft.com/office/drawing/2014/main" id="{5370D574-7166-B267-5F62-4D7CEE7E60FB}"/>
              </a:ext>
            </a:extLst>
          </p:cNvPr>
          <p:cNvSpPr/>
          <p:nvPr/>
        </p:nvSpPr>
        <p:spPr>
          <a:xfrm>
            <a:off x="6350000" y="4724400"/>
            <a:ext cx="279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52" name="반포천">
            <a:extLst>
              <a:ext uri="{FF2B5EF4-FFF2-40B4-BE49-F238E27FC236}">
                <a16:creationId xmlns:a16="http://schemas.microsoft.com/office/drawing/2014/main" id="{D0B35982-8CB7-57A9-9AD9-2A1FF9E7C7E0}"/>
              </a:ext>
            </a:extLst>
          </p:cNvPr>
          <p:cNvSpPr/>
          <p:nvPr/>
        </p:nvSpPr>
        <p:spPr>
          <a:xfrm>
            <a:off x="5321300" y="5321300"/>
            <a:ext cx="1333500" cy="127000"/>
          </a:xfrm>
          <a:prstGeom prst="rect">
            <a:avLst/>
          </a:prstGeom>
          <a:solidFill>
            <a:srgbClr val="CFE5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53" name="단계 화살표">
            <a:extLst>
              <a:ext uri="{FF2B5EF4-FFF2-40B4-BE49-F238E27FC236}">
                <a16:creationId xmlns:a16="http://schemas.microsoft.com/office/drawing/2014/main" id="{9E66E544-0053-8BE5-5FA3-24F29D2FDC6A}"/>
              </a:ext>
            </a:extLst>
          </p:cNvPr>
          <p:cNvSpPr/>
          <p:nvPr/>
        </p:nvSpPr>
        <p:spPr>
          <a:xfrm rot="5400000">
            <a:off x="1771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4" name="단계 화살표">
            <a:extLst>
              <a:ext uri="{FF2B5EF4-FFF2-40B4-BE49-F238E27FC236}">
                <a16:creationId xmlns:a16="http://schemas.microsoft.com/office/drawing/2014/main" id="{FF5CC7C1-8DFF-D4D8-EB88-8B6F2C93E8F9}"/>
              </a:ext>
            </a:extLst>
          </p:cNvPr>
          <p:cNvSpPr/>
          <p:nvPr/>
        </p:nvSpPr>
        <p:spPr>
          <a:xfrm rot="5400000">
            <a:off x="3422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단계 화살표">
            <a:extLst>
              <a:ext uri="{FF2B5EF4-FFF2-40B4-BE49-F238E27FC236}">
                <a16:creationId xmlns:a16="http://schemas.microsoft.com/office/drawing/2014/main" id="{060D456B-8EF0-A231-A40C-AB3361E8B76F}"/>
              </a:ext>
            </a:extLst>
          </p:cNvPr>
          <p:cNvSpPr/>
          <p:nvPr/>
        </p:nvSpPr>
        <p:spPr>
          <a:xfrm rot="5400000">
            <a:off x="5073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6" name="개발일정">
            <a:extLst>
              <a:ext uri="{FF2B5EF4-FFF2-40B4-BE49-F238E27FC236}">
                <a16:creationId xmlns:a16="http://schemas.microsoft.com/office/drawing/2014/main" id="{D0A47251-9245-AB5A-B1DC-17B9A81C6D0D}"/>
              </a:ext>
            </a:extLst>
          </p:cNvPr>
          <p:cNvSpPr txBox="1"/>
          <p:nvPr/>
        </p:nvSpPr>
        <p:spPr>
          <a:xfrm>
            <a:off x="825500" y="5448300"/>
            <a:ext cx="3556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</a:t>
            </a:r>
            <a:endParaRPr lang="ko-KR" altLang="en-US" sz="1100">
              <a:latin typeface="신세계 민부리 Light(TTF)"/>
              <a:ea typeface="신세계 민부리 Light(TTF)"/>
            </a:endParaRPr>
          </a:p>
        </p:txBody>
      </p:sp>
      <p:sp>
        <p:nvSpPr>
          <p:cNvPr id="57" name="개발일정">
            <a:extLst>
              <a:ext uri="{FF2B5EF4-FFF2-40B4-BE49-F238E27FC236}">
                <a16:creationId xmlns:a16="http://schemas.microsoft.com/office/drawing/2014/main" id="{D7A2F56C-F10A-FEDC-1C7F-35CCB48DAB30}"/>
              </a:ext>
            </a:extLst>
          </p:cNvPr>
          <p:cNvSpPr txBox="1"/>
          <p:nvPr/>
        </p:nvSpPr>
        <p:spPr>
          <a:xfrm>
            <a:off x="2019301" y="5461000"/>
            <a:ext cx="1338262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③</a:t>
            </a:r>
          </a:p>
        </p:txBody>
      </p:sp>
      <p:sp>
        <p:nvSpPr>
          <p:cNvPr id="58" name="개발일정">
            <a:extLst>
              <a:ext uri="{FF2B5EF4-FFF2-40B4-BE49-F238E27FC236}">
                <a16:creationId xmlns:a16="http://schemas.microsoft.com/office/drawing/2014/main" id="{0391ECA6-8E99-F52C-9FED-206E351BC20B}"/>
              </a:ext>
            </a:extLst>
          </p:cNvPr>
          <p:cNvSpPr txBox="1"/>
          <p:nvPr/>
        </p:nvSpPr>
        <p:spPr>
          <a:xfrm>
            <a:off x="3670300" y="548640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④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</a:t>
            </a:r>
          </a:p>
        </p:txBody>
      </p:sp>
      <p:sp>
        <p:nvSpPr>
          <p:cNvPr id="59" name="개발일정">
            <a:extLst>
              <a:ext uri="{FF2B5EF4-FFF2-40B4-BE49-F238E27FC236}">
                <a16:creationId xmlns:a16="http://schemas.microsoft.com/office/drawing/2014/main" id="{D8B4A2F0-DB43-111A-2337-7613AFE2155C}"/>
              </a:ext>
            </a:extLst>
          </p:cNvPr>
          <p:cNvSpPr txBox="1"/>
          <p:nvPr/>
        </p:nvSpPr>
        <p:spPr>
          <a:xfrm>
            <a:off x="5311457" y="549275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⑦</a:t>
            </a:r>
          </a:p>
        </p:txBody>
      </p:sp>
      <p:sp>
        <p:nvSpPr>
          <p:cNvPr id="60" name="N 112">
            <a:extLst>
              <a:ext uri="{FF2B5EF4-FFF2-40B4-BE49-F238E27FC236}">
                <a16:creationId xmlns:a16="http://schemas.microsoft.com/office/drawing/2014/main" id="{34E9CC7B-4D1A-82AC-9581-35238AD5C3F5}"/>
              </a:ext>
            </a:extLst>
          </p:cNvPr>
          <p:cNvSpPr txBox="1"/>
          <p:nvPr/>
        </p:nvSpPr>
        <p:spPr>
          <a:xfrm>
            <a:off x="2407603" y="596392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’연 상승률 : 물가 1.8%, 임대료 2.8% (CPI + 1%p)</a:t>
            </a:r>
          </a:p>
        </p:txBody>
      </p:sp>
      <p:sp>
        <p:nvSpPr>
          <p:cNvPr id="62" name="N 112">
            <a:extLst>
              <a:ext uri="{FF2B5EF4-FFF2-40B4-BE49-F238E27FC236}">
                <a16:creationId xmlns:a16="http://schemas.microsoft.com/office/drawing/2014/main" id="{298EA204-089E-7903-DD87-013222D6D0DE}"/>
              </a:ext>
            </a:extLst>
          </p:cNvPr>
          <p:cNvSpPr txBox="1"/>
          <p:nvPr/>
        </p:nvSpPr>
        <p:spPr>
          <a:xfrm>
            <a:off x="5086350" y="9043581"/>
            <a:ext cx="15938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개발기간 분양매출 총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별도</a:t>
            </a:r>
          </a:p>
        </p:txBody>
      </p:sp>
    </p:spTree>
    <p:extLst>
      <p:ext uri="{BB962C8B-B14F-4D97-AF65-F5344CB8AC3E}">
        <p14:creationId xmlns:p14="http://schemas.microsoft.com/office/powerpoint/2010/main" val="3727980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사업구조">
            <a:extLst>
              <a:ext uri="{FF2B5EF4-FFF2-40B4-BE49-F238E27FC236}">
                <a16:creationId xmlns:a16="http://schemas.microsoft.com/office/drawing/2014/main" id="{F4034150-CC1E-0576-13EB-30C05BF7D1AB}"/>
              </a:ext>
            </a:extLst>
          </p:cNvPr>
          <p:cNvSpPr txBox="1"/>
          <p:nvPr/>
        </p:nvSpPr>
        <p:spPr>
          <a:xfrm>
            <a:off x="177800" y="1778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사업구조</a:t>
            </a:r>
          </a:p>
        </p:txBody>
      </p:sp>
      <p:sp>
        <p:nvSpPr>
          <p:cNvPr id="7" name="S 센트럴 직접 개">
            <a:extLst>
              <a:ext uri="{FF2B5EF4-FFF2-40B4-BE49-F238E27FC236}">
                <a16:creationId xmlns:a16="http://schemas.microsoft.com/office/drawing/2014/main" id="{3ECB30AD-FDCC-C564-D243-2A65F60BA9F5}"/>
              </a:ext>
            </a:extLst>
          </p:cNvPr>
          <p:cNvSpPr txBox="1"/>
          <p:nvPr/>
        </p:nvSpPr>
        <p:spPr>
          <a:xfrm>
            <a:off x="2667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센트럴 직접 개발 /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간접 개발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(Project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                        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※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직접개발 실익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재검토중</a:t>
            </a:r>
            <a:endParaRPr lang="ko-KR" altLang="en-US" sz="9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9" name="구조점선">
            <a:extLst>
              <a:ext uri="{FF2B5EF4-FFF2-40B4-BE49-F238E27FC236}">
                <a16:creationId xmlns:a16="http://schemas.microsoft.com/office/drawing/2014/main" id="{83FBB32A-5099-9583-4F06-C5ABDF189E0C}"/>
              </a:ext>
            </a:extLst>
          </p:cNvPr>
          <p:cNvSpPr/>
          <p:nvPr/>
        </p:nvSpPr>
        <p:spPr>
          <a:xfrm>
            <a:off x="266700" y="812800"/>
            <a:ext cx="2844800" cy="81280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45720" tIns="22860" rIns="45720" bIns="22860" anchor="t">
            <a:noAutofit/>
          </a:bodyPr>
          <a:lstStyle/>
          <a:p>
            <a:endParaRPr lang="ko-KR"/>
          </a:p>
        </p:txBody>
      </p:sp>
      <p:sp>
        <p:nvSpPr>
          <p:cNvPr id="11" name="센트럴박스">
            <a:extLst>
              <a:ext uri="{FF2B5EF4-FFF2-40B4-BE49-F238E27FC236}">
                <a16:creationId xmlns:a16="http://schemas.microsoft.com/office/drawing/2014/main" id="{F3FA7B6D-65CA-FD44-14E2-8355A7FF2FDB}"/>
              </a:ext>
            </a:extLst>
          </p:cNvPr>
          <p:cNvSpPr/>
          <p:nvPr/>
        </p:nvSpPr>
        <p:spPr>
          <a:xfrm>
            <a:off x="368300" y="939800"/>
            <a:ext cx="1270000" cy="5588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lnSpc>
                <a:spcPct val="150000"/>
              </a:lnSpc>
              <a:spcBef>
                <a:spcPts val="0"/>
              </a:spcBef>
              <a:buNone/>
            </a:pPr>
            <a:r>
              <a:rPr lang="ko-KR" altLang="en-US" sz="800" b="0">
                <a:latin typeface="신세계 민부리 Light(TTF)"/>
                <a:ea typeface="신세계 민부리 Light(TTF)"/>
              </a:rPr>
              <a:t>직접 개발</a:t>
            </a:r>
          </a:p>
        </p:txBody>
      </p:sp>
      <p:sp>
        <p:nvSpPr>
          <p:cNvPr id="13" name="서고터박스">
            <a:extLst>
              <a:ext uri="{FF2B5EF4-FFF2-40B4-BE49-F238E27FC236}">
                <a16:creationId xmlns:a16="http://schemas.microsoft.com/office/drawing/2014/main" id="{E89F9DDF-8AB4-B4E7-A418-26BD70705F93}"/>
              </a:ext>
            </a:extLst>
          </p:cNvPr>
          <p:cNvSpPr/>
          <p:nvPr/>
        </p:nvSpPr>
        <p:spPr>
          <a:xfrm>
            <a:off x="1727200" y="939800"/>
            <a:ext cx="1270000" cy="2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5" name="기타사항표">
            <a:extLst>
              <a:ext uri="{FF2B5EF4-FFF2-40B4-BE49-F238E27FC236}">
                <a16:creationId xmlns:a16="http://schemas.microsoft.com/office/drawing/2014/main" id="{DBC10E8F-8A97-8FA4-9DF4-C095A3CD2133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812800"/>
          <a:ext cx="3479800" cy="8128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직접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핵심 자산 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百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JWM)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지속 보유 목적</a:t>
                      </a:r>
                      <a:endParaRPr lang="en-US" altLang="ko-KR" sz="900" b="1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간접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en-US" altLang="ko-KR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AMC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설립</a:t>
                      </a:r>
                      <a:r>
                        <a:rPr kumimoji="0" lang="ko-KR" altLang="en-US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→ 지배권 강화 </a:t>
                      </a:r>
                      <a:r>
                        <a:rPr lang="en-US" altLang="ko-KR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수수료 절감</a:t>
                      </a:r>
                      <a:endParaRPr lang="en-US" altLang="ko-KR" sz="900" b="1">
                        <a:solidFill>
                          <a:prstClr val="black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              </a:t>
                      </a:r>
                      <a:r>
                        <a:rPr lang="en-US" altLang="ko-KR" sz="4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유동화 유리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필요 時 지분매각 可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)</a:t>
                      </a:r>
                      <a:endParaRPr lang="en-US" altLang="ko-KR" sz="8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415043"/>
                  </a:ext>
                </a:extLst>
              </a:tr>
            </a:tbl>
          </a:graphicData>
        </a:graphic>
      </p:graphicFrame>
      <p:sp>
        <p:nvSpPr>
          <p:cNvPr id="17" name="H 금융구조화">
            <a:extLst>
              <a:ext uri="{FF2B5EF4-FFF2-40B4-BE49-F238E27FC236}">
                <a16:creationId xmlns:a16="http://schemas.microsoft.com/office/drawing/2014/main" id="{9CB698EE-BBD5-8790-AAC1-B638B690DB2B}"/>
              </a:ext>
            </a:extLst>
          </p:cNvPr>
          <p:cNvSpPr txBox="1"/>
          <p:nvPr/>
        </p:nvSpPr>
        <p:spPr>
          <a:xfrm>
            <a:off x="177800" y="17272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9" name="S 총 사업비 19">
            <a:extLst>
              <a:ext uri="{FF2B5EF4-FFF2-40B4-BE49-F238E27FC236}">
                <a16:creationId xmlns:a16="http://schemas.microsoft.com/office/drawing/2014/main" id="{531E24F9-5EC8-FA40-3DC1-156A64FBC88C}"/>
              </a:ext>
            </a:extLst>
          </p:cNvPr>
          <p:cNvSpPr txBox="1"/>
          <p:nvPr/>
        </p:nvSpPr>
        <p:spPr>
          <a:xfrm>
            <a:off x="175895" y="2032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총 사업비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(센트럴 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1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sp>
        <p:nvSpPr>
          <p:cNvPr id="21" name="N 108">
            <a:extLst>
              <a:ext uri="{FF2B5EF4-FFF2-40B4-BE49-F238E27FC236}">
                <a16:creationId xmlns:a16="http://schemas.microsoft.com/office/drawing/2014/main" id="{FEAF7844-BC38-81F6-6A89-125EF77AF148}"/>
              </a:ext>
            </a:extLst>
          </p:cNvPr>
          <p:cNvSpPr txBox="1"/>
          <p:nvPr/>
        </p:nvSpPr>
        <p:spPr>
          <a:xfrm>
            <a:off x="5308600" y="2181352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3" name="총사업비표">
            <a:extLst>
              <a:ext uri="{FF2B5EF4-FFF2-40B4-BE49-F238E27FC236}">
                <a16:creationId xmlns:a16="http://schemas.microsoft.com/office/drawing/2014/main" id="{1BF3EF00-9A85-4331-6EEB-2A869ACCB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883012"/>
              </p:ext>
            </p:extLst>
          </p:nvPr>
        </p:nvGraphicFramePr>
        <p:xfrm>
          <a:off x="266700" y="2352040"/>
          <a:ext cx="6438900" cy="2469200"/>
        </p:xfrm>
        <a:graphic>
          <a:graphicData uri="http://schemas.openxmlformats.org/drawingml/2006/table">
            <a:tbl>
              <a:tblPr/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noFill/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3.1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(@1.7억 × 1.8만평)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4.0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(@1.5억 × 2.6만평)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’25년 감평 적용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부지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Pj. REITs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현물출자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* 개발단계 토지비 조달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·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Equity 투자자 불필요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공사비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5.6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(@0.1억)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4.0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간접공사비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공공기여 등 2.9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1.3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이자비용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7%)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수수료 0.2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0.35%)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전액 선순위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단일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Tr.)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7%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1.3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취득세 0.7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보존등기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0.5,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RIETs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재산세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종부세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부담금 등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0.6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先 분양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분양대금 7.0 中 사업비 활용 分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4.8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                  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센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72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1.2억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144세대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710세대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OFT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560실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0.9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수분양자 보상비 0.2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예비비 등 부대비용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H 사업이익 (준공 후 운영 10년)">
            <a:extLst>
              <a:ext uri="{FF2B5EF4-FFF2-40B4-BE49-F238E27FC236}">
                <a16:creationId xmlns:a16="http://schemas.microsoft.com/office/drawing/2014/main" id="{25E08A5E-590F-246C-2923-9437A2A3ED95}"/>
              </a:ext>
            </a:extLst>
          </p:cNvPr>
          <p:cNvSpPr txBox="1"/>
          <p:nvPr/>
        </p:nvSpPr>
        <p:spPr>
          <a:xfrm>
            <a:off x="177800" y="516439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사업이익 </a:t>
            </a:r>
            <a:r>
              <a:rPr lang="ko-KR" altLang="en-US" sz="1200" b="1">
                <a:latin typeface="신세계 민부리 Bold(TTF)"/>
                <a:ea typeface="신세계 민부리 Bold(TTF)"/>
              </a:rPr>
              <a:t>(준공 후 운영 10년)</a:t>
            </a:r>
          </a:p>
        </p:txBody>
      </p:sp>
      <p:sp>
        <p:nvSpPr>
          <p:cNvPr id="27" name="N 111">
            <a:extLst>
              <a:ext uri="{FF2B5EF4-FFF2-40B4-BE49-F238E27FC236}">
                <a16:creationId xmlns:a16="http://schemas.microsoft.com/office/drawing/2014/main" id="{001E2C1D-4DCF-AD45-8277-F90C9CEC9C73}"/>
              </a:ext>
            </a:extLst>
          </p:cNvPr>
          <p:cNvSpPr txBox="1"/>
          <p:nvPr/>
        </p:nvSpPr>
        <p:spPr>
          <a:xfrm>
            <a:off x="5308600" y="5347774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9" name="사업이익표">
            <a:extLst>
              <a:ext uri="{FF2B5EF4-FFF2-40B4-BE49-F238E27FC236}">
                <a16:creationId xmlns:a16="http://schemas.microsoft.com/office/drawing/2014/main" id="{DB7DF13D-DE8F-C5A4-1187-9C2D05476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263602"/>
              </p:ext>
            </p:extLst>
          </p:nvPr>
        </p:nvGraphicFramePr>
        <p:xfrm>
          <a:off x="266700" y="5524118"/>
          <a:ext cx="6438900" cy="2417130"/>
        </p:xfrm>
        <a:graphic>
          <a:graphicData uri="http://schemas.openxmlformats.org/drawingml/2006/table">
            <a:tbl>
              <a:tblPr/>
              <a:tblGrid>
                <a:gridCol w="177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5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 기간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’29 ~ ’3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분양이익 1.9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 0.2 + 서 1.7)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전액 사업비 재투자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’35년 先 준공 ~ ’38년 전체 준공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 운영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~ 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서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운영이익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담보대출 3.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상환 → 잉여 현금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지분 매각 후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50%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유입 기준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지분 50% 매각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5년 內 지분 매각 의무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(총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中 50%)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소 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보유 자산 운영이익 ’49년 기준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/年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0.1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자산가치 2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사업이익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+ 잔여 자산 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H 투자 기준 지표">
            <a:extLst>
              <a:ext uri="{FF2B5EF4-FFF2-40B4-BE49-F238E27FC236}">
                <a16:creationId xmlns:a16="http://schemas.microsoft.com/office/drawing/2014/main" id="{C5EEF876-8161-FFA3-0AFC-07D9B76B37C4}"/>
              </a:ext>
            </a:extLst>
          </p:cNvPr>
          <p:cNvSpPr txBox="1"/>
          <p:nvPr/>
        </p:nvSpPr>
        <p:spPr>
          <a:xfrm>
            <a:off x="177800" y="816667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</a:t>
            </a:r>
          </a:p>
        </p:txBody>
      </p:sp>
      <p:graphicFrame>
        <p:nvGraphicFramePr>
          <p:cNvPr id="33" name="투자기준표">
            <a:extLst>
              <a:ext uri="{FF2B5EF4-FFF2-40B4-BE49-F238E27FC236}">
                <a16:creationId xmlns:a16="http://schemas.microsoft.com/office/drawing/2014/main" id="{A6C1D9ED-EE14-E533-3CB1-A409067ED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793165"/>
              </p:ext>
            </p:extLst>
          </p:nvPr>
        </p:nvGraphicFramePr>
        <p:xfrm>
          <a:off x="266700" y="8534228"/>
          <a:ext cx="6438900" cy="1295572"/>
        </p:xfrm>
        <a:graphic>
          <a:graphicData uri="http://schemas.openxmlformats.org/drawingml/2006/table">
            <a:tbl>
              <a:tblPr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04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 발생 시점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÷ Equity 7.1조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착공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년차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+ 7Y)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순투자비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 –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7.1 -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7.0)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회수기간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’28년 토지비 투입 ~ ’4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(준공+10Y) 누계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서고터박스">
            <a:extLst>
              <a:ext uri="{FF2B5EF4-FFF2-40B4-BE49-F238E27FC236}">
                <a16:creationId xmlns:a16="http://schemas.microsoft.com/office/drawing/2014/main" id="{C40FA375-DD01-78B2-7080-5A8859CBC2BA}"/>
              </a:ext>
            </a:extLst>
          </p:cNvPr>
          <p:cNvSpPr/>
          <p:nvPr/>
        </p:nvSpPr>
        <p:spPr>
          <a:xfrm>
            <a:off x="1727200" y="1308672"/>
            <a:ext cx="1270000" cy="195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 REITs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82B9CD5-8F2F-8D58-2DA0-C0570CDC2C45}"/>
              </a:ext>
            </a:extLst>
          </p:cNvPr>
          <p:cNvCxnSpPr>
            <a:cxnSpLocks/>
          </p:cNvCxnSpPr>
          <p:nvPr/>
        </p:nvCxnSpPr>
        <p:spPr>
          <a:xfrm>
            <a:off x="2360613" y="1155144"/>
            <a:ext cx="0" cy="14400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794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개발단계 Cash Flow">
            <a:extLst>
              <a:ext uri="{FF2B5EF4-FFF2-40B4-BE49-F238E27FC236}">
                <a16:creationId xmlns:a16="http://schemas.microsoft.com/office/drawing/2014/main" id="{C6E59F0D-2841-68E2-049C-EBFB08800F25}"/>
              </a:ext>
            </a:extLst>
          </p:cNvPr>
          <p:cNvSpPr txBox="1"/>
          <p:nvPr/>
        </p:nvSpPr>
        <p:spPr>
          <a:xfrm>
            <a:off x="177800" y="1778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개발단계 Cash Flow</a:t>
            </a:r>
          </a:p>
        </p:txBody>
      </p:sp>
      <p:sp>
        <p:nvSpPr>
          <p:cNvPr id="7" name="S 사업비 12.8">
            <a:extLst>
              <a:ext uri="{FF2B5EF4-FFF2-40B4-BE49-F238E27FC236}">
                <a16:creationId xmlns:a16="http://schemas.microsoft.com/office/drawing/2014/main" id="{5AE62AF7-24CB-1FCA-DC34-3E5FA3BB295E}"/>
              </a:ext>
            </a:extLst>
          </p:cNvPr>
          <p:cNvSpPr txBox="1"/>
          <p:nvPr/>
        </p:nvSpPr>
        <p:spPr>
          <a:xfrm>
            <a:off x="177800" y="508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사업비 12.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(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토지비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7.1조 제외) → PF 7.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/ 先 분양대금 5.2조</a:t>
            </a:r>
          </a:p>
        </p:txBody>
      </p:sp>
      <p:sp>
        <p:nvSpPr>
          <p:cNvPr id="9" name="N 102">
            <a:extLst>
              <a:ext uri="{FF2B5EF4-FFF2-40B4-BE49-F238E27FC236}">
                <a16:creationId xmlns:a16="http://schemas.microsoft.com/office/drawing/2014/main" id="{0CD781D7-55AF-6119-E193-BD6CF2DC1362}"/>
              </a:ext>
            </a:extLst>
          </p:cNvPr>
          <p:cNvSpPr txBox="1"/>
          <p:nvPr/>
        </p:nvSpPr>
        <p:spPr>
          <a:xfrm>
            <a:off x="5308600" y="771019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5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)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3" name="조달주석">
            <a:extLst>
              <a:ext uri="{FF2B5EF4-FFF2-40B4-BE49-F238E27FC236}">
                <a16:creationId xmlns:a16="http://schemas.microsoft.com/office/drawing/2014/main" id="{C131907A-F814-3F91-9ADD-3380392E55A0}"/>
              </a:ext>
            </a:extLst>
          </p:cNvPr>
          <p:cNvSpPr txBox="1"/>
          <p:nvPr/>
        </p:nvSpPr>
        <p:spPr>
          <a:xfrm>
            <a:off x="288998" y="3327400"/>
            <a:ext cx="6426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100"/>
              </a:spcBef>
              <a:buNone/>
            </a:pPr>
            <a:r>
              <a:rPr lang="ko-KR" altLang="en-US" sz="750" b="0">
                <a:latin typeface="신세계 민부리 Light(TTF)"/>
                <a:ea typeface="신세계 민부리 Light(TTF)"/>
              </a:rPr>
              <a:t>※ PF 상환 : 센트럴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3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3.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0.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5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– 법인세 0.1 / </a:t>
            </a:r>
            <a:r>
              <a:rPr lang="ko-KR" altLang="en-US" sz="75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2.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0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5" name="H 운영단계 Cash Flow">
            <a:extLst>
              <a:ext uri="{FF2B5EF4-FFF2-40B4-BE49-F238E27FC236}">
                <a16:creationId xmlns:a16="http://schemas.microsoft.com/office/drawing/2014/main" id="{E1B110C9-DAFF-E2D4-7632-95850BED151A}"/>
              </a:ext>
            </a:extLst>
          </p:cNvPr>
          <p:cNvSpPr txBox="1"/>
          <p:nvPr/>
        </p:nvSpPr>
        <p:spPr>
          <a:xfrm>
            <a:off x="177800" y="3657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운영단계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Cash</a:t>
            </a:r>
            <a:r>
              <a:rPr lang="ko-KR" altLang="en-US" sz="1500" b="1">
                <a:latin typeface="신세계 민부리 Bold(TTF)"/>
                <a:ea typeface="신세계 민부리 Bold(TTF)"/>
              </a:rPr>
              <a:t>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Flow</a:t>
            </a:r>
            <a:endParaRPr lang="ko-KR" altLang="en-US" sz="1500" b="1">
              <a:latin typeface="신세계 민부리 Bold(TTF)"/>
              <a:ea typeface="신세계 민부리 Bold(TTF)"/>
            </a:endParaRPr>
          </a:p>
        </p:txBody>
      </p:sp>
      <p:sp>
        <p:nvSpPr>
          <p:cNvPr id="17" name="N 106">
            <a:extLst>
              <a:ext uri="{FF2B5EF4-FFF2-40B4-BE49-F238E27FC236}">
                <a16:creationId xmlns:a16="http://schemas.microsoft.com/office/drawing/2014/main" id="{04EC867F-C4EF-F783-197C-061DDA982BAB}"/>
              </a:ext>
            </a:extLst>
          </p:cNvPr>
          <p:cNvSpPr txBox="1"/>
          <p:nvPr/>
        </p:nvSpPr>
        <p:spPr>
          <a:xfrm>
            <a:off x="5308600" y="413234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9" name="S 센트럴 (직접 ">
            <a:extLst>
              <a:ext uri="{FF2B5EF4-FFF2-40B4-BE49-F238E27FC236}">
                <a16:creationId xmlns:a16="http://schemas.microsoft.com/office/drawing/2014/main" id="{B326D79B-0B91-AB3C-72E9-736F446EA7FE}"/>
              </a:ext>
            </a:extLst>
          </p:cNvPr>
          <p:cNvSpPr txBox="1"/>
          <p:nvPr/>
        </p:nvSpPr>
        <p:spPr>
          <a:xfrm>
            <a:off x="177800" y="4064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센트럴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(직접 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운영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1" name="센트럴운영수지표">
            <a:extLst>
              <a:ext uri="{FF2B5EF4-FFF2-40B4-BE49-F238E27FC236}">
                <a16:creationId xmlns:a16="http://schemas.microsoft.com/office/drawing/2014/main" id="{08640617-5127-6428-CCFF-F108444B8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96410"/>
              </p:ext>
            </p:extLst>
          </p:nvPr>
        </p:nvGraphicFramePr>
        <p:xfrm>
          <a:off x="262469" y="4343400"/>
          <a:ext cx="6438901" cy="22352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6,090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53,250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25,050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56,490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세전현금흐름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55,040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S 서고터 (리츠 ">
            <a:extLst>
              <a:ext uri="{FF2B5EF4-FFF2-40B4-BE49-F238E27FC236}">
                <a16:creationId xmlns:a16="http://schemas.microsoft.com/office/drawing/2014/main" id="{1491977D-DA03-222E-6EF9-7DC7AFE1A9DA}"/>
              </a:ext>
            </a:extLst>
          </p:cNvPr>
          <p:cNvSpPr txBox="1"/>
          <p:nvPr/>
        </p:nvSpPr>
        <p:spPr>
          <a:xfrm>
            <a:off x="177800" y="6731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(간접개발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-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마스터리스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5" name="서고터운영수지표">
            <a:extLst>
              <a:ext uri="{FF2B5EF4-FFF2-40B4-BE49-F238E27FC236}">
                <a16:creationId xmlns:a16="http://schemas.microsoft.com/office/drawing/2014/main" id="{EC0A7852-8562-3995-1338-F69942554B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27672"/>
              </p:ext>
            </p:extLst>
          </p:nvPr>
        </p:nvGraphicFramePr>
        <p:xfrm>
          <a:off x="262467" y="7010400"/>
          <a:ext cx="6438901" cy="24257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기타*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17,110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귀속 배당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운영주석">
            <a:extLst>
              <a:ext uri="{FF2B5EF4-FFF2-40B4-BE49-F238E27FC236}">
                <a16:creationId xmlns:a16="http://schemas.microsoft.com/office/drawing/2014/main" id="{C939956C-28B2-2105-B4A1-A39664F03024}"/>
              </a:ext>
            </a:extLst>
          </p:cNvPr>
          <p:cNvSpPr txBox="1"/>
          <p:nvPr/>
        </p:nvSpPr>
        <p:spPr>
          <a:xfrm>
            <a:off x="301430" y="9575800"/>
            <a:ext cx="6426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기타 : 문화시설 (공연장, 미술관, 옥션, 아카데미 등), 터미널 등</a:t>
            </a:r>
          </a:p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배당 : ’4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지분 50% 매각 후 배당금액 기준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3F4A3D8-EF7B-DDE0-B610-1E24BE489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78557"/>
              </p:ext>
            </p:extLst>
          </p:nvPr>
        </p:nvGraphicFramePr>
        <p:xfrm>
          <a:off x="262469" y="941935"/>
          <a:ext cx="6299198" cy="2301351"/>
        </p:xfrm>
        <a:graphic>
          <a:graphicData uri="http://schemas.openxmlformats.org/drawingml/2006/table">
            <a:tbl>
              <a:tblPr/>
              <a:tblGrid>
                <a:gridCol w="514800">
                  <a:extLst>
                    <a:ext uri="{9D8B030D-6E8A-4147-A177-3AD203B41FA5}">
                      <a16:colId xmlns:a16="http://schemas.microsoft.com/office/drawing/2014/main" val="3310737521"/>
                    </a:ext>
                  </a:extLst>
                </a:gridCol>
                <a:gridCol w="539877">
                  <a:extLst>
                    <a:ext uri="{9D8B030D-6E8A-4147-A177-3AD203B41FA5}">
                      <a16:colId xmlns:a16="http://schemas.microsoft.com/office/drawing/2014/main" val="2103368153"/>
                    </a:ext>
                  </a:extLst>
                </a:gridCol>
                <a:gridCol w="617002">
                  <a:extLst>
                    <a:ext uri="{9D8B030D-6E8A-4147-A177-3AD203B41FA5}">
                      <a16:colId xmlns:a16="http://schemas.microsoft.com/office/drawing/2014/main" val="1315688220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26611917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9374714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0658118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03367361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5558562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45972246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1117347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7288084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974613087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89789727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7483883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06294792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359793308"/>
                    </a:ext>
                  </a:extLst>
                </a:gridCol>
              </a:tblGrid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72638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214082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</a:t>
                      </a:r>
                      <a:r>
                        <a:rPr lang="en-US" alt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0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968299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46843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7662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401004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49151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서고터 REITs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94060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0.2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94927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6641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327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13056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25574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8057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15676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47173"/>
                  </a:ext>
                </a:extLst>
              </a:tr>
            </a:tbl>
          </a:graphicData>
        </a:graphic>
      </p:graphicFrame>
      <p:sp>
        <p:nvSpPr>
          <p:cNvPr id="10" name="N 102">
            <a:extLst>
              <a:ext uri="{FF2B5EF4-FFF2-40B4-BE49-F238E27FC236}">
                <a16:creationId xmlns:a16="http://schemas.microsoft.com/office/drawing/2014/main" id="{B3368426-F986-29BB-4261-C68F7EBEE12E}"/>
              </a:ext>
            </a:extLst>
          </p:cNvPr>
          <p:cNvSpPr txBox="1"/>
          <p:nvPr/>
        </p:nvSpPr>
        <p:spPr>
          <a:xfrm>
            <a:off x="348191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14" name="N 102">
            <a:extLst>
              <a:ext uri="{FF2B5EF4-FFF2-40B4-BE49-F238E27FC236}">
                <a16:creationId xmlns:a16="http://schemas.microsoft.com/office/drawing/2014/main" id="{6AF33EEF-83CC-0103-BFEC-3A068CAAA0A5}"/>
              </a:ext>
            </a:extLst>
          </p:cNvPr>
          <p:cNvSpPr txBox="1"/>
          <p:nvPr/>
        </p:nvSpPr>
        <p:spPr>
          <a:xfrm>
            <a:off x="557106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2" name="N 102">
            <a:extLst>
              <a:ext uri="{FF2B5EF4-FFF2-40B4-BE49-F238E27FC236}">
                <a16:creationId xmlns:a16="http://schemas.microsoft.com/office/drawing/2014/main" id="{491BEE8B-7512-8C2F-B6D9-89FE6B290EBA}"/>
              </a:ext>
            </a:extLst>
          </p:cNvPr>
          <p:cNvSpPr txBox="1"/>
          <p:nvPr/>
        </p:nvSpPr>
        <p:spPr>
          <a:xfrm>
            <a:off x="1994393" y="1803933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26" name="N 102">
            <a:extLst>
              <a:ext uri="{FF2B5EF4-FFF2-40B4-BE49-F238E27FC236}">
                <a16:creationId xmlns:a16="http://schemas.microsoft.com/office/drawing/2014/main" id="{DB3692CE-CE00-8F3A-5D7D-6E2E54626C67}"/>
              </a:ext>
            </a:extLst>
          </p:cNvPr>
          <p:cNvSpPr txBox="1"/>
          <p:nvPr/>
        </p:nvSpPr>
        <p:spPr>
          <a:xfrm>
            <a:off x="3393505" y="1803933"/>
            <a:ext cx="682698" cy="3287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터미널 준공</a:t>
            </a:r>
          </a:p>
        </p:txBody>
      </p:sp>
      <p:sp>
        <p:nvSpPr>
          <p:cNvPr id="30" name="N 102">
            <a:extLst>
              <a:ext uri="{FF2B5EF4-FFF2-40B4-BE49-F238E27FC236}">
                <a16:creationId xmlns:a16="http://schemas.microsoft.com/office/drawing/2014/main" id="{3616E813-D898-34B2-9E80-C93C6A8E46A5}"/>
              </a:ext>
            </a:extLst>
          </p:cNvPr>
          <p:cNvSpPr txBox="1"/>
          <p:nvPr/>
        </p:nvSpPr>
        <p:spPr>
          <a:xfrm>
            <a:off x="4287309" y="1803933"/>
            <a:ext cx="774700" cy="176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34" name="N 102">
            <a:extLst>
              <a:ext uri="{FF2B5EF4-FFF2-40B4-BE49-F238E27FC236}">
                <a16:creationId xmlns:a16="http://schemas.microsoft.com/office/drawing/2014/main" id="{C20C4772-7451-2C99-8ED9-0CFD76390B60}"/>
              </a:ext>
            </a:extLst>
          </p:cNvPr>
          <p:cNvSpPr txBox="1"/>
          <p:nvPr/>
        </p:nvSpPr>
        <p:spPr>
          <a:xfrm>
            <a:off x="6164084" y="1074499"/>
            <a:ext cx="472164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법인세</a:t>
            </a:r>
          </a:p>
        </p:txBody>
      </p:sp>
      <p:sp>
        <p:nvSpPr>
          <p:cNvPr id="36" name="N 102">
            <a:extLst>
              <a:ext uri="{FF2B5EF4-FFF2-40B4-BE49-F238E27FC236}">
                <a16:creationId xmlns:a16="http://schemas.microsoft.com/office/drawing/2014/main" id="{D9049725-D2E2-3153-30AC-E327082F35FD}"/>
              </a:ext>
            </a:extLst>
          </p:cNvPr>
          <p:cNvSpPr txBox="1"/>
          <p:nvPr/>
        </p:nvSpPr>
        <p:spPr>
          <a:xfrm>
            <a:off x="6102350" y="1252301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  <p:sp>
        <p:nvSpPr>
          <p:cNvPr id="38" name="N 102">
            <a:extLst>
              <a:ext uri="{FF2B5EF4-FFF2-40B4-BE49-F238E27FC236}">
                <a16:creationId xmlns:a16="http://schemas.microsoft.com/office/drawing/2014/main" id="{BB107BD0-1B7B-1B60-0981-B544E4CE8721}"/>
              </a:ext>
            </a:extLst>
          </p:cNvPr>
          <p:cNvSpPr txBox="1"/>
          <p:nvPr/>
        </p:nvSpPr>
        <p:spPr>
          <a:xfrm>
            <a:off x="5057775" y="2520956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</p:spTree>
    <p:extLst>
      <p:ext uri="{BB962C8B-B14F-4D97-AF65-F5344CB8AC3E}">
        <p14:creationId xmlns:p14="http://schemas.microsoft.com/office/powerpoint/2010/main" val="455786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BB53-415E-BFA4-6B5A-6F7B0EA2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809218-D410-A2BF-9E3E-A3A96D1352D9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 err="1">
                <a:latin typeface="HY견고딕" panose="02030600000101010101" pitchFamily="18" charset="-127"/>
                <a:ea typeface="HY견고딕" panose="02030600000101010101" pitchFamily="18" charset="-127"/>
              </a:rPr>
              <a:t>영랑호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0924A4A0-77F7-6534-B104-B993A3F133E2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03F5F118-41FC-8797-6776-5ECE55E4F11F}"/>
              </a:ext>
            </a:extLst>
          </p:cNvPr>
          <p:cNvSpPr/>
          <p:nvPr/>
        </p:nvSpPr>
        <p:spPr>
          <a:xfrm>
            <a:off x="177800" y="3196042"/>
            <a:ext cx="6502400" cy="136960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방식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 구조화 미정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13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규모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관련 컨설팅 최종보고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세부조성계획 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(’29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32.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63EB5D66-D590-1766-8175-EA0909FD8C3F}"/>
              </a:ext>
            </a:extLst>
          </p:cNvPr>
          <p:cNvSpPr/>
          <p:nvPr/>
        </p:nvSpPr>
        <p:spPr>
          <a:xfrm>
            <a:off x="177800" y="4791055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총 사업비 </a:t>
            </a:r>
            <a:r>
              <a:rPr lang="en-US" altLang="ko-KR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자금 조달계획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0F1035-93D8-2536-956F-E737B084E3F7}"/>
              </a:ext>
            </a:extLst>
          </p:cNvPr>
          <p:cNvSpPr txBox="1"/>
          <p:nvPr/>
        </p:nvSpPr>
        <p:spPr>
          <a:xfrm>
            <a:off x="2496820" y="3432692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7D0FEB-5B77-9F40-2740-41E033E2BDE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4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9F7467-3FCB-EE34-8F84-C1F0DEBAB752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7"/>
          <a:ext cx="3492092" cy="1596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2092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강원도 속초시 금호동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610-20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399,129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(1,319,435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50,197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(165,940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79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16%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자연녹지지역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관광단지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유원지 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9E51E8D-D2A3-AFD0-BC76-CA95C29AA361}"/>
              </a:ext>
            </a:extLst>
          </p:cNvPr>
          <p:cNvSpPr txBox="1"/>
          <p:nvPr/>
        </p:nvSpPr>
        <p:spPr>
          <a:xfrm>
            <a:off x="5308600" y="5136971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6D00DCA-0AA0-7260-4CA1-D45E740E286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5352338"/>
          <a:ext cx="6451761" cy="1328453"/>
        </p:xfrm>
        <a:graphic>
          <a:graphicData uri="http://schemas.openxmlformats.org/drawingml/2006/table">
            <a:tbl>
              <a:tblPr/>
              <a:tblGrid>
                <a:gridCol w="511420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5589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02215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779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770182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3406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(토지비 46%)</a:t>
                      </a:r>
                      <a:endParaRPr lang="en-US" altLang="ko-KR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금리 연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가정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70%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69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(17%)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0" name="HC">
            <a:extLst>
              <a:ext uri="{FF2B5EF4-FFF2-40B4-BE49-F238E27FC236}">
                <a16:creationId xmlns:a16="http://schemas.microsoft.com/office/drawing/2014/main" id="{E77A51F8-CDAA-0487-6C57-381B097C9D92}"/>
              </a:ext>
            </a:extLst>
          </p:cNvPr>
          <p:cNvSpPr/>
          <p:nvPr/>
        </p:nvSpPr>
        <p:spPr>
          <a:xfrm>
            <a:off x="177800" y="699619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385E65A-1FAE-9335-BCB4-6D10D7815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375111"/>
              </p:ext>
            </p:extLst>
          </p:nvPr>
        </p:nvGraphicFramePr>
        <p:xfrm>
          <a:off x="260350" y="7456439"/>
          <a:ext cx="6445250" cy="17042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9766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2729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12755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2.72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1년차 매출 2,386억 (분양 1,935 + 운영 451) ÷ 당사 Equity 876억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1차년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164억 (분양이익 포함)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342.7%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3,002억 (운영 803 + 매각 2,199) ÷ 당사 Equity 876억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876억 납입 → 배당 3,002억 + 자본금 반환 876억, '27.4~'42.12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B9F7E5E-7D4F-1F52-75A7-6C105F57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80" y="1408417"/>
            <a:ext cx="2903219" cy="1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6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11B3-3BA8-851D-E6DC-813397D85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574CACA-A425-2654-BFEC-DC4017978826}"/>
              </a:ext>
            </a:extLst>
          </p:cNvPr>
          <p:cNvSpPr txBox="1"/>
          <p:nvPr/>
        </p:nvSpPr>
        <p:spPr bwMode="auto">
          <a:xfrm>
            <a:off x="5308600" y="335703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BF01BF3-1D50-4364-1A50-09419C5F6DC8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3AB9FFA1-706B-4FBC-13FB-2B87FFD0FA0A}"/>
              </a:ext>
            </a:extLst>
          </p:cNvPr>
          <p:cNvSpPr/>
          <p:nvPr/>
        </p:nvSpPr>
        <p:spPr>
          <a:xfrm>
            <a:off x="177800" y="418136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C5F1814-C323-AAF0-A212-F8B359A2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53588"/>
              </p:ext>
            </p:extLst>
          </p:nvPr>
        </p:nvGraphicFramePr>
        <p:xfrm>
          <a:off x="260350" y="582592"/>
          <a:ext cx="6451219" cy="3237798"/>
        </p:xfrm>
        <a:graphic>
          <a:graphicData uri="http://schemas.openxmlformats.org/drawingml/2006/table">
            <a:tbl>
              <a:tblPr/>
              <a:tblGrid>
                <a:gridCol w="467208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821835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56496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현물출자 (센트럴)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1,004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2조원, 연 7%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2,841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5,281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10,956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토지매입, 국공유지, 잔여부지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1,549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 7,874 + 간접 407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638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2,875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4,757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이자 (연 7%)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FF&amp;E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29,110평 × 평당 약 430만원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60368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일반관리비, 분양비, 제세공과금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1,865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기존회원권 보상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200억 × 3회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51581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7AB8A28-FBF2-6F1E-1517-BCFFB8C96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172007"/>
              </p:ext>
            </p:extLst>
          </p:nvPr>
        </p:nvGraphicFramePr>
        <p:xfrm>
          <a:off x="260352" y="4687967"/>
          <a:ext cx="6445246" cy="3202368"/>
        </p:xfrm>
        <a:graphic>
          <a:graphicData uri="http://schemas.openxmlformats.org/drawingml/2006/table">
            <a:tbl>
              <a:tblPr/>
              <a:tblGrid>
                <a:gridCol w="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118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1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2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회원제보증금 납입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3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4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(A)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13,830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 (제세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6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이자비용·법인세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(Equity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9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대출·보증금 상환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0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3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 (A-B)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7,724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6,978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6,840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6,707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1C405AD-59ED-244E-B0AA-4F1ED329D832}"/>
              </a:ext>
            </a:extLst>
          </p:cNvPr>
          <p:cNvSpPr txBox="1"/>
          <p:nvPr/>
        </p:nvSpPr>
        <p:spPr bwMode="auto">
          <a:xfrm>
            <a:off x="5308600" y="4474066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2C40BD68-F0A7-152A-D0D2-FA1517B03A89}"/>
              </a:ext>
            </a:extLst>
          </p:cNvPr>
          <p:cNvSpPr txBox="1">
            <a:spLocks/>
          </p:cNvSpPr>
          <p:nvPr/>
        </p:nvSpPr>
        <p:spPr>
          <a:xfrm>
            <a:off x="5874767" y="4306251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63767E38-C5C4-D940-8671-AD711CFAF033}"/>
              </a:ext>
            </a:extLst>
          </p:cNvPr>
          <p:cNvSpPr/>
          <p:nvPr/>
        </p:nvSpPr>
        <p:spPr>
          <a:xfrm rot="10800000">
            <a:off x="6039411" y="4458743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Footnote OpCF"/>
          <p:cNvSpPr txBox="1"/>
          <p:nvPr/>
        </p:nvSpPr>
        <p:spPr>
          <a:xfrm>
            <a:off x="1620012" y="7999178"/>
            <a:ext cx="64389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운영 (’33~’41) : 영업이익 △31억~1억 수준(감가상각비 196억 반영)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으로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배당 無 → 기말 현금은 ’42 회원제보증금 반환 재원으로 보유</a:t>
            </a:r>
          </a:p>
        </p:txBody>
      </p:sp>
    </p:spTree>
    <p:extLst>
      <p:ext uri="{BB962C8B-B14F-4D97-AF65-F5344CB8AC3E}">
        <p14:creationId xmlns:p14="http://schemas.microsoft.com/office/powerpoint/2010/main" val="21008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E200C-0D4B-5500-7606-555C9C4F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1F2025-BED3-2573-2C52-DC717C44E87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송도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0B266A7-F59D-2CDA-6755-FB1F77B84164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674B96DA-D2E6-26BA-AF81-30039536C79D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접수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명도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해외설계 완료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철거 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(’32.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A084FE1-A43A-B0B2-5365-787F43F7B441}"/>
              </a:ext>
            </a:extLst>
          </p:cNvPr>
          <p:cNvSpPr/>
          <p:nvPr/>
        </p:nvSpPr>
        <p:spPr>
          <a:xfrm>
            <a:off x="177800" y="636839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C78C7-35A9-B363-E2FA-9CE9AFD43421}"/>
              </a:ext>
            </a:extLst>
          </p:cNvPr>
          <p:cNvSpPr txBox="1"/>
          <p:nvPr/>
        </p:nvSpPr>
        <p:spPr>
          <a:xfrm>
            <a:off x="302260" y="3282713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9727C8-4EFD-BE49-7110-5799DDC7613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5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61D4674-C547-952F-ADE6-AA156400AC03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8"/>
          <a:ext cx="3924092" cy="1569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25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23867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인천광역시 연수구 송도동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10-1, 10-2, 10-3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17,351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(57,359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(532,893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4,104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3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 / 490%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4258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36000" marR="36000" marT="51023" marB="51023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노유자시설 불허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30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(15,741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이랜드몰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(6,000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7D885909-5C19-5CFB-F62A-5E1959E7F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" b="1"/>
          <a:stretch>
            <a:fillRect/>
          </a:stretch>
        </p:blipFill>
        <p:spPr>
          <a:xfrm>
            <a:off x="4198938" y="1408418"/>
            <a:ext cx="2506662" cy="15969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A2FC9E-A7B7-E479-6671-A88B37026ED7}"/>
              </a:ext>
            </a:extLst>
          </p:cNvPr>
          <p:cNvSpPr txBox="1"/>
          <p:nvPr/>
        </p:nvSpPr>
        <p:spPr bwMode="auto">
          <a:xfrm>
            <a:off x="4144611" y="2111671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호텔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BE1C1-9F87-F331-C132-263D71D14CF0}"/>
              </a:ext>
            </a:extLst>
          </p:cNvPr>
          <p:cNvSpPr txBox="1"/>
          <p:nvPr/>
        </p:nvSpPr>
        <p:spPr bwMode="auto">
          <a:xfrm>
            <a:off x="4532883" y="2448850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백화점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B07AAD-FA89-69C0-D06F-433FF7788B31}"/>
              </a:ext>
            </a:extLst>
          </p:cNvPr>
          <p:cNvSpPr txBox="1"/>
          <p:nvPr/>
        </p:nvSpPr>
        <p:spPr bwMode="auto">
          <a:xfrm>
            <a:off x="5268387" y="1882763"/>
            <a:ext cx="1313374" cy="253910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주거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  <a:p>
            <a:pPr algn="ctr">
              <a:defRPr/>
            </a:pP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(</a:t>
            </a:r>
            <a:r>
              <a:rPr lang="ko-KR" altLang="en-US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오피스텔</a:t>
            </a: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)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4954A4-0F88-B840-084B-F1151734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713" y="4697756"/>
            <a:ext cx="3016610" cy="14652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42AB500-E716-EE25-A9DC-3E8AD94D7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4697756"/>
            <a:ext cx="3018790" cy="1466259"/>
          </a:xfrm>
          <a:prstGeom prst="rect">
            <a:avLst/>
          </a:prstGeom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7C1363DA-369A-D86A-B7D2-9C339F6EF692}"/>
              </a:ext>
            </a:extLst>
          </p:cNvPr>
          <p:cNvGraphicFramePr>
            <a:graphicFrameLocks noGrp="1"/>
          </p:cNvGraphicFramePr>
          <p:nvPr/>
        </p:nvGraphicFramePr>
        <p:xfrm>
          <a:off x="260413" y="6883126"/>
          <a:ext cx="6445187" cy="2618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537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78168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2794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545141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47688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8662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2,348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1,049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 기준 배분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17,002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779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1,760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조달금리 일괄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37795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12,963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평균 평당가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44449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매출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Hybrid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모델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기획팀 제공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ADR 32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+3%/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상승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OCC 65%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(Marriott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급 브랜드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CF718F30-23E3-C0C2-D101-48AC498D336A}"/>
              </a:ext>
            </a:extLst>
          </p:cNvPr>
          <p:cNvSpPr txBox="1"/>
          <p:nvPr/>
        </p:nvSpPr>
        <p:spPr>
          <a:xfrm>
            <a:off x="5308600" y="6667682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748485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D9051-51C6-E4BF-0C2F-0C7D2C70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F35563C0-0835-C6D8-E9B9-32011E4C93F0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㈜</a:t>
            </a:r>
            <a:r>
              <a:rPr kumimoji="0" lang="ko-KR" altLang="en-US" sz="1100" b="0" i="0" u="none" strike="noStrike" kern="1200" cap="none" spc="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인천신세계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자체 개발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59B5927-3AB0-049F-9BEF-551E2A21EA56}"/>
              </a:ext>
            </a:extLst>
          </p:cNvPr>
          <p:cNvSpPr/>
          <p:nvPr/>
        </p:nvSpPr>
        <p:spPr>
          <a:xfrm>
            <a:off x="177800" y="3331854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2.5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0.97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: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회사채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(CP :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전 부족 공사비 단기 차입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301E9C4-ABA3-780D-5506-45521289D2F6}"/>
              </a:ext>
            </a:extLst>
          </p:cNvPr>
          <p:cNvSpPr/>
          <p:nvPr/>
        </p:nvSpPr>
        <p:spPr>
          <a:xfrm>
            <a:off x="177800" y="584557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F90F2-6891-1A55-8065-5A3160AD1650}"/>
              </a:ext>
            </a:extLst>
          </p:cNvPr>
          <p:cNvSpPr txBox="1"/>
          <p:nvPr/>
        </p:nvSpPr>
        <p:spPr>
          <a:xfrm>
            <a:off x="5308600" y="418158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382637A-75EB-D864-E22E-B6D84C185F27}"/>
              </a:ext>
            </a:extLst>
          </p:cNvPr>
          <p:cNvGraphicFramePr>
            <a:graphicFrameLocks noGrp="1"/>
          </p:cNvGraphicFramePr>
          <p:nvPr/>
        </p:nvGraphicFramePr>
        <p:xfrm>
          <a:off x="3289955" y="1086925"/>
          <a:ext cx="3415644" cy="1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8763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16881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54120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전략실 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6.6%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9,732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29,314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76931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배당기준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7.0%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3,685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18,101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9.1%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2,456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12,067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559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사업비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분양불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추가사업비 발생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3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대규모 회사채 조달 부담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PF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대출도 고려 中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46250" marR="29250" marT="29250" marB="58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34B4436-20EB-E163-8218-7A20F60117E7}"/>
              </a:ext>
            </a:extLst>
          </p:cNvPr>
          <p:cNvSpPr txBox="1"/>
          <p:nvPr/>
        </p:nvSpPr>
        <p:spPr bwMode="auto">
          <a:xfrm>
            <a:off x="4012666" y="1384195"/>
            <a:ext cx="2521483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전략실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대규모 투자 기준 청산가치 추정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B7F43FC-95C5-A5D3-B2EF-170C63304739}"/>
              </a:ext>
            </a:extLst>
          </p:cNvPr>
          <p:cNvGrpSpPr/>
          <p:nvPr/>
        </p:nvGrpSpPr>
        <p:grpSpPr>
          <a:xfrm>
            <a:off x="260351" y="1072557"/>
            <a:ext cx="2859921" cy="1884058"/>
            <a:chOff x="260350" y="1072557"/>
            <a:chExt cx="4517237" cy="1417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F8D06AD-576C-01C2-DBE9-7FA7DE32E3C3}"/>
                </a:ext>
              </a:extLst>
            </p:cNvPr>
            <p:cNvSpPr/>
            <p:nvPr/>
          </p:nvSpPr>
          <p:spPr>
            <a:xfrm>
              <a:off x="347380" y="1885439"/>
              <a:ext cx="1660549" cy="51904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6,141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876DA2F-FA91-D4A9-809B-CD114C1FF31C}"/>
                </a:ext>
              </a:extLst>
            </p:cNvPr>
            <p:cNvSpPr/>
            <p:nvPr/>
          </p:nvSpPr>
          <p:spPr>
            <a:xfrm>
              <a:off x="260350" y="1072557"/>
              <a:ext cx="4499999" cy="284074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토지소유주 </a:t>
              </a: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: 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㈜</a:t>
              </a:r>
              <a:r>
                <a:rPr lang="ko-KR" altLang="en-US" sz="105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endPara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81A8DA6-8991-C46B-51C4-81EF1CFF4F2F}"/>
                </a:ext>
              </a:extLst>
            </p:cNvPr>
            <p:cNvSpPr/>
            <p:nvPr/>
          </p:nvSpPr>
          <p:spPr>
            <a:xfrm>
              <a:off x="270511" y="1720223"/>
              <a:ext cx="4507076" cy="7702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ko-KR" altLang="en-US" sz="1000">
                <a:ln>
                  <a:solidFill>
                    <a:srgbClr val="002060"/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A2BD6A8-1B54-824A-85BC-7E6B355FE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5715" y="1417823"/>
              <a:ext cx="0" cy="16200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77A70A25-3F03-16A3-8D90-6AF85101C96E}"/>
                </a:ext>
              </a:extLst>
            </p:cNvPr>
            <p:cNvSpPr/>
            <p:nvPr/>
          </p:nvSpPr>
          <p:spPr>
            <a:xfrm>
              <a:off x="1548379" y="1865462"/>
              <a:ext cx="3153889" cy="592706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10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57B6E8-FA6C-F5D6-F0C1-4BA42EE012F5}"/>
                </a:ext>
              </a:extLst>
            </p:cNvPr>
            <p:cNvSpPr/>
            <p:nvPr/>
          </p:nvSpPr>
          <p:spPr>
            <a:xfrm>
              <a:off x="2084799" y="1885439"/>
              <a:ext cx="1323260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(3,685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5FF696-A0D3-5C32-2044-F81554911937}"/>
                </a:ext>
              </a:extLst>
            </p:cNvPr>
            <p:cNvSpPr/>
            <p:nvPr/>
          </p:nvSpPr>
          <p:spPr>
            <a:xfrm>
              <a:off x="3440812" y="1885439"/>
              <a:ext cx="1228703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GIC 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(2,456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3F23A0F-EF6E-6761-4799-4F74EC08FCD5}"/>
                </a:ext>
              </a:extLst>
            </p:cNvPr>
            <p:cNvSpPr/>
            <p:nvPr/>
          </p:nvSpPr>
          <p:spPr>
            <a:xfrm>
              <a:off x="1548379" y="1578186"/>
              <a:ext cx="2103702" cy="28407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 err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주주 구성</a:t>
              </a:r>
              <a:endParaRPr lang="ko-KR" altLang="en-US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1FF0F32-EEF4-A374-76EF-176899770A3B}"/>
              </a:ext>
            </a:extLst>
          </p:cNvPr>
          <p:cNvSpPr txBox="1"/>
          <p:nvPr/>
        </p:nvSpPr>
        <p:spPr bwMode="auto">
          <a:xfrm>
            <a:off x="4030446" y="2162068"/>
            <a:ext cx="283947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20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후 매각 전제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백화점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6%,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5%)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6125A96-40C8-202D-F68C-80F2F8758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37370"/>
              </p:ext>
            </p:extLst>
          </p:nvPr>
        </p:nvGraphicFramePr>
        <p:xfrm>
          <a:off x="260350" y="4393570"/>
          <a:ext cx="6445252" cy="1076770"/>
        </p:xfrm>
        <a:graphic>
          <a:graphicData uri="http://schemas.openxmlformats.org/drawingml/2006/table">
            <a:tbl>
              <a:tblPr/>
              <a:tblGrid>
                <a:gridCol w="161131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6055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CP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 잔금 유동화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3,973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분양대금</a:t>
                      </a:r>
                      <a:endParaRPr sz="9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C3E00E26-BA6E-EFBE-D9F1-F5E55041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763550"/>
              </p:ext>
            </p:extLst>
          </p:nvPr>
        </p:nvGraphicFramePr>
        <p:xfrm>
          <a:off x="266784" y="6305819"/>
          <a:ext cx="6438816" cy="17062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968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1498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0835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5964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0.98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 매출 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총투자비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 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차입이자 포함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202%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÷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누계 영업현금흐름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청산가치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683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9B16A71D-4536-C3A2-FE5C-4A7BF36323A0}"/>
              </a:ext>
            </a:extLst>
          </p:cNvPr>
          <p:cNvSpPr txBox="1"/>
          <p:nvPr/>
        </p:nvSpPr>
        <p:spPr bwMode="auto">
          <a:xfrm>
            <a:off x="5308600" y="332743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E1E439-8726-3889-3A45-A7B791194DBE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392587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9921B1-2A16-108E-1225-6CEBFB5D8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52322"/>
              </p:ext>
            </p:extLst>
          </p:nvPr>
        </p:nvGraphicFramePr>
        <p:xfrm>
          <a:off x="260350" y="582592"/>
          <a:ext cx="6445251" cy="3148920"/>
        </p:xfrm>
        <a:graphic>
          <a:graphicData uri="http://schemas.openxmlformats.org/drawingml/2006/table">
            <a:tbl>
              <a:tblPr/>
              <a:tblGrid>
                <a:gridCol w="420233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739204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113870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748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3,685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(GIC)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3,791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CP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3,973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2,992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2,395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취득가액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795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2929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5782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6,619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1,494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92869"/>
              </p:ext>
            </p:extLst>
          </p:nvPr>
        </p:nvGraphicFramePr>
        <p:xfrm>
          <a:off x="260352" y="4473119"/>
          <a:ext cx="6445246" cy="2210801"/>
        </p:xfrm>
        <a:graphic>
          <a:graphicData uri="http://schemas.openxmlformats.org/drawingml/2006/table">
            <a:tbl>
              <a:tblPr/>
              <a:tblGrid>
                <a:gridCol w="421808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977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45200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420681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85118689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88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336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1599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 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896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21599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4266127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926946"/>
              </p:ext>
            </p:extLst>
          </p:nvPr>
        </p:nvGraphicFramePr>
        <p:xfrm>
          <a:off x="260351" y="7029362"/>
          <a:ext cx="6445255" cy="2261529"/>
        </p:xfrm>
        <a:graphic>
          <a:graphicData uri="http://schemas.openxmlformats.org/drawingml/2006/table">
            <a:tbl>
              <a:tblPr/>
              <a:tblGrid>
                <a:gridCol w="421723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82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17821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44320389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019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0021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상승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건물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428986"/>
                  </a:ext>
                </a:extLst>
              </a:tr>
              <a:tr h="19402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19402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주거이익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26,857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18,603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30,167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18,101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12,067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EE959A9F-0054-F3F3-72A9-3BD11519E69A}"/>
              </a:ext>
            </a:extLst>
          </p:cNvPr>
          <p:cNvSpPr txBox="1">
            <a:spLocks/>
          </p:cNvSpPr>
          <p:nvPr/>
        </p:nvSpPr>
        <p:spPr>
          <a:xfrm>
            <a:off x="5919788" y="6757809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202FA19-A9B7-6642-AC7A-1F413484A0DF}"/>
              </a:ext>
            </a:extLst>
          </p:cNvPr>
          <p:cNvSpPr/>
          <p:nvPr/>
        </p:nvSpPr>
        <p:spPr>
          <a:xfrm rot="10800000">
            <a:off x="6085692" y="6921564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0798A0-EF69-64C8-5134-064610BEE70C}"/>
              </a:ext>
            </a:extLst>
          </p:cNvPr>
          <p:cNvSpPr/>
          <p:nvPr/>
        </p:nvSpPr>
        <p:spPr>
          <a:xfrm>
            <a:off x="348821" y="9355236"/>
            <a:ext cx="6356778" cy="371897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※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 조건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100%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이하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흑자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시 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배당가능이익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 100%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</a:t>
            </a:r>
            <a:endParaRPr lang="en-US" altLang="ko-KR" sz="7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500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이익준비금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의무 적립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자본금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½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한도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),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감액배당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주식발행 초과금 재원에서 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투자금 회수 개념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26A21C-E474-5419-15E3-20573312C556}"/>
              </a:ext>
            </a:extLst>
          </p:cNvPr>
          <p:cNvSpPr txBox="1"/>
          <p:nvPr/>
        </p:nvSpPr>
        <p:spPr bwMode="auto">
          <a:xfrm>
            <a:off x="2534459" y="6746758"/>
            <a:ext cx="307178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* 1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년차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 운영비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세금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GIC 5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 치 배당 재원으로 부채 미상환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025854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0472-6B32-6A1D-6F5D-903C8510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4B11A3-8D65-A510-E830-6E075582F12E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울산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1B1CA611-F963-00B8-15F6-A33AFE3481DD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5780C084-D225-E9D1-5671-B9E5E6CC0F4B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MOU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체결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↔ 동원개발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)</a:t>
            </a:r>
            <a:endParaRPr lang="en-US" altLang="ko-KR" sz="10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지구단위계획 변경승인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법인 설립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‘34.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완료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7F81CC9-1F0F-4FC9-FB9D-EAB96CF8398F}"/>
              </a:ext>
            </a:extLst>
          </p:cNvPr>
          <p:cNvSpPr/>
          <p:nvPr/>
        </p:nvSpPr>
        <p:spPr>
          <a:xfrm>
            <a:off x="177800" y="657032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F0779-6085-62C0-85D0-9CCEC5666850}"/>
              </a:ext>
            </a:extLst>
          </p:cNvPr>
          <p:cNvSpPr txBox="1"/>
          <p:nvPr/>
        </p:nvSpPr>
        <p:spPr>
          <a:xfrm>
            <a:off x="294896" y="3288059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229AF-4843-17FA-AACB-235A18EDFDA0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6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3FE18-A36F-6E8A-F025-AC16BCB5751A}"/>
              </a:ext>
            </a:extLst>
          </p:cNvPr>
          <p:cNvSpPr txBox="1"/>
          <p:nvPr/>
        </p:nvSpPr>
        <p:spPr>
          <a:xfrm>
            <a:off x="5308600" y="6927750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13E241-4DA7-E019-DCB9-424864CCB522}"/>
              </a:ext>
            </a:extLst>
          </p:cNvPr>
          <p:cNvGraphicFramePr>
            <a:graphicFrameLocks noGrp="1"/>
          </p:cNvGraphicFramePr>
          <p:nvPr/>
        </p:nvGraphicFramePr>
        <p:xfrm>
          <a:off x="276239" y="1415281"/>
          <a:ext cx="3966790" cy="1538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19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30816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울산광역시 중구 우정동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490,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522-1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13,900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(47,350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7,360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700" b="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latinLnBrk="1">
                        <a:spcBef>
                          <a:spcPts val="300"/>
                        </a:spcBef>
                      </a:pP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탁상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197,602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(653,229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면적 변동 可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79.5% / 740%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129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특별계획구역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지구단위계획구역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2BDD2FCE-FDBD-E8F8-1146-3AB0F8C8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1" y="1389725"/>
            <a:ext cx="2374900" cy="159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1A7414-6D29-6A9A-148F-6317AA4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05" y="4692623"/>
            <a:ext cx="3091256" cy="154377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5D15DA2-E270-970D-9B80-B00093A0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4692623"/>
            <a:ext cx="3091256" cy="154377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A047AD8-8CA9-27B8-3B30-13976C17C447}"/>
              </a:ext>
            </a:extLst>
          </p:cNvPr>
          <p:cNvGraphicFramePr>
            <a:graphicFrameLocks noGrp="1"/>
          </p:cNvGraphicFramePr>
          <p:nvPr/>
        </p:nvGraphicFramePr>
        <p:xfrm>
          <a:off x="294896" y="7154009"/>
          <a:ext cx="6410704" cy="2189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54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548706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710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64897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569454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648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450913"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(1,420)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(1,180)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탁상 감정가 수준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취등록세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125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별도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판매시설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문화시설 등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298441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 조달</a:t>
                      </a:r>
                    </a:p>
                  </a:txBody>
                  <a:tcPr marL="252000" marR="36000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sz="900"/>
                    </a:p>
                  </a:txBody>
                  <a:tcPr marL="3600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16,000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cost 7.00%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6.65%,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298441"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28,352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평균 공급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평당가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11.1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2,020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 공급가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근생시설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공급가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2.5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계약면적 기준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199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42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E0F2-9AE7-15DD-E24E-9E2545CA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0AB67B-564A-A281-5543-0A7F5B3D0D2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 defTabSz="457200" latinLnBrk="0">
              <a:lnSpc>
                <a:spcPct val="200000"/>
              </a:lnSpc>
              <a:spcBef>
                <a:spcPts val="940"/>
              </a:spcBef>
              <a:tabLst>
                <a:tab pos="227003" algn="l"/>
                <a:tab pos="1165174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동원개발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간접개발기구 설립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(Vehicle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미정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89B66214-B57B-5F95-8028-72C86DB6AEC7}"/>
              </a:ext>
            </a:extLst>
          </p:cNvPr>
          <p:cNvSpPr/>
          <p:nvPr/>
        </p:nvSpPr>
        <p:spPr>
          <a:xfrm>
            <a:off x="177800" y="3118209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0.12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PF 1.6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분양대금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0.8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endParaRPr lang="en-US" altLang="ko-KR" sz="9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4544A-6127-770F-CF85-616A743D5C96}"/>
              </a:ext>
            </a:extLst>
          </p:cNvPr>
          <p:cNvSpPr txBox="1"/>
          <p:nvPr/>
        </p:nvSpPr>
        <p:spPr>
          <a:xfrm>
            <a:off x="5308600" y="3844982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565164F-196F-CE07-05A1-6A550AFC6290}"/>
              </a:ext>
            </a:extLst>
          </p:cNvPr>
          <p:cNvGraphicFramePr>
            <a:graphicFrameLocks noGrp="1"/>
          </p:cNvGraphicFramePr>
          <p:nvPr/>
        </p:nvGraphicFramePr>
        <p:xfrm>
          <a:off x="3667407" y="1200487"/>
          <a:ext cx="3033137" cy="1740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76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00372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9169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기타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698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8491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아파트 공사비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분양불 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    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시공사 선정 시 변동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주변 시세 比 분양가 高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군 브랜드 활용 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6A24F464-3D07-BDEA-B9A9-215F9832408A}"/>
              </a:ext>
            </a:extLst>
          </p:cNvPr>
          <p:cNvGrpSpPr/>
          <p:nvPr/>
        </p:nvGrpSpPr>
        <p:grpSpPr>
          <a:xfrm>
            <a:off x="315450" y="1200484"/>
            <a:ext cx="3243089" cy="1740834"/>
            <a:chOff x="596004" y="1318227"/>
            <a:chExt cx="4499999" cy="2179318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580EF2D-0D85-D70E-76E2-B69730521F63}"/>
                </a:ext>
              </a:extLst>
            </p:cNvPr>
            <p:cNvSpPr/>
            <p:nvPr/>
          </p:nvSpPr>
          <p:spPr>
            <a:xfrm>
              <a:off x="669336" y="2397225"/>
              <a:ext cx="1264447" cy="105460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3,000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5096E93-933C-66E6-1F3E-B6BD8438E7D2}"/>
                </a:ext>
              </a:extLst>
            </p:cNvPr>
            <p:cNvSpPr/>
            <p:nvPr/>
          </p:nvSpPr>
          <p:spPr>
            <a:xfrm>
              <a:off x="596004" y="1318227"/>
              <a:ext cx="4499999" cy="369577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</a:t>
              </a:r>
              <a:endPara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9CCF20C-52DB-D07C-3B31-6D2DBF876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7671" y="1783047"/>
              <a:ext cx="0" cy="25908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2687B73-5669-4975-CE0A-A3816182805D}"/>
                </a:ext>
              </a:extLst>
            </p:cNvPr>
            <p:cNvSpPr/>
            <p:nvPr/>
          </p:nvSpPr>
          <p:spPr>
            <a:xfrm>
              <a:off x="2001076" y="2336318"/>
              <a:ext cx="3051935" cy="1161227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9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3F6C789-5241-70D6-D00F-334BBA87689E}"/>
                </a:ext>
              </a:extLst>
            </p:cNvPr>
            <p:cNvSpPr/>
            <p:nvPr/>
          </p:nvSpPr>
          <p:spPr>
            <a:xfrm>
              <a:off x="3110635" y="2397225"/>
              <a:ext cx="1002489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동원개발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228864-3B84-73AD-F1E8-CA976B58B4C7}"/>
                </a:ext>
              </a:extLst>
            </p:cNvPr>
            <p:cNvSpPr/>
            <p:nvPr/>
          </p:nvSpPr>
          <p:spPr>
            <a:xfrm>
              <a:off x="4180418" y="2397225"/>
              <a:ext cx="811054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기타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20%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(600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D3B6867-2ECC-BC7C-F1B3-5A0A4E9D5206}"/>
                </a:ext>
              </a:extLst>
            </p:cNvPr>
            <p:cNvSpPr/>
            <p:nvPr/>
          </p:nvSpPr>
          <p:spPr>
            <a:xfrm>
              <a:off x="1812639" y="2118220"/>
              <a:ext cx="2030062" cy="218098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 주주 구성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E21AE69-2D3E-695E-D658-DC27979A61A7}"/>
                </a:ext>
              </a:extLst>
            </p:cNvPr>
            <p:cNvSpPr/>
            <p:nvPr/>
          </p:nvSpPr>
          <p:spPr>
            <a:xfrm>
              <a:off x="2037890" y="2397225"/>
              <a:ext cx="1002490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5AA2FEE-E563-E0D1-8544-DA7C7D9ADB1D}"/>
              </a:ext>
            </a:extLst>
          </p:cNvPr>
          <p:cNvSpPr txBox="1"/>
          <p:nvPr/>
        </p:nvSpPr>
        <p:spPr bwMode="auto">
          <a:xfrm>
            <a:off x="4228442" y="1911386"/>
            <a:ext cx="2580969" cy="221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833394" fontAlgn="base">
              <a:lnSpc>
                <a:spcPct val="120000"/>
              </a:lnSpc>
              <a:spcBef>
                <a:spcPts val="283"/>
              </a:spcBef>
              <a:defRPr/>
            </a:pP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투자기간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판매시설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 rate 5.0%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매각 기준</a:t>
            </a:r>
            <a:endParaRPr lang="en-US" altLang="ko-KR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916B0E91-C13A-F355-674F-05F6CFC3022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4061201"/>
          <a:ext cx="6440195" cy="1076770"/>
        </p:xfrm>
        <a:graphic>
          <a:graphicData uri="http://schemas.openxmlformats.org/drawingml/2006/table">
            <a:tbl>
              <a:tblPr/>
              <a:tblGrid>
                <a:gridCol w="145287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78429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53707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2049325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71353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6388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(72%)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3,000 (11%)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2,725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 (59%)</a:t>
                      </a: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1,277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3,484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분양대금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8,017 (30%) 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A305D2-024E-DC5F-621C-D0E5AF238AE8}"/>
              </a:ext>
            </a:extLst>
          </p:cNvPr>
          <p:cNvSpPr/>
          <p:nvPr/>
        </p:nvSpPr>
        <p:spPr>
          <a:xfrm>
            <a:off x="177800" y="544327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D0C8DB-AE09-746E-E103-BCA38C2A2CB2}"/>
              </a:ext>
            </a:extLst>
          </p:cNvPr>
          <p:cNvSpPr txBox="1"/>
          <p:nvPr/>
        </p:nvSpPr>
        <p:spPr bwMode="auto">
          <a:xfrm>
            <a:off x="5308600" y="578392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4DA426C-6C7A-3C53-14C1-6491B4A3E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42200"/>
              </p:ext>
            </p:extLst>
          </p:nvPr>
        </p:nvGraphicFramePr>
        <p:xfrm>
          <a:off x="260350" y="6024567"/>
          <a:ext cx="6445246" cy="3552084"/>
        </p:xfrm>
        <a:graphic>
          <a:graphicData uri="http://schemas.openxmlformats.org/drawingml/2006/table">
            <a:tbl>
              <a:tblPr/>
              <a:tblGrid>
                <a:gridCol w="36008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542437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208844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438640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51482525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95059082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65452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50106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기타투자자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중도상환 가정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6,850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6,011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2,835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30,508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r" rtl="0" fontAlgn="ctr">
                        <a:buNone/>
                      </a:pPr>
                      <a:endParaRPr lang="en-US" altLang="ko-KR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40,358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501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합계 기준 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6545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1,006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문화시설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809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5,350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all-in cost 7.0%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△1,045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11,383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1,004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1,854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1,959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13,342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179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개발 개요"/>
          <p:cNvSpPr txBox="1"/>
          <p:nvPr/>
        </p:nvSpPr>
        <p:spPr>
          <a:xfrm>
            <a:off x="177800" y="10922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101" name="개요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593438"/>
              </p:ext>
            </p:extLst>
          </p:nvPr>
        </p:nvGraphicFramePr>
        <p:xfrm>
          <a:off x="266699" y="1433832"/>
          <a:ext cx="3262381" cy="1762123"/>
        </p:xfrm>
        <a:graphic>
          <a:graphicData uri="http://schemas.openxmlformats.org/drawingml/2006/table">
            <a:tbl>
              <a:tblPr/>
              <a:tblGrid>
                <a:gridCol w="93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강남구 수서동 187번지 일원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3.1만평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05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 / 주차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16.4만평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(百 연면적 6.5만평)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주차면 4,500대 수준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건폐율 / 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39.29% / 299.64%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일반상업지역, 지구단위계획구역, 고속철도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사업법인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㈜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수서역환승센터복합개발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" name="H ■ 사업 일정"/>
          <p:cNvSpPr txBox="1"/>
          <p:nvPr/>
        </p:nvSpPr>
        <p:spPr>
          <a:xfrm>
            <a:off x="177800" y="3343275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105" name="H ■ 사업 구조 (BOT)"/>
          <p:cNvSpPr txBox="1"/>
          <p:nvPr/>
        </p:nvSpPr>
        <p:spPr>
          <a:xfrm>
            <a:off x="177800" y="462661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 구조 (BOT)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사업주가 시설 신축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Build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50년간 시설 운영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Operation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시설 반납 (Transfer)</a:t>
            </a:r>
          </a:p>
        </p:txBody>
      </p:sp>
      <p:sp>
        <p:nvSpPr>
          <p:cNvPr id="106" name="구조점선"/>
          <p:cNvSpPr/>
          <p:nvPr/>
        </p:nvSpPr>
        <p:spPr>
          <a:xfrm>
            <a:off x="266700" y="5007610"/>
            <a:ext cx="4445000" cy="184023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35560" tIns="0" rIns="35560" bIns="0" anchor="ctr">
            <a:noAutofit/>
          </a:bodyPr>
          <a:lstStyle/>
          <a:p>
            <a:endParaRPr lang="ko-KR"/>
          </a:p>
        </p:txBody>
      </p:sp>
      <p:sp>
        <p:nvSpPr>
          <p:cNvPr id="107" name="SPC"/>
          <p:cNvSpPr txBox="1"/>
          <p:nvPr/>
        </p:nvSpPr>
        <p:spPr>
          <a:xfrm>
            <a:off x="393700" y="505841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㈜수서역환승센터복합개발 (SPC)</a:t>
            </a:r>
          </a:p>
        </p:txBody>
      </p:sp>
      <p:sp>
        <p:nvSpPr>
          <p:cNvPr id="108" name="주주 ㈜한화 건설부문 (46.3%)"/>
          <p:cNvSpPr/>
          <p:nvPr/>
        </p:nvSpPr>
        <p:spPr>
          <a:xfrm>
            <a:off x="393700" y="5337810"/>
            <a:ext cx="41910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㈜한화 건설부문 (46.3%)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시공 및 총괄 관리</a:t>
            </a:r>
          </a:p>
        </p:txBody>
      </p:sp>
      <p:sp>
        <p:nvSpPr>
          <p:cNvPr id="109" name="주주 ㈜신세계 (14.24%)"/>
          <p:cNvSpPr/>
          <p:nvPr/>
        </p:nvSpPr>
        <p:spPr>
          <a:xfrm>
            <a:off x="393700" y="5795010"/>
            <a:ext cx="2070100" cy="3810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㈜신세계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책임임차</a:t>
            </a:r>
          </a:p>
        </p:txBody>
      </p:sp>
      <p:sp>
        <p:nvSpPr>
          <p:cNvPr id="110" name="주주 ㈜KT에스테이트 (14.24%)"/>
          <p:cNvSpPr/>
          <p:nvPr/>
        </p:nvSpPr>
        <p:spPr>
          <a:xfrm>
            <a:off x="2514600" y="5795010"/>
            <a:ext cx="20701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850" b="1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KT에스테이트</a:t>
            </a: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책임운영</a:t>
            </a:r>
          </a:p>
        </p:txBody>
      </p:sp>
      <p:sp>
        <p:nvSpPr>
          <p:cNvPr id="111" name="주주 이지스"/>
          <p:cNvSpPr/>
          <p:nvPr/>
        </p:nvSpPr>
        <p:spPr>
          <a:xfrm>
            <a:off x="39370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이지스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AMC</a:t>
            </a:r>
          </a:p>
        </p:txBody>
      </p:sp>
      <p:sp>
        <p:nvSpPr>
          <p:cNvPr id="112" name="주주 한투증권"/>
          <p:cNvSpPr/>
          <p:nvPr/>
        </p:nvSpPr>
        <p:spPr>
          <a:xfrm>
            <a:off x="124206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한투증권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3" name="주주 헤리티지"/>
          <p:cNvSpPr/>
          <p:nvPr/>
        </p:nvSpPr>
        <p:spPr>
          <a:xfrm>
            <a:off x="209042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헤리티지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금융자문</a:t>
            </a:r>
          </a:p>
        </p:txBody>
      </p:sp>
      <p:sp>
        <p:nvSpPr>
          <p:cNvPr id="114" name="주주 미래에셋"/>
          <p:cNvSpPr/>
          <p:nvPr/>
        </p:nvSpPr>
        <p:spPr>
          <a:xfrm>
            <a:off x="293878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미래에셋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(3.57%)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5" name="주주 철도공단"/>
          <p:cNvSpPr/>
          <p:nvPr/>
        </p:nvSpPr>
        <p:spPr>
          <a:xfrm>
            <a:off x="378714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(0.3%)</a:t>
            </a:r>
          </a:p>
        </p:txBody>
      </p:sp>
      <p:sp>
        <p:nvSpPr>
          <p:cNvPr id="116" name="철도공단"/>
          <p:cNvSpPr/>
          <p:nvPr/>
        </p:nvSpPr>
        <p:spPr>
          <a:xfrm>
            <a:off x="5689600" y="5515610"/>
            <a:ext cx="1016000" cy="812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(토지 소유권자)</a:t>
            </a:r>
          </a:p>
        </p:txBody>
      </p:sp>
      <p:cxnSp>
        <p:nvCxnSpPr>
          <p:cNvPr id="117" name="점용료 화살표"/>
          <p:cNvCxnSpPr/>
          <p:nvPr/>
        </p:nvCxnSpPr>
        <p:spPr>
          <a:xfrm>
            <a:off x="4737100" y="5795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cxnSp>
        <p:nvCxnSpPr>
          <p:cNvPr id="118" name="점용허가 화살표"/>
          <p:cNvCxnSpPr/>
          <p:nvPr/>
        </p:nvCxnSpPr>
        <p:spPr>
          <a:xfrm flipH="1">
            <a:off x="4737100" y="6049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sp>
        <p:nvSpPr>
          <p:cNvPr id="119" name="토지점용료"/>
          <p:cNvSpPr txBox="1"/>
          <p:nvPr/>
        </p:nvSpPr>
        <p:spPr>
          <a:xfrm>
            <a:off x="4711700" y="5591810"/>
            <a:ext cx="9779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토지점용료</a:t>
            </a:r>
          </a:p>
        </p:txBody>
      </p:sp>
      <p:sp>
        <p:nvSpPr>
          <p:cNvPr id="120" name="토지점용허가"/>
          <p:cNvSpPr txBox="1"/>
          <p:nvPr/>
        </p:nvSpPr>
        <p:spPr>
          <a:xfrm>
            <a:off x="4711700" y="609981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토지점용허가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(50년간 운영권)</a:t>
            </a:r>
          </a:p>
        </p:txBody>
      </p:sp>
      <p:sp>
        <p:nvSpPr>
          <p:cNvPr id="121" name="H ■ 사업성 전제"/>
          <p:cNvSpPr txBox="1"/>
          <p:nvPr/>
        </p:nvSpPr>
        <p:spPr>
          <a:xfrm>
            <a:off x="177800" y="703453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122" name="사업성전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546762"/>
              </p:ext>
            </p:extLst>
          </p:nvPr>
        </p:nvGraphicFramePr>
        <p:xfrm>
          <a:off x="266700" y="7435851"/>
          <a:ext cx="6438900" cy="2452854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</a:p>
                  </a:txBody>
                  <a:tcPr marL="50800" marR="50800" marT="19050" marB="1905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7,400억원 / 최소보장임대료 330억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239실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ADR 21만원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(시장 평균 ADR 19만원 比 110%)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OCC 69%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(1년차)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→ 82%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(50년 평균)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문화·교육·의료·판매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문화·의료 NOC 9만원 / 판매 NOC 10.5만원 / 교육 NOC 7.5만원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3.4만평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23만원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(수서효성빌딩 比 140%)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892세대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17.6만원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(수서역 사이룩스 ’03 준공 比 200%)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10평 이하 79% / 20평 이하 16% / 20평 이상 5%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운수시설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(주차장)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2.15만평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연간 매출 136억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환승주차장 1,140대 × 日 3.6만원 × 365일 × 1년차 사용률 90%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837A784D-AFE3-F034-704D-943DD523126C}"/>
              </a:ext>
            </a:extLst>
          </p:cNvPr>
          <p:cNvGrpSpPr/>
          <p:nvPr/>
        </p:nvGrpSpPr>
        <p:grpSpPr>
          <a:xfrm>
            <a:off x="3634740" y="1368208"/>
            <a:ext cx="3070860" cy="1822668"/>
            <a:chOff x="6242140" y="525520"/>
            <a:chExt cx="3070860" cy="19565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7F9DEB1-161C-2BA1-FB64-7DDB55A34E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4" t="9362" r="17930" b="15233"/>
            <a:stretch>
              <a:fillRect/>
            </a:stretch>
          </p:blipFill>
          <p:spPr bwMode="auto">
            <a:xfrm>
              <a:off x="6242140" y="525520"/>
              <a:ext cx="3070860" cy="1956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53E517-7AA9-38B6-C2D0-EE25387A149B}"/>
                </a:ext>
              </a:extLst>
            </p:cNvPr>
            <p:cNvSpPr/>
            <p:nvPr/>
          </p:nvSpPr>
          <p:spPr>
            <a:xfrm>
              <a:off x="665607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복합지원시설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호텔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의료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주차장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(B8F~21F)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C5648BF-4566-565E-56DF-720A588F8DF4}"/>
                </a:ext>
              </a:extLst>
            </p:cNvPr>
            <p:cNvSpPr/>
            <p:nvPr/>
          </p:nvSpPr>
          <p:spPr>
            <a:xfrm>
              <a:off x="6361430" y="1552356"/>
              <a:ext cx="700088" cy="312577"/>
            </a:xfrm>
            <a:prstGeom prst="rect">
              <a:avLst/>
            </a:prstGeom>
            <a:solidFill>
              <a:srgbClr val="C00000">
                <a:alpha val="53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백화점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(1F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～</a:t>
              </a:r>
              <a:r>
                <a:rPr lang="ko-KR" altLang="en-US" sz="50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１２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Ｆ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A2A8C46-7F09-D2BE-E28F-40AB0E654816}"/>
                </a:ext>
              </a:extLst>
            </p:cNvPr>
            <p:cNvSpPr/>
            <p:nvPr/>
          </p:nvSpPr>
          <p:spPr>
            <a:xfrm>
              <a:off x="788543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오피스텔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임대주택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F~2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６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A27AD68-8D56-7DCB-E756-8400797F6DA6}"/>
                </a:ext>
              </a:extLst>
            </p:cNvPr>
            <p:cNvSpPr/>
            <p:nvPr/>
          </p:nvSpPr>
          <p:spPr>
            <a:xfrm>
              <a:off x="8487488" y="1324465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</a:t>
              </a:r>
              <a:endParaRPr lang="en-US" altLang="ko-KR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(B5F~19F)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C7085A1-9265-F67B-3783-EB69F2D93D8B}"/>
                </a:ext>
              </a:extLst>
            </p:cNvPr>
            <p:cNvSpPr/>
            <p:nvPr/>
          </p:nvSpPr>
          <p:spPr>
            <a:xfrm>
              <a:off x="8093323" y="1929916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/>
            <a:lstStyle/>
            <a:p>
              <a:pPr algn="ctr"/>
              <a:r>
                <a:rPr lang="ko-KR" altLang="en-US" sz="800" kern="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수서역</a:t>
              </a:r>
              <a:r>
                <a:rPr lang="ko-KR" altLang="en-US" sz="800" b="1" kern="0" spc="-100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　</a:t>
              </a:r>
              <a:r>
                <a:rPr lang="ko-KR" altLang="en-US" sz="800" kern="0" spc="-100" err="1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증축동</a:t>
              </a:r>
              <a:endParaRPr lang="en-US" altLang="ko-KR" sz="800" kern="0" spc="-1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(B1F~1F)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520CFDE-2354-8A68-15C2-AAF62CD08E0E}"/>
                </a:ext>
              </a:extLst>
            </p:cNvPr>
            <p:cNvSpPr/>
            <p:nvPr/>
          </p:nvSpPr>
          <p:spPr>
            <a:xfrm>
              <a:off x="7061518" y="1616676"/>
              <a:ext cx="194733" cy="0"/>
            </a:xfrm>
            <a:custGeom>
              <a:avLst/>
              <a:gdLst>
                <a:gd name="csX0" fmla="*/ 0 w 194733"/>
                <a:gd name="csY0" fmla="*/ 0 h 0"/>
                <a:gd name="csX1" fmla="*/ 194733 w 19473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4733">
                  <a:moveTo>
                    <a:pt x="0" y="0"/>
                  </a:moveTo>
                  <a:lnTo>
                    <a:pt x="194733" y="0"/>
                  </a:lnTo>
                </a:path>
              </a:pathLst>
            </a:custGeom>
            <a:noFill/>
            <a:ln w="12700">
              <a:solidFill>
                <a:srgbClr val="C00000">
                  <a:alpha val="53000"/>
                </a:srgb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2A1C3D0E-0579-B9C9-6B32-46DD26485A7A}"/>
                </a:ext>
              </a:extLst>
            </p:cNvPr>
            <p:cNvSpPr/>
            <p:nvPr/>
          </p:nvSpPr>
          <p:spPr>
            <a:xfrm>
              <a:off x="7246620" y="1016068"/>
              <a:ext cx="0" cy="228600"/>
            </a:xfrm>
            <a:custGeom>
              <a:avLst/>
              <a:gdLst>
                <a:gd name="csX0" fmla="*/ 0 w 0"/>
                <a:gd name="csY0" fmla="*/ 0 h 228600"/>
                <a:gd name="csX1" fmla="*/ 0 w 0"/>
                <a:gd name="csY1" fmla="*/ 2286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01136349-4982-FC48-2D73-CF97FD1DA4CC}"/>
                </a:ext>
              </a:extLst>
            </p:cNvPr>
            <p:cNvSpPr/>
            <p:nvPr/>
          </p:nvSpPr>
          <p:spPr>
            <a:xfrm>
              <a:off x="7881620" y="1011308"/>
              <a:ext cx="148167" cy="203200"/>
            </a:xfrm>
            <a:custGeom>
              <a:avLst/>
              <a:gdLst>
                <a:gd name="csX0" fmla="*/ 148167 w 148167"/>
                <a:gd name="csY0" fmla="*/ 0 h 203200"/>
                <a:gd name="csX1" fmla="*/ 148167 w 148167"/>
                <a:gd name="csY1" fmla="*/ 203200 h 203200"/>
                <a:gd name="csX2" fmla="*/ 0 w 148167"/>
                <a:gd name="csY2" fmla="*/ 203200 h 203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8167" h="203200">
                  <a:moveTo>
                    <a:pt x="148167" y="0"/>
                  </a:moveTo>
                  <a:lnTo>
                    <a:pt x="148167" y="203200"/>
                  </a:lnTo>
                  <a:lnTo>
                    <a:pt x="0" y="2032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8521BD3-39C3-A23F-A07A-4161B796AA61}"/>
                </a:ext>
              </a:extLst>
            </p:cNvPr>
            <p:cNvSpPr/>
            <p:nvPr/>
          </p:nvSpPr>
          <p:spPr>
            <a:xfrm>
              <a:off x="8559483" y="1364263"/>
              <a:ext cx="244475" cy="0"/>
            </a:xfrm>
            <a:custGeom>
              <a:avLst/>
              <a:gdLst>
                <a:gd name="csX0" fmla="*/ 244475 w 244475"/>
                <a:gd name="csY0" fmla="*/ 0 h 0"/>
                <a:gd name="csX1" fmla="*/ 0 w 244475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475">
                  <a:moveTo>
                    <a:pt x="24447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3D9E3CEC-F849-60C2-6236-A065297B9F0A}"/>
                </a:ext>
              </a:extLst>
            </p:cNvPr>
            <p:cNvSpPr/>
            <p:nvPr/>
          </p:nvSpPr>
          <p:spPr>
            <a:xfrm>
              <a:off x="7672388" y="1627981"/>
              <a:ext cx="536575" cy="173038"/>
            </a:xfrm>
            <a:custGeom>
              <a:avLst/>
              <a:gdLst>
                <a:gd name="csX0" fmla="*/ 536575 w 536575"/>
                <a:gd name="csY0" fmla="*/ 173038 h 173038"/>
                <a:gd name="csX1" fmla="*/ 536575 w 536575"/>
                <a:gd name="csY1" fmla="*/ 173038 h 173038"/>
                <a:gd name="csX2" fmla="*/ 536575 w 536575"/>
                <a:gd name="csY2" fmla="*/ 0 h 173038"/>
                <a:gd name="csX3" fmla="*/ 0 w 536575"/>
                <a:gd name="csY3" fmla="*/ 0 h 173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6575" h="173038">
                  <a:moveTo>
                    <a:pt x="536575" y="173038"/>
                  </a:moveTo>
                  <a:lnTo>
                    <a:pt x="536575" y="173038"/>
                  </a:lnTo>
                  <a:lnTo>
                    <a:pt x="536575" y="0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27401-B056-5422-243F-C8F31152AE7B}"/>
              </a:ext>
            </a:extLst>
          </p:cNvPr>
          <p:cNvSpPr/>
          <p:nvPr/>
        </p:nvSpPr>
        <p:spPr>
          <a:xfrm>
            <a:off x="-71437" y="480042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수서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F4F0C-9132-F0D6-1E9E-19A25D3E5BF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7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130" name="개발일정 목록"/>
          <p:cNvSpPr txBox="1"/>
          <p:nvPr/>
        </p:nvSpPr>
        <p:spPr>
          <a:xfrm>
            <a:off x="177800" y="3652012"/>
            <a:ext cx="6527800" cy="8636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(’21.6)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우선협상자 선정	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(’29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백화점 착공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(現)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PF 모집	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(’31.12)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준공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착공	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(’81.12)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운영종료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(50년)</a:t>
            </a:r>
          </a:p>
        </p:txBody>
      </p:sp>
    </p:spTree>
    <p:extLst>
      <p:ext uri="{BB962C8B-B14F-4D97-AF65-F5344CB8AC3E}">
        <p14:creationId xmlns:p14="http://schemas.microsoft.com/office/powerpoint/2010/main" val="27455728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금융구조화"/>
          <p:cNvSpPr txBox="1"/>
          <p:nvPr/>
        </p:nvSpPr>
        <p:spPr>
          <a:xfrm>
            <a:off x="177800" y="1778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01" name="S 총 사업비 2.6조"/>
          <p:cNvSpPr txBox="1"/>
          <p:nvPr/>
        </p:nvSpPr>
        <p:spPr>
          <a:xfrm>
            <a:off x="266700" y="508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사업비 2.6조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(조달 2.6조)</a:t>
            </a:r>
          </a:p>
        </p:txBody>
      </p:sp>
      <p:sp>
        <p:nvSpPr>
          <p:cNvPr id="102" name="N (단위 : 억원)"/>
          <p:cNvSpPr txBox="1"/>
          <p:nvPr/>
        </p:nvSpPr>
        <p:spPr>
          <a:xfrm>
            <a:off x="5308600" y="60960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03" name="사업비조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52461"/>
              </p:ext>
            </p:extLst>
          </p:nvPr>
        </p:nvGraphicFramePr>
        <p:xfrm>
          <a:off x="266700" y="812800"/>
          <a:ext cx="6438900" cy="24692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1조 5,149억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910만원/평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16.4만평 中 신축 16만평 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1,300억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 1,100억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(4.3%)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자본금 157억 (現 71억 + 86억)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주주대여금 200억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(0.7%)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대여금 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4,817억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선 6.7% / 중 8.8% / 후 6.0% 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한화 신용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)</a:t>
                      </a:r>
                      <a:endParaRPr lang="ko-KR" altLang="en-US" sz="600" b="0" kern="120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  <a:cs typeface="+mn-cs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용역비 등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4,118억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설계·감리 등 2,119억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운영·예비비 등 1,999억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운영이익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재투자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6.4%)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320억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주차장 수입 등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제세공과금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1,694억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과밀부담금 743억, 취득세 575억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 376억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2조 4,158억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N * Equity 전"/>
          <p:cNvSpPr txBox="1"/>
          <p:nvPr/>
        </p:nvSpPr>
        <p:spPr>
          <a:xfrm>
            <a:off x="409575" y="3362960"/>
            <a:ext cx="64389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Equity 전제 : 現 자본금 500억 (사업비 比 2.9%) → 증자 후 1,100억 (사업비 比 5.0% 수준)</a:t>
            </a:r>
          </a:p>
        </p:txBody>
      </p:sp>
      <p:sp>
        <p:nvSpPr>
          <p:cNvPr id="105" name="H ■ 투자비 · 사업성"/>
          <p:cNvSpPr txBox="1"/>
          <p:nvPr/>
        </p:nvSpPr>
        <p:spPr>
          <a:xfrm>
            <a:off x="177800" y="395478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투자비 · 사업성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(百 시설 기준)</a:t>
            </a:r>
          </a:p>
        </p:txBody>
      </p:sp>
      <p:sp>
        <p:nvSpPr>
          <p:cNvPr id="106" name="S 총 투자비 3,286억"/>
          <p:cNvSpPr txBox="1"/>
          <p:nvPr/>
        </p:nvSpPr>
        <p:spPr>
          <a:xfrm>
            <a:off x="266700" y="4389628"/>
            <a:ext cx="23114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투자비 3,286억</a:t>
            </a:r>
          </a:p>
        </p:txBody>
      </p:sp>
      <p:graphicFrame>
        <p:nvGraphicFramePr>
          <p:cNvPr id="107" name="투자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44735"/>
              </p:ext>
            </p:extLst>
          </p:nvPr>
        </p:nvGraphicFramePr>
        <p:xfrm>
          <a:off x="266700" y="4669028"/>
          <a:ext cx="2311400" cy="22152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(2,600억)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 / 기·전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인테리어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지분투자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(686억)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157억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임대보증금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9" name="S 투자 기준 지표 (3개 이상 충족)"/>
          <p:cNvSpPr txBox="1"/>
          <p:nvPr/>
        </p:nvSpPr>
        <p:spPr>
          <a:xfrm>
            <a:off x="2705100" y="4389628"/>
            <a:ext cx="374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투자 기준 지표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(3개 이상 충족)</a:t>
            </a:r>
          </a:p>
        </p:txBody>
      </p:sp>
      <p:graphicFrame>
        <p:nvGraphicFramePr>
          <p:cNvPr id="110" name="투자기준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366095"/>
              </p:ext>
            </p:extLst>
          </p:nvPr>
        </p:nvGraphicFramePr>
        <p:xfrm>
          <a:off x="2705100" y="4669028"/>
          <a:ext cx="4000500" cy="22152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 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회전율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2.25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 ÷ 百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 포함 세전 이익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201.6%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(현금흐름누계 9,910억 – 투자비 3,286억)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÷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투자비 3,286억 회수 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13.2%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누계 현금흐름, 20년 기준 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건물 잔존가 제외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1" name="N * 지분 투자 배당"/>
          <p:cNvSpPr txBox="1"/>
          <p:nvPr/>
        </p:nvSpPr>
        <p:spPr>
          <a:xfrm>
            <a:off x="5340985" y="44886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지분 투자 배당금 제외한 수익</a:t>
            </a:r>
          </a:p>
        </p:txBody>
      </p:sp>
      <p:sp>
        <p:nvSpPr>
          <p:cNvPr id="113" name="H ■ SPC 주주 수익률 (50년간)"/>
          <p:cNvSpPr txBox="1"/>
          <p:nvPr/>
        </p:nvSpPr>
        <p:spPr>
          <a:xfrm>
            <a:off x="177800" y="76200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SPC 주주 수익률 (50년간)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35FAF-69C4-A3A9-26C4-AD931866AFE2}"/>
              </a:ext>
            </a:extLst>
          </p:cNvPr>
          <p:cNvSpPr txBox="1"/>
          <p:nvPr/>
        </p:nvSpPr>
        <p:spPr>
          <a:xfrm>
            <a:off x="255905" y="7991512"/>
            <a:ext cx="6969775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전체 주주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배당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+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이자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)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: IRR 5.79%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4,215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1,251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자본금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1,100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·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대여금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lvl="0" defTabSz="914400">
              <a:spcBef>
                <a:spcPts val="800"/>
              </a:spcBef>
              <a:defRPr/>
            </a:pPr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百 기준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IRR 5.81%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,205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/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자본금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157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대여금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29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자본금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(157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 7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2,024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75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담보대출 상환 완료시점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운영기간 종료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endParaRPr lang="en-US" altLang="ko-KR" sz="90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anose="05000000000000000000" pitchFamily="2" charset="2"/>
            </a:endParaRP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주주대여금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(29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36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금리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17.5%,  ’22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대여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58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상환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6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 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상환시점에 따라 변동 가능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2E70-93CC-2032-DBB8-818B7AAC6D5D}"/>
              </a:ext>
            </a:extLst>
          </p:cNvPr>
          <p:cNvSpPr txBox="1"/>
          <p:nvPr/>
        </p:nvSpPr>
        <p:spPr>
          <a:xfrm>
            <a:off x="1443189" y="6920596"/>
            <a:ext cx="52624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임대료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: MAX 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기본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330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→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408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매출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4.6% (1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초과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 ~ 5% (8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천억 이하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0032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54068"/>
              </p:ext>
            </p:extLst>
          </p:nvPr>
        </p:nvGraphicFramePr>
        <p:xfrm>
          <a:off x="266700" y="584200"/>
          <a:ext cx="6438900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96697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10,585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7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8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9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34128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743771"/>
              </p:ext>
            </p:extLst>
          </p:nvPr>
        </p:nvGraphicFramePr>
        <p:xfrm>
          <a:off x="266700" y="4986020"/>
          <a:ext cx="6438898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  <a:gridCol w="450388">
                  <a:extLst>
                    <a:ext uri="{9D8B030D-6E8A-4147-A177-3AD203B41FA5}">
                      <a16:colId xmlns:a16="http://schemas.microsoft.com/office/drawing/2014/main" val="50013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9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10,797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11,233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11,458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11,687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11,920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210,894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41,512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43,652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2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3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9,882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6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33,369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9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△591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9,688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2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4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77F388-91B4-0330-5A13-4A46ADD102BD}"/>
              </a:ext>
            </a:extLst>
          </p:cNvPr>
          <p:cNvSpPr txBox="1"/>
          <p:nvPr/>
        </p:nvSpPr>
        <p:spPr bwMode="auto">
          <a:xfrm>
            <a:off x="5308600" y="474033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48590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AEE1E2B-F07C-7F1D-B472-6237478A7462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광주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46A6EA30-07AD-9F2B-B149-3B73814861E5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E064214-E5F0-3BC5-0DCD-5044C46F01BF}"/>
              </a:ext>
            </a:extLst>
          </p:cNvPr>
          <p:cNvSpPr/>
          <p:nvPr/>
        </p:nvSpPr>
        <p:spPr>
          <a:xfrm>
            <a:off x="177800" y="3016932"/>
            <a:ext cx="6502400" cy="156453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465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①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(’26.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內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지구단위계획 고시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</a:t>
            </a:r>
            <a:r>
              <a:rPr kumimoji="0" lang="ko-KR" altLang="en-US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백화점 신관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착공</a:t>
            </a:r>
            <a:endParaRPr kumimoji="0" lang="en-US" altLang="ko-KR" sz="1100" b="1" i="0" u="sng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②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(’29.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본관 리뉴얼 착공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③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(’31.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본관 리뉴얼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kumimoji="0" lang="ko-KR" altLang="en-US" sz="1100" i="0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2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착공 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④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2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50F3CF3-CA5D-BB13-DC1C-DBC7BB36C928}"/>
              </a:ext>
            </a:extLst>
          </p:cNvPr>
          <p:cNvSpPr/>
          <p:nvPr/>
        </p:nvSpPr>
        <p:spPr>
          <a:xfrm>
            <a:off x="177800" y="632267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B64B525-633B-DA09-C6F7-3F161A558A82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1408205"/>
          <a:ext cx="3917200" cy="1434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광주광역시 서구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광천동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49-1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외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필지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28,405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(93,902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256,439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(847,731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6,266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포함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59.03% / 436.25%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일반상업지역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지구단위계획구역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자동차정류장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㈜광주신세계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087F422-AFAB-CF38-D766-FEBE895C7DF3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6810047"/>
          <a:ext cx="6439154" cy="2921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1069513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9888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387975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786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50247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본관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매출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0.88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0.78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0.22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17.3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0.7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X 169MD)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샤넬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에르메스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대구점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0.16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48265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공급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평형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4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천만원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아파트 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터미널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편익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터미널수입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유스퀘어 매출 </a:t>
                      </a:r>
                      <a:r>
                        <a:rPr lang="en-US" altLang="ko-KR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편익시설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39713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의료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425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NOC 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평효율 比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X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수수료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19.5% </a:t>
                      </a:r>
                      <a:b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의료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상가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497510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ADR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지방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성급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 </a:t>
                      </a:r>
                      <a:r>
                        <a:rPr kumimoji="0" lang="en-US" altLang="ko-KR" sz="9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61%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 70%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071641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시니어레지던스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세대당 보증금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월생활비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더클래식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500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比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80%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80%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85%</a:t>
                      </a:r>
                      <a:endParaRPr kumimoji="0" lang="ko-KR" alt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539508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교육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16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교육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삼성화재 광주사옥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</a:t>
                      </a:r>
                      <a:endParaRPr kumimoji="0" lang="ko-KR" altLang="en-US" sz="900" b="1" i="0" u="none" strike="noStrike" kern="1200" cap="none" spc="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576364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1F45C5F9-2456-049D-2A03-D1CD1991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1402541"/>
            <a:ext cx="2607810" cy="146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F58D4C-08BF-BE98-E28E-2F21D16EAB50}"/>
              </a:ext>
            </a:extLst>
          </p:cNvPr>
          <p:cNvSpPr txBox="1"/>
          <p:nvPr/>
        </p:nvSpPr>
        <p:spPr>
          <a:xfrm>
            <a:off x="4555790" y="6594010"/>
            <a:ext cx="330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영업시점 물가상승률 반영 후 매출액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업종별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1~4%)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7A14E-F773-13F8-F72E-469DB5A4FBCA}"/>
              </a:ext>
            </a:extLst>
          </p:cNvPr>
          <p:cNvSpPr txBox="1"/>
          <p:nvPr/>
        </p:nvSpPr>
        <p:spPr>
          <a:xfrm>
            <a:off x="366522" y="3285198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E8F38-B344-85A6-0602-43C8B0FDD882}"/>
              </a:ext>
            </a:extLst>
          </p:cNvPr>
          <p:cNvSpPr txBox="1"/>
          <p:nvPr/>
        </p:nvSpPr>
        <p:spPr>
          <a:xfrm>
            <a:off x="1859280" y="7351105"/>
            <a:ext cx="994592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본관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1.5 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7.0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D8B7612-EE29-3207-8C71-E560A92C8BB1}"/>
              </a:ext>
            </a:extLst>
          </p:cNvPr>
          <p:cNvGrpSpPr/>
          <p:nvPr/>
        </p:nvGrpSpPr>
        <p:grpSpPr>
          <a:xfrm>
            <a:off x="364672" y="4655810"/>
            <a:ext cx="3175000" cy="1422400"/>
            <a:chOff x="4319893" y="2830777"/>
            <a:chExt cx="2598451" cy="1172417"/>
          </a:xfrm>
        </p:grpSpPr>
        <p:pic>
          <p:nvPicPr>
            <p:cNvPr id="15" name="Picture 0">
              <a:extLst>
                <a:ext uri="{FF2B5EF4-FFF2-40B4-BE49-F238E27FC236}">
                  <a16:creationId xmlns:a16="http://schemas.microsoft.com/office/drawing/2014/main" id="{66A73993-AF5F-1218-6063-DBECCEBA0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519"/>
            <a:stretch>
              <a:fillRect/>
            </a:stretch>
          </p:blipFill>
          <p:spPr>
            <a:xfrm>
              <a:off x="4319893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CA7E61-A160-66ED-DC7E-6AF167587019}"/>
                </a:ext>
              </a:extLst>
            </p:cNvPr>
            <p:cNvSpPr txBox="1"/>
            <p:nvPr/>
          </p:nvSpPr>
          <p:spPr>
            <a:xfrm>
              <a:off x="4319893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sym typeface="Wingdings" pitchFamily="2" charset="2"/>
                </a:rPr>
                <a:t>&lt;1</a:t>
              </a:r>
              <a:r>
                <a:rPr lang="ko-KR" altLang="en-US">
                  <a:sym typeface="Wingdings" pitchFamily="2" charset="2"/>
                </a:rPr>
                <a:t>단계</a:t>
              </a:r>
              <a:r>
                <a:rPr lang="en-US" altLang="ko-KR">
                  <a:sym typeface="Wingdings" pitchFamily="2" charset="2"/>
                </a:rPr>
                <a:t>&gt;</a:t>
              </a:r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0891F8D-02AB-B537-14BF-58A8AF17E5DD}"/>
              </a:ext>
            </a:extLst>
          </p:cNvPr>
          <p:cNvGrpSpPr/>
          <p:nvPr/>
        </p:nvGrpSpPr>
        <p:grpSpPr>
          <a:xfrm>
            <a:off x="3611563" y="4655810"/>
            <a:ext cx="3175000" cy="1422400"/>
            <a:chOff x="7070615" y="2830777"/>
            <a:chExt cx="2598451" cy="1172417"/>
          </a:xfrm>
        </p:grpSpPr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7E996F21-5AB1-DC7A-C5A5-1EE43F6D4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70615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0BD8F9-CC97-3B1A-5517-B962FF33B5CB}"/>
                </a:ext>
              </a:extLst>
            </p:cNvPr>
            <p:cNvSpPr txBox="1"/>
            <p:nvPr/>
          </p:nvSpPr>
          <p:spPr>
            <a:xfrm>
              <a:off x="7070615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&lt;2</a:t>
              </a:r>
              <a:r>
                <a:rPr lang="ko-KR" altLang="en-US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단계</a:t>
              </a:r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&gt;</a:t>
              </a:r>
              <a:endParaRPr lang="ko-KR" altLang="en-US" sz="10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1DD0891-B451-ABEF-9540-A0D489015B74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8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1067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2640CD-ED7B-518F-014D-7CDAE388D09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2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광주신세계 자체 개발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C726794-1559-67D0-F5A3-F518E5374D44}"/>
              </a:ext>
            </a:extLst>
          </p:cNvPr>
          <p:cNvSpPr/>
          <p:nvPr/>
        </p:nvSpPr>
        <p:spPr>
          <a:xfrm>
            <a:off x="177800" y="22352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3.62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5,270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·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1,150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제외 시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2.9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조원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3FF8F33D-F48C-6977-979F-E8D06FEAD8E8}"/>
              </a:ext>
            </a:extLst>
          </p:cNvPr>
          <p:cNvSpPr/>
          <p:nvPr/>
        </p:nvSpPr>
        <p:spPr>
          <a:xfrm>
            <a:off x="177800" y="535408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사업성</a:t>
            </a:r>
            <a:endParaRPr lang="en-US" altLang="ko-KR" sz="13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54AD0-C3E6-62DA-0FD6-CF6660C87014}"/>
              </a:ext>
            </a:extLst>
          </p:cNvPr>
          <p:cNvSpPr txBox="1"/>
          <p:nvPr/>
        </p:nvSpPr>
        <p:spPr>
          <a:xfrm>
            <a:off x="5308600" y="286420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EF8F1D-984F-EEC3-5A43-27E645C8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831742"/>
              </p:ext>
            </p:extLst>
          </p:nvPr>
        </p:nvGraphicFramePr>
        <p:xfrm>
          <a:off x="260350" y="5900002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2636AEE-1DE9-EC69-2A75-4C706B86C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315491"/>
              </p:ext>
            </p:extLst>
          </p:nvPr>
        </p:nvGraphicFramePr>
        <p:xfrm>
          <a:off x="260350" y="3081632"/>
          <a:ext cx="6445251" cy="2124116"/>
        </p:xfrm>
        <a:graphic>
          <a:graphicData uri="http://schemas.openxmlformats.org/drawingml/2006/table">
            <a:tbl>
              <a:tblPr/>
              <a:tblGrid>
                <a:gridCol w="765989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8361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930171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912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61765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78699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신축 건축비 </a:t>
                      </a:r>
                      <a:r>
                        <a:rPr lang="ko-KR" altLang="en-US" sz="700" b="1" i="0" kern="1200" err="1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평당가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기투입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존치수입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5,421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미래 백화점 영업현금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700"/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잔여토지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취득세 등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3.7% 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토지대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(2,800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3.7%</a:t>
                      </a:r>
                      <a:b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공공기여 등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外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분양매출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(APT, 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기준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EDFF6A-6E78-7B9F-FB2A-1119601CDB9F}"/>
              </a:ext>
            </a:extLst>
          </p:cNvPr>
          <p:cNvSpPr/>
          <p:nvPr/>
        </p:nvSpPr>
        <p:spPr>
          <a:xfrm>
            <a:off x="260350" y="1110599"/>
            <a:ext cx="2838450" cy="8001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63"/>
              </a:spcBef>
            </a:pPr>
            <a:endParaRPr lang="ko-KR" altLang="en-US" sz="1050">
              <a:ln>
                <a:solidFill>
                  <a:srgbClr val="002060"/>
                </a:solidFill>
              </a:ln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47EC19-E1AB-D7DF-41F6-39D6E96426EE}"/>
              </a:ext>
            </a:extLst>
          </p:cNvPr>
          <p:cNvSpPr/>
          <p:nvPr/>
        </p:nvSpPr>
        <p:spPr>
          <a:xfrm>
            <a:off x="344170" y="1275699"/>
            <a:ext cx="1291590" cy="482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(65.56%)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1F178-F54C-6204-3730-1890D23D0E8C}"/>
              </a:ext>
            </a:extLst>
          </p:cNvPr>
          <p:cNvSpPr/>
          <p:nvPr/>
        </p:nvSpPr>
        <p:spPr>
          <a:xfrm>
            <a:off x="1731645" y="1275699"/>
            <a:ext cx="1291590" cy="482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외부투자자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(34.44%)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7106C10-EE5F-1E2E-76D7-8D6B3745C21F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1110599"/>
          <a:ext cx="3479800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2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859775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㈜광주신세계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’02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코스피 상장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시니어주택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등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2,680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개발기간 미사용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회사채 상환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2925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1E496B-F658-D73C-6447-91CA6801A7E5}"/>
              </a:ext>
            </a:extLst>
          </p:cNvPr>
          <p:cNvSpPr/>
          <p:nvPr/>
        </p:nvSpPr>
        <p:spPr>
          <a:xfrm>
            <a:off x="1104900" y="983599"/>
            <a:ext cx="1016000" cy="279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55"/>
              </a:spcBef>
            </a:pPr>
            <a:r>
              <a:rPr lang="ko-KR" altLang="en-US" sz="10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㈜광주신세계</a:t>
            </a:r>
            <a:endParaRPr lang="ko-KR" altLang="en-US" sz="85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8790DE-3D0E-E03B-EF55-D5E5B952F396}"/>
              </a:ext>
            </a:extLst>
          </p:cNvPr>
          <p:cNvSpPr txBox="1"/>
          <p:nvPr/>
        </p:nvSpPr>
        <p:spPr bwMode="auto">
          <a:xfrm>
            <a:off x="5063236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390E7-7898-DE4D-442C-F54AB73D7610}"/>
              </a:ext>
            </a:extLst>
          </p:cNvPr>
          <p:cNvSpPr txBox="1"/>
          <p:nvPr/>
        </p:nvSpPr>
        <p:spPr bwMode="auto">
          <a:xfrm>
            <a:off x="3860800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693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65512CA-B0C4-0510-9C4E-5BC8B8B1533C}"/>
              </a:ext>
            </a:extLst>
          </p:cNvPr>
          <p:cNvSpPr txBox="1"/>
          <p:nvPr/>
        </p:nvSpPr>
        <p:spPr bwMode="auto">
          <a:xfrm>
            <a:off x="5308600" y="694310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FCBC05C-E218-F911-5E3A-2A305B3852DC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90AB79F-4596-8FEB-E9DD-837957D65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85775"/>
              </p:ext>
            </p:extLst>
          </p:nvPr>
        </p:nvGraphicFramePr>
        <p:xfrm>
          <a:off x="260350" y="960618"/>
          <a:ext cx="6445243" cy="3842466"/>
        </p:xfrm>
        <a:graphic>
          <a:graphicData uri="http://schemas.openxmlformats.org/drawingml/2006/table">
            <a:tbl>
              <a:tblPr/>
              <a:tblGrid>
                <a:gridCol w="352474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553888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80479">
                  <a:extLst>
                    <a:ext uri="{9D8B030D-6E8A-4147-A177-3AD203B41FA5}">
                      <a16:colId xmlns:a16="http://schemas.microsoft.com/office/drawing/2014/main" val="234407213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02372219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166481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11360996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55799090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304340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14906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~'25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보유현금/존치수입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11,344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61704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64844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(A)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포함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6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 등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건축비, 공공기여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24,651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%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계획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99063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39,643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14906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in-out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(A-B)</a:t>
                      </a:r>
                    </a:p>
                  </a:txBody>
                  <a:tcPr marL="18000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△1,936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△709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△4,154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△2,263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△11,958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548206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기초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예비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(D)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03734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실행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(E)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3649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상환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4677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누계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7086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 잔액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(C+A-B-D+E-F)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473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A3C2ADAC-730C-3A2C-8249-65E42FBC6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563824"/>
              </p:ext>
            </p:extLst>
          </p:nvPr>
        </p:nvGraphicFramePr>
        <p:xfrm>
          <a:off x="260350" y="5732642"/>
          <a:ext cx="6445246" cy="3375571"/>
        </p:xfrm>
        <a:graphic>
          <a:graphicData uri="http://schemas.openxmlformats.org/drawingml/2006/table">
            <a:tbl>
              <a:tblPr/>
              <a:tblGrid>
                <a:gridCol w="352475">
                  <a:extLst>
                    <a:ext uri="{9D8B030D-6E8A-4147-A177-3AD203B41FA5}">
                      <a16:colId xmlns:a16="http://schemas.microsoft.com/office/drawing/2014/main" val="2130777380"/>
                    </a:ext>
                  </a:extLst>
                </a:gridCol>
                <a:gridCol w="553889">
                  <a:extLst>
                    <a:ext uri="{9D8B030D-6E8A-4147-A177-3AD203B41FA5}">
                      <a16:colId xmlns:a16="http://schemas.microsoft.com/office/drawing/2014/main" val="3500378589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2033693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6855206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1330718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5420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84101510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11221996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35473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5152160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76748454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5474529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9153706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50549553"/>
                    </a:ext>
                  </a:extLst>
                </a:gridCol>
              </a:tblGrid>
              <a:tr h="2032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'41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'42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'43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'44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14529"/>
                  </a:ext>
                </a:extLst>
              </a:tr>
              <a:tr h="24402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37,809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072436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54453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46,941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9007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9911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49,976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375382"/>
                  </a:ext>
                </a:extLst>
              </a:tr>
              <a:tr h="244026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b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(감가 제외)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59455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896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291092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24.2%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37489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0497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/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12864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42,507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793382"/>
                  </a:ext>
                </a:extLst>
              </a:tr>
              <a:tr h="24402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기말현금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649329"/>
                  </a:ext>
                </a:extLst>
              </a:tr>
            </a:tbl>
          </a:graphicData>
        </a:graphic>
      </p:graphicFrame>
      <p:sp>
        <p:nvSpPr>
          <p:cNvPr id="49" name="제목 1">
            <a:extLst>
              <a:ext uri="{FF2B5EF4-FFF2-40B4-BE49-F238E27FC236}">
                <a16:creationId xmlns:a16="http://schemas.microsoft.com/office/drawing/2014/main" id="{CF4D3470-323A-4C8A-224E-01A7DACCA629}"/>
              </a:ext>
            </a:extLst>
          </p:cNvPr>
          <p:cNvSpPr txBox="1">
            <a:spLocks/>
          </p:cNvSpPr>
          <p:nvPr/>
        </p:nvSpPr>
        <p:spPr>
          <a:xfrm>
            <a:off x="3626909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신관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3CEAB424-14F9-A638-4455-2513E0B6EDB0}"/>
              </a:ext>
            </a:extLst>
          </p:cNvPr>
          <p:cNvSpPr/>
          <p:nvPr/>
        </p:nvSpPr>
        <p:spPr>
          <a:xfrm rot="10800000">
            <a:off x="3849159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B258BF1-1167-53AE-C24F-489C3CBF0BAE}"/>
              </a:ext>
            </a:extLst>
          </p:cNvPr>
          <p:cNvSpPr txBox="1">
            <a:spLocks/>
          </p:cNvSpPr>
          <p:nvPr/>
        </p:nvSpPr>
        <p:spPr>
          <a:xfrm>
            <a:off x="5795344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35C9065-BF85-6AC5-9A8C-3582496E615A}"/>
              </a:ext>
            </a:extLst>
          </p:cNvPr>
          <p:cNvSpPr/>
          <p:nvPr/>
        </p:nvSpPr>
        <p:spPr>
          <a:xfrm rot="10800000">
            <a:off x="602394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95B24060-07CB-E9AF-AEFA-92D14664A289}"/>
              </a:ext>
            </a:extLst>
          </p:cNvPr>
          <p:cNvSpPr txBox="1">
            <a:spLocks/>
          </p:cNvSpPr>
          <p:nvPr/>
        </p:nvSpPr>
        <p:spPr>
          <a:xfrm>
            <a:off x="4976196" y="5453242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전체 상환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18B08FEC-7CE6-40A0-9366-EBCE7B5BC335}"/>
              </a:ext>
            </a:extLst>
          </p:cNvPr>
          <p:cNvSpPr/>
          <p:nvPr/>
        </p:nvSpPr>
        <p:spPr>
          <a:xfrm rot="10800000">
            <a:off x="5204796" y="5618342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A483E803-7415-591B-C46F-72A758398D99}"/>
              </a:ext>
            </a:extLst>
          </p:cNvPr>
          <p:cNvSpPr txBox="1">
            <a:spLocks/>
          </p:cNvSpPr>
          <p:nvPr/>
        </p:nvSpPr>
        <p:spPr>
          <a:xfrm>
            <a:off x="4296834" y="553253"/>
            <a:ext cx="9525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본관 준공 </a:t>
            </a: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63" name="이등변 삼각형 62">
            <a:extLst>
              <a:ext uri="{FF2B5EF4-FFF2-40B4-BE49-F238E27FC236}">
                <a16:creationId xmlns:a16="http://schemas.microsoft.com/office/drawing/2014/main" id="{6A85734C-9A71-6752-0C39-373F8FE3467B}"/>
              </a:ext>
            </a:extLst>
          </p:cNvPr>
          <p:cNvSpPr/>
          <p:nvPr/>
        </p:nvSpPr>
        <p:spPr>
          <a:xfrm rot="10800000">
            <a:off x="472863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9A35B0C-5BA1-AADF-5936-26DB9C42B636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DEB46-B295-9E24-E4AD-BBF516626A69}"/>
              </a:ext>
            </a:extLst>
          </p:cNvPr>
          <p:cNvSpPr txBox="1"/>
          <p:nvPr/>
        </p:nvSpPr>
        <p:spPr bwMode="auto">
          <a:xfrm>
            <a:off x="5308600" y="5504765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639936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80CF424-D8D2-43DD-ABF5-5DABDB142B0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1112dc-1068-47b2-91c9-565b508a33d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B7C1BEA-80B8-4CB4-81C9-289648AD8C6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116a2-9744-4583-9c75-5f9aac32d9b3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13585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2026-10-15T05:56:33Z</dcterms:modified>
  <dc:title/>
  <cp:lastPrinted>2026-10-15T04:33:36Z</cp:lastPrinted>
  <cp:lastModifiedBy>정유경(파트너) - 부동산금융팀</cp:lastModifiedBy>
  <dcterms:created xsi:type="dcterms:W3CDTF">2017-03-08T10:10:17Z</dcterms:created>
  <cp:revision>3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2025-01-15T04:19:59Z</vt:lpwstr>
  </property>
  <property fmtid="{D5CDD505-2E9C-101B-9397-08002B2CF9AE}" pid="4" name="MSIP_Label_aa772263-e823-4541-b19a-907e15bf13d7_Name">
    <vt:lpwstr/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